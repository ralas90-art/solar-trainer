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228600"/>
            <a:ext cx="11430000" cy="320040"/>
          </a:xfrm>
          <a:prstGeom prst="rect">
            <a:avLst/>
          </a:prstGeom>
          <a:noFill/>
          <a:ln/>
        </p:spPr>
        <p:txBody>
          <a:bodyPr wrap="square" rtlCol="0" anchor="ctr"/>
          <a:lstStyle/>
          <a:p>
            <a:pPr algn="ctr" indent="0" marL="0">
              <a:buNone/>
            </a:pPr>
            <a:r>
              <a:rPr lang="en-US" sz="1100" b="1" spc="500" kern="0" dirty="0">
                <a:solidFill>
                  <a:srgbClr val="F4A62A"/>
                </a:solidFill>
              </a:rPr>
              <a:t>SEPTIVOLT</a:t>
            </a:r>
            <a:endParaRPr lang="en-US" sz="1100" dirty="0"/>
          </a:p>
        </p:txBody>
      </p:sp>
      <p:sp>
        <p:nvSpPr>
          <p:cNvPr id="3" name="Text 1"/>
          <p:cNvSpPr/>
          <p:nvPr/>
        </p:nvSpPr>
        <p:spPr>
          <a:xfrm>
            <a:off x="365760" y="658368"/>
            <a:ext cx="11430000" cy="365760"/>
          </a:xfrm>
          <a:prstGeom prst="rect">
            <a:avLst/>
          </a:prstGeom>
          <a:noFill/>
          <a:ln/>
        </p:spPr>
        <p:txBody>
          <a:bodyPr wrap="square" rtlCol="0" anchor="ctr"/>
          <a:lstStyle/>
          <a:p>
            <a:pPr algn="ctr" indent="0" marL="0">
              <a:buNone/>
            </a:pPr>
            <a:r>
              <a:rPr lang="en-US" sz="1300" b="1" dirty="0">
                <a:solidFill>
                  <a:srgbClr val="028090"/>
                </a:solidFill>
              </a:rPr>
              <a:t>MÓDULO 5.5d</a:t>
            </a:r>
            <a:endParaRPr lang="en-US" sz="1300" dirty="0"/>
          </a:p>
        </p:txBody>
      </p:sp>
      <p:sp>
        <p:nvSpPr>
          <p:cNvPr id="4" name="Text 2"/>
          <p:cNvSpPr/>
          <p:nvPr/>
        </p:nvSpPr>
        <p:spPr>
          <a:xfrm>
            <a:off x="914400" y="1097280"/>
            <a:ext cx="10332720" cy="1645920"/>
          </a:xfrm>
          <a:prstGeom prst="rect">
            <a:avLst/>
          </a:prstGeom>
          <a:noFill/>
          <a:ln/>
        </p:spPr>
        <p:txBody>
          <a:bodyPr wrap="square" rtlCol="0" anchor="ctr"/>
          <a:lstStyle/>
          <a:p>
            <a:pPr algn="ctr" indent="0" marL="0">
              <a:buNone/>
            </a:pPr>
            <a:r>
              <a:rPr lang="en-US" sz="3600" b="1" dirty="0">
                <a:solidFill>
                  <a:srgbClr val="FFFFFF"/>
                </a:solidFill>
              </a:rPr>
              <a:t>Gestión de Cambios de Orden:</a:t>
            </a:r>
            <a:endParaRPr lang="en-US" sz="3600" dirty="0"/>
          </a:p>
          <a:p>
            <a:pPr algn="ctr" indent="0" marL="0">
              <a:buNone/>
            </a:pPr>
            <a:r>
              <a:rPr lang="en-US" sz="3600" b="1" dirty="0">
                <a:solidFill>
                  <a:srgbClr val="FFFFFF"/>
                </a:solidFill>
              </a:rPr>
              <a:t>Entregando Malas Noticias Técnicas Sin Perder el Negocio</a:t>
            </a:r>
            <a:endParaRPr lang="en-US" sz="3600" dirty="0"/>
          </a:p>
        </p:txBody>
      </p:sp>
      <p:sp>
        <p:nvSpPr>
          <p:cNvPr id="5" name="Text 3"/>
          <p:cNvSpPr/>
          <p:nvPr/>
        </p:nvSpPr>
        <p:spPr>
          <a:xfrm>
            <a:off x="914400" y="2834640"/>
            <a:ext cx="10332720" cy="457200"/>
          </a:xfrm>
          <a:prstGeom prst="rect">
            <a:avLst/>
          </a:prstGeom>
          <a:noFill/>
          <a:ln/>
        </p:spPr>
        <p:txBody>
          <a:bodyPr wrap="square" rtlCol="0" anchor="ctr"/>
          <a:lstStyle/>
          <a:p>
            <a:pPr algn="ctr" indent="0" marL="0">
              <a:buNone/>
            </a:pPr>
            <a:r>
              <a:rPr lang="en-US" sz="1300" i="1" dirty="0">
                <a:solidFill>
                  <a:srgbClr val="CBD5E0"/>
                </a:solidFill>
              </a:rPr>
              <a:t>Estrategia de Comunicación · El Sándwich de Malas Noticias · Redimensionamiento del Sistema · Descubrimientos de MPU · Preservación de la Relación</a:t>
            </a:r>
            <a:endParaRPr lang="en-US" sz="1300" dirty="0"/>
          </a:p>
        </p:txBody>
      </p:sp>
      <p:sp>
        <p:nvSpPr>
          <p:cNvPr id="6" name="Shape 4"/>
          <p:cNvSpPr/>
          <p:nvPr/>
        </p:nvSpPr>
        <p:spPr>
          <a:xfrm>
            <a:off x="1828800" y="3520440"/>
            <a:ext cx="8531352" cy="731520"/>
          </a:xfrm>
          <a:prstGeom prst="rect">
            <a:avLst/>
          </a:prstGeom>
          <a:solidFill>
            <a:srgbClr val="028090">
              <a:alpha val="20000"/>
            </a:srgbClr>
          </a:solidFill>
          <a:ln w="12700">
            <a:solidFill>
              <a:srgbClr val="028090"/>
            </a:solidFill>
            <a:prstDash val="solid"/>
          </a:ln>
        </p:spPr>
      </p:sp>
      <p:sp>
        <p:nvSpPr>
          <p:cNvPr id="7" name="Text 5"/>
          <p:cNvSpPr/>
          <p:nvPr/>
        </p:nvSpPr>
        <p:spPr>
          <a:xfrm>
            <a:off x="1920240" y="3566160"/>
            <a:ext cx="8321040" cy="640080"/>
          </a:xfrm>
          <a:prstGeom prst="rect">
            <a:avLst/>
          </a:prstGeom>
          <a:noFill/>
          <a:ln/>
        </p:spPr>
        <p:txBody>
          <a:bodyPr wrap="square" rtlCol="0" anchor="ctr"/>
          <a:lstStyle/>
          <a:p>
            <a:pPr algn="ctr" indent="0" marL="0">
              <a:buNone/>
            </a:pPr>
            <a:r>
              <a:rPr lang="en-US" sz="1200" i="1" dirty="0">
                <a:solidFill>
                  <a:srgbClr val="FFFFFF"/>
                </a:solidFill>
              </a:rPr>
              <a:t>"Cómo entregas las malas noticias determina si el propietario sigue siendo tu cliente — o se convierte en tu cancelación."</a:t>
            </a:r>
            <a:endParaRPr lang="en-US" sz="1200" dirty="0"/>
          </a:p>
        </p:txBody>
      </p:sp>
      <p:sp>
        <p:nvSpPr>
          <p:cNvPr id="8" name="Text 6"/>
          <p:cNvSpPr/>
          <p:nvPr/>
        </p:nvSpPr>
        <p:spPr>
          <a:xfrm>
            <a:off x="914400" y="4434840"/>
            <a:ext cx="10332720" cy="365760"/>
          </a:xfrm>
          <a:prstGeom prst="rect">
            <a:avLst/>
          </a:prstGeom>
          <a:noFill/>
          <a:ln/>
        </p:spPr>
        <p:txBody>
          <a:bodyPr wrap="square" rtlCol="0" anchor="ctr"/>
          <a:lstStyle/>
          <a:p>
            <a:pPr algn="ctr" indent="0" marL="0">
              <a:buNone/>
            </a:pPr>
            <a:r>
              <a:rPr lang="en-US" sz="1000" dirty="0">
                <a:solidFill>
                  <a:srgbClr val="CBD5E0"/>
                </a:solidFill>
              </a:rPr>
              <a:t>SeptiVolt Solar Sales Accelerator™  |  Educación en Independencia Energética</a:t>
            </a:r>
            <a:endParaRPr lang="en-US" sz="1000" dirty="0"/>
          </a:p>
        </p:txBody>
      </p:sp>
      <p:sp>
        <p:nvSpPr>
          <p:cNvPr id="9" name="Text 7"/>
          <p:cNvSpPr/>
          <p:nvPr/>
        </p:nvSpPr>
        <p:spPr>
          <a:xfrm>
            <a:off x="365760" y="6400800"/>
            <a:ext cx="11430000" cy="274320"/>
          </a:xfrm>
          <a:prstGeom prst="rect">
            <a:avLst/>
          </a:prstGeom>
          <a:noFill/>
          <a:ln/>
        </p:spPr>
        <p:txBody>
          <a:bodyPr wrap="square" rtlCol="0" anchor="ctr"/>
          <a:lstStyle/>
          <a:p>
            <a:pPr algn="ctr" indent="0" marL="0">
              <a:buNone/>
            </a:pPr>
            <a:r>
              <a:rPr lang="en-US" sz="800" dirty="0">
                <a:solidFill>
                  <a:srgbClr val="CBD5E0"/>
                </a:solidFill>
              </a:rPr>
              <a:t>SeptiVolt Solar Sales Accelerator™  |  Educación en Independencia Energética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5.5d</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Manejando "Malas Noticias Técnicas": El Marco</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Regla #1: Nunca entregues malas noticias técnicas por texto o correo electrónico — llama primero, documenta después</a:t>
            </a:r>
            <a:endParaRPr lang="en-US" sz="1300" dirty="0"/>
          </a:p>
          <a:p>
            <a:pPr marL="342900" indent="-342900">
              <a:lnSpc>
                <a:spcPct val="130000"/>
              </a:lnSpc>
              <a:spcAft>
                <a:spcPts val="600"/>
              </a:spcAft>
              <a:buSzPct val="100000"/>
              <a:buChar char="●"/>
            </a:pPr>
            <a:r>
              <a:rPr lang="en-US" sz="1300" dirty="0">
                <a:solidFill>
                  <a:srgbClr val="2D3748"/>
                </a:solidFill>
              </a:rPr>
              <a:t>Regla #2: Asume la noticia. "Nuestro equipo de ingeniería descubrió X durante la fase de diseño. Quiero explicarte qué significa esto y qué hacemos al respecto."</a:t>
            </a:r>
            <a:endParaRPr lang="en-US" sz="1300" dirty="0"/>
          </a:p>
          <a:p>
            <a:pPr marL="342900" indent="-342900">
              <a:lnSpc>
                <a:spcPct val="130000"/>
              </a:lnSpc>
              <a:spcAft>
                <a:spcPts val="600"/>
              </a:spcAft>
              <a:buSzPct val="100000"/>
              <a:buChar char="●"/>
            </a:pPr>
            <a:r>
              <a:rPr lang="en-US" sz="1300" dirty="0">
                <a:solidFill>
                  <a:srgbClr val="2D3748"/>
                </a:solidFill>
              </a:rPr>
              <a:t>Regla #3: Conoce la solución antes de hacer la llamada — nunca presentes un problema sin un camino a seguir</a:t>
            </a:r>
            <a:endParaRPr lang="en-US" sz="1300" dirty="0"/>
          </a:p>
          <a:p>
            <a:pPr marL="342900" indent="-342900">
              <a:lnSpc>
                <a:spcPct val="130000"/>
              </a:lnSpc>
              <a:spcAft>
                <a:spcPts val="600"/>
              </a:spcAft>
              <a:buSzPct val="100000"/>
              <a:buChar char="●"/>
            </a:pPr>
            <a:r>
              <a:rPr lang="en-US" sz="1300" dirty="0">
                <a:solidFill>
                  <a:srgbClr val="2D3748"/>
                </a:solidFill>
              </a:rPr>
              <a:t>Regla #4: Cuantifica el impacto claramente — no seas vago. "Esto agrega aproximadamente $X al proyecto y [Z] semanas al cronograma."</a:t>
            </a:r>
            <a:endParaRPr lang="en-US" sz="1300" dirty="0"/>
          </a:p>
          <a:p>
            <a:pPr marL="342900" indent="-342900">
              <a:lnSpc>
                <a:spcPct val="130000"/>
              </a:lnSpc>
              <a:spcAft>
                <a:spcPts val="600"/>
              </a:spcAft>
              <a:buSzPct val="100000"/>
              <a:buChar char="●"/>
            </a:pPr>
            <a:r>
              <a:rPr lang="en-US" sz="1300" dirty="0">
                <a:solidFill>
                  <a:srgbClr val="2D3748"/>
                </a:solidFill>
              </a:rPr>
              <a:t>Regla #5: Reafirma la relación. "Te llamo en el momento en que lo encontramos — mereces saberlo de inmediato, no en la instalación."</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Antes de llamar, escribe: (1) Qué pasó, (2) Qué significa en dólares y días, (3) Qué hacemos al respecto. Si no puedes responder las tres, no estás listo para llamar al propietario.</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5.5d</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El Sándwich de Malas / Buenas Noticias</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Estructura: Contexto (por qué esto importa) → Hallazgo Técnico → Camino a Seguir. Nunca presentes un hallazgo de forma aislada.</a:t>
            </a:r>
            <a:endParaRPr lang="en-US" sz="1300" dirty="0"/>
          </a:p>
          <a:p>
            <a:pPr marL="342900" indent="-342900">
              <a:lnSpc>
                <a:spcPct val="130000"/>
              </a:lnSpc>
              <a:spcAft>
                <a:spcPts val="600"/>
              </a:spcAft>
              <a:buSzPct val="100000"/>
              <a:buChar char="●"/>
            </a:pPr>
            <a:r>
              <a:rPr lang="en-US" sz="1300" dirty="0">
                <a:solidFill>
                  <a:srgbClr val="2D3748"/>
                </a:solidFill>
              </a:rPr>
              <a:t>Paso 1 — Contexto: "Nuestro equipo de ingeniería completó la revisión final del diseño de tu sistema — todo está encaminado para proceder."</a:t>
            </a:r>
            <a:endParaRPr lang="en-US" sz="1300" dirty="0"/>
          </a:p>
          <a:p>
            <a:pPr marL="342900" indent="-342900">
              <a:lnSpc>
                <a:spcPct val="130000"/>
              </a:lnSpc>
              <a:spcAft>
                <a:spcPts val="600"/>
              </a:spcAft>
              <a:buSzPct val="100000"/>
              <a:buChar char="●"/>
            </a:pPr>
            <a:r>
              <a:rPr lang="en-US" sz="1300" dirty="0">
                <a:solidFill>
                  <a:srgbClr val="2D3748"/>
                </a:solidFill>
              </a:rPr>
              <a:t>Paso 2 — Hallazgo: "Durante esa revisión, identificaron que tu tablero eléctrico necesitará actualización para soportar de forma segura el sistema de batería. Esto es muy común en casas de tu época."</a:t>
            </a:r>
            <a:endParaRPr lang="en-US" sz="1300" dirty="0"/>
          </a:p>
          <a:p>
            <a:pPr marL="342900" indent="-342900">
              <a:lnSpc>
                <a:spcPct val="130000"/>
              </a:lnSpc>
              <a:spcAft>
                <a:spcPts val="600"/>
              </a:spcAft>
              <a:buSzPct val="100000"/>
              <a:buChar char="●"/>
            </a:pPr>
            <a:r>
              <a:rPr lang="en-US" sz="1300" dirty="0">
                <a:solidFill>
                  <a:srgbClr val="2D3748"/>
                </a:solidFill>
              </a:rPr>
              <a:t>Paso 3 — Camino a Seguir: "La actualización es manejada completamente por nuestros electricistas licenciados, y en realidad hace que todo tu sistema eléctrico sea más seguro. Esto es lo que agrega a la inversión..."</a:t>
            </a:r>
            <a:endParaRPr lang="en-US" sz="1300" dirty="0"/>
          </a:p>
          <a:p>
            <a:pPr marL="342900" indent="-342900">
              <a:lnSpc>
                <a:spcPct val="130000"/>
              </a:lnSpc>
              <a:spcAft>
                <a:spcPts val="600"/>
              </a:spcAft>
              <a:buSzPct val="100000"/>
              <a:buChar char="●"/>
            </a:pPr>
            <a:r>
              <a:rPr lang="en-US" sz="1300" dirty="0">
                <a:solidFill>
                  <a:srgbClr val="2D3748"/>
                </a:solidFill>
              </a:rPr>
              <a:t>El Cierre: "...y quiero asegurarme de que esto no cree ninguna sorpresa. ¿Tienes preguntas antes de que te envíe el acuerdo actualizado?"</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Practica este sándwich hasta que suene natural, no ensayado. Al propietario no le importa la estructura — le importa que estés tranquilo, claro y ya tengas una solución. Eso es lo que construye confianza.</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5.5d</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Conversaciones de Redimensionamiento del Sistema</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Por qué Ocurre el Redimensionamiento: Descubrimiento de sombreado, reducción del espacio del techo, restricciones de HOA, limitaciones estructurales</a:t>
            </a:r>
            <a:endParaRPr lang="en-US" sz="1300" dirty="0"/>
          </a:p>
          <a:p>
            <a:pPr marL="342900" indent="-342900">
              <a:lnSpc>
                <a:spcPct val="130000"/>
              </a:lnSpc>
              <a:spcAft>
                <a:spcPts val="600"/>
              </a:spcAft>
              <a:buSzPct val="100000"/>
              <a:buChar char="●"/>
            </a:pPr>
            <a:r>
              <a:rPr lang="en-US" sz="1300" dirty="0">
                <a:solidFill>
                  <a:srgbClr val="2D3748"/>
                </a:solidFill>
              </a:rPr>
              <a:t>El Marco: "Ingeniería optimizó el diseño de tu sistema para las condiciones reales de tu techo — el diseño cambió ligeramente, pero esto es lo que significa para tu producción y ahorros."</a:t>
            </a:r>
            <a:endParaRPr lang="en-US" sz="1300" dirty="0"/>
          </a:p>
          <a:p>
            <a:pPr marL="342900" indent="-342900">
              <a:lnSpc>
                <a:spcPct val="130000"/>
              </a:lnSpc>
              <a:spcAft>
                <a:spcPts val="600"/>
              </a:spcAft>
              <a:buSzPct val="100000"/>
              <a:buChar char="●"/>
            </a:pPr>
            <a:r>
              <a:rPr lang="en-US" sz="1300" dirty="0">
                <a:solidFill>
                  <a:srgbClr val="2D3748"/>
                </a:solidFill>
              </a:rPr>
              <a:t>Script de Sistema Menor: "Tu sistema se está dimensionando a 8.4kW en lugar de 9.8kW — esto es porque nuestro ingeniero encontró que una sección orientada al sur tiene sombreado después de las 3pm. La buena noticia es que el impacto en tu producción anual es solo del 7%, y ajustamos el precio correspondiente."</a:t>
            </a:r>
            <a:endParaRPr lang="en-US" sz="1300" dirty="0"/>
          </a:p>
          <a:p>
            <a:pPr marL="342900" indent="-342900">
              <a:lnSpc>
                <a:spcPct val="130000"/>
              </a:lnSpc>
              <a:spcAft>
                <a:spcPts val="600"/>
              </a:spcAft>
              <a:buSzPct val="100000"/>
              <a:buChar char="●"/>
            </a:pPr>
            <a:r>
              <a:rPr lang="en-US" sz="1300" dirty="0">
                <a:solidFill>
                  <a:srgbClr val="2D3748"/>
                </a:solidFill>
              </a:rPr>
              <a:t>Recalculación de Ahorros: Siempre ejecuta nuevas proyecciones a 25 años con el sistema actualizado — presenta los números nuevos, no los antiguos</a:t>
            </a:r>
            <a:endParaRPr lang="en-US" sz="1300" dirty="0"/>
          </a:p>
          <a:p>
            <a:pPr marL="342900" indent="-342900">
              <a:lnSpc>
                <a:spcPct val="130000"/>
              </a:lnSpc>
              <a:spcAft>
                <a:spcPts val="600"/>
              </a:spcAft>
              <a:buSzPct val="100000"/>
              <a:buChar char="●"/>
            </a:pPr>
            <a:r>
              <a:rPr lang="en-US" sz="1300" dirty="0">
                <a:solidFill>
                  <a:srgbClr val="2D3748"/>
                </a:solidFill>
              </a:rPr>
              <a:t>El Momento de Confianza: La mayoría de los propietarios respetan más la honestidad sobre el redimensionamiento de lo que hubieran respetado instalar un sistema que rinde por debajo de la promesa original</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Lidera con producción, no con tamaño. "Tu sistema pasó de 9.8kW a 8.4kW — pero tu producción anual estimada cae solo un 7% porque los paneles removidos estaban parcialmente sombreados." Los números enmarcan la narrativa.</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5.5d</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Manejo de Descubrimientos de MPU Post-Visita</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Escenario: Ingeniería confirma que se requiere un MPU después de la visita técnica — esto no estaba completamente incluido en el acuerdo original</a:t>
            </a:r>
            <a:endParaRPr lang="en-US" sz="1300" dirty="0"/>
          </a:p>
          <a:p>
            <a:pPr marL="342900" indent="-342900">
              <a:lnSpc>
                <a:spcPct val="130000"/>
              </a:lnSpc>
              <a:spcAft>
                <a:spcPts val="600"/>
              </a:spcAft>
              <a:buSzPct val="100000"/>
              <a:buChar char="●"/>
            </a:pPr>
            <a:r>
              <a:rPr lang="en-US" sz="1300" dirty="0">
                <a:solidFill>
                  <a:srgbClr val="2D3748"/>
                </a:solidFill>
              </a:rPr>
              <a:t>Preparación Pre-llamada: Obtén el costo exacto de operaciones, el impacto en el cronograma y la confirmación de que está incluido en el acuerdo actualizado antes de llamar</a:t>
            </a:r>
            <a:endParaRPr lang="en-US" sz="1300" dirty="0"/>
          </a:p>
          <a:p>
            <a:pPr marL="342900" indent="-342900">
              <a:lnSpc>
                <a:spcPct val="130000"/>
              </a:lnSpc>
              <a:spcAft>
                <a:spcPts val="600"/>
              </a:spcAft>
              <a:buSzPct val="100000"/>
              <a:buChar char="●"/>
            </a:pPr>
            <a:r>
              <a:rPr lang="en-US" sz="1300" dirty="0">
                <a:solidFill>
                  <a:srgbClr val="2D3748"/>
                </a:solidFill>
              </a:rPr>
              <a:t>El Script: "Hola [Nombre], nuestro equipo de visita técnica encontró que tu tablero eléctrico es de 100 amperios y necesitará actualización a 200 amperios para conectar de forma segura el sistema de batería. Esto es algo que manejamos internamente con nuestro equipo eléctrico."</a:t>
            </a:r>
            <a:endParaRPr lang="en-US" sz="1300" dirty="0"/>
          </a:p>
          <a:p>
            <a:pPr marL="342900" indent="-342900">
              <a:lnSpc>
                <a:spcPct val="130000"/>
              </a:lnSpc>
              <a:spcAft>
                <a:spcPts val="600"/>
              </a:spcAft>
              <a:buSzPct val="100000"/>
              <a:buChar char="●"/>
            </a:pPr>
            <a:r>
              <a:rPr lang="en-US" sz="1300" dirty="0">
                <a:solidFill>
                  <a:srgbClr val="2D3748"/>
                </a:solidFill>
              </a:rPr>
              <a:t>Comunicación del Costo: "La actualización agrega $X al proyecto. Quiero explicarte los números actualizados — seguirás estando en una situación financiera muy sólida, y la actualización del tablero también agrega valor a tu hogar."</a:t>
            </a:r>
            <a:endParaRPr lang="en-US" sz="1300" dirty="0"/>
          </a:p>
          <a:p>
            <a:pPr marL="342900" indent="-342900">
              <a:lnSpc>
                <a:spcPct val="130000"/>
              </a:lnSpc>
              <a:spcAft>
                <a:spcPts val="600"/>
              </a:spcAft>
              <a:buSzPct val="100000"/>
              <a:buChar char="●"/>
            </a:pPr>
            <a:r>
              <a:rPr lang="en-US" sz="1300" dirty="0">
                <a:solidFill>
                  <a:srgbClr val="2D3748"/>
                </a:solidFill>
              </a:rPr>
              <a:t>Si el Propietario Se Resiste: "Entiendo — esto no estaba en nuestro estimado original, y quiero que sepas que me lo tomo en serio. Déjame ver qué puedo hacer de mi parte antes de finalizar esto." (Luego realmente aboga por ellos internamente.)</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Nunca te disculpes por el descubrimiento de ingeniería — discúlpate por las noticias inesperadas, no por el hallazgo en sí. "Lamento que esto no fuera parte del alcance original — quiero asegurarme de que lo manejemos de forma transparente para ti."</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5.5d</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Preservando la Relación Durante la Fricción</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Principio de Fricción: Cómo manejas el primer momento difícil en la relación con el cliente determina si tienes un cliente a largo plazo o una transacción única</a:t>
            </a:r>
            <a:endParaRPr lang="en-US" sz="1300" dirty="0"/>
          </a:p>
          <a:p>
            <a:pPr marL="342900" indent="-342900">
              <a:lnSpc>
                <a:spcPct val="130000"/>
              </a:lnSpc>
              <a:spcAft>
                <a:spcPts val="600"/>
              </a:spcAft>
              <a:buSzPct val="100000"/>
              <a:buChar char="●"/>
            </a:pPr>
            <a:r>
              <a:rPr lang="en-US" sz="1300" dirty="0">
                <a:solidFill>
                  <a:srgbClr val="2D3748"/>
                </a:solidFill>
              </a:rPr>
              <a:t>La Regla de Empatía Primero: Antes de presentar soluciones, reconoce los sentimientos. "Te escucho — esto no es lo que ninguno de los dos esperaba, y quiero hacer esto bien."</a:t>
            </a:r>
            <a:endParaRPr lang="en-US" sz="1300" dirty="0"/>
          </a:p>
          <a:p>
            <a:pPr marL="342900" indent="-342900">
              <a:lnSpc>
                <a:spcPct val="130000"/>
              </a:lnSpc>
              <a:spcAft>
                <a:spcPts val="600"/>
              </a:spcAft>
              <a:buSzPct val="100000"/>
              <a:buChar char="●"/>
            </a:pPr>
            <a:r>
              <a:rPr lang="en-US" sz="1300" dirty="0">
                <a:solidFill>
                  <a:srgbClr val="2D3748"/>
                </a:solidFill>
              </a:rPr>
              <a:t>Aboga Internamente: Si el propietario está molesto por un problema legítimo (nuestro error, comunicación tardía), lucha por ellos. Un crédito, un descuento, una acomodación de cronograma — algo que muestre que su lealtad es valorada.</a:t>
            </a:r>
            <a:endParaRPr lang="en-US" sz="1300" dirty="0"/>
          </a:p>
          <a:p>
            <a:pPr marL="342900" indent="-342900">
              <a:lnSpc>
                <a:spcPct val="130000"/>
              </a:lnSpc>
              <a:spcAft>
                <a:spcPts val="600"/>
              </a:spcAft>
              <a:buSzPct val="100000"/>
              <a:buChar char="●"/>
            </a:pPr>
            <a:r>
              <a:rPr lang="en-US" sz="1300" dirty="0">
                <a:solidFill>
                  <a:srgbClr val="2D3748"/>
                </a:solidFill>
              </a:rPr>
              <a:t>El Script de Recuperación: "¿Cómo se vería para ti sentirte bien avanzando? Déjame llevar eso a nuestro equipo y ver qué puedo hacer."</a:t>
            </a:r>
            <a:endParaRPr lang="en-US" sz="1300" dirty="0"/>
          </a:p>
          <a:p>
            <a:pPr marL="342900" indent="-342900">
              <a:lnSpc>
                <a:spcPct val="130000"/>
              </a:lnSpc>
              <a:spcAft>
                <a:spcPts val="600"/>
              </a:spcAft>
              <a:buSzPct val="100000"/>
              <a:buChar char="●"/>
            </a:pPr>
            <a:r>
              <a:rPr lang="en-US" sz="1300" dirty="0">
                <a:solidFill>
                  <a:srgbClr val="2D3748"/>
                </a:solidFill>
              </a:rPr>
              <a:t>Pensamiento a Largo Plazo: Un cliente que experimentó fricción y fue tratado bien se convierte en tu fuente de mayor cantidad de referidos — tiene una historia que contar. La historia debe ser sobre cómo estuviste presente.</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Después de cualquier conversación difícil sobre cambio de orden que se resuelva bien, da seguimiento en 48 horas: "Quería verificar después de nuestra conversación de ayer — ¿cómo te sientes con todo?" Esa llamada convierte la fricción en lealtad.</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2026-04-25T03:25:06Z</dcterms:created>
  <dcterms:modified xsi:type="dcterms:W3CDTF">2026-04-25T03:25:06Z</dcterms:modified>
</cp:coreProperties>
</file>