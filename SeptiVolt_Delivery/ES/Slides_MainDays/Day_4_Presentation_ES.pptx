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Presentacion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El Cierre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factura al contrato firmado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5852160"/>
            <a:ext cx="1645920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0" y="587044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4 de 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Autopsia de la Factura Electrica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exactamente a donde va su dinero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0698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Consumo Base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3075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 reales usados — el uso historico promedio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600200"/>
            <a:ext cx="4206240" cy="0"/>
          </a:xfrm>
          <a:prstGeom prst="line">
            <a:avLst/>
          </a:prstGeom>
          <a:noFill/>
          <a:ln w="6350">
            <a:solidFill>
              <a:srgbClr val="8A9B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84248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0025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Estructura Tarifaria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 / Escalonada / TOU — identifica el tipo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532888"/>
            <a:ext cx="4206240" cy="0"/>
          </a:xfrm>
          <a:prstGeom prst="line">
            <a:avLst/>
          </a:prstGeom>
          <a:noFill/>
          <a:ln w="6350">
            <a:solidFill>
              <a:srgbClr val="8A9B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16936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16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9352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Cargos Fijos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1729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Cargos de conexion, infraestructura, impuestos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465576"/>
            <a:ext cx="4206240" cy="0"/>
          </a:xfrm>
          <a:prstGeom prst="line">
            <a:avLst/>
          </a:prstGeom>
          <a:noFill/>
          <a:ln w="6350">
            <a:solidFill>
              <a:srgbClr val="8A9B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849624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849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8679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Proyeccion de Inflacion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1056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anual compuesto — muestra costo a 25 anos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398264"/>
            <a:ext cx="4206240" cy="0"/>
          </a:xfrm>
          <a:prstGeom prst="line">
            <a:avLst/>
          </a:prstGeom>
          <a:noFill/>
          <a:ln w="6350">
            <a:solidFill>
              <a:srgbClr val="8A9B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782312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782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4800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Compensacion Objetivo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50383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105-110% del uso para un credito positivo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1005840"/>
            <a:ext cx="4114800" cy="502920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1143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Guion de Narracion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"Senor/a [Nombre], esto que vemos aqui es"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207568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 que la compania electrica le cobra hoy."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264261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 consumo promedio es [X] kWh al mes."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37760" y="320954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 una tasa de inflacion del 6% anual,"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37760" y="37764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10 anos estara pagando [$Y] al mes."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3776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25 anos habra gastado [$Z] en luz."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37760" y="49103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 muestro como detener eso."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5 Pilares de la Presentacion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tiene un objetivo especifico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132588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64008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 Personal y Re-Descubrimiento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Reconecta con el cliente — sus metas y dolor real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132588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64008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972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77840" y="10972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 Macro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57276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Inflacion energetica, monopolio de la empresa electrica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4114800" cy="132588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60320"/>
            <a:ext cx="64008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6032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2560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Solucion Solar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03580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del sistema, produccion estimada, tecnologia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468880"/>
            <a:ext cx="4114800" cy="132588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560320"/>
            <a:ext cx="64008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6032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77840" y="2560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Historia de la Empresa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03580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Credibilidad: garantias, licencias, resenas, anos en el mercado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931920"/>
            <a:ext cx="8595360" cy="132588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23360"/>
            <a:ext cx="64008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2336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402336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 Financiera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49884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 25 anos: seguir pagando vs. ir solar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3 Opciones de Financiamiento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 cada opcion — recomienda segun el perfil del cliente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2834640" cy="5394960"/>
          </a:xfrm>
          <a:prstGeom prst="rect">
            <a:avLst/>
          </a:prstGeom>
          <a:solidFill>
            <a:srgbClr val="2D4472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005840"/>
            <a:ext cx="28346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  Prestamo Solar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Cliente es dueno del sistema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2585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Credito federal 30% (~$9,000)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008376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Ventana 18 meses "igual que efectivo"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758184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Aplica el credito al capital del prestamo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45079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Mayor ahorro a largo plazo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5943600"/>
            <a:ext cx="25603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5943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54680" y="1005840"/>
            <a:ext cx="2834640" cy="5394960"/>
          </a:xfrm>
          <a:prstGeom prst="rect">
            <a:avLst/>
          </a:prstGeom>
          <a:solidFill>
            <a:srgbClr val="F4F6FA"/>
          </a:solidFill>
          <a:ln w="1016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005840"/>
            <a:ext cx="2834640" cy="4114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  Arrendamiento (Lease)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15087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Pago mensual fijo garantizado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22585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La empresa electrica es duena del sistema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008376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Sin inversion inicial requerida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3758184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Sin beneficio del credito fiscal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45079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Buena opcion para credito limitado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5943600"/>
            <a:ext cx="2560320" cy="34747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5943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 MEDIA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1005840"/>
            <a:ext cx="2834640" cy="5394960"/>
          </a:xfrm>
          <a:prstGeom prst="rect">
            <a:avLst/>
          </a:prstGeom>
          <a:solidFill>
            <a:srgbClr val="F4F6FA"/>
          </a:solidFill>
          <a:ln w="10160">
            <a:solidFill>
              <a:srgbClr val="8A9BB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005840"/>
            <a:ext cx="2834640" cy="411480"/>
          </a:xfrm>
          <a:prstGeom prst="rect">
            <a:avLst/>
          </a:prstGeom>
          <a:solidFill>
            <a:srgbClr val="8A9BB5"/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 PPA (Compra de Energia)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15087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Pago por kWh producido (no por sistema)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22585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La empresa es duena del sistema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008376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Tarifa por kWh menor a la red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3758184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Sin credito fiscal para el cliente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45079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Opcion para perfil conservador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5943600"/>
            <a:ext cx="2560320" cy="347472"/>
          </a:xfrm>
          <a:prstGeom prst="rect">
            <a:avLst/>
          </a:prstGeom>
          <a:solidFill>
            <a:srgbClr val="8A9BB5"/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59436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 ALTERNATIVA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Estrategia de los 18 Meses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Credito fiscal federal del 30% — ventana critica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7772400" cy="914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651760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Contrato firmado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34564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financiamiento, instalacion en 60-90 dias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97480" y="2651760"/>
            <a:ext cx="365760" cy="36576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3-6 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Instalacion activa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34564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genera energia, ahorros comienzan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2651760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Declaracion de impuestos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60520" y="34564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credito 30% al pago del prestamo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2651760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Vence "igual que efectivo"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4564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credito: pago sube. Con credito: saldo baja.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8229600" cy="1463040"/>
          </a:xfrm>
          <a:prstGeom prst="rect">
            <a:avLst/>
          </a:prstGeom>
          <a:solidFill>
            <a:srgbClr val="2D4472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44074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Guion Clave: Estrategia del Credito Fiscal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7091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 credito fiscal federal es aproximadamente $9,000. Si lo aplica al capital del prestamo antes del mes 18, su pago mensual baja de $180 a $120. Si no lo aplica, el pago sube a $220. La diferencia entre hacer esto bien o mal son $100 al mes — cada mes — por 25 anos."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Especificaciones Tecnicas para No Tecnicos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caracteristicas a beneficios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Eficiencia del Panel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Beneficio: Mas energia en menos espacio de techo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20-23% eficiencia — los mejores del mercado producen mas kWh por m2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965960"/>
            <a:ext cx="4709160" cy="0"/>
          </a:xfrm>
          <a:prstGeom prst="line">
            <a:avLst/>
          </a:prstGeom>
          <a:noFill/>
          <a:ln w="6350">
            <a:solidFill>
              <a:srgbClr val="8A9B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359152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3591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359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Micro-Inversores vs. String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633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Beneficio: Sombra en un panel no apaga todo el sistema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2907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luces de Navidad — si una cae, las otras siguen encendidas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319272"/>
            <a:ext cx="4709160" cy="0"/>
          </a:xfrm>
          <a:prstGeom prst="line">
            <a:avLst/>
          </a:prstGeom>
          <a:noFill/>
          <a:ln w="6350">
            <a:solidFill>
              <a:srgbClr val="8A9B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712464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7124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7124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Garantia de Rendimiento 25 Anos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9867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Beneficio: El panel produce al menos 80% en el ano 25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5840" y="42611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de produccion — no solo garantia de fabrica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672584"/>
            <a:ext cx="4709160" cy="0"/>
          </a:xfrm>
          <a:prstGeom prst="line">
            <a:avLst/>
          </a:prstGeom>
          <a:noFill/>
          <a:ln w="6350">
            <a:solidFill>
              <a:srgbClr val="8A9B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5065776"/>
            <a:ext cx="640080" cy="6400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5065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5065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Monitoreo en Tiempo Real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53400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Beneficio: Ve tu produccion desde el telefono cada dia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" y="56144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del fabricante: detecta caidas de produccion antes que nadie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74920" y="1005840"/>
            <a:ext cx="3840480" cy="457200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21208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Comparacion de Equipos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 Alpha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12080" y="1801368"/>
            <a:ext cx="100584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180136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09360" y="18013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eficiencia, garantia 25 a.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12080" y="2130552"/>
            <a:ext cx="3474720" cy="0"/>
          </a:xfrm>
          <a:prstGeom prst="line">
            <a:avLst/>
          </a:prstGeom>
          <a:noFill/>
          <a:ln w="6350">
            <a:solidFill>
              <a:srgbClr val="4A6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2496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Maxeon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12080" y="2788920"/>
            <a:ext cx="100584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27889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09360" y="27889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garantia del mercado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12080" y="3118104"/>
            <a:ext cx="3474720" cy="0"/>
          </a:xfrm>
          <a:prstGeom prst="line">
            <a:avLst/>
          </a:prstGeom>
          <a:noFill/>
          <a:ln w="6350">
            <a:solidFill>
              <a:srgbClr val="4A6F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34838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Tesla / SolarEdge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212080" y="3776472"/>
            <a:ext cx="100584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3776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09360" y="3776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bateria-inversor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12080" y="4105656"/>
            <a:ext cx="3474720" cy="0"/>
          </a:xfrm>
          <a:prstGeom prst="line">
            <a:avLst/>
          </a:prstGeom>
          <a:noFill/>
          <a:ln w="6350">
            <a:solidFill>
              <a:srgbClr val="4A6FA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2080" y="44714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Q-Cells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212080" y="4764024"/>
            <a:ext cx="100584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0" y="476402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309360" y="47640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Costo-beneficio solido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20640" y="56692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Pivotea de precio a valor. El equipo barato tiene costos ocultos.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Pila de Valor: Mas Alla del Dinero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decision es emocional — cierra con los 4 pilares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114800" cy="2057400"/>
          </a:xfrm>
          <a:prstGeom prst="rect">
            <a:avLst/>
          </a:prstGeom>
          <a:solidFill>
            <a:srgbClr val="2D4472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85800" cy="6858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[$]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234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Proteccion Financiera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tu tarifa mientras la de tus vecinos sigue subiendo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114800" cy="2057400"/>
          </a:xfrm>
          <a:prstGeom prst="rect">
            <a:avLst/>
          </a:prstGeom>
          <a:solidFill>
            <a:srgbClr val="2D4472"/>
          </a:solidFill>
          <a:ln w="1905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234440"/>
            <a:ext cx="685800" cy="68580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234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5000" y="1234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6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Independencia Energetica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8288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dependes de las decisiones de precio de la empresa electrica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4114800" cy="2057400"/>
          </a:xfrm>
          <a:prstGeom prst="rect">
            <a:avLst/>
          </a:prstGeom>
          <a:solidFill>
            <a:srgbClr val="2D4472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66160"/>
            <a:ext cx="685800" cy="6858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66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[H]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566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Valor del Hogar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$15,000-$20,000 en valor de reventa al activo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383280"/>
            <a:ext cx="4114800" cy="2057400"/>
          </a:xfrm>
          <a:prstGeom prst="rect">
            <a:avLst/>
          </a:prstGeom>
          <a:solidFill>
            <a:srgbClr val="2D4472"/>
          </a:solidFill>
          <a:ln w="19050">
            <a:solidFill>
              <a:srgbClr val="8A9BB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3566160"/>
            <a:ext cx="685800" cy="685800"/>
          </a:xfrm>
          <a:prstGeom prst="ellipse">
            <a:avLst/>
          </a:prstGeom>
          <a:solidFill>
            <a:srgbClr val="8A9BB5"/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566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[*]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15000" y="3566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BB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Tranquilidad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41605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10 anos, cuando tus vecinos paguen $400/mes, tu estaras muy contento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5760720"/>
            <a:ext cx="8595360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788152"/>
            <a:ext cx="82296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se trata solo de ahorrar $50 al mes. Se trata de proteger a su familia de los proximos 25 anos de aumentos de tarifas."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Medicion Neta y Almacenamiento en Bateria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como tu bateria — y cuando si conviene una real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754880" cy="2926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789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 la Medicion Neta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Dia: paneles producen mas de lo que usas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creditos van a la red (el medidor gira al reves)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Noche: usas la red — gastas los creditos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ano: liquidas. Si produciste de mas, la empresa te debe.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57800" y="1005840"/>
            <a:ext cx="3611880" cy="2926080"/>
          </a:xfrm>
          <a:prstGeom prst="rect">
            <a:avLst/>
          </a:prstGeom>
          <a:solidFill>
            <a:srgbClr val="F4F6FA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94960" y="10789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Cuando SI Conviene una Bateria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146304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Apagones frecuentes en la zona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94960" y="196596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Tarifas TOU (carga barata, descarga cara)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94960" y="246888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Estados NEM 3.0 (creditos reducidos)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94960" y="297180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Meta de independencia energetica total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4114800"/>
            <a:ext cx="8595360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330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Si ninguno de los 4 casos aplica, la bateria agrega costo sin beneficio proporcional. Dilo con confianza.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937760"/>
            <a:ext cx="8595360" cy="1371600"/>
          </a:xfrm>
          <a:prstGeom prst="rect">
            <a:avLst/>
          </a:prstGeom>
          <a:solidFill>
            <a:srgbClr val="2D4472"/>
          </a:solidFill>
          <a:ln w="12700">
            <a:solidFill>
              <a:srgbClr val="8A9BB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5047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Lenguaje Regulatorio — Di ESTO, no ESTO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5349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puedes decir: "Estimado basado en datos historicos — la produccion puede variar."    NO puedes decir: "Su factura sera cero garantizado." Precision en tus promesas = pipeline sin cancelaciones.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Flujo Completo: 20 Minutos, 6 Fases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termina con un micro-cierre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150876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6858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1097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10972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Analisis de Factura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5544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Micro-cierre: "Tiene sentido lo que ven, verdad?"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4206240" cy="150876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6858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346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28346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88720" y="2834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Diseno del Sistema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2918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Micro-cierre: "Este es exactamente su techo, correcto?"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480560"/>
            <a:ext cx="4206240" cy="150876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572000"/>
            <a:ext cx="6858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572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83280" y="4572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88720" y="45720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Comparacion Financiera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50292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Micro-cierre: "Los numeros tienen sentido para usted?"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206240" cy="150876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97280"/>
            <a:ext cx="6858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09728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863840" y="1097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0" y="10972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Pila de Valor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15544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Micro-cierre: "Que pilar le importa mas?"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743200"/>
            <a:ext cx="4206240" cy="150876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834640"/>
            <a:ext cx="6858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8346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863840" y="28346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0" y="2834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Incentivos y Tiempo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32918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Micro-cierre: "El credito fiscal del 30% aplica para usted."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4480560"/>
            <a:ext cx="4206240" cy="1508760"/>
          </a:xfrm>
          <a:prstGeom prst="rect">
            <a:avLst/>
          </a:prstGeom>
          <a:solidFill>
            <a:srgbClr val="2D4472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4572000"/>
            <a:ext cx="68580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572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669280" y="45720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Transicion al Cierre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50292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numeros funcionan. La unica pregunta: cuando empieza?"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Senales de Compra y Control de Interrupciones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 sala — acelera o redirige segun la senal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5120640"/>
          </a:xfrm>
          <a:prstGeom prst="rect">
            <a:avLst/>
          </a:prstGeom>
          <a:solidFill>
            <a:srgbClr val="2D4472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&gt;&gt; Senales de Compra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384048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36192"/>
            <a:ext cx="3657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inclina hacia adelante / asiente con la cabeza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221992"/>
            <a:ext cx="384048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49424"/>
            <a:ext cx="3657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sobre fechas de instalacion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935224"/>
            <a:ext cx="384048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62656"/>
            <a:ext cx="3657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"Cuando podemos empezar?"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648456"/>
            <a:ext cx="384048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75888"/>
            <a:ext cx="3657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su conyuge para que escuche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4361688"/>
            <a:ext cx="384048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89120"/>
            <a:ext cx="3657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calculos en su telefono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5074920"/>
            <a:ext cx="384048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102352"/>
            <a:ext cx="3657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sobre garantias especificas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5806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Cuando veas 2+ senales: TRANSICIONA AL CIERRE. No sigas presentando.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4206240" cy="5120640"/>
          </a:xfrm>
          <a:prstGeom prst="rect">
            <a:avLst/>
          </a:prstGeom>
          <a:solidFill>
            <a:srgbClr val="F4F6FA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 Control de Interrupciones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fuera de tema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8288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"Excelente pregunta — termino esta seccion y volvemos a eso."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468880"/>
            <a:ext cx="3749040" cy="0"/>
          </a:xfrm>
          <a:prstGeom prst="line">
            <a:avLst/>
          </a:prstGeom>
          <a:noFill/>
          <a:ln w="6350">
            <a:solidFill>
              <a:srgbClr val="8A9B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651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Objecion prematura de precio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9260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"Vamos a llegar exactamente ahi — primero muestre los numeros."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566160"/>
            <a:ext cx="3749040" cy="0"/>
          </a:xfrm>
          <a:prstGeom prst="line">
            <a:avLst/>
          </a:prstGeom>
          <a:noFill/>
          <a:ln w="6350">
            <a:solidFill>
              <a:srgbClr val="8A9B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Telefono/distraccion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0233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Pausa. Espera. Retoma con: "Por donde ibamos..."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4663440"/>
            <a:ext cx="3749040" cy="0"/>
          </a:xfrm>
          <a:prstGeom prst="line">
            <a:avLst/>
          </a:prstGeom>
          <a:noFill/>
          <a:ln w="6350">
            <a:solidFill>
              <a:srgbClr val="8A9B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4846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Conyuge esceptico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51206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 alegra que esten los dos — esto les afecta a ambos."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del Dia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dominas hoy convierte visitas en contratos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841248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1615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16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14300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autopsia de factura es el ancla emocional — muestra el costo REAL de no actuar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8595360" cy="841248"/>
          </a:xfrm>
          <a:prstGeom prst="rect">
            <a:avLst/>
          </a:prstGeom>
          <a:solidFill>
            <a:srgbClr val="1B2A4A"/>
          </a:solidFill>
          <a:ln w="12700">
            <a:solidFill>
              <a:srgbClr val="2D447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22199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1488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pilares estructuran tu presentacion — cada fase tiene micro-cierre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8595360" cy="841248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22783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27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15468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Prestamo solar + estrategia 18 meses = mayor ahorro para el cliente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069080"/>
            <a:ext cx="8595360" cy="841248"/>
          </a:xfrm>
          <a:prstGeom prst="rect">
            <a:avLst/>
          </a:prstGeom>
          <a:solidFill>
            <a:srgbClr val="1B2A4A"/>
          </a:solidFill>
          <a:ln w="12700">
            <a:solidFill>
              <a:srgbClr val="2D447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423367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16052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specs tecnicas a beneficios — el cliente compra la transformacion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5074920"/>
            <a:ext cx="8595360" cy="841248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523951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5239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516636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las senales de compra — transiciona al cierre antes de sobre-vender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74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Tarea del Dia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hasta que la presentacion fluya natural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467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[LOGO]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155448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9144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11556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Presentacion grabada de 20 minutos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57276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la presentacion completa a un familiar. Grabala en video. Revisa: usas micro-cierres, narras la factura con claridad, explicas el financiamiento con confianza.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8595360" cy="155448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834640"/>
            <a:ext cx="9144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8346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285292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 el pago para 3 perfiles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31012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los calculos de pago para 3 propietarios hipoteticos con diferentes niveles de uso y puntaje de credito. Domina los numeros antes del Dia 5.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480560"/>
            <a:ext cx="8595360" cy="1554480"/>
          </a:xfrm>
          <a:prstGeom prst="rect">
            <a:avLst/>
          </a:prstGeom>
          <a:solidFill>
            <a:srgbClr val="2D4472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4572000"/>
            <a:ext cx="9144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5720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459028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 tu presentacion para manana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504748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 5 es manejo de objeciones y cierre — el dia mas intenso del programa. Llega con tu presentacion memorizada y lista para hacer roleplay.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6263640"/>
            <a:ext cx="859536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2819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Manana: Dia 5 — Dominio de Objeciones y Cierre Etico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SeptiVolt — Dia 4: La Presentacion y El Cierre</dc:title>
  <dc:subject>PptxGenJS Presentation</dc:subject>
  <dc:creator>SeptiVolt Training</dc:creator>
  <cp:lastModifiedBy>SeptiVolt Training</cp:lastModifiedBy>
  <cp:revision>1</cp:revision>
  <dcterms:created xsi:type="dcterms:W3CDTF">2026-05-10T14:17:55Z</dcterms:created>
  <dcterms:modified xsi:type="dcterms:W3CDTF">2026-05-10T14:17:55Z</dcterms:modified>
</cp:coreProperties>
</file>