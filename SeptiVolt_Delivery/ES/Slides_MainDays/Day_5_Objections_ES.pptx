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Dominio de Objeciones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Cierre Etico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"necesito pensar" en un contrato firmado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0" y="5852160"/>
            <a:ext cx="16459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0" y="58704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5 de 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es Realmente una Objecion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"no" — es una peticion de seguridad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33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objecion = "Todavia estoy en la conversacion. Necesito mas certeza."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comun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Respuesta correcta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11480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060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Ponerse a la defensiva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514600"/>
            <a:ext cx="411480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6060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Mantener la calma — escuchar primero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24528" y="2697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411480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11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Lanzar mas informacion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520440"/>
            <a:ext cx="411480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611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Clarificar la objecion real debajo de la superficial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4528" y="3703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526280"/>
            <a:ext cx="411480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6177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Ceder de inmediato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526280"/>
            <a:ext cx="4114800" cy="777240"/>
          </a:xfrm>
          <a:prstGeom prst="rect">
            <a:avLst/>
          </a:prstGeom>
          <a:solidFill>
            <a:srgbClr val="F4F6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6177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Responder con precision — no con un discurso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24528" y="47091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5577840"/>
            <a:ext cx="8595360" cy="6400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56052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no les interesara, dejarian de responder — no objetarian. La objecion es buena senal.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Marco A.C.A.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esta secuencia en cada objecion, en cada visita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600200"/>
          </a:xfrm>
          <a:prstGeom prst="rect">
            <a:avLst/>
          </a:prstGeom>
          <a:solidFill>
            <a:srgbClr val="2D4472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17320" y="11155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Acknowledge — Reconocer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48132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la preocupacion sin estar de acuerdo con ella.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82880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"Tiene todo el sentido." / "Lo escucho."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8595360" cy="1600200"/>
          </a:xfrm>
          <a:prstGeom prst="rect">
            <a:avLst/>
          </a:prstGeom>
          <a:solidFill>
            <a:srgbClr val="2D4472"/>
          </a:solidFill>
          <a:ln w="254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914400" cy="9144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417320" y="289864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Clarify — Clarificar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26440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para entender la objecion REAL debajo de la superficial.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 especificamente le preocupa?" / "Es el pago mensual o el costo total?"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572000"/>
            <a:ext cx="8595360" cy="1600200"/>
          </a:xfrm>
          <a:prstGeom prst="rect">
            <a:avLst/>
          </a:prstGeom>
          <a:solidFill>
            <a:srgbClr val="2D4472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754880"/>
            <a:ext cx="9144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54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17320" y="46817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— Responder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0474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la respuesta exacta a la preocupacion exacta. Corto, claro, confiado.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539496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"[Respuesta especifica.] Le ayuda eso?"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10 Objeciones Principales — Parte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probadas para las primeras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60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"Necesito pensarlo"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06070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 de inmediato: "Claro — que especificamente quiere pensar?" Ofrece 3 categorias: el tiempo, el dinero, o algo que aun no tiene sentido. Pregunta cual es mas cercano.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109728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03120"/>
            <a:ext cx="859536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157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"Es muy caro"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15798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es el pago mensual o el costo total lo que se siente alto? Si es mensual: muestra pago solar vs. factura actual lado a lado. Si es total: "No es un gasto — es una inversion a 25 anos que se paga sola."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219456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200400"/>
            <a:ext cx="859536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2552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"Quiero pedir otras cotizaciones"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325526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Animalo genuinamente. Dile exactamente que preguntar a la competencia: garantias, experiencia del instalador, monitoreo, politica de cancelacion. La mayoria de reps no responderan — ese contraste te hace ver excelente.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329184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297680"/>
            <a:ext cx="859536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43525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"No estoy listo todavia"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435254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que tendria que cambiar para que el momento fuera correcto? Si nombran algo especifico, agenda el seguimiento para despues de ese evento. Si no, usa el credito fiscal ITC y las subidas de tarifas para mostrar el costo de esperar.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17520" y="438912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394960"/>
            <a:ext cx="859536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54498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"No confio en las companias solares"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08960" y="544982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la preocupacion. Pregunta que han escuchado especificamente. Muestra credenciales: licencias, resenas, calificacion BBB y terminos de garantia por escrito.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17520" y="548640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10 Objeciones Principales — Parte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para las objeciones tecnicas y de timing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607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"Y si vendo la casa?"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06070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solar agrega valor a la propiedad mas alla del saldo del prestamo. Los compradores frecuentemente pagan mas por casas con solar. El sistema es un activo, no un pasivo.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109728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03120"/>
            <a:ext cx="8595360" cy="960120"/>
          </a:xfrm>
          <a:prstGeom prst="rect">
            <a:avLst/>
          </a:prstGeom>
          <a:solidFill>
            <a:srgbClr val="243560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157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"Y la garantia del techo?"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15798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garantia de mano de obra cubre la instalacion por 10 anos. Las garantias de techo existentes pueden revisarse antes de firmar. Es un proceso estandar.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219456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200400"/>
            <a:ext cx="859536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2552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"La tecnologia mejorara el ano que viene"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325526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— y ha sido verdad por 40 anos. Cada mes que espera es un mes pagando a la empresa electrica. "Que especificamente espera que mejore?" — eso suele revelar la objecion real.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329184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297680"/>
            <a:ext cx="8595360" cy="960120"/>
          </a:xfrm>
          <a:prstGeom prst="rect">
            <a:avLst/>
          </a:prstGeom>
          <a:solidFill>
            <a:srgbClr val="243560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43525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"Mis vecinos tuvieron problemas"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435254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credenciales, resenas y garantias por escrito. Pregunta que paso especificamente con sus vecinos. Diferencia tu empresa con datos concretos.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17520" y="438912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394960"/>
            <a:ext cx="859536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54498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"Ya tengo otro proveedor en mente"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08960" y="5449824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Perfecto. Pidele que compare: paneles, inversor, garantia, quien instala, sistema de monitoreo y politica de cancelacion. $8,000 mas barato no significa nada si la empresa no existe en 5 anos.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17520" y="5486400"/>
            <a:ext cx="0" cy="77724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5 Tecnicas de Cierre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segun la personalidad y disposicion del cliente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298448"/>
          </a:xfrm>
          <a:prstGeom prst="rect">
            <a:avLst/>
          </a:prstGeom>
          <a:solidFill>
            <a:srgbClr val="2D447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5836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 Asuntivo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 a la logistica como si la decision ya estuviera tomada.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8105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"Vamos a iniciar tu solicitud. Que dia te queda bien para la visita de sitio?"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206240" cy="1298448"/>
          </a:xfrm>
          <a:prstGeom prst="rect">
            <a:avLst/>
          </a:prstGeom>
          <a:solidFill>
            <a:srgbClr val="2D4472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658368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032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2560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 Resumen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 toda la propuesta de valor y haz una pregunta simple de si o no.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2735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"Cubrimos la factura, el sistema, el financiamiento y las garantias. Tiene sentido para usted?"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4206240" cy="1298448"/>
          </a:xfrm>
          <a:prstGeom prst="rect">
            <a:avLst/>
          </a:prstGeom>
          <a:solidFill>
            <a:srgbClr val="2D4472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23360"/>
            <a:ext cx="658368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2336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4023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Decision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434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un T-chart mostrando el costo de ir solar vs. el costo de esperar.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7365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"Mira los numeros en 25 anos de cada lado. Cual camino prefiere?"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206240" cy="1298448"/>
          </a:xfrm>
          <a:prstGeom prst="rect">
            <a:avLst/>
          </a:prstGeom>
          <a:solidFill>
            <a:srgbClr val="2D4472"/>
          </a:solidFill>
          <a:ln w="19050">
            <a:solidFill>
              <a:srgbClr val="8A9BB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97280"/>
            <a:ext cx="658368" cy="347472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9728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96128" y="1097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 del Silencio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5087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la firma una sola vez, claramente, y detente. El que habla primero pierde.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18105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"Estamos listos para proceder. [Silencio.]"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468880"/>
            <a:ext cx="4206240" cy="1298448"/>
          </a:xfrm>
          <a:prstGeom prst="rect">
            <a:avLst/>
          </a:prstGeom>
          <a:solidFill>
            <a:srgbClr val="2D447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560320"/>
            <a:ext cx="658368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560320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96128" y="25603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Ultima Objecion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9718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directamente si hay algo mas que les detiene.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32735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"Hay algo mas que le preocupa, o estamos listos para avanzar?"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931920"/>
            <a:ext cx="4206240" cy="12984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92040" y="4005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de Oro del Cierre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43434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la venta UNA vez, con claridad — luego calla. No sigas vendiendo cuando alguien ya esta listo para comprar.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Walkthrough del Contrato: 5 Secciones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digas solo "firma aqui" — guia seccion por seccion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1005840"/>
            <a:ext cx="777240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107899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Descripcion del Sistema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38988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estan sus paneles exactos, el inversor y el tamano del sistema. Exactamente lo que va en su techo.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" y="2103120"/>
            <a:ext cx="777240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217627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Precio y Financiamiento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48716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su costo total, su credito fiscal y su pago mensual.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3200400"/>
            <a:ext cx="777240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27355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Garantias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58444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anos garantia de panel, 10 anos mano de obra, 12 anos inversor.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43484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434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1560" y="4297680"/>
            <a:ext cx="777240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88720" y="437083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Politica de Cancelacion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68172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3 dias de rescision. Sin penalidad en 72 horas — solo un correo.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553212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5532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51560" y="5394960"/>
            <a:ext cx="7772400" cy="960120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188720" y="546811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Cronograma de Instalacion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577900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dias post-permiso. Nosotros hacemos todo el trabajo.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 no es la parte dificil. Esta es la linea de salida. De aqui en adelante, nosotros hacemos todo."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Prevencion de Cancelaciones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razones predecibles — todas prevenibles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Familiar esceptico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Inocula antes de salir — "Probablemente recibes una llamada..."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402336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21408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0848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Cotizacion competidora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3591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la comparacion antes de irse. Deja el diferenciador claro.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402336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127248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27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0906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sintieron presionados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36499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apresures el cierre. Ritmo natural = menos cancelaciones.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913632"/>
            <a:ext cx="402336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133088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0965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entendieron lo que firmaron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37083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completo del contrato. Sin atajos.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919472"/>
            <a:ext cx="402336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5138928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5138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51023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urgencia se fue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53766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seguimiento post-cierre — texto en 1 hora, llamada en 48 h.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1005840"/>
            <a:ext cx="4297680" cy="5120640"/>
          </a:xfrm>
          <a:prstGeom prst="rect">
            <a:avLst/>
          </a:prstGeom>
          <a:solidFill>
            <a:srgbClr val="2D447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916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Protocolo Post-Cierre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150876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1508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el momento del cierre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17830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"Felicidades! Te va a llamar la competencia y algun familiar va a cuestionar la decision. Es completamente normal. Los numeros no cambian."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514600"/>
            <a:ext cx="402336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60604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606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Dentro de 1 hora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28803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texto recapitulando los proximos pasos y expresando entusiasmo.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611880"/>
            <a:ext cx="402336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70332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703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las 48 horas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9160" y="39776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de seguimiento para ver como estan y anticipar preguntas.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709160"/>
            <a:ext cx="402336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800600"/>
            <a:ext cx="256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800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 llaman a cancelar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9160" y="50749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entres en panico. No argues. Pregunta: "Que cambio desde que hablamos?" Escucha completamente.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Scripts Avanzados de Cierre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alto impulso para los ultimos 10 minutos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2240280"/>
          </a:xfrm>
          <a:prstGeom prst="rect">
            <a:avLst/>
          </a:prstGeom>
          <a:solidFill>
            <a:srgbClr val="2D447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20624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Cierre de Eleccion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de "si" a "cual". Elimina la decision binaria.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3931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"Perfecto — prefiere el plazo de 10 o el de 20 anos para su pago mensual?"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206240" cy="2240280"/>
          </a:xfrm>
          <a:prstGeom prst="rect">
            <a:avLst/>
          </a:prstGeom>
          <a:solidFill>
            <a:srgbClr val="2D4472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206240" cy="3657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Inversion del Precio Bajo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preocupaciones de presupuesto — reencuadra el costo de no actuar.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057400"/>
            <a:ext cx="3931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103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mes que espera, ese dinero va a la empresa electrica. No hay forma de recuperarlo."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74720"/>
            <a:ext cx="4206240" cy="2240280"/>
          </a:xfrm>
          <a:prstGeom prst="rect">
            <a:avLst/>
          </a:prstGeom>
          <a:solidFill>
            <a:srgbClr val="2D4472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74720"/>
            <a:ext cx="420624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Fecha Limite del Incentivo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931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 real basada en la politica fiscal o tarifas de la empresa electrica.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526280"/>
            <a:ext cx="3931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credito fiscal del 30% es real hoy. Las tasas de la empresa ya subieron un 12% este ano."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206240" cy="2240280"/>
          </a:xfrm>
          <a:prstGeom prst="rect">
            <a:avLst/>
          </a:prstGeom>
          <a:solidFill>
            <a:srgbClr val="2D4472"/>
          </a:solidFill>
          <a:ln w="19050">
            <a:solidFill>
              <a:srgbClr val="8A9BB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74720"/>
            <a:ext cx="4206240" cy="365760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474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Tecnica del Silencio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931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la firma una sola vez — luego para de hablar. El primero que habla pierde.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4526280"/>
            <a:ext cx="39319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4572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"Estamos listos para iniciar. [Pausa. Mantener contacto visual.]"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Sistema de Referidos: 3 Pasos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cada cliente en una fuente de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3327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Referidos cierran al 40-60%  vs.  Leads frios al 20-30%  |  Costo de adquisicion: $0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1280160"/>
          </a:xfrm>
          <a:prstGeom prst="rect">
            <a:avLst/>
          </a:prstGeom>
          <a:solidFill>
            <a:srgbClr val="2D447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103120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Siembra la Semilla al Cierre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momento del cierre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34440" y="233172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salir: "El mayor agradecimiento es un referido. Si alguien que conoce se ha quejado de su factura electrica, me encantaria una presentacion."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8595360" cy="1280160"/>
          </a:xfrm>
          <a:prstGeom prst="rect">
            <a:avLst/>
          </a:prstGeom>
          <a:solidFill>
            <a:srgbClr val="F4F6FA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566160"/>
            <a:ext cx="685800" cy="6858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66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3429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 Post-Instalacion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429000"/>
            <a:ext cx="2560320" cy="2743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sistema enciende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34440" y="379476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sistema entre en linea, envia un mensaje entusiasmado y pregunta: "A quien seria el primero que le diria sobre esto?"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800600"/>
            <a:ext cx="8595360" cy="1280160"/>
          </a:xfrm>
          <a:prstGeom prst="rect">
            <a:avLst/>
          </a:prstGeom>
          <a:solidFill>
            <a:srgbClr val="2D4472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5029200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029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3444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Seguimiento Personalizado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892040"/>
            <a:ext cx="25603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4892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24 horas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34440" y="5257800"/>
            <a:ext cx="7406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Comunicate con cada referido por nombre, mencionando la conexion mutua. "Tu vecino menciono que has pensado en solar." Abre diferente que una llamada fria.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Dia 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 que domina objeciones nunca teme la sala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161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430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objecion es una peticion de certeza — no un rechazo. El A.C.A. funciona siempre.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841248"/>
          </a:xfrm>
          <a:prstGeom prst="rect">
            <a:avLst/>
          </a:prstGeom>
          <a:solidFill>
            <a:srgbClr val="243560"/>
          </a:solidFill>
          <a:ln w="12700">
            <a:solidFill>
              <a:srgbClr val="2D447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2199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148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objeciones principales tienen respuestas probadas — memorizalas y practica el roleplay.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859536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2783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1546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tecnica de cierre segun el perfil: asuntivo, resumen, silencio, matriz, ultima objecion.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8595360" cy="841248"/>
          </a:xfrm>
          <a:prstGeom prst="rect">
            <a:avLst/>
          </a:prstGeom>
          <a:solidFill>
            <a:srgbClr val="243560"/>
          </a:solidFill>
          <a:ln w="12700">
            <a:solidFill>
              <a:srgbClr val="2D447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423367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1605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walkthrough del contrato previene cancelaciones — nunca digas solo "firma aqui".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5074920"/>
            <a:ext cx="859536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523951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239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51663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post-cierre es tu seguro: inocula, texto en 1 h, llamada en 48 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Tarea del Dia 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practica de roleplay es lo que separa a los que cierran de los que no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5544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9144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1155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Roleplay de objeciones — 30 minutos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companero o familiar, practica las 10 objeciones principales. Tu companero da la objecion, tu respondes con A.C.A. Graba el audio y escuchate.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8595360" cy="15544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834640"/>
            <a:ext cx="9144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34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28529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Escribe 3 guiones de cierre personalizados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el Cierre Asuntivo, el Cierre del Silencio y el Cierre de Eleccion a tu tono de voz. Tienen que sonar a ti — no a un guion memorizado.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480560"/>
            <a:ext cx="8595360" cy="15544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4572000"/>
            <a:ext cx="9144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572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5902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 tu sistema de referidos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504748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script personal de pedido de referido que usaras inmediatamente despues de firmar el contrato. Practicalo hasta que fluya natural.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6263640"/>
            <a:ext cx="85953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281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Manana: Dia 6 — Post-Venta, Referidos y Crecimiento de Carrera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SeptiVolt — Dia 5: Dominio de Objeciones y Cierre Etico</dc:title>
  <dc:subject>PptxGenJS Presentation</dc:subject>
  <dc:creator>SeptiVolt Training</dc:creator>
  <cp:lastModifiedBy>SeptiVolt Training</cp:lastModifiedBy>
  <cp:revision>1</cp:revision>
  <dcterms:created xsi:type="dcterms:W3CDTF">2026-05-10T14:23:44Z</dcterms:created>
  <dcterms:modified xsi:type="dcterms:W3CDTF">2026-05-10T14:23:44Z</dcterms:modified>
</cp:coreProperties>
</file>