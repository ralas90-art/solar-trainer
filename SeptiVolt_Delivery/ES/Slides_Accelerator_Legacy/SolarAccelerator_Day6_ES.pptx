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ns0:sld xmlns:a="http://schemas.openxmlformats.org/drawingml/2006/main" xmlns:ns0="http://schemas.openxmlformats.org/presentationml/2006/main">
  <ns0:cSld name="Slide 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1600200"/>
            <a:ext cx="9144000" cy="2011680"/>
          </a:xfrm>
          <a:prstGeom prst="rect">
            <a:avLst/>
          </a:prstGeom>
          <a:solidFill>
            <a:srgbClr val="1A2840"/>
          </a:solidFill>
          <a:ln w="12700">
            <a:solidFill>
              <a:srgbClr val="1A2840"/>
            </a:solidFill>
            <a:prstDash val="solid"/>
          </a:ln>
        </ns0:spPr>
      </ns0:sp>
      <ns0:sp>
        <ns0:nvSpPr>
          <ns0:cNvPr id="3" name="Shape 1"/>
          <ns0:cNvSpPr/>
          <ns0:nvPr/>
        </ns0:nvSpPr>
        <ns0:spPr>
          <a:xfrm>
            <a:off x="0" y="1600200"/>
            <a:ext cx="320040" cy="2011680"/>
          </a:xfrm>
          <a:prstGeom prst="rect">
            <a:avLst/>
          </a:prstGeom>
          <a:solidFill>
            <a:srgbClr val="F4A61D"/>
          </a:solidFill>
          <a:ln w="12700">
            <a:solidFill>
              <a:srgbClr val="F4A61D"/>
            </a:solidFill>
            <a:prstDash val="solid"/>
          </a:ln>
        </ns0:spPr>
      </ns0:sp>
      <ns0:sp>
        <ns0:nvSpPr>
          <ns0:cNvPr id="4" name="Text 2"/>
          <ns0:cNvSpPr/>
          <ns0:nvPr/>
        </ns0:nvSpPr>
        <ns0:spPr>
          <a:xfrm>
            <a:off x="548640" y="384048"/>
            <a:ext cx="8229600" cy="512064"/>
          </a:xfrm>
          <a:prstGeom prst="rect">
            <a:avLst/>
          </a:prstGeom>
          <a:noFill/>
          <a:ln/>
        </ns0:spPr>
        <ns0: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ns0:txBody>
      </ns0:sp>
      <ns0:sp>
        <ns0:nvSpPr>
          <ns0:cNvPr id="5" name="Text 3"/>
          <ns0:cNvSpPr/>
          <ns0:nvPr/>
        </ns0:nvSpPr>
        <ns0:spPr>
          <a:xfrm>
            <a:off x="548640" y="868680"/>
            <a:ext cx="8229600" cy="804672"/>
          </a:xfrm>
          <a:prstGeom prst="rect">
            <a:avLst/>
          </a:prstGeom>
          <a:noFill/>
          <a:ln/>
        </ns0:spPr>
        <ns0:txBody>
          <a:bodyPr wrap="square" lIns="0" tIns="0" rIns="0" bIns="0" rtlCol="0" anchor="ctr"/>
          <a:lstStyle/>
          <a:p>
            <a:pPr algn="l" indent="0" marL="0">
              <a:buNone/>
            </a:pPr>
            <a:r>
              <a:rPr lang="en-US" sz="1700" dirty="0">
                <a:solidFill>
                  <a:srgbClr val="8FA3B1"/>
                </a:solidFill>
                <a:latin typeface="Calibri" pitchFamily="34" charset="0"/>
                <a:ea typeface="Calibri" pitchFamily="34" charset="-122"/>
                <a:cs typeface="Calibri" pitchFamily="34" charset="-120"/>
              </a:rPr>
              <a:t>7-Day Sales Rep</a:t>
            </a:r>
            <a:endParaRPr lang="en-US" sz="1700" dirty="0"/>
          </a:p>
          <a:p>
            <a:pPr algn="l" indent="0" marL="0">
              <a:buNone/>
            </a:pPr>
            <a:r>
              <a:rPr lang="en-US" sz="1700" dirty="0">
                <a:solidFill>
                  <a:srgbClr val="8FA3B1"/>
                </a:solidFill>
                <a:latin typeface="Calibri" pitchFamily="34" charset="0"/>
                <a:ea typeface="Calibri" pitchFamily="34" charset="-122"/>
                <a:cs typeface="Calibri" pitchFamily="34" charset="-120"/>
              </a:rPr>
              <a:t>Certification Program</a:t>
            </a:r>
            <a:endParaRPr lang="en-US" sz="1700" dirty="0"/>
          </a:p>
        </ns0:txBody>
      </ns0:sp>
      <ns0:sp>
        <ns0:nvSpPr>
          <ns0:cNvPr id="6" name="Text 4"/>
          <ns0:cNvSpPr/>
          <ns0:nvPr/>
        </ns0:nvSpPr>
        <ns0:spPr>
          <a:xfrm>
            <a:off x="548640" y="1691640"/>
            <a:ext cx="2743200" cy="640080"/>
          </a:xfrm>
          <a:prstGeom prst="rect">
            <a:avLst/>
          </a:prstGeom>
          <a:noFill/>
          <a:ln/>
        </ns0:spPr>
        <ns0: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DÍA 6</a:t>
            </a:r>
            <a:endParaRPr lang="en-US" sz="3800" dirty="0"/>
          </a:p>
        </ns0:txBody>
      </ns0:sp>
      <ns0:sp>
        <ns0:nvSpPr>
          <ns0:cNvPr id="7" name="Text 5"/>
          <ns0:cNvSpPr/>
          <ns0:nvPr/>
        </ns0:nvSpPr>
        <ns0:spPr>
          <a:xfrm>
            <a:off x="548640" y="2377440"/>
            <a:ext cx="8229600" cy="502920"/>
          </a:xfrm>
          <a:prstGeom prst="rect">
            <a:avLst/>
          </a:prstGeom>
          <a:noFill/>
          <a:ln/>
        </ns0:spPr>
        <ns0:txBody>
          <a:bodyPr wrap="square" lIns="0" tIns="0" rIns="0" bIns="0" rtlCol="0" anchor="ctr"/>
          <a:lstStyle/>
          <a:p>
            <a:pPr algn="l" indent="0" marL="0">
              <a:buNone/>
            </a:pPr>
            <a:r>
              <a:rPr lang="en-US" sz="2000" i="1" dirty="0">
                <a:solidFill>
                  <a:srgbClr val="F4A61D"/>
                </a:solidFill>
                <a:latin typeface="Calibri" pitchFamily="34" charset="0"/>
                <a:ea typeface="Calibri" pitchFamily="34" charset="-122"/>
                <a:cs typeface="Calibri" pitchFamily="34" charset="-120"/>
              </a:rPr>
              <a:t>Dominio Avanzado de Objeciones y Rescate de Trato</a:t>
            </a:r>
            <a:endParaRPr lang="en-US" sz="2000" dirty="0"/>
          </a:p>
        </ns0:txBody>
      </ns0:sp>
      <ns0:sp>
        <ns0:nvSpPr>
          <ns0:cNvPr id="8" name="Text 6"/>
          <ns0:cNvSpPr/>
          <ns0:nvPr/>
        </ns0:nvSpPr>
        <ns0:spPr>
          <a:xfrm>
            <a:off x="548640" y="2944368"/>
            <a:ext cx="8229600" cy="347472"/>
          </a:xfrm>
          <a:prstGeom prst="rect">
            <a:avLst/>
          </a:prstGeom>
          <a:noFill/>
          <a:ln/>
        </ns0:spPr>
        <ns0: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6.1–6.10  ·  Anatomy of Resistance · ACAC · Smoke Screens · Deal Rescue · Hostile Homeowners · Certification</a:t>
            </a:r>
            <a:endParaRPr lang="en-US" sz="1000" dirty="0"/>
          </a:p>
        </ns0:txBody>
      </ns0:sp>
      <ns0:sp>
        <ns0:nvSpPr>
          <ns0:cNvPr id="9" name="Shape 7"/>
          <ns0:cNvSpPr/>
          <ns0:nvPr/>
        </ns0:nvSpPr>
        <ns0:spPr>
          <a:xfrm>
            <a:off x="0" y="4498848"/>
            <a:ext cx="9144000" cy="644652"/>
          </a:xfrm>
          <a:prstGeom prst="rect">
            <a:avLst/>
          </a:prstGeom>
          <a:solidFill>
            <a:srgbClr val="F4A61D"/>
          </a:solidFill>
          <a:ln w="12700">
            <a:solidFill>
              <a:srgbClr val="F4A61D"/>
            </a:solidFill>
            <a:prstDash val="solid"/>
          </a:ln>
        </ns0:spPr>
      </ns0:sp>
      <ns0:sp>
        <ns0:nvSpPr>
          <ns0:cNvPr id="10" name="Text 8"/>
          <ns0:cNvSpPr/>
          <ns0:nvPr/>
        </ns0:nvSpPr>
        <ns0:spPr>
          <a:xfrm>
            <a:off x="457200" y="4517136"/>
            <a:ext cx="8229600" cy="608076"/>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Deconstruct Every Objection. Rescue Every Deal. Become the Master of Resistance.</a:t>
            </a:r>
            <a:endParaRPr lang="en-US" sz="1400" dirty="0"/>
          </a:p>
        </ns0:txBody>
      </ns0:sp>
    </ns0:spTree>
  </ns0:cSld>
  <ns0:clrMapOvr>
    <a:masterClrMapping/>
  </ns0:clrMapOvr>
</ns0:sld>
</file>

<file path=ppt/slides/slide2.xml><?xml version="1.0" encoding="utf-8"?>
<ns0:sld xmlns:a="http://schemas.openxmlformats.org/drawingml/2006/main" xmlns:ns0="http://schemas.openxmlformats.org/presentationml/2006/main">
  <ns0:cSld name="Slide 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6.1</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The Anatomy of Resistance: Why They Say 'No'</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The Neurobiology of Sales Resistance — and How to Defuse It</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6.1 — ANATOMY OF RESISTANCE</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It's Not Personal. It's Neurological.</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Amygdala Hijack: when the lizard brain overrides the logical brain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Fear of Regret (FOR): the most powerful objection in solar isn't price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Contractor Trauma: how past horror stories contaminate the current consultation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Safety Framing: making homeowners feel safe enough to tell you the truth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Amygdala Hijack: When the Lizard Brain Takes Over</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sees a $40,000+ proposal, the brain's threat-detection system fires — this is biological, not personal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of the Hijack: crossed arms, shortened breath, backward lean, one-word answers, sudden 'bathroom break'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Hijack is a response to perceived RISK — not to solar, not to you, not to the price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slow down, lower your voice, stop adding information — let the amygdala settle before re-engaging</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Understanding the Amygdala Hijack gives reps permission to not take resistance personally. When a homeowner shuts down, the rep's instinct is to talk more and faster — the opposite of what the biology requires. Slow is pro.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Fear of Regret (FOR): The Hidden Objection That Kills Deals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#1 objection in solar is NOT price — it is the fear of looking stupid to their spouse, family, or neighbors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Internal FOR: 'What if this is a scam and I signed?' — social humiliation risk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External FOR: 'My brother-in-law is going to say I got ripped off' — audience risk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Counter: 'I completely understand — every smart person who cares about their family thinks about this. Here's how we make sure you're covered no matter what.'</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be honest with you? A lot of people in your position worry about one thing: what happens if they say yes and then someone — a friend, a family member — second-guesses the decision. Is that part of what's in the back of your mind?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honestly, kind of.</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the smartest thing you could be thinking about. Let me show you exactly how to answer that person when they ask.</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FOR is invisible until you know to look for it. When a homeowner seems intellectually convinced but still won't sign, FOR is almost always present. Validate the social risk explicitly — don't pretend it doesn't exist.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Contractor Trauma Trap</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Many homeowners have been burned by roofers, HVAC companies, or other home service contractors — and solar looks like more of the same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of Contractor Trauma: hyper-focus on the contract terms, questions about what happens 'if you go out of business,' reluctance to let workers on their roof</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acknowledge it explicitly — 'You've been burned before by a contractor. I want to address that directly.'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Radical Transparency: show them the cancellation policy, the manufacturer warranty, the BBB rating — proactively, before they ask</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proactively surfaces Contractor Trauma builds 10x more trust than the one who waits for the homeowner to bring it up nervously. 'I want to address the elephant in the room' signals confidence, not defensiveness.</a:t>
            </a:r>
            <a:endParaRPr lang="en-US" sz="900" dirty="0"/>
          </a:p>
        </p:txBody>
      </p:sp>
    </p:spTree>
  </p:cSld>
  <p:clrMapOvr>
    <a:masterClrMapping/>
  </p:clrMapOvr>
</p:sld>
</file>

<file path=ppt/slides/slide7.xml><?xml version="1.0" encoding="utf-8"?>
<ns0:sld xmlns:a="http://schemas.openxmlformats.org/drawingml/2006/main" xmlns:ns0="http://schemas.openxmlformats.org/presentationml/2006/main">
  <ns0:cSld name="Slide 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66928"/>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Safety Framing: Making the Homeowner Feel Safe Enough to Be Honest</a:t>
            </a:r>
            <a:endParaRPr lang="en-US" sz="2000" dirty="0"/>
          </a:p>
        </ns0:txBody>
      </ns0:sp>
      <ns0:sp>
        <ns0:nvSpPr>
          <ns0:cNvPr id="4" name="Shape 2"/>
          <ns0:cNvSpPr/>
          <ns0:nvPr/>
        </ns0:nvSpPr>
        <ns0:spPr>
          <a:xfrm>
            <a:off x="274320" y="749808"/>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68680"/>
            <a:ext cx="4023360" cy="356616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68680"/>
            <a:ext cx="4023360" cy="384048"/>
          </a:xfrm>
          <a:prstGeom prst="rect">
            <a:avLst/>
          </a:prstGeom>
          <a:solidFill>
            <a:srgbClr val="0891B2"/>
          </a:solidFill>
          <a:ln w="12700">
            <a:solidFill>
              <a:srgbClr val="0891B2"/>
            </a:solidFill>
            <a:prstDash val="solid"/>
          </a:ln>
        </ns0:spPr>
      </ns0:sp>
      <ns0:sp>
        <ns0:nvSpPr>
          <ns0:cNvPr id="7" name="Text 5"/>
          <ns0:cNvSpPr/>
          <ns0:nvPr/>
        </ns0:nvSpPr>
        <ns0:spPr>
          <a:xfrm>
            <a:off x="320040" y="886968"/>
            <a:ext cx="3931920" cy="347472"/>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UNSAFE ENVIRONMENT (Rep Behavior)</a:t>
            </a:r>
            <a:endParaRPr lang="en-US" sz="1100" dirty="0"/>
          </a:p>
        </ns0:txBody>
      </ns0:sp>
      <ns0:sp>
        <ns0:nvSpPr>
          <ns0:cNvPr id="8" name="Text 6"/>
          <ns0:cNvSpPr/>
          <ns0:nvPr/>
        </ns0:nvSpPr>
        <ns0:spPr>
          <a:xfrm>
            <a:off x="384048" y="1325880"/>
            <a:ext cx="3840480" cy="3017520"/>
          </a:xfrm>
          <a:prstGeom prst="rect">
            <a:avLst/>
          </a:prstGeom>
          <a:noFill/>
          <a:ln/>
        </ns0:spPr>
        <ns0: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Jumps to rebuttals before fully acknowledging</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Uses pressure phrases: 'This offer expires today'</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Gets louder or faster when challenged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Dismisses concerns with data before validating</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Shows any sign of desperation or frustration</a:t>
            </a:r>
            <a:endParaRPr lang="en-US" sz="1100" dirty="0"/>
          </a:p>
        </ns0:txBody>
      </ns0:sp>
      <ns0:sp>
        <ns0:nvSpPr>
          <ns0:cNvPr id="9" name="Shape 7"/>
          <ns0:cNvSpPr/>
          <ns0:nvPr/>
        </ns0:nvSpPr>
        <ns0:spPr>
          <a:xfrm>
            <a:off x="4846320" y="868680"/>
            <a:ext cx="4023360" cy="356616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868680"/>
            <a:ext cx="4023360" cy="384048"/>
          </a:xfrm>
          <a:prstGeom prst="rect">
            <a:avLst/>
          </a:prstGeom>
          <a:solidFill>
            <a:srgbClr val="F4A61D"/>
          </a:solidFill>
          <a:ln w="12700">
            <a:solidFill>
              <a:srgbClr val="F4A61D"/>
            </a:solidFill>
            <a:prstDash val="solid"/>
          </a:ln>
        </ns0:spPr>
      </ns0:sp>
      <ns0:sp>
        <ns0:nvSpPr>
          <ns0:cNvPr id="11" name="Text 9"/>
          <ns0:cNvSpPr/>
          <ns0:nvPr/>
        </ns0:nvSpPr>
        <ns0:spPr>
          <a:xfrm>
            <a:off x="4892040" y="886968"/>
            <a:ext cx="3931920" cy="347472"/>
          </a:xfrm>
          <a:prstGeom prst="rect">
            <a:avLst/>
          </a:prstGeom>
          <a:noFill/>
          <a:ln/>
        </ns0:spPr>
        <ns0: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SAFE ENVIRONMENT (Rep Behavior)</a:t>
            </a:r>
            <a:endParaRPr lang="en-US" sz="1100" dirty="0"/>
          </a:p>
        </ns0:txBody>
      </ns0:sp>
      <ns0:sp>
        <ns0:nvSpPr>
          <ns0:cNvPr id="12" name="Text 10"/>
          <ns0:cNvSpPr/>
          <ns0:nvPr/>
        </ns0:nvSpPr>
        <ns0:spPr>
          <a:xfrm>
            <a:off x="4956048" y="1325880"/>
            <a:ext cx="3840480" cy="3017520"/>
          </a:xfrm>
          <a:prstGeom prst="rect">
            <a:avLst/>
          </a:prstGeom>
          <a:noFill/>
          <a:ln/>
        </ns0:spPr>
        <ns0: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Labels the fear before offering the solution</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Uses the Late Night DJ voice — slow, warm, confident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Pauses after objections — lets silence do the work</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Invites honesty: 'Tell me what's really on your mind'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'Si esto no tiene sentido para usted, se lo diré'</a:t>
            </a:r>
            <a:endParaRPr lang="en-US" sz="1100" dirty="0"/>
          </a:p>
        </ns0:txBody>
      </ns0:sp>
      <ns0:sp>
        <ns0:nvSpPr>
          <ns0:cNvPr id="13" name="Shape 11"/>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4" name="Text 12"/>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Psychological safety is the single biggest lever in the closing environment. Homeowners who feel safe tell the truth. Homeowners who don't feel safe tell you what they think will get you out of the house fastest.</a:t>
            </a:r>
            <a:endParaRPr lang="en-US" sz="900" dirty="0"/>
          </a:p>
        </ns0:txBody>
      </ns0:sp>
    </ns0:spTree>
  </ns0:cSld>
  <ns0:clrMapOvr>
    <a:masterClrMapping/>
  </ns0:clrMapOvr>
</ns0:sld>
</file>

<file path=ppt/slides/slide8.xml><?xml version="1.0" encoding="utf-8"?>
<ns0:sld xmlns:a="http://schemas.openxmlformats.org/drawingml/2006/main" xmlns:ns0="http://schemas.openxmlformats.org/presentationml/2006/main">
  <ns0:cSld name="Slide 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Fear Map Exercise</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Categorize every reason a homeowner might be afraid to sign — and prescribe the antidote</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Cada representante escribe 10 razones por las que un propietario tendría miedo de firmar ahora mismo</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Categorize each fear as: LOGICAL (data can solve it) or EMOTIONAL (validation must come first)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For each Emotional fear, write a one-sentence 'Safety Frame' that acknowledges it without defending against it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Share the top 3 with the group — which fears are most universal in your market?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written 'Empathy Opener' script for homeowners who show signs of Contractor Trauma</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ns0:txBody>
      </ns0:sp>
    </ns0:spTree>
  </ns0:cSld>
  <ns0:clrMapOvr>
    <a:masterClrMapping/>
  </ns0:clrMapOvr>
</ns0:sld>
</file>

<file path=ppt/slides/slide9.xml><?xml version="1.0" encoding="utf-8"?>
<ns0:sld xmlns:a="http://schemas.openxmlformats.org/drawingml/2006/main" xmlns:ns0="http://schemas.openxmlformats.org/presentationml/2006/main">
  <ns0:cSld name="Slide 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6.2</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The ACAC Framework: The Universal Objection Handler</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4 Steps. Every Objection. Every Time.</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6.2 — THE ACAC FRAMEWORK</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Acknowledge → Clarify → Address → Confirm</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Acknowledge: the Cushion that prevents the argumentative tone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Clarify: asking 'What specifically?' instead of defending</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Address: Feel-Felt-Found and Third-Party Proof methods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Confirm: the Close-Back that kills the 'Zombie Objection'</a:t>
            </a:r>
            <a:endParaRPr lang="en-US" sz="1300" dirty="0"/>
          </a:p>
        </p:txBody>
      </p:sp>
    </p:spTree>
  </p:cSld>
  <p:clrMapOvr>
    <a:masterClrMapping/>
  </p:clrMapOvr>
</p:sld>
</file>

<file path=ppt/slides/slide11.xml><?xml version="1.0" encoding="utf-8"?>
<ns0:sld xmlns:a="http://schemas.openxmlformats.org/drawingml/2006/main" xmlns:ns0="http://schemas.openxmlformats.org/presentationml/2006/main">
  <ns0:cSld name="Slide 1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1900" b="1" dirty="0">
                <a:solidFill>
                  <a:srgbClr val="F4A61D"/>
                </a:solidFill>
                <a:latin typeface="Arial Black" pitchFamily="34" charset="0"/>
                <a:ea typeface="Arial Black" pitchFamily="34" charset="-122"/>
                <a:cs typeface="Arial Black" pitchFamily="34" charset="-120"/>
              </a:rPr>
              <a:t>The ACAC Framework: 4 Steps, Every Objection, Every Time</a:t>
            </a:r>
            <a:endParaRPr lang="en-US" sz="19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914400"/>
            <a:ext cx="2057400" cy="356616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914400"/>
            <a:ext cx="2057400" cy="658368"/>
          </a:xfrm>
          <a:prstGeom prst="rect">
            <a:avLst/>
          </a:prstGeom>
          <a:solidFill>
            <a:srgbClr val="F4A61D"/>
          </a:solidFill>
          <a:ln w="12700">
            <a:solidFill>
              <a:srgbClr val="F4A61D"/>
            </a:solidFill>
            <a:prstDash val="solid"/>
          </a:ln>
        </ns0:spPr>
      </ns0:sp>
      <ns0:sp>
        <ns0:nvSpPr>
          <ns0:cNvPr id="7" name="Text 5"/>
          <ns0:cNvSpPr/>
          <ns0:nvPr/>
        </ns0:nvSpPr>
        <ns0:spPr>
          <a:xfrm>
            <a:off x="320040" y="932688"/>
            <a:ext cx="621792" cy="621792"/>
          </a:xfrm>
          <a:prstGeom prst="rect">
            <a:avLst/>
          </a:prstGeom>
          <a:noFill/>
          <a:ln/>
        </ns0:spPr>
        <ns0: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A</a:t>
            </a:r>
            <a:endParaRPr lang="en-US" sz="3400" dirty="0"/>
          </a:p>
        </ns0:txBody>
      </ns0:sp>
      <ns0:sp>
        <ns0:nvSpPr>
          <ns0:cNvPr id="8" name="Text 6"/>
          <ns0:cNvSpPr/>
          <ns0:nvPr/>
        </ns0:nvSpPr>
        <ns0:spPr>
          <a:xfrm>
            <a:off x="932688" y="1005840"/>
            <a:ext cx="1325880" cy="475488"/>
          </a:xfrm>
          <a:prstGeom prst="rect">
            <a:avLst/>
          </a:prstGeom>
          <a:noFill/>
          <a:ln/>
        </ns0:spPr>
        <ns0: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Acknowledge</a:t>
            </a:r>
            <a:endParaRPr lang="en-US" sz="1400" dirty="0"/>
          </a:p>
        </ns0:txBody>
      </ns0:sp>
      <ns0:sp>
        <ns0:nvSpPr>
          <ns0:cNvPr id="9" name="Text 7"/>
          <ns0:cNvSpPr/>
          <ns0:nvPr/>
        </ns0:nvSpPr>
        <ns0:spPr>
          <a:xfrm>
            <a:off x="365760" y="1645920"/>
            <a:ext cx="1874520" cy="502920"/>
          </a:xfrm>
          <a:prstGeom prst="rect">
            <a:avLst/>
          </a:prstGeom>
          <a:noFill/>
          <a:ln/>
        </ns0:spPr>
        <ns0:txBody>
          <a:bodyPr wrap="square" lIns="0" tIns="0" rIns="0" bIns="0" rtlCol="0" anchor="ctr"/>
          <a:lstStyle/>
          <a:p>
            <a:pPr algn="ctr" indent="0" marL="0">
              <a:buNone/>
            </a:pPr>
            <a:r>
              <a:rPr lang="en-US" sz="1100" b="1" dirty="0">
                <a:solidFill>
                  <a:srgbClr val="F4A61D"/>
                </a:solidFill>
                <a:latin typeface="Arial Black" pitchFamily="34" charset="0"/>
                <a:ea typeface="Arial Black" pitchFamily="34" charset="-122"/>
                <a:cs typeface="Arial Black" pitchFamily="34" charset="-120"/>
              </a:rPr>
              <a:t>The Cushion</a:t>
            </a:r>
            <a:endParaRPr lang="en-US" sz="1100" dirty="0"/>
          </a:p>
        </ns0:txBody>
      </ns0:sp>
      <ns0:sp>
        <ns0:nvSpPr>
          <ns0:cNvPr id="10" name="Text 8"/>
          <ns0:cNvSpPr/>
          <ns0:nvPr/>
        </ns0:nvSpPr>
        <ns0:spPr>
          <a:xfrm>
            <a:off x="365760" y="2194560"/>
            <a:ext cx="1874520" cy="2194560"/>
          </a:xfrm>
          <a:prstGeom prst="rect">
            <a:avLst/>
          </a:prstGeom>
          <a:noFill/>
          <a:ln/>
        </ns0:spPr>
        <ns0: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'Lo escucho — si estuviera en su posición pensaría lo mismo'</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Never skip this step</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Lowers defense before logic lands</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Buys time to think before responding</a:t>
            </a:r>
            <a:endParaRPr lang="en-US" sz="1000" dirty="0"/>
          </a:p>
        </ns0:txBody>
      </ns0:sp>
      <ns0:sp>
        <ns0:nvSpPr>
          <ns0:cNvPr id="11" name="Shape 9"/>
          <ns0:cNvSpPr/>
          <ns0:nvPr/>
        </ns0:nvSpPr>
        <ns0:spPr>
          <a:xfrm>
            <a:off x="2340864" y="2468880"/>
            <a:ext cx="118872" cy="274320"/>
          </a:xfrm>
          <a:prstGeom prst="rect">
            <a:avLst/>
          </a:prstGeom>
          <a:solidFill>
            <a:srgbClr val="F4A61D"/>
          </a:solidFill>
          <a:ln w="12700">
            <a:solidFill>
              <a:srgbClr val="F4A61D"/>
            </a:solidFill>
            <a:prstDash val="solid"/>
          </a:ln>
        </ns0:spPr>
      </ns0:sp>
      <ns0:sp>
        <ns0:nvSpPr>
          <ns0:cNvPr id="12" name="Shape 10"/>
          <ns0:cNvSpPr/>
          <ns0:nvPr/>
        </ns0:nvSpPr>
        <ns0:spPr>
          <a:xfrm>
            <a:off x="2468880" y="914400"/>
            <a:ext cx="2057400" cy="356616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ns0:spPr>
      </ns0:sp>
      <ns0:sp>
        <ns0:nvSpPr>
          <ns0:cNvPr id="13" name="Shape 11"/>
          <ns0:cNvSpPr/>
          <ns0:nvPr/>
        </ns0:nvSpPr>
        <ns0:spPr>
          <a:xfrm>
            <a:off x="2468880" y="914400"/>
            <a:ext cx="2057400" cy="658368"/>
          </a:xfrm>
          <a:prstGeom prst="rect">
            <a:avLst/>
          </a:prstGeom>
          <a:solidFill>
            <a:srgbClr val="0891B2"/>
          </a:solidFill>
          <a:ln w="12700">
            <a:solidFill>
              <a:srgbClr val="0891B2"/>
            </a:solidFill>
            <a:prstDash val="solid"/>
          </a:ln>
        </ns0:spPr>
      </ns0:sp>
      <ns0:sp>
        <ns0:nvSpPr>
          <ns0:cNvPr id="14" name="Text 12"/>
          <ns0:cNvSpPr/>
          <ns0:nvPr/>
        </ns0:nvSpPr>
        <ns0:spPr>
          <a:xfrm>
            <a:off x="2514600" y="932688"/>
            <a:ext cx="621792" cy="621792"/>
          </a:xfrm>
          <a:prstGeom prst="rect">
            <a:avLst/>
          </a:prstGeom>
          <a:noFill/>
          <a:ln/>
        </ns0:spPr>
        <ns0:txBody>
          <a:bodyPr wrap="square" lIns="0" tIns="0" rIns="0" bIns="0" rtlCol="0" anchor="ctr"/>
          <a:lstStyle/>
          <a:p>
            <a:pPr algn="ctr" indent="0" marL="0">
              <a:buNone/>
            </a:pPr>
            <a:r>
              <a:rPr lang="en-US" sz="3400" b="1" dirty="0">
                <a:solidFill>
                  <a:srgbClr val="0D1B2A"/>
                </a:solidFill>
                <a:latin typeface="Arial Black" pitchFamily="34" charset="0"/>
                <a:ea typeface="Arial Black" pitchFamily="34" charset="-122"/>
                <a:cs typeface="Arial Black" pitchFamily="34" charset="-120"/>
              </a:rPr>
              <a:t>C</a:t>
            </a:r>
            <a:endParaRPr lang="en-US" sz="3400" dirty="0"/>
          </a:p>
        </ns0:txBody>
      </ns0:sp>
      <ns0:sp>
        <ns0:nvSpPr>
          <ns0:cNvPr id="15" name="Text 13"/>
          <ns0:cNvSpPr/>
          <ns0:nvPr/>
        </ns0:nvSpPr>
        <ns0:spPr>
          <a:xfrm>
            <a:off x="3127248" y="1005840"/>
            <a:ext cx="1325880" cy="475488"/>
          </a:xfrm>
          <a:prstGeom prst="rect">
            <a:avLst/>
          </a:prstGeom>
          <a:noFill/>
          <a:ln/>
        </ns0:spPr>
        <ns0:txBody>
          <a:bodyPr wrap="square" lIns="0" tIns="0" rIns="0" bIns="0" rtlCol="0" anchor="ctr"/>
          <a:lstStyle/>
          <a:p>
            <a:pPr algn="l" indent="0" marL="0">
              <a:buNone/>
            </a:pPr>
            <a:r>
              <a:rPr lang="en-US" sz="1400" b="1" dirty="0">
                <a:solidFill>
                  <a:srgbClr val="0D1B2A"/>
                </a:solidFill>
                <a:latin typeface="Arial Black" pitchFamily="34" charset="0"/>
                <a:ea typeface="Arial Black" pitchFamily="34" charset="-122"/>
                <a:cs typeface="Arial Black" pitchFamily="34" charset="-120"/>
              </a:rPr>
              <a:t>Clarify</a:t>
            </a:r>
            <a:endParaRPr lang="en-US" sz="1400" dirty="0"/>
          </a:p>
        </ns0:txBody>
      </ns0:sp>
      <ns0:sp>
        <ns0:nvSpPr>
          <ns0:cNvPr id="16" name="Text 14"/>
          <ns0:cNvSpPr/>
          <ns0:nvPr/>
        </ns0:nvSpPr>
        <ns0:spPr>
          <a:xfrm>
            <a:off x="2560320" y="1645920"/>
            <a:ext cx="1874520" cy="502920"/>
          </a:xfrm>
          <a:prstGeom prst="rect">
            <a:avLst/>
          </a:prstGeom>
          <a:noFill/>
          <a:ln/>
        </ns0:spPr>
        <ns0:txBody>
          <a:bodyPr wrap="square" lIns="0" tIns="0" rIns="0" bIns="0" rtlCol="0" anchor="ctr"/>
          <a:lstStyle/>
          <a:p>
            <a:pPr algn="ctr" indent="0" marL="0">
              <a:buNone/>
            </a:pPr>
            <a:r>
              <a:rPr lang="en-US" sz="1100" b="1" dirty="0">
                <a:solidFill>
                  <a:srgbClr val="0891B2"/>
                </a:solidFill>
                <a:latin typeface="Arial Black" pitchFamily="34" charset="0"/>
                <a:ea typeface="Arial Black" pitchFamily="34" charset="-122"/>
                <a:cs typeface="Arial Black" pitchFamily="34" charset="-120"/>
              </a:rPr>
              <a:t>The Deep Dive</a:t>
            </a:r>
            <a:endParaRPr lang="en-US" sz="1100" dirty="0"/>
          </a:p>
        </ns0:txBody>
      </ns0:sp>
      <ns0:sp>
        <ns0:nvSpPr>
          <ns0:cNvPr id="17" name="Text 15"/>
          <ns0:cNvSpPr/>
          <ns0:nvPr/>
        </ns0:nvSpPr>
        <ns0:spPr>
          <a:xfrm>
            <a:off x="2560320" y="2194560"/>
            <a:ext cx="1874520" cy="2194560"/>
          </a:xfrm>
          <a:prstGeom prst="rect">
            <a:avLst/>
          </a:prstGeom>
          <a:noFill/>
          <a:ln/>
        </ns0:spPr>
        <ns0: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'Cuando dice [X], ¿qué quiere decir específicamente?'</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Find the exact fear, not the surface statement</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Avoid assuming — ask first</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One question, then stop talking</a:t>
            </a:r>
            <a:endParaRPr lang="en-US" sz="1000" dirty="0"/>
          </a:p>
        </ns0:txBody>
      </ns0:sp>
      <ns0:sp>
        <ns0:nvSpPr>
          <ns0:cNvPr id="18" name="Shape 16"/>
          <ns0:cNvSpPr/>
          <ns0:nvPr/>
        </ns0:nvSpPr>
        <ns0:spPr>
          <a:xfrm>
            <a:off x="4535424" y="2468880"/>
            <a:ext cx="118872" cy="274320"/>
          </a:xfrm>
          <a:prstGeom prst="rect">
            <a:avLst/>
          </a:prstGeom>
          <a:solidFill>
            <a:srgbClr val="F4A61D"/>
          </a:solidFill>
          <a:ln w="12700">
            <a:solidFill>
              <a:srgbClr val="F4A61D"/>
            </a:solidFill>
            <a:prstDash val="solid"/>
          </a:ln>
        </ns0:spPr>
      </ns0:sp>
      <ns0:sp>
        <ns0:nvSpPr>
          <ns0:cNvPr id="19" name="Shape 17"/>
          <ns0:cNvSpPr/>
          <ns0:nvPr/>
        </ns0:nvSpPr>
        <ns0:spPr>
          <a:xfrm>
            <a:off x="4663440" y="914400"/>
            <a:ext cx="2057400" cy="35661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ns0:spPr>
      </ns0:sp>
      <ns0:sp>
        <ns0:nvSpPr>
          <ns0:cNvPr id="20" name="Shape 18"/>
          <ns0:cNvSpPr/>
          <ns0:nvPr/>
        </ns0:nvSpPr>
        <ns0:spPr>
          <a:xfrm>
            <a:off x="4663440" y="914400"/>
            <a:ext cx="2057400" cy="658368"/>
          </a:xfrm>
          <a:prstGeom prst="rect">
            <a:avLst/>
          </a:prstGeom>
          <a:solidFill>
            <a:srgbClr val="2D9B4E"/>
          </a:solidFill>
          <a:ln w="12700">
            <a:solidFill>
              <a:srgbClr val="2D9B4E"/>
            </a:solidFill>
            <a:prstDash val="solid"/>
          </a:ln>
        </ns0:spPr>
      </ns0:sp>
      <ns0:sp>
        <ns0:nvSpPr>
          <ns0:cNvPr id="21" name="Text 19"/>
          <ns0:cNvSpPr/>
          <ns0:nvPr/>
        </ns0:nvSpPr>
        <ns0:spPr>
          <a:xfrm>
            <a:off x="4709160" y="932688"/>
            <a:ext cx="621792" cy="621792"/>
          </a:xfrm>
          <a:prstGeom prst="rect">
            <a:avLst/>
          </a:prstGeom>
          <a:noFill/>
          <a:ln/>
        </ns0:spPr>
        <ns0: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A</a:t>
            </a:r>
            <a:endParaRPr lang="en-US" sz="3400" dirty="0"/>
          </a:p>
        </ns0:txBody>
      </ns0:sp>
      <ns0:sp>
        <ns0:nvSpPr>
          <ns0:cNvPr id="22" name="Text 20"/>
          <ns0:cNvSpPr/>
          <ns0:nvPr/>
        </ns0:nvSpPr>
        <ns0:spPr>
          <a:xfrm>
            <a:off x="5321808" y="1005840"/>
            <a:ext cx="1325880" cy="475488"/>
          </a:xfrm>
          <a:prstGeom prst="rect">
            <a:avLst/>
          </a:prstGeom>
          <a:noFill/>
          <a:ln/>
        </ns0:spPr>
        <ns0: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Address</a:t>
            </a:r>
            <a:endParaRPr lang="en-US" sz="1400" dirty="0"/>
          </a:p>
        </ns0:txBody>
      </ns0:sp>
      <ns0:sp>
        <ns0:nvSpPr>
          <ns0:cNvPr id="23" name="Text 21"/>
          <ns0:cNvSpPr/>
          <ns0:nvPr/>
        </ns0:nvSpPr>
        <ns0:spPr>
          <a:xfrm>
            <a:off x="4754880" y="1645920"/>
            <a:ext cx="1874520" cy="502920"/>
          </a:xfrm>
          <a:prstGeom prst="rect">
            <a:avLst/>
          </a:prstGeom>
          <a:noFill/>
          <a:ln/>
        </ns0:spPr>
        <ns0:txBody>
          <a:bodyPr wrap="square" lIns="0" tIns="0" rIns="0" bIns="0" rtlCol="0" anchor="ctr"/>
          <a:lstStyle/>
          <a:p>
            <a:pPr algn="ctr" indent="0" marL="0">
              <a:buNone/>
            </a:pPr>
            <a:r>
              <a:rPr lang="en-US" sz="1100" b="1" dirty="0">
                <a:solidFill>
                  <a:srgbClr val="2D9B4E"/>
                </a:solidFill>
                <a:latin typeface="Arial Black" pitchFamily="34" charset="0"/>
                <a:ea typeface="Arial Black" pitchFamily="34" charset="-122"/>
                <a:cs typeface="Arial Black" pitchFamily="34" charset="-120"/>
              </a:rPr>
              <a:t>The Solution</a:t>
            </a:r>
            <a:endParaRPr lang="en-US" sz="1100" dirty="0"/>
          </a:p>
        </ns0:txBody>
      </ns0:sp>
      <ns0:sp>
        <ns0:nvSpPr>
          <ns0:cNvPr id="24" name="Text 22"/>
          <ns0:cNvSpPr/>
          <ns0:nvPr/>
        </ns0:nvSpPr>
        <ns0:spPr>
          <a:xfrm>
            <a:off x="4754880" y="2194560"/>
            <a:ext cx="1874520" cy="2194560"/>
          </a:xfrm>
          <a:prstGeom prst="rect">
            <a:avLst/>
          </a:prstGeom>
          <a:noFill/>
          <a:ln/>
        </ns0:spPr>
        <ns0: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Feel-Felt-Found: 'Others felt the same — here's what they found'</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Third-party proof: data, reviews, filings</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Don't over-explain — one clear solution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Match solution to the clarified fear</a:t>
            </a:r>
            <a:endParaRPr lang="en-US" sz="1000" dirty="0"/>
          </a:p>
        </ns0:txBody>
      </ns0:sp>
      <ns0:sp>
        <ns0:nvSpPr>
          <ns0:cNvPr id="25" name="Shape 23"/>
          <ns0:cNvSpPr/>
          <ns0:nvPr/>
        </ns0:nvSpPr>
        <ns0:spPr>
          <a:xfrm>
            <a:off x="6729984" y="2468880"/>
            <a:ext cx="118872" cy="274320"/>
          </a:xfrm>
          <a:prstGeom prst="rect">
            <a:avLst/>
          </a:prstGeom>
          <a:solidFill>
            <a:srgbClr val="F4A61D"/>
          </a:solidFill>
          <a:ln w="12700">
            <a:solidFill>
              <a:srgbClr val="F4A61D"/>
            </a:solidFill>
            <a:prstDash val="solid"/>
          </a:ln>
        </ns0:spPr>
      </ns0:sp>
      <ns0:sp>
        <ns0:nvSpPr>
          <ns0:cNvPr id="26" name="Shape 24"/>
          <ns0:cNvSpPr/>
          <ns0:nvPr/>
        </ns0:nvSpPr>
        <ns0:spPr>
          <a:xfrm>
            <a:off x="6858000" y="914400"/>
            <a:ext cx="2057400" cy="3566160"/>
          </a:xfrm>
          <a:prstGeom prst="rect">
            <a:avLst/>
          </a:prstGeom>
          <a:solidFill>
            <a:srgbClr val="1A2840"/>
          </a:solidFill>
          <a:ln w="25400">
            <a:solidFill>
              <a:srgbClr val="E07B39"/>
            </a:solidFill>
            <a:prstDash val="solid"/>
          </a:ln>
          <a:effectLst>
            <a:outerShdw sx="100000" sy="100000" kx="0" ky="0" algn="bl" rotWithShape="0" blurRad="101600" dist="38100" dir="8100000">
              <a:srgbClr val="000000">
                <a:alpha val="20000"/>
              </a:srgbClr>
            </a:outerShdw>
          </a:effectLst>
        </ns0:spPr>
      </ns0:sp>
      <ns0:sp>
        <ns0:nvSpPr>
          <ns0:cNvPr id="27" name="Shape 25"/>
          <ns0:cNvSpPr/>
          <ns0:nvPr/>
        </ns0:nvSpPr>
        <ns0:spPr>
          <a:xfrm>
            <a:off x="6858000" y="914400"/>
            <a:ext cx="2057400" cy="658368"/>
          </a:xfrm>
          <a:prstGeom prst="rect">
            <a:avLst/>
          </a:prstGeom>
          <a:solidFill>
            <a:srgbClr val="E07B39"/>
          </a:solidFill>
          <a:ln w="12700">
            <a:solidFill>
              <a:srgbClr val="E07B39"/>
            </a:solidFill>
            <a:prstDash val="solid"/>
          </a:ln>
        </ns0:spPr>
      </ns0:sp>
      <ns0:sp>
        <ns0:nvSpPr>
          <ns0:cNvPr id="28" name="Text 26"/>
          <ns0:cNvSpPr/>
          <ns0:nvPr/>
        </ns0:nvSpPr>
        <ns0:spPr>
          <a:xfrm>
            <a:off x="6903720" y="932688"/>
            <a:ext cx="621792" cy="621792"/>
          </a:xfrm>
          <a:prstGeom prst="rect">
            <a:avLst/>
          </a:prstGeom>
          <a:noFill/>
          <a:ln/>
        </ns0:spPr>
        <ns0: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C</a:t>
            </a:r>
            <a:endParaRPr lang="en-US" sz="3400" dirty="0"/>
          </a:p>
        </ns0:txBody>
      </ns0:sp>
      <ns0:sp>
        <ns0:nvSpPr>
          <ns0:cNvPr id="29" name="Text 27"/>
          <ns0:cNvSpPr/>
          <ns0:nvPr/>
        </ns0:nvSpPr>
        <ns0:spPr>
          <a:xfrm>
            <a:off x="7516368" y="1005840"/>
            <a:ext cx="1325880" cy="475488"/>
          </a:xfrm>
          <a:prstGeom prst="rect">
            <a:avLst/>
          </a:prstGeom>
          <a:noFill/>
          <a:ln/>
        </ns0:spPr>
        <ns0: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Confirm</a:t>
            </a:r>
            <a:endParaRPr lang="en-US" sz="1400" dirty="0"/>
          </a:p>
        </ns0:txBody>
      </ns0:sp>
      <ns0:sp>
        <ns0:nvSpPr>
          <ns0:cNvPr id="30" name="Text 28"/>
          <ns0:cNvSpPr/>
          <ns0:nvPr/>
        </ns0:nvSpPr>
        <ns0:spPr>
          <a:xfrm>
            <a:off x="6949440" y="1645920"/>
            <a:ext cx="1874520" cy="502920"/>
          </a:xfrm>
          <a:prstGeom prst="rect">
            <a:avLst/>
          </a:prstGeom>
          <a:noFill/>
          <a:ln/>
        </ns0:spPr>
        <ns0:txBody>
          <a:bodyPr wrap="square" lIns="0" tIns="0" rIns="0" bIns="0" rtlCol="0" anchor="ctr"/>
          <a:lstStyle/>
          <a:p>
            <a:pPr algn="ctr" indent="0" marL="0">
              <a:buNone/>
            </a:pPr>
            <a:r>
              <a:rPr lang="en-US" sz="1100" b="1" dirty="0">
                <a:solidFill>
                  <a:srgbClr val="E07B39"/>
                </a:solidFill>
                <a:latin typeface="Arial Black" pitchFamily="34" charset="0"/>
                <a:ea typeface="Arial Black" pitchFamily="34" charset="-122"/>
                <a:cs typeface="Arial Black" pitchFamily="34" charset="-120"/>
              </a:rPr>
              <a:t>The Close-Back</a:t>
            </a:r>
            <a:endParaRPr lang="en-US" sz="1100" dirty="0"/>
          </a:p>
        </ns0:txBody>
      </ns0:sp>
      <ns0:sp>
        <ns0:nvSpPr>
          <ns0:cNvPr id="31" name="Text 29"/>
          <ns0:cNvSpPr/>
          <ns0:nvPr/>
        </ns0:nvSpPr>
        <ns0:spPr>
          <a:xfrm>
            <a:off x="6949440" y="2194560"/>
            <a:ext cx="1874520" cy="2194560"/>
          </a:xfrm>
          <a:prstGeom prst="rect">
            <a:avLst/>
          </a:prstGeom>
          <a:noFill/>
          <a:ln/>
        </ns0:spPr>
        <ns0: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'¿Eso lo aclara completamente?'</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Kill the Zombie Objection before moving on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If not resolved: re-clarify, don't re-defend</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Small 'Yes' = green light to advance</a:t>
            </a:r>
            <a:endParaRPr lang="en-US" sz="1000" dirty="0"/>
          </a:p>
        </ns0:txBody>
      </ns0:sp>
    </ns0:spTree>
  </ns0:cSld>
  <ns0:clrMapOvr>
    <a:masterClrMapping/>
  </ns0:clrMapOvr>
</ns0:sld>
</file>

<file path=ppt/slides/slide12.xml><?xml version="1.0" encoding="utf-8"?>
<ns0:sld xmlns:a="http://schemas.openxmlformats.org/drawingml/2006/main" xmlns:ns0="http://schemas.openxmlformats.org/presentationml/2006/main">
  <ns0:cSld name="Slide 1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1 — Acknowledge: The Cushion Technique</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 entiendo — y honestamente, si estuviera en su lugar, estaría pensando exactamente lo mismo'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Cushion is not agreement — it is empathy. You are validating their right to feel that way.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Critical rule: never go to Step 2 (Clarify) before Step 1 (Acknowledge) is visibly received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the Cushion landed: uncrossed arms, audible exhale, eye contact returns, 'Yeah... exactly'</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just don't trust solar companies.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(wrong):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We've been in business 12 years and have an A+ BBB rating—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(right):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You know what? That's a completely fair way to feel. The industry has some real bad actors. If I hadn't personally seen what this does for families, I'd probably feel the same way. Can I ask — is it the industry in general, or something specific you've heard?</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Cushion is the single most skipped step in sales, and its absence is the single biggest reason objections escalate into arguments. A rep who never skips the Cushion will close significantly more deals than one who is technically superior but impatient.</a:t>
            </a:r>
            <a:endParaRPr lang="en-US" sz="900" dirty="0"/>
          </a:p>
        </ns0:txBody>
      </ns0:sp>
    </ns0:spTree>
  </ns0:cSld>
  <ns0:clrMapOvr>
    <a:masterClrMapping/>
  </ns0:clrMapOvr>
</ns0:sld>
</file>

<file path=ppt/slides/slide13.xml><?xml version="1.0" encoding="utf-8"?>
<ns0:sld xmlns:a="http://schemas.openxmlformats.org/drawingml/2006/main" xmlns:ns0="http://schemas.openxmlformats.org/presentationml/2006/main">
  <ns0:cSld name="Slide 1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2 — Clarify: The 'What Specifically?' Pivot</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6771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'Cuando dice que el precio es alto — ¿lo está comparando con lo que esperaba, o con lo que ya le paga a la empresa eléctrica?'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'Cuando dice que quiere pensarlo — ¿es la matemática, la empresa o el momento lo que necesita más reflexión?'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'Cuando dice que parece arriesgado — ¿cuál es el riesgo específico que más le preocupa?'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ask one clarifying question, then stop. Do not add more questions or data before they answer.</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objections are umbrellas covering multiple specific fears. Clarifying questions identify which fear is actually present. 'The price is high' can mean: I can't afford it, I think I can find it cheaper, or the monthly payment scares me. Each requires a completely different Address.</a:t>
            </a:r>
            <a:endParaRPr lang="en-US" sz="900" dirty="0"/>
          </a:p>
        </ns0:txBody>
      </ns0:sp>
    </ns0:spTree>
  </ns0:cSld>
  <ns0:clrMapOvr>
    <a:masterClrMapping/>
  </ns0:clrMapOvr>
</ns0: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3 — Address: Feel-Felt-Found + Third-Party Proof</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Feel-Felt-Found: 'I understand how you feel. Other homeowners have felt exactly the same way. Here's what they found after going ahead.'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Third-Party Proof: 'Don't take my word for it — here's the Google review from a family in your neighborhood who had the same concern'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One clear solution only — multiple solutions signal desperation and reopen the objection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Match the solution type to the fear type: Logical fears → data. Emotional fears → social proof + validation.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Feel-Felt-Found works because it removes isolation — the homeowner is no longer the only person who has felt this way. Third-Party Proof works because external voices carry more credibility than anything the rep says.</a:t>
            </a:r>
            <a:endParaRPr lang="en-US" sz="900" dirty="0"/>
          </a:p>
        </p:txBody>
      </p:sp>
    </p:spTree>
  </p:cSld>
  <p:clrMapOvr>
    <a:masterClrMapping/>
  </p:clrMapOvr>
</p:sld>
</file>

<file path=ppt/slides/slide15.xml><?xml version="1.0" encoding="utf-8"?>
<ns0:sld xmlns:a="http://schemas.openxmlformats.org/drawingml/2006/main" xmlns:ns0="http://schemas.openxmlformats.org/presentationml/2006/main">
  <ns0:cSld name="Slide 1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4 — Confirm: The Close-Back That Kills Zombie Objections</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6771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'¿Eso lo aclara completamente, o todavía hay alguna pregunta?'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Zombie Objection = one that was 'answered' but not actually resolved — it comes back at the worst possible moment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their answer is 'mostly' or 'I guess' — they are still in the Clarify phase. Re-ask. Do not advance.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clean 'Yes, that makes sense' is the only green light to move forward</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Confirm step is the most powerful close in objection handling — and the most skipped. Reps feel uncomfortable asking if the objection was truly resolved because they fear the answer is 'not really.' But that fear costs deals. The Zombie Objection that isn't confirmed kills the close at the worst possible moment.</a:t>
            </a:r>
            <a:endParaRPr lang="en-US" sz="900" dirty="0"/>
          </a:p>
        </ns0:txBody>
      </ns0:sp>
    </ns0:spTree>
  </ns0:cSld>
  <ns0:clrMapOvr>
    <a:masterClrMapping/>
  </ns0:clrMapOvr>
</ns0:sld>
</file>

<file path=ppt/slides/slide16.xml><?xml version="1.0" encoding="utf-8"?>
<ns0:sld xmlns:a="http://schemas.openxmlformats.org/drawingml/2006/main" xmlns:ns0="http://schemas.openxmlformats.org/presentationml/2006/main">
  <ns0:cSld name="Slide 1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ACAC in Action: 5 Real Objections, Full Framework</a:t>
            </a:r>
            <a:endParaRPr lang="en-US" sz="20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4160520" cy="347472"/>
          </a:xfrm>
          <a:prstGeom prst="rect">
            <a:avLst/>
          </a:prstGeom>
          <a:solidFill>
            <a:srgbClr val="C0392B"/>
          </a:solidFill>
          <a:ln w="12700">
            <a:solidFill>
              <a:srgbClr val="C0392B"/>
            </a:solidFill>
            <a:prstDash val="solid"/>
          </a:ln>
        </ns0:spPr>
      </ns0:sp>
      <ns0:sp>
        <ns0:nvSpPr>
          <ns0:cNvPr id="6" name="Shape 4"/>
          <ns0:cNvSpPr/>
          <ns0:nvPr/>
        </ns0:nvSpPr>
        <ns0:spPr>
          <a:xfrm>
            <a:off x="4572000" y="804672"/>
            <a:ext cx="4206240" cy="347472"/>
          </a:xfrm>
          <a:prstGeom prst="rect">
            <a:avLst/>
          </a:prstGeom>
          <a:solidFill>
            <a:srgbClr val="2D9B4E"/>
          </a:solidFill>
          <a:ln w="12700">
            <a:solidFill>
              <a:srgbClr val="2D9B4E"/>
            </a:solidFill>
            <a:prstDash val="solid"/>
          </a:ln>
        </ns0:spPr>
      </ns0:sp>
      <ns0:sp>
        <ns0:nvSpPr>
          <ns0:cNvPr id="7" name="Text 5"/>
          <ns0:cNvSpPr/>
          <ns0:nvPr/>
        </ns0:nvSpPr>
        <ns0:spPr>
          <a:xfrm>
            <a:off x="320040" y="822960"/>
            <a:ext cx="406908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ns0:txBody>
      </ns0:sp>
      <ns0:sp>
        <ns0:nvSpPr>
          <ns0:cNvPr id="8" name="Text 6"/>
          <ns0:cNvSpPr/>
          <ns0:nvPr/>
        </ns0:nvSpPr>
        <ns0:spPr>
          <a:xfrm>
            <a:off x="4617720" y="822960"/>
            <a:ext cx="411480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 (ACAC)</a:t>
            </a:r>
            <a:endParaRPr lang="en-US" sz="1100" dirty="0"/>
          </a:p>
        </ns0:txBody>
      </ns0:sp>
      <ns0:sp>
        <ns0:nvSpPr>
          <ns0:cNvPr id="9" name="Shape 7"/>
          <ns0:cNvSpPr/>
          <ns0:nvPr/>
        </ns0:nvSpPr>
        <ns0:spPr>
          <a:xfrm>
            <a:off x="274320" y="1225296"/>
            <a:ext cx="4160520" cy="585216"/>
          </a:xfrm>
          <a:prstGeom prst="rect">
            <a:avLst/>
          </a:prstGeom>
          <a:solidFill>
            <a:srgbClr val="1A2840"/>
          </a:solidFill>
          <a:ln w="6350">
            <a:solidFill>
              <a:srgbClr val="4A5568"/>
            </a:solidFill>
            <a:prstDash val="solid"/>
          </a:ln>
        </ns0:spPr>
      </ns0:sp>
      <ns0:sp>
        <ns0:nvSpPr>
          <ns0:cNvPr id="10" name="Shape 8"/>
          <ns0:cNvSpPr/>
          <ns0:nvPr/>
        </ns0:nvSpPr>
        <ns0:spPr>
          <a:xfrm>
            <a:off x="4572000" y="1225296"/>
            <a:ext cx="4206240" cy="585216"/>
          </a:xfrm>
          <a:prstGeom prst="rect">
            <a:avLst/>
          </a:prstGeom>
          <a:solidFill>
            <a:srgbClr val="1A2840"/>
          </a:solidFill>
          <a:ln w="6350">
            <a:solidFill>
              <a:srgbClr val="4A5568"/>
            </a:solidFill>
            <a:prstDash val="solid"/>
          </a:ln>
        </ns0:spPr>
      </ns0:sp>
      <ns0:sp>
        <ns0:nvSpPr>
          <ns0:cNvPr id="11" name="Text 9"/>
          <ns0:cNvSpPr/>
          <ns0:nvPr/>
        </ns0:nvSpPr>
        <ns0:spPr>
          <a:xfrm>
            <a:off x="365760" y="1271016"/>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'Solar es demasiado nuevo — no confío en la tecnología'</a:t>
            </a:r>
            <a:endParaRPr lang="en-US" sz="1100" dirty="0"/>
          </a:p>
        </ns0:txBody>
      </ns0:sp>
      <ns0:sp>
        <ns0:nvSpPr>
          <ns0:cNvPr id="12" name="Text 10"/>
          <ns0:cNvSpPr/>
          <ns0:nvPr/>
        </ns0:nvSpPr>
        <ns0:spPr>
          <a:xfrm>
            <a:off x="4663440" y="1271016"/>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'What specifically concerns you — panel reliability or company longevity?' → Feel/Felt/Found + NREL data → 'Does that ease the technology concern?'</a:t>
            </a:r>
            <a:endParaRPr lang="en-US" sz="1100" dirty="0"/>
          </a:p>
        </ns0:txBody>
      </ns0:sp>
      <ns0:sp>
        <ns0:nvSpPr>
          <ns0:cNvPr id="13" name="Shape 11"/>
          <ns0:cNvSpPr/>
          <ns0:nvPr/>
        </ns0:nvSpPr>
        <ns0:spPr>
          <a:xfrm>
            <a:off x="274320" y="1901952"/>
            <a:ext cx="4160520" cy="585216"/>
          </a:xfrm>
          <a:prstGeom prst="rect">
            <a:avLst/>
          </a:prstGeom>
          <a:solidFill>
            <a:srgbClr val="0D1B2A"/>
          </a:solidFill>
          <a:ln w="6350">
            <a:solidFill>
              <a:srgbClr val="4A5568"/>
            </a:solidFill>
            <a:prstDash val="solid"/>
          </a:ln>
        </ns0:spPr>
      </ns0:sp>
      <ns0:sp>
        <ns0:nvSpPr>
          <ns0:cNvPr id="14" name="Shape 12"/>
          <ns0:cNvSpPr/>
          <ns0:nvPr/>
        </ns0:nvSpPr>
        <ns0:spPr>
          <a:xfrm>
            <a:off x="4572000" y="1901952"/>
            <a:ext cx="4206240" cy="585216"/>
          </a:xfrm>
          <a:prstGeom prst="rect">
            <a:avLst/>
          </a:prstGeom>
          <a:solidFill>
            <a:srgbClr val="0D1B2A"/>
          </a:solidFill>
          <a:ln w="6350">
            <a:solidFill>
              <a:srgbClr val="4A5568"/>
            </a:solidFill>
            <a:prstDash val="solid"/>
          </a:ln>
        </ns0:spPr>
      </ns0:sp>
      <ns0:sp>
        <ns0:nvSpPr>
          <ns0:cNvPr id="15" name="Text 13"/>
          <ns0:cNvSpPr/>
          <ns0:nvPr/>
        </ns0:nvSpPr>
        <ns0:spPr>
          <a:xfrm>
            <a:off x="365760" y="1947672"/>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'Mi techo podría necesitar reemplazo en 5 años'</a:t>
            </a:r>
            <a:endParaRPr lang="en-US" sz="1100" dirty="0"/>
          </a:p>
        </ns0:txBody>
      </ns0:sp>
      <ns0:sp>
        <ns0:nvSpPr>
          <ns0:cNvPr id="16" name="Text 14"/>
          <ns0:cNvSpPr/>
          <ns0:nvPr/>
        </ns0:nvSpPr>
        <ns0:spPr>
          <a:xfrm>
            <a:off x="4663440" y="1947672"/>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'Is the roof issue about timing or cost?' → Present roof lease/wait options → 'Does knowing we can time the install around the roof help?'</a:t>
            </a:r>
            <a:endParaRPr lang="en-US" sz="1100" dirty="0"/>
          </a:p>
        </ns0:txBody>
      </ns0:sp>
      <ns0:sp>
        <ns0:nvSpPr>
          <ns0:cNvPr id="17" name="Shape 15"/>
          <ns0:cNvSpPr/>
          <ns0:nvPr/>
        </ns0:nvSpPr>
        <ns0:spPr>
          <a:xfrm>
            <a:off x="274320" y="2578608"/>
            <a:ext cx="4160520" cy="585216"/>
          </a:xfrm>
          <a:prstGeom prst="rect">
            <a:avLst/>
          </a:prstGeom>
          <a:solidFill>
            <a:srgbClr val="1A2840"/>
          </a:solidFill>
          <a:ln w="6350">
            <a:solidFill>
              <a:srgbClr val="4A5568"/>
            </a:solidFill>
            <a:prstDash val="solid"/>
          </a:ln>
        </ns0:spPr>
      </ns0:sp>
      <ns0:sp>
        <ns0:nvSpPr>
          <ns0:cNvPr id="18" name="Shape 16"/>
          <ns0:cNvSpPr/>
          <ns0:nvPr/>
        </ns0:nvSpPr>
        <ns0:spPr>
          <a:xfrm>
            <a:off x="4572000" y="2578608"/>
            <a:ext cx="4206240" cy="585216"/>
          </a:xfrm>
          <a:prstGeom prst="rect">
            <a:avLst/>
          </a:prstGeom>
          <a:solidFill>
            <a:srgbClr val="1A2840"/>
          </a:solidFill>
          <a:ln w="6350">
            <a:solidFill>
              <a:srgbClr val="4A5568"/>
            </a:solidFill>
            <a:prstDash val="solid"/>
          </a:ln>
        </ns0:spPr>
      </ns0:sp>
      <ns0:sp>
        <ns0:nvSpPr>
          <ns0:cNvPr id="19" name="Text 17"/>
          <ns0:cNvSpPr/>
          <ns0:nvPr/>
        </ns0:nvSpPr>
        <ns0:spPr>
          <a:xfrm>
            <a:off x="365760" y="2624328"/>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'He visto malas reseñas sobre solar en línea'</a:t>
            </a:r>
            <a:endParaRPr lang="en-US" sz="1100" dirty="0"/>
          </a:p>
        </ns0:txBody>
      </ns0:sp>
      <ns0:sp>
        <ns0:nvSpPr>
          <ns0:cNvPr id="20" name="Text 18"/>
          <ns0:cNvSpPr/>
          <ns0:nvPr/>
        </ns0:nvSpPr>
        <ns0:spPr>
          <a:xfrm>
            <a:off x="4663440" y="2624328"/>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'What review specifically — about us or the industry?' → Show live reviews + BBB → 'Does what you're seeing on our profile change that picture?'</a:t>
            </a:r>
            <a:endParaRPr lang="en-US" sz="1100" dirty="0"/>
          </a:p>
        </ns0:txBody>
      </ns0:sp>
      <ns0:sp>
        <ns0:nvSpPr>
          <ns0:cNvPr id="21" name="Shape 19"/>
          <ns0:cNvSpPr/>
          <ns0:nvPr/>
        </ns0:nvSpPr>
        <ns0:spPr>
          <a:xfrm>
            <a:off x="274320" y="3255264"/>
            <a:ext cx="4160520" cy="585216"/>
          </a:xfrm>
          <a:prstGeom prst="rect">
            <a:avLst/>
          </a:prstGeom>
          <a:solidFill>
            <a:srgbClr val="0D1B2A"/>
          </a:solidFill>
          <a:ln w="6350">
            <a:solidFill>
              <a:srgbClr val="4A5568"/>
            </a:solidFill>
            <a:prstDash val="solid"/>
          </a:ln>
        </ns0:spPr>
      </ns0:sp>
      <ns0:sp>
        <ns0:nvSpPr>
          <ns0:cNvPr id="22" name="Shape 20"/>
          <ns0:cNvSpPr/>
          <ns0:nvPr/>
        </ns0:nvSpPr>
        <ns0:spPr>
          <a:xfrm>
            <a:off x="4572000" y="3255264"/>
            <a:ext cx="4206240" cy="585216"/>
          </a:xfrm>
          <a:prstGeom prst="rect">
            <a:avLst/>
          </a:prstGeom>
          <a:solidFill>
            <a:srgbClr val="0D1B2A"/>
          </a:solidFill>
          <a:ln w="6350">
            <a:solidFill>
              <a:srgbClr val="4A5568"/>
            </a:solidFill>
            <a:prstDash val="solid"/>
          </a:ln>
        </ns0:spPr>
      </ns0:sp>
      <ns0:sp>
        <ns0:nvSpPr>
          <ns0:cNvPr id="23" name="Text 21"/>
          <ns0:cNvSpPr/>
          <ns0:nvPr/>
        </ns0:nvSpPr>
        <ns0:spPr>
          <a:xfrm>
            <a:off x="365760" y="3300984"/>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'No creo que use suficiente electricidad para que valga la pena'</a:t>
            </a:r>
            <a:endParaRPr lang="en-US" sz="1100" dirty="0"/>
          </a:p>
        </ns0:txBody>
      </ns0:sp>
      <ns0:sp>
        <ns0:nvSpPr>
          <ns0:cNvPr id="24" name="Text 22"/>
          <ns0:cNvSpPr/>
          <ns0:nvPr/>
        </ns0:nvSpPr>
        <ns0:spPr>
          <a:xfrm>
            <a:off x="4663440" y="3300984"/>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'Is the concern about current usage or future rates?' → Show 25-year inflation projection → 'Does the future rate picture change the math for you?'</a:t>
            </a:r>
            <a:endParaRPr lang="en-US" sz="1100" dirty="0"/>
          </a:p>
        </ns0:txBody>
      </ns0:sp>
      <ns0:sp>
        <ns0:nvSpPr>
          <ns0:cNvPr id="25" name="Shape 23"/>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6" name="Text 24"/>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reps through each objection twice: once using ACAC correctly, once jumping straight to Address without Acknowledge or Clarify. Let them feel the difference in how the homeowner responds to each approach.</a:t>
            </a:r>
            <a:endParaRPr lang="en-US" sz="900" dirty="0"/>
          </a:p>
        </ns0:txBody>
      </ns0:sp>
    </ns0:spTree>
  </ns0:cSld>
  <ns0:clrMapOvr>
    <a:masterClrMapping/>
  </ns0:clrMapOvr>
</ns0: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ACAC Speed Drills</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the Acknowledge and Clarify steps for any objection in under 10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throws an objection — rep has exactly 10 seconds to deliver A + C only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No addressing, no data, no defense — just a perfect Cushion and one Clarifying question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Round 2: Trainer confirms the clarified concern — rep delivers A + C + A + C (full framework) in 45 seconds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grades: Did the Cushion feel genuine or robotic? Did the Clarify question actually narrow the concern?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Completed ACAC Worksheet for the 5 most common objections in your local market</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8.xml><?xml version="1.0" encoding="utf-8"?>
<ns0:sld xmlns:a="http://schemas.openxmlformats.org/drawingml/2006/main" xmlns:ns0="http://schemas.openxmlformats.org/presentationml/2006/main">
  <ns0:cSld name="Slide 1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6.3</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Identifying the Smoke Screen vs. The Fire</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Stop Solving Problems That Don't Exist</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6.3 — SMOKE SCREENS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Find the Real Objection Under the Polite Excuse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Isolate Move: 'Aside from [X], is there anything else holding you back?'</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Magic Wand Question: testing if the stated objection is actually the real 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Peeling the Onion: asking 'Why?' three levels deep to find the root cause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3 Isolation Questions every rep uses in every consultation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Smoke Screen: What It Is and Why Homeowners Use It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Smoke Screen is a polite, face-saving excuse used to avoid disclosing the real fear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Common Smoke Screens: 'We need to talk to our accountant,' 'We want to research more,' 'The timing isn't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real fears behind the smoke: price anxiety, distrust of the rep, distrust of the company, spousal conflict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Never argue with the Smoke Screen — that's arguing with a symptom, not treating the disease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hardest part of the Smoke Screen concept for reps to accept is that the homeowner isn't lying maliciously — they're being polite. Once reps understand this, they stop getting defensive about the smoke and start getting curious about the fire.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Isolate Move: Clearing the Smoke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After any soft objection, always ask: 'Aside from [that concern], is there anything else that's holding you back from moving forward?'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say 'No, that's the main thing' — you have isolated the real objection and now have something specific to solve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say 'Well, also...' — you have found additional fires that would have burned the deal after the smoke was cleared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Isolate Move prevents the 'infinite objection loop' where solving one surfaces another</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hear you on the accountant piece — that's smart. Aside from getting the accountant's input, is there anything else that would keep you from moving forward?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honestly, we're also not 100% sure we trust solar companies in general.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really glad you said that — that's the more important thing for us to talk about. Can I address that directly?</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Magic Wand Question: Testing the Smoke Screen</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Use when you suspect the stated objection is a cover story: 'If I could wave a magic wand and [solve that exact thing] right now — would you be ready to go solar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'Yes' → the stated objection is real — solve it completely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'No' or 'Maybe' → the stated objection is a Smoke Screen — ask what else is present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'I don't know' → they are in the Fear Gap — return to the emotional safety conversation</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 just need to talk to our accountant before we do anything this big.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Let me ask you something though — if I could guarantee right now that the tax credit works exactly the way I showed you, and the accountant signed off today, would you be ready to move forward?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Hmm... I think there's also the question of whether we really want panels on the roof.</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There it is. Tell me more about that.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Magic Wand question is disarming because it's hypothetical and playful. It removes the pressure of the actual decision while revealing whether the objection is real or a polite stall. Deliver it with a smile — it should feel curious, not confrontational.</a:t>
            </a:r>
            <a:endParaRPr lang="en-US" sz="900" dirty="0"/>
          </a:p>
        </p:txBody>
      </p:sp>
    </p:spTree>
  </p:cSld>
  <p:clrMapOvr>
    <a:masterClrMapping/>
  </p:clrMapOvr>
</p:sld>
</file>

<file path=ppt/slides/slide23.xml><?xml version="1.0" encoding="utf-8"?>
<ns0:sld xmlns:a="http://schemas.openxmlformats.org/drawingml/2006/main" xmlns:ns0="http://schemas.openxmlformats.org/presentationml/2006/main">
  <ns0:cSld name="Slide 2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Peeling the Onion: 3 Levels Deep to the Root Cause</a:t>
            </a:r>
            <a:endParaRPr lang="en-US" sz="20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8503920" cy="84582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04672"/>
            <a:ext cx="512064" cy="845820"/>
          </a:xfrm>
          <a:prstGeom prst="rect">
            <a:avLst/>
          </a:prstGeom>
          <a:solidFill>
            <a:srgbClr val="F4A61D"/>
          </a:solidFill>
          <a:ln w="12700">
            <a:solidFill>
              <a:srgbClr val="F4A61D"/>
            </a:solidFill>
            <a:prstDash val="solid"/>
          </a:ln>
        </ns0:spPr>
      </ns0:sp>
      <ns0:sp>
        <ns0:nvSpPr>
          <ns0:cNvPr id="7" name="Text 5"/>
          <ns0:cNvSpPr/>
          <ns0:nvPr/>
        </ns0:nvSpPr>
        <ns0:spPr>
          <a:xfrm>
            <a:off x="274320" y="822960"/>
            <a:ext cx="512064" cy="809244"/>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ns0:txBody>
      </ns0:sp>
      <ns0:sp>
        <ns0:nvSpPr>
          <ns0:cNvPr id="8" name="Text 6"/>
          <ns0:cNvSpPr/>
          <ns0:nvPr/>
        </ns0:nvSpPr>
        <ns0:spPr>
          <a:xfrm>
            <a:off x="914400" y="850392"/>
            <a:ext cx="7772400" cy="754380"/>
          </a:xfrm>
          <a:prstGeom prst="rect">
            <a:avLst/>
          </a:prstGeom>
          <a:noFill/>
          <a:ln/>
        </ns0:spPr>
        <ns0: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Level 1 — The Surface Statement  </a:t>
            </a:r>
            <a:pPr indent="0" marL="0">
              <a:buNone/>
            </a:pPr>
            <a:r>
              <a:rPr lang="en-US" sz="1100" dirty="0">
                <a:solidFill>
                  <a:srgbClr val="FFFFFF"/>
                </a:solidFill>
                <a:latin typeface="Calibri" pitchFamily="34" charset="0"/>
                <a:ea typeface="Calibri" pitchFamily="34" charset="-122"/>
                <a:cs typeface="Calibri" pitchFamily="34" charset="-120"/>
              </a:rPr>
              <a:t>'El precio es demasiado alto.' → Esta es la versión educada. No lo aborde directamente.</a:t>
            </a:r>
            <a:endParaRPr lang="en-US" sz="1200" dirty="0"/>
          </a:p>
        </ns0:txBody>
      </ns0:sp>
      <ns0:sp>
        <ns0:nvSpPr>
          <ns0:cNvPr id="9" name="Shape 7"/>
          <ns0:cNvSpPr/>
          <ns0:nvPr/>
        </ns0:nvSpPr>
        <ns0:spPr>
          <a:xfrm>
            <a:off x="274320" y="1741932"/>
            <a:ext cx="8503920" cy="8458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274320" y="1741932"/>
            <a:ext cx="512064" cy="845820"/>
          </a:xfrm>
          <a:prstGeom prst="rect">
            <a:avLst/>
          </a:prstGeom>
          <a:solidFill>
            <a:srgbClr val="0891B2"/>
          </a:solidFill>
          <a:ln w="12700">
            <a:solidFill>
              <a:srgbClr val="0891B2"/>
            </a:solidFill>
            <a:prstDash val="solid"/>
          </a:ln>
        </ns0:spPr>
      </ns0:sp>
      <ns0:sp>
        <ns0:nvSpPr>
          <ns0:cNvPr id="11" name="Text 9"/>
          <ns0:cNvSpPr/>
          <ns0:nvPr/>
        </ns0:nvSpPr>
        <ns0:spPr>
          <a:xfrm>
            <a:off x="274320" y="1760220"/>
            <a:ext cx="512064" cy="809244"/>
          </a:xfrm>
          <a:prstGeom prst="rect">
            <a:avLst/>
          </a:prstGeom>
          <a:noFill/>
          <a:ln/>
        </ns0:spPr>
        <ns0:txBody>
          <a:bodyPr wrap="square" lIns="0" tIns="0" rIns="0" bIns="0"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2</a:t>
            </a:r>
            <a:endParaRPr lang="en-US" sz="1800" dirty="0"/>
          </a:p>
        </ns0:txBody>
      </ns0:sp>
      <ns0:sp>
        <ns0:nvSpPr>
          <ns0:cNvPr id="12" name="Text 10"/>
          <ns0:cNvSpPr/>
          <ns0:nvPr/>
        </ns0:nvSpPr>
        <ns0:spPr>
          <a:xfrm>
            <a:off x="914400" y="1787652"/>
            <a:ext cx="7772400" cy="754380"/>
          </a:xfrm>
          <a:prstGeom prst="rect">
            <a:avLst/>
          </a:prstGeom>
          <a:noFill/>
          <a:ln/>
        </ns0:spPr>
        <ns0: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Level 2 — The Clarified Fear  </a:t>
            </a:r>
            <a:pPr indent="0" marL="0">
              <a:buNone/>
            </a:pPr>
            <a:r>
              <a:rPr lang="en-US" sz="1100" dirty="0">
                <a:solidFill>
                  <a:srgbClr val="FFFFFF"/>
                </a:solidFill>
                <a:latin typeface="Calibri" pitchFamily="34" charset="0"/>
                <a:ea typeface="Calibri" pitchFamily="34" charset="-122"/>
                <a:cs typeface="Calibri" pitchFamily="34" charset="-120"/>
              </a:rPr>
              <a:t>'Entonces cuando dice alto — ¿es el pago mensual o el número total lo que le preocupa?' → 'El número total parece aterrador.'</a:t>
            </a:r>
            <a:endParaRPr lang="en-US" sz="1200" dirty="0"/>
          </a:p>
        </ns0:txBody>
      </ns0:sp>
      <ns0:sp>
        <ns0:nvSpPr>
          <ns0:cNvPr id="13" name="Shape 11"/>
          <ns0:cNvSpPr/>
          <ns0:nvPr/>
        </ns0:nvSpPr>
        <ns0:spPr>
          <a:xfrm>
            <a:off x="274320" y="2679192"/>
            <a:ext cx="8503920" cy="84582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ns0:spPr>
      </ns0:sp>
      <ns0:sp>
        <ns0:nvSpPr>
          <ns0:cNvPr id="14" name="Shape 12"/>
          <ns0:cNvSpPr/>
          <ns0:nvPr/>
        </ns0:nvSpPr>
        <ns0:spPr>
          <a:xfrm>
            <a:off x="274320" y="2679192"/>
            <a:ext cx="512064" cy="845820"/>
          </a:xfrm>
          <a:prstGeom prst="rect">
            <a:avLst/>
          </a:prstGeom>
          <a:solidFill>
            <a:srgbClr val="2D9B4E"/>
          </a:solidFill>
          <a:ln w="12700">
            <a:solidFill>
              <a:srgbClr val="2D9B4E"/>
            </a:solidFill>
            <a:prstDash val="solid"/>
          </a:ln>
        </ns0:spPr>
      </ns0:sp>
      <ns0:sp>
        <ns0:nvSpPr>
          <ns0:cNvPr id="15" name="Text 13"/>
          <ns0:cNvSpPr/>
          <ns0:nvPr/>
        </ns0:nvSpPr>
        <ns0:spPr>
          <a:xfrm>
            <a:off x="274320" y="2697480"/>
            <a:ext cx="512064" cy="809244"/>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ns0:txBody>
      </ns0:sp>
      <ns0:sp>
        <ns0:nvSpPr>
          <ns0:cNvPr id="16" name="Text 14"/>
          <ns0:cNvSpPr/>
          <ns0:nvPr/>
        </ns0:nvSpPr>
        <ns0:spPr>
          <a:xfrm>
            <a:off x="914400" y="2724912"/>
            <a:ext cx="7772400" cy="754380"/>
          </a:xfrm>
          <a:prstGeom prst="rect">
            <a:avLst/>
          </a:prstGeom>
          <a:noFill/>
          <a:ln/>
        </ns0:spPr>
        <ns0: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Level 3 — The Root Cause  </a:t>
            </a:r>
            <a:pPr indent="0" marL="0">
              <a:buNone/>
            </a:pPr>
            <a:r>
              <a:rPr lang="en-US" sz="1100" dirty="0">
                <a:solidFill>
                  <a:srgbClr val="FFFFFF"/>
                </a:solidFill>
                <a:latin typeface="Calibri" pitchFamily="34" charset="0"/>
                <a:ea typeface="Calibri" pitchFamily="34" charset="-122"/>
                <a:cs typeface="Calibri" pitchFamily="34" charset="-120"/>
              </a:rPr>
              <a:t>'Y cuando mira ese número total — ¿qué específicamente le preocupa?' → 'Me pone nervioso mi situación laboral el próximo año.'</a:t>
            </a:r>
            <a:endParaRPr lang="en-US" sz="1200" dirty="0"/>
          </a:p>
        </ns0:txBody>
      </ns0:sp>
      <ns0:sp>
        <ns0:nvSpPr>
          <ns0:cNvPr id="17" name="Shape 15"/>
          <ns0:cNvSpPr/>
          <ns0:nvPr/>
        </ns0:nvSpPr>
        <ns0:spPr>
          <a:xfrm>
            <a:off x="274320" y="3616452"/>
            <a:ext cx="8503920" cy="84582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ns0:spPr>
      </ns0:sp>
      <ns0:sp>
        <ns0:nvSpPr>
          <ns0:cNvPr id="18" name="Shape 16"/>
          <ns0:cNvSpPr/>
          <ns0:nvPr/>
        </ns0:nvSpPr>
        <ns0:spPr>
          <a:xfrm>
            <a:off x="274320" y="3616452"/>
            <a:ext cx="512064" cy="845820"/>
          </a:xfrm>
          <a:prstGeom prst="rect">
            <a:avLst/>
          </a:prstGeom>
          <a:solidFill>
            <a:srgbClr val="E07B39"/>
          </a:solidFill>
          <a:ln w="12700">
            <a:solidFill>
              <a:srgbClr val="E07B39"/>
            </a:solidFill>
            <a:prstDash val="solid"/>
          </a:ln>
        </ns0:spPr>
      </ns0:sp>
      <ns0:sp>
        <ns0:nvSpPr>
          <ns0:cNvPr id="19" name="Text 17"/>
          <ns0:cNvSpPr/>
          <ns0:nvPr/>
        </ns0:nvSpPr>
        <ns0:spPr>
          <a:xfrm>
            <a:off x="274320" y="3634740"/>
            <a:ext cx="512064" cy="809244"/>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ns0:txBody>
      </ns0:sp>
      <ns0:sp>
        <ns0:nvSpPr>
          <ns0:cNvPr id="20" name="Text 18"/>
          <ns0:cNvSpPr/>
          <ns0:nvPr/>
        </ns0:nvSpPr>
        <ns0:spPr>
          <a:xfrm>
            <a:off x="914400" y="3662172"/>
            <a:ext cx="7772400" cy="754380"/>
          </a:xfrm>
          <a:prstGeom prst="rect">
            <a:avLst/>
          </a:prstGeom>
          <a:noFill/>
          <a:ln/>
        </ns0:spPr>
        <ns0: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The Real Close  </a:t>
            </a:r>
            <a:pPr indent="0" marL="0">
              <a:buNone/>
            </a:pPr>
            <a:r>
              <a:rPr lang="en-US" sz="1100" dirty="0">
                <a:solidFill>
                  <a:srgbClr val="FFFFFF"/>
                </a:solidFill>
                <a:latin typeface="Calibri" pitchFamily="34" charset="0"/>
                <a:ea typeface="Calibri" pitchFamily="34" charset="-122"/>
                <a:cs typeface="Calibri" pitchFamily="34" charset="-120"/>
              </a:rPr>
              <a:t>Now you have the actual fear: 'What if I lose my job?' — which has a completely different solution than 'the price is high.'</a:t>
            </a:r>
            <a:endParaRPr lang="en-US" sz="1200" dirty="0"/>
          </a:p>
        </ns0:txBody>
      </ns0:sp>
      <ns0:sp>
        <ns0:nvSpPr>
          <ns0:cNvPr id="21" name="Shape 19"/>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2" name="Text 20"/>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Onion technique takes 90 seconds and saves 30 minutes of misdirected rebuttals. Most reps never get past Level 1. The rep who reaches Level 3 consistently is operating in a completely different league.</a:t>
            </a:r>
            <a:endParaRPr lang="en-US" sz="900" dirty="0"/>
          </a:p>
        </ns0:txBody>
      </ns0:sp>
    </ns0:spTree>
  </ns0:cSld>
  <ns0:clrMapOvr>
    <a:masterClrMapping/>
  </ns0:clrMapOvr>
</ns0:sld>
</file>

<file path=ppt/slides/slide24.xml><?xml version="1.0" encoding="utf-8"?>
<ns0:sld xmlns:a="http://schemas.openxmlformats.org/drawingml/2006/main" xmlns:ns0="http://schemas.openxmlformats.org/presentationml/2006/main">
  <ns0:cSld name="Slide 2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Smoke or Fire Roleplay</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Use isolation questions to find the hidden objection behind a polite stall</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La pareja A juega como propietario con una objeción OCULTA (escrita en una tarjeta — no mostrada al representante)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Partner A uses a Smoke Screen to deflect: 'We just want to talk to our accountant'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Partner B (rep) uses: Isolate Move → Magic Wand → Peel the Onion until the card's hidden objection is identified</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Hidden objection examples: 'I don't believe the savings are real,' 'My wife doesn't want strangers on the roof,' 'I think the company will go bankrupt'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Each rep writes down 3 'Isolation Questions' they will use in every consultation from now on</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ns0:txBody>
      </ns0:sp>
    </ns0:spTree>
  </ns0:cSld>
  <ns0:clrMapOvr>
    <a:masterClrMapping/>
  </ns0:clrMapOvr>
</ns0:sld>
</file>

<file path=ppt/slides/slide25.xml><?xml version="1.0" encoding="utf-8"?>
<ns0:sld xmlns:a="http://schemas.openxmlformats.org/drawingml/2006/main" xmlns:ns0="http://schemas.openxmlformats.org/presentationml/2006/main">
  <ns0:cSld name="Slide 2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6.4</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Advanced 'Think About It' Mastery</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From Thinking to Deciding — Without Pressure</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6.4 — ADVANCED THINK ABOUT IT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Most Expensive Word in Solar: 'Later'</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Permission to Be Frank Frame: turning the stall into a coaching conversation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Thinking Cost Calculator: quantifying the daily penalty of delay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Calendar Lock: never leave without knowing the real status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 2-minute recorded response to 'We need to think about it'</a:t>
            </a:r>
            <a:endParaRPr lang="en-US" sz="1300" dirty="0"/>
          </a:p>
        </p:txBody>
      </p:sp>
    </p:spTree>
  </p:cSld>
  <p:clrMapOvr>
    <a:masterClrMapping/>
  </p:clrMapOvr>
</p:sld>
</file>

<file path=ppt/slides/slide27.xml><?xml version="1.0" encoding="utf-8"?>
<ns0:sld xmlns:a="http://schemas.openxmlformats.org/drawingml/2006/main" xmlns:ns0="http://schemas.openxmlformats.org/presentationml/2006/main">
  <ns0:cSld name="Slide 2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Permission to Be Frank Frame</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stalls, ask for permission to be direct: 'Can I be totally honest with you for a second?'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'Por lo general, cuando alguien me dice que necesita pensarlo, significa que me perdí algo en mi explicación. ¿Qué no cubrí suficientemente bien?'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reframe puts the rep in the 'humble advisor' role — not a defensive salesperson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also surfaces the real concern by making the homeowner feel responsible for helping, not just escaping</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be totally honest with you for a second? Usually when someone says they need to think about it, it means I didn't explain something clearly enough. What was the part that I didn't cover well?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no — you explained everything well. It's just... we're not sure if now is the right time financially.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really appreciate you saying that. Financial timing is exactly what I should have addressed more directly. Can I show you one more thing on that before you go?</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one of the most psychologically sophisticated techniques in the curriculum. When the rep takes responsibility for the stall ('I missed something'), the homeowner almost always corrects them: 'No, it's not you, it's just...' — and the real objection surfaces.</a:t>
            </a:r>
            <a:endParaRPr lang="en-US" sz="900" dirty="0"/>
          </a:p>
        </ns0:txBody>
      </ns0:sp>
    </ns0:spTree>
  </ns0:cSld>
  <ns0:clrMapOvr>
    <a:masterClrMapping/>
  </ns0:clrMapOvr>
</ns0:sld>
</file>

<file path=ppt/slides/slide28.xml><?xml version="1.0" encoding="utf-8"?>
<ns0:sld xmlns:a="http://schemas.openxmlformats.org/drawingml/2006/main" xmlns:ns0="http://schemas.openxmlformats.org/presentationml/2006/main">
  <ns0:cSld name="Slide 2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Thinking Cost Calculator: Quantify the Delay</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 system saves $150/month, every day of 'thinking' costs the homeowner $5.00</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'No estoy intentando presionarle — solo quiero asegurarme de que tenga todos los números, incluyendo este: cada día que esperamos le cuesta aproximadamente $5'</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as a missed opportunity, not a closing tactic: 'I'd feel terrible if you spent 2 weeks deciding and lost $70 in savings in the process'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For high-bill homeowners ($300+/mo): the daily cost is $10+ — this number lands very hard</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transparent about something before we wrap up. At your bill level, every day between now and when your system starts producing costs you about $8 in savings you'll never recover. That's not pressure — it's just math I want you to have. Over 2 weeks of thinking, that's $112 in permanent lost savings. I'm not saying that to rush you — I just want to make sure you factor that in.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I didn't think about it that way.</a:t>
            </a:r>
            <a:endParaRPr lang="en-US" sz="1100" dirty="0"/>
          </a:p>
        </ns0:txBody>
      </ns0:sp>
    </ns0:spTree>
  </ns0:cSld>
  <ns0:clrMapOvr>
    <a:masterClrMapping/>
  </ns0:clrMapOvr>
</ns0: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Calendar Lock: Never Leave Without a Status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'follow up next week' with no locked date or agenda is a dead lead — reps must classify every appointment at close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Final Question: 'Before I go — on a scale of 1–10, how likely is it that we're going to do this together?'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7 or above: lock a specific callback or signature date — 'Can we put Tuesday at 6pm in both our calendars right now?'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Below a 7: ask 'What would move that number up?' — this surfaces the final hidden objection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Calendar Lock prevents the rep from driving away telling themselves 'they're probably going to do it' when the deal is actually dead. Honest pipeline intelligence is more valuable than comfortable ambiguity.</a:t>
            </a:r>
            <a:endParaRPr lang="en-US" sz="900" dirty="0"/>
          </a:p>
        </p:txBody>
      </p:sp>
    </p:spTree>
  </p:cSld>
  <p:clrMapOvr>
    <a:masterClrMapping/>
  </p:clrMapOvr>
</p:sld>
</file>

<file path=ppt/slides/slide30.xml><?xml version="1.0" encoding="utf-8"?>
<ns0:sld xmlns:a="http://schemas.openxmlformats.org/drawingml/2006/main" xmlns:ns0="http://schemas.openxmlformats.org/presentationml/2006/main">
  <ns0:cSld name="Slide 3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Thinking Debate</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Pitch why 'thinking about it' is the most expensive thing a homeowner can do</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Cada representante debe dar un argumento de 2 minutos — en personaje, a una persona real — sobre por qué pensar cuesta más que decidir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Must include: the daily cost calculation, the inflation clock, and the lost incentive risk</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Cannot use pressure language: no 'limited time,' no 'this offer expires,' no manufactured scarcity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judges: Did this feel like information or pressure? Did it use the homeowner's actual bill number?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recorded 2-minute audio response to 'We need to think about it' — submit for manager review</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ns0:txBody>
      </ns0:sp>
    </ns0:spTree>
  </ns0:cSld>
  <ns0:clrMapOvr>
    <a:masterClrMapping/>
  </ns0:clrMapOvr>
</ns0:sld>
</file>

<file path=ppt/slides/slide31.xml><?xml version="1.0" encoding="utf-8"?>
<ns0:sld xmlns:a="http://schemas.openxmlformats.org/drawingml/2006/main" xmlns:ns0="http://schemas.openxmlformats.org/presentationml/2006/main">
  <ns0:cSld name="Slide 3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6.5</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Defeating the 'More Quotes' Comparison</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Stop Being a Commodity. Start Being the Standard.</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6.5 — MORE QUOTES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Buyer's Checklist: Setting the Rules of Engagement</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Comparison Standard: providing the criteria before they shop</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Value of Time frame: more quotes have a real, compounding cost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Expert vs. The Bidder: service and certainty as the premium</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Creating a homeowner checklist that happens to favor your offer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Comparison Standard: Control the Criteria</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Before they can meaningfully compare, help them understand what they should be comparing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Give them a 'Solar Buyer's Checklist' — 5 questions every homeowner should ask every company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Design the checklist to highlight your company's actual strengths (workmanship warranty, monitoring, roof penetration coverage)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to help them evaluate other quotes when they come in: 'I'll even help you compare — I have nothing to hide'</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completely support you getting other quotes. Before you do, I want to give you something that will make that process a lot more useful. Here are the 5 things that actually separate a quality solar installation from a cheap one. When you get other quotes, use this — and I promise it'll make the comparison easier.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I hadn't thought about asking for all of this.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Most people don't. That's exactly how the cheap guys get in the door.</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provides the comparison framework becomes the trusted advisor, not just another bidder. When the homeowner evaluates competitors through YOUR criteria, your offer wins almost by definition — as long as your criteria are genuinely relevant.</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5-Point Solar Buyer's Checklist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1. Workmanship Warranty: How many years? Does it cover roof penetration damage specifically?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 Post-Install Monitoring: Who monitors the system performance? Is it included in the price or an add-on?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3. Manufacturer vs. Installer Warranty: If the installer goes out of business, who backs the product warranty?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4. Production Guarantee: Is there a guaranteed annual output in kWh — or just an estimate?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5. Emergency Response Time: If a panel fails or the system goes down, what is the guaranteed response time?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Laminate this checklist and give it to every homeowner who says they want more quotes. The questions are calibrated to expose the weaknesses of budget competitors. When they come back from 3 other quotes, they'll have the answers — and yours will compare favorably.</a:t>
            </a:r>
            <a:endParaRPr lang="en-US" sz="900" dirty="0"/>
          </a:p>
        </p:txBody>
      </p:sp>
    </p:spTree>
  </p:cSld>
  <p:clrMapOvr>
    <a:masterClrMapping/>
  </p:clrMapOvr>
</p:sld>
</file>

<file path=ppt/slides/slide35.xml><?xml version="1.0" encoding="utf-8"?>
<ns0:sld xmlns:a="http://schemas.openxmlformats.org/drawingml/2006/main" xmlns:ns0="http://schemas.openxmlformats.org/presentationml/2006/main">
  <ns0:cSld name="Slide 3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Value of Time Frame: More Quotes Have a Real Cost</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6771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'¿Cuántas horas de su tiempo está dispuesto a gastar para potencialmente ahorrar $5 al mes?'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Getting 3 quotes takes: 3 evenings of appointments (6+ hours) + research time + comparison time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'Mientras tanto, su factura eléctrica está corriendo a $280 al mes — y cada semana de comparación de precios es otra semana sin ahorros'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Incentive Clock: 'Net metering changes and tax credits don't announce when they're changing — they just change'</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Use this frame only with genuine conviction — if there are real incentive windows closing, say so. If not, stick to the time-cost argument. Manufactured incentive urgency destroys trust the moment the homeowner discovers it was false.</a:t>
            </a:r>
            <a:endParaRPr lang="en-US" sz="900" dirty="0"/>
          </a:p>
        </ns0:txBody>
      </ns0:sp>
    </ns0:spTree>
  </ns0:cSld>
  <ns0:clrMapOvr>
    <a:masterClrMapping/>
  </ns0:clrMapOvr>
</ns0:sld>
</file>

<file path=ppt/slides/slide36.xml><?xml version="1.0" encoding="utf-8"?>
<ns0:sld xmlns:a="http://schemas.openxmlformats.org/drawingml/2006/main" xmlns:ns0="http://schemas.openxmlformats.org/presentationml/2006/main">
  <ns0:cSld name="Slide 3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Checklist Creation Exercise</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homeowner-facing comparison checklist that positions your company as the benchmark</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Cada representante crea una 'Lista de Verificación del Comprador Solar' de 5 puntos usando las fortalezas reales de su empresa</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Each point must be phrased as a question the homeowner asks the competitor — not a statement about your company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Test: If a competitor answered all 5 questions as well as your company does, would you still win? If not, revise.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Role-play: Deliver the checklist to a partner playing a homeowner who wants 3 more quotes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personalized 'Why Us' comparison sheet for the field folder</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ns0:txBody>
      </ns0:sp>
    </ns0:spTree>
  </ns0:cSld>
  <ns0:clrMapOvr>
    <a:masterClrMapping/>
  </ns0:clrMapOvr>
</ns0:sld>
</file>

<file path=ppt/slides/slide37.xml><?xml version="1.0" encoding="utf-8"?>
<ns0:sld xmlns:a="http://schemas.openxmlformats.org/drawingml/2006/main" xmlns:ns0="http://schemas.openxmlformats.org/presentationml/2006/main">
  <ns0:cSld name="Slide 3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6.6</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Taming the 'Analytical Owl'</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From Spreadsheets to Signatures</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6.6 — THE ANALYTICAL OWL</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Feed the Data Hunger Without Drowning in It</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Feeding the Owl with limits: satisfying the analytical need without enabling infinite questions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Decision Criteria Agreement: locking the question set before the deep dive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Bottom Line pivot: every technical answer ends in a financial outcome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Tech-to-Cash drill: 45 seconds from spec to dollar impact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Identifying and Feeding the Owl (With Limits)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Owl's strength: they will research everything and buy confidently when satisfied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Owl's trap: they use data requests as a stall — 'I just have a few more questions' never ends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Feed them data at a high level first, then pivot to the FINANCIAL IMPACT: 'Inverter efficiency is 98% — which means for you, every drop of sun becomes a dollar'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Always add the phrase: 'Does that answer the technical piece, or would you like me to go deeper on the specs?'</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you tell me about the degradation rate of these specific panels?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Good question. These panels degrade at about 0.5% per year — which is best-in-class. In practical terms, that means in year 25 your system is still producing at 87.5% of Day 1 output. Which means the savings I showed you are actually conservative. Does that put the degradation question to bed, or would you like me to pull up the spec sheet?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'Would you like me to go deeper?' question is a trap set with permission. If they say 'yes,' you're about to satisfy a real analytical need. If they hesitate, they were stalling — and now they know you know.</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Decision Criteria Agreement: Lock the Question Set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Before the technical deep dive, ask: 'What are the 3 things you need to see today to feel 100% confident moving forward?'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Write them down visibly — 'I want to make sure I hit all three before we're done'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prevents the Infinite Question loop: 'You said three things — we've covered all three. Are we at 100% confidence?'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add a 4th question after the 3 are covered: 'That's a great question — is this the last thing between you and moving forward?'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Decision Criteria Agreement is one of the most elegant closing techniques in existence. It turns an open-ended analytical conversation into a finite contract. When all three criteria are met, the rep has earned explicit permission to close.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Bottom Line Pivot: Every Tech Answer Ends in Dollars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After any technical explanation, always end with: 'The bottom line for you is [dollar/financial impact]'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N-Type cells → 'The bottom line: more power from less roof — your system fits your layout'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Rapid shutdown → 'The bottom line: your family is safer, and your insurance company likes it'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String inverter vs. microinverter → 'The bottom line: with your roof layout, this choice saves you $800 and performs equally well'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leave a technical statement without a financial landing point</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Bottom Line pivot is a habit reps must build until it's automatic. Any technical conversation that ends on a spec — not a dollar — has failed. The homeowner remembers the dollar. They forget the spec.</a:t>
            </a:r>
            <a:endParaRPr lang="en-US" sz="900" dirty="0"/>
          </a:p>
        </p:txBody>
      </p:sp>
    </p:spTree>
  </p:cSld>
  <p:clrMapOvr>
    <a:masterClrMapping/>
  </p:clrMapOvr>
</p:sld>
</file>

<file path=ppt/slides/slide42.xml><?xml version="1.0" encoding="utf-8"?>
<ns0:sld xmlns:a="http://schemas.openxmlformats.org/drawingml/2006/main" xmlns:ns0="http://schemas.openxmlformats.org/presentationml/2006/main">
  <ns0:cSld name="Slide 4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Tech-to-Cash Roleplay</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Answer any technical question and pivot to the financial impact in under 45 seconds</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El entrenador hace la pregunta técnica más compleja que se le ocurra (p. ej., '¿Cuál es el coeficiente de temperatura de estos paneles?')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must: answer accurately at a high level → pivot with 'which means for you...' → land on a dollar outcome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Timer: if they can't land on a financial outcome in 45 seconds, restart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Round 2: rep delivers the Decision Criteria Agreement to an 'Owl' homeowner and locks 3 criteria</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'Quick Facts' technical cheat sheet covering the top 8 Owl questions with a Bottom Line for each</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ns0:txBody>
      </ns0:sp>
    </ns0:spTree>
  </ns0:cSld>
  <ns0:clrMapOvr>
    <a:masterClrMapping/>
  </ns0:clrMapOvr>
</ns0:sld>
</file>

<file path=ppt/slides/slide43.xml><?xml version="1.0" encoding="utf-8"?>
<ns0:sld xmlns:a="http://schemas.openxmlformats.org/drawingml/2006/main" xmlns:ns0="http://schemas.openxmlformats.org/presentationml/2006/main">
  <ns0:cSld name="Slide 4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6.7</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Rebuilding Trust: Handling Hostility &amp; Skepticism</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Flip the Hostile Homeowner Into a Brand Advocate</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6.7 — HOSTILE HOMEOWNERS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Rep Who Stays Calm Gets the Sale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Low Heart Rate Mastery: physiological tools for de-escalation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Joining the Resistance: agreeing with skepticism to defuse it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Radical Transparency Close: negative framing that builds massive trust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Voice as a tool: the Late Night DJ under pressure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Low Heart Rate Mastery: Staying Calm Under Fire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Physiological reality: when attacked verbally, the body activates the same threat response as physical danger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rep's outward demeanor must be the OPPOSITE of their internal state — this is a trained skill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Tools: box breathing before appointment, deliberate vocal slowdown during challenge, strategic pause after hostile statement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Late Night DJ voice: low, slow, warm — as if you are unshakable because you have nothing to hide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Have reps practice delivering a calm response while the trainer reads hostile statements in an elevated voice. The contrast between the trainer's energy and the rep's calm is the exact dynamic they'll face in the field.</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Joining the Resistance: Agree With the Skepticism</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says 'Solar is a scam,' the worst response is any form of defense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right response: 'You're right to be skeptical. There are genuinely bad actors in this industry. That's exactly why I'm here — to show you how we're different.'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Agreeing with the skepticism removes the adversarial dynamic — you are now on the same side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Technique: 'I would have said the exact same thing 3 years ago' — this humanizes the rep and signals authenticity</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solar feels like a giant scam to me. You guys just take the money and run.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You know what? You're not wrong to think that — there are companies that do exactly that. If I had your experience, I'd feel the same way. That's why I want to be the most transparent person you've talked to today. Can I show you something that the bad actors would never show you?</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'Joining the Resistance' is one of the most counterintuitive techniques in the curriculum — and one of the most powerful. When the rep agrees that skepticism is warranted, the homeowner has nothing to push against. The argumentative energy dissipates.</a:t>
            </a:r>
            <a:endParaRPr lang="en-US" sz="900" dirty="0"/>
          </a:p>
        </p:txBody>
      </p:sp>
    </p:spTree>
  </p:cSld>
  <p:clrMapOvr>
    <a:masterClrMapping/>
  </p:clrMapOvr>
</p:sld>
</file>

<file path=ppt/slides/slide47.xml><?xml version="1.0" encoding="utf-8"?>
<ns0:sld xmlns:a="http://schemas.openxmlformats.org/drawingml/2006/main" xmlns:ns0="http://schemas.openxmlformats.org/presentationml/2006/main">
  <ns0:cSld name="Slide 4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Radical Transparency Close: Negative Framing That Builds Trust</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6771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esto no tuviera sentido financiero para su situación específica, sería la primera persona en decirle que se detenga — mi reputación en esta comunidad vale más que un trato'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the DQ: 'Honestly, I want to make sure this is right for you — let me run through the two scenarios where solar is NOT a good fit, and you tell me if either applies'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Show the fine print proactively: 'Here's the cancellation window, here's the production guarantee, here's what you do if there's a problem — I want you to see this before I ask for anything'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Boomerang: homeowners who try to disqualify themselves usually end up MORE committed when the rep doesn't push back</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Radical Transparency is the most advanced trust-building tool in the curriculum. It works because it is the exact opposite of what a dishonest company would do. Showing the worst case, the fine print, and the DQ criteria signals: 'I have nothing to hide.'</a:t>
            </a:r>
            <a:endParaRPr lang="en-US" sz="900" dirty="0"/>
          </a:p>
        </ns0:txBody>
      </ns0:sp>
    </ns0:spTree>
  </ns0:cSld>
  <ns0:clrMapOvr>
    <a:masterClrMapping/>
  </ns0:clrMapOvr>
</ns0:sld>
</file>

<file path=ppt/slides/slide48.xml><?xml version="1.0" encoding="utf-8"?>
<ns0:sld xmlns:a="http://schemas.openxmlformats.org/drawingml/2006/main" xmlns:ns0="http://schemas.openxmlformats.org/presentationml/2006/main">
  <ns0:cSld name="Slide 4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Hostile Homeowner Response Matrix</a:t>
            </a:r>
            <a:endParaRPr lang="en-US" sz="20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4160520" cy="347472"/>
          </a:xfrm>
          <a:prstGeom prst="rect">
            <a:avLst/>
          </a:prstGeom>
          <a:solidFill>
            <a:srgbClr val="C0392B"/>
          </a:solidFill>
          <a:ln w="12700">
            <a:solidFill>
              <a:srgbClr val="C0392B"/>
            </a:solidFill>
            <a:prstDash val="solid"/>
          </a:ln>
        </ns0:spPr>
      </ns0:sp>
      <ns0:sp>
        <ns0:nvSpPr>
          <ns0:cNvPr id="6" name="Shape 4"/>
          <ns0:cNvSpPr/>
          <ns0:nvPr/>
        </ns0:nvSpPr>
        <ns0:spPr>
          <a:xfrm>
            <a:off x="4572000" y="804672"/>
            <a:ext cx="4206240" cy="347472"/>
          </a:xfrm>
          <a:prstGeom prst="rect">
            <a:avLst/>
          </a:prstGeom>
          <a:solidFill>
            <a:srgbClr val="2D9B4E"/>
          </a:solidFill>
          <a:ln w="12700">
            <a:solidFill>
              <a:srgbClr val="2D9B4E"/>
            </a:solidFill>
            <a:prstDash val="solid"/>
          </a:ln>
        </ns0:spPr>
      </ns0:sp>
      <ns0:sp>
        <ns0:nvSpPr>
          <ns0:cNvPr id="7" name="Text 5"/>
          <ns0:cNvSpPr/>
          <ns0:nvPr/>
        </ns0:nvSpPr>
        <ns0:spPr>
          <a:xfrm>
            <a:off x="320040" y="822960"/>
            <a:ext cx="406908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ns0:txBody>
      </ns0:sp>
      <ns0:sp>
        <ns0:nvSpPr>
          <ns0:cNvPr id="8" name="Text 6"/>
          <ns0:cNvSpPr/>
          <ns0:nvPr/>
        </ns0:nvSpPr>
        <ns0:spPr>
          <a:xfrm>
            <a:off x="4617720" y="822960"/>
            <a:ext cx="411480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 (ACAC)</a:t>
            </a:r>
            <a:endParaRPr lang="en-US" sz="1100" dirty="0"/>
          </a:p>
        </ns0:txBody>
      </ns0:sp>
      <ns0:sp>
        <ns0:nvSpPr>
          <ns0:cNvPr id="9" name="Shape 7"/>
          <ns0:cNvSpPr/>
          <ns0:nvPr/>
        </ns0:nvSpPr>
        <ns0:spPr>
          <a:xfrm>
            <a:off x="274320" y="1225296"/>
            <a:ext cx="4160520" cy="585216"/>
          </a:xfrm>
          <a:prstGeom prst="rect">
            <a:avLst/>
          </a:prstGeom>
          <a:solidFill>
            <a:srgbClr val="1A2840"/>
          </a:solidFill>
          <a:ln w="6350">
            <a:solidFill>
              <a:srgbClr val="4A5568"/>
            </a:solidFill>
            <a:prstDash val="solid"/>
          </a:ln>
        </ns0:spPr>
      </ns0:sp>
      <ns0:sp>
        <ns0:nvSpPr>
          <ns0:cNvPr id="10" name="Shape 8"/>
          <ns0:cNvSpPr/>
          <ns0:nvPr/>
        </ns0:nvSpPr>
        <ns0:spPr>
          <a:xfrm>
            <a:off x="4572000" y="1225296"/>
            <a:ext cx="4206240" cy="585216"/>
          </a:xfrm>
          <a:prstGeom prst="rect">
            <a:avLst/>
          </a:prstGeom>
          <a:solidFill>
            <a:srgbClr val="1A2840"/>
          </a:solidFill>
          <a:ln w="6350">
            <a:solidFill>
              <a:srgbClr val="4A5568"/>
            </a:solidFill>
            <a:prstDash val="solid"/>
          </a:ln>
        </ns0:spPr>
      </ns0:sp>
      <ns0:sp>
        <ns0:nvSpPr>
          <ns0:cNvPr id="11" name="Text 9"/>
          <ns0:cNvSpPr/>
          <ns0:nvPr/>
        </ns0:nvSpPr>
        <ns0:spPr>
          <a:xfrm>
            <a:off x="365760" y="1271016"/>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'Solar es una estafa — no creo nada de esto'</a:t>
            </a:r>
            <a:endParaRPr lang="en-US" sz="1100" dirty="0"/>
          </a:p>
        </ns0:txBody>
      </ns0:sp>
      <ns0:sp>
        <ns0:nvSpPr>
          <ns0:cNvPr id="12" name="Text 10"/>
          <ns0:cNvSpPr/>
          <ns0:nvPr/>
        </ns0:nvSpPr>
        <ns0:spPr>
          <a:xfrm>
            <a:off x="4663440" y="1271016"/>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'Tiene razón en ser escéptico. Déjeme mostrarle lo que nos separa de los que ha escuchado.'</a:t>
            </a:r>
            <a:endParaRPr lang="en-US" sz="1100" dirty="0"/>
          </a:p>
        </ns0:txBody>
      </ns0:sp>
      <ns0:sp>
        <ns0:nvSpPr>
          <ns0:cNvPr id="13" name="Shape 11"/>
          <ns0:cNvSpPr/>
          <ns0:nvPr/>
        </ns0:nvSpPr>
        <ns0:spPr>
          <a:xfrm>
            <a:off x="274320" y="1901952"/>
            <a:ext cx="4160520" cy="585216"/>
          </a:xfrm>
          <a:prstGeom prst="rect">
            <a:avLst/>
          </a:prstGeom>
          <a:solidFill>
            <a:srgbClr val="0D1B2A"/>
          </a:solidFill>
          <a:ln w="6350">
            <a:solidFill>
              <a:srgbClr val="4A5568"/>
            </a:solidFill>
            <a:prstDash val="solid"/>
          </a:ln>
        </ns0:spPr>
      </ns0:sp>
      <ns0:sp>
        <ns0:nvSpPr>
          <ns0:cNvPr id="14" name="Shape 12"/>
          <ns0:cNvSpPr/>
          <ns0:nvPr/>
        </ns0:nvSpPr>
        <ns0:spPr>
          <a:xfrm>
            <a:off x="4572000" y="1901952"/>
            <a:ext cx="4206240" cy="585216"/>
          </a:xfrm>
          <a:prstGeom prst="rect">
            <a:avLst/>
          </a:prstGeom>
          <a:solidFill>
            <a:srgbClr val="0D1B2A"/>
          </a:solidFill>
          <a:ln w="6350">
            <a:solidFill>
              <a:srgbClr val="4A5568"/>
            </a:solidFill>
            <a:prstDash val="solid"/>
          </a:ln>
        </ns0:spPr>
      </ns0:sp>
      <ns0:sp>
        <ns0:nvSpPr>
          <ns0:cNvPr id="15" name="Text 13"/>
          <ns0:cNvSpPr/>
          <ns0:nvPr/>
        </ns0:nvSpPr>
        <ns0:spPr>
          <a:xfrm>
            <a:off x="365760" y="1947672"/>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'Tuve solar antes y fue una pesadilla'</a:t>
            </a:r>
            <a:endParaRPr lang="en-US" sz="1100" dirty="0"/>
          </a:p>
        </ns0:txBody>
      </ns0:sp>
      <ns0:sp>
        <ns0:nvSpPr>
          <ns0:cNvPr id="16" name="Text 14"/>
          <ns0:cNvSpPr/>
          <ns0:nvPr/>
        </ns0:nvSpPr>
        <ns0:spPr>
          <a:xfrm>
            <a:off x="4663440" y="1947672"/>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'Lo siento por lo que pasó. ¿Puedo preguntar qué salió mal específicamente? Quiero asegurarme de que lo abordemos directamente.'</a:t>
            </a:r>
            <a:endParaRPr lang="en-US" sz="1100" dirty="0"/>
          </a:p>
        </ns0:txBody>
      </ns0:sp>
      <ns0:sp>
        <ns0:nvSpPr>
          <ns0:cNvPr id="17" name="Shape 15"/>
          <ns0:cNvSpPr/>
          <ns0:nvPr/>
        </ns0:nvSpPr>
        <ns0:spPr>
          <a:xfrm>
            <a:off x="274320" y="2578608"/>
            <a:ext cx="4160520" cy="585216"/>
          </a:xfrm>
          <a:prstGeom prst="rect">
            <a:avLst/>
          </a:prstGeom>
          <a:solidFill>
            <a:srgbClr val="1A2840"/>
          </a:solidFill>
          <a:ln w="6350">
            <a:solidFill>
              <a:srgbClr val="4A5568"/>
            </a:solidFill>
            <a:prstDash val="solid"/>
          </a:ln>
        </ns0:spPr>
      </ns0:sp>
      <ns0:sp>
        <ns0:nvSpPr>
          <ns0:cNvPr id="18" name="Shape 16"/>
          <ns0:cNvSpPr/>
          <ns0:nvPr/>
        </ns0:nvSpPr>
        <ns0:spPr>
          <a:xfrm>
            <a:off x="4572000" y="2578608"/>
            <a:ext cx="4206240" cy="585216"/>
          </a:xfrm>
          <a:prstGeom prst="rect">
            <a:avLst/>
          </a:prstGeom>
          <a:solidFill>
            <a:srgbClr val="1A2840"/>
          </a:solidFill>
          <a:ln w="6350">
            <a:solidFill>
              <a:srgbClr val="4A5568"/>
            </a:solidFill>
            <a:prstDash val="solid"/>
          </a:ln>
        </ns0:spPr>
      </ns0:sp>
      <ns0:sp>
        <ns0:nvSpPr>
          <ns0:cNvPr id="19" name="Text 17"/>
          <ns0:cNvSpPr/>
          <ns0:nvPr/>
        </ns0:nvSpPr>
        <ns0:spPr>
          <a:xfrm>
            <a:off x="365760" y="2624328"/>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'Todos los vendedores dicen lo mismo'</a:t>
            </a:r>
            <a:endParaRPr lang="en-US" sz="1100" dirty="0"/>
          </a:p>
        </ns0:txBody>
      </ns0:sp>
      <ns0:sp>
        <ns0:nvSpPr>
          <ns0:cNvPr id="20" name="Text 18"/>
          <ns0:cNvSpPr/>
          <ns0:nvPr/>
        </ns0:nvSpPr>
        <ns0:spPr>
          <a:xfrm>
            <a:off x="4663440" y="2624328"/>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'Justo. ¿Qué necesitaría mostrarle para demostrar que estoy siendo honesto con usted?'</a:t>
            </a:r>
            <a:endParaRPr lang="en-US" sz="1100" dirty="0"/>
          </a:p>
        </ns0:txBody>
      </ns0:sp>
      <ns0:sp>
        <ns0:nvSpPr>
          <ns0:cNvPr id="21" name="Shape 19"/>
          <ns0:cNvSpPr/>
          <ns0:nvPr/>
        </ns0:nvSpPr>
        <ns0:spPr>
          <a:xfrm>
            <a:off x="274320" y="3255264"/>
            <a:ext cx="4160520" cy="585216"/>
          </a:xfrm>
          <a:prstGeom prst="rect">
            <a:avLst/>
          </a:prstGeom>
          <a:solidFill>
            <a:srgbClr val="0D1B2A"/>
          </a:solidFill>
          <a:ln w="6350">
            <a:solidFill>
              <a:srgbClr val="4A5568"/>
            </a:solidFill>
            <a:prstDash val="solid"/>
          </a:ln>
        </ns0:spPr>
      </ns0:sp>
      <ns0:sp>
        <ns0:nvSpPr>
          <ns0:cNvPr id="22" name="Shape 20"/>
          <ns0:cNvSpPr/>
          <ns0:nvPr/>
        </ns0:nvSpPr>
        <ns0:spPr>
          <a:xfrm>
            <a:off x="4572000" y="3255264"/>
            <a:ext cx="4206240" cy="585216"/>
          </a:xfrm>
          <a:prstGeom prst="rect">
            <a:avLst/>
          </a:prstGeom>
          <a:solidFill>
            <a:srgbClr val="0D1B2A"/>
          </a:solidFill>
          <a:ln w="6350">
            <a:solidFill>
              <a:srgbClr val="4A5568"/>
            </a:solidFill>
            <a:prstDash val="solid"/>
          </a:ln>
        </ns0:spPr>
      </ns0:sp>
      <ns0:sp>
        <ns0:nvSpPr>
          <ns0:cNvPr id="23" name="Text 21"/>
          <ns0:cNvSpPr/>
          <ns0:nvPr/>
        </ns0:nvSpPr>
        <ns0:spPr>
          <a:xfrm>
            <a:off x="365760" y="3300984"/>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'Ya hice mi investigación y sé que el solar tiene un precio excesivo'</a:t>
            </a:r>
            <a:endParaRPr lang="en-US" sz="1100" dirty="0"/>
          </a:p>
        </ns0:txBody>
      </ns0:sp>
      <ns0:sp>
        <ns0:nvSpPr>
          <ns0:cNvPr id="24" name="Text 22"/>
          <ns0:cNvSpPr/>
          <ns0:nvPr/>
        </ns0:nvSpPr>
        <ns0:spPr>
          <a:xfrm>
            <a:off x="4663440" y="3300984"/>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'Excelente — entonces será el juez perfecto de si lo que le muestro es competitivo. ¿Qué encontró?'</a:t>
            </a:r>
            <a:endParaRPr lang="en-US" sz="1100" dirty="0"/>
          </a:p>
        </ns0:txBody>
      </ns0:sp>
      <ns0:sp>
        <ns0:nvSpPr>
          <ns0:cNvPr id="25" name="Shape 23"/>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6" name="Text 24"/>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Each response uses agreement or curiosity — never defense. The moment a rep becomes defensive, they confirm the homeowner's suspicion that they have something to hide. Curiosity and agreement are the only weapons against hostility.</a:t>
            </a:r>
            <a:endParaRPr lang="en-US" sz="900" dirty="0"/>
          </a:p>
        </ns0:txBody>
      </ns0:sp>
    </ns0:spTree>
  </ns0:cSld>
  <ns0:clrMapOvr>
    <a:masterClrMapping/>
  </ns0:clrMapOvr>
</ns0: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Angry Homeowner Gauntlet</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Maintain the Late Night DJ voice while being verbally challenged</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reads hostile solar myths loudly and aggressively, one at a time: 'Solar causes fires,' 'Your company will be gone in 2 years,' 'I've seen 3 lawsuits against solar companies this year'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must respond to each with: Join the Resistance → Clarify → Radical Transparency — all in a calm, measured voice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Evaluator watches for: any vocal pitch increase, any defensive body language, any defensive language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Rep 'passes' only when the trainer reduces their energy in response to the rep's calm</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Recorded roleplay showing the de-escalation of a hostile homeowner — submit for review</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50.xml><?xml version="1.0" encoding="utf-8"?>
<ns0:sld xmlns:a="http://schemas.openxmlformats.org/drawingml/2006/main" xmlns:ns0="http://schemas.openxmlformats.org/presentationml/2006/main">
  <ns0:cSld name="Slide 5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6.8</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Deal Rescue: The Emotional Reset</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Recover a Dying Deal Before It Walks Out the Door</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6.8 — DEAL RESCUE</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When the Consultation Goes Sideways — Take Control</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Elephant in the Room Move: name the wall before it buries you</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Take-Away (Negative Close): let them chase the deal you're offering to remove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Revisiting Discovery: going back to 'Why' when the 'What' has stalled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written 'Deal Rescue' script</a:t>
            </a:r>
            <a:endParaRPr lang="en-US" sz="1300" dirty="0"/>
          </a:p>
        </p:txBody>
      </p:sp>
    </p:spTree>
  </p:cSld>
  <p:clrMapOvr>
    <a:masterClrMapping/>
  </p:clrMapOvr>
</p:sld>
</file>

<file path=ppt/slides/slide52.xml><?xml version="1.0" encoding="utf-8"?>
<ns0:sld xmlns:a="http://schemas.openxmlformats.org/drawingml/2006/main" xmlns:ns0="http://schemas.openxmlformats.org/presentationml/2006/main">
  <ns0:cSld name="Slide 5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Elephant in the Room Move: Name the Wall</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deal is visibly stalling — longer silences, shorter answers, defensive body language — call it 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'Quiero ser directo con usted — parece que hemos chocado con una pared en algún lugar. ¿Podemos quitarnos los sombreros de ventas por un segundo y simplemente hablar?'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'¿Dónde le perdí? Preferiría averiguarlo ahora que tenerle irse sintiéndose como que esto no funcionó'</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move resets the emotional tone from transactional to human — it creates a genuine pause that often unlocks the real concern</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going to be honest — I feel like we've hit a wall somewhere in the last 10 minutes, and I'd rather address it directly than pretend everything is fine. Where did I lose you?</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[pause] It's just... my wife isn't as sure as I am.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important. Can I talk to both of you together for just 5 minutes about the specific thing she's worried about?</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Elephant Move requires courage — most reps are afraid that naming the stall will confirm the deal is dead. The opposite is true. Homeowners who were quietly shutting down often reengage when a rep is brave enough to name what everyone feels.</a:t>
            </a:r>
            <a:endParaRPr lang="en-US" sz="900" dirty="0"/>
          </a:p>
        </ns0:txBody>
      </ns0:sp>
    </ns0:spTree>
  </ns0:cSld>
  <ns0:clrMapOvr>
    <a:masterClrMapping/>
  </ns0:clrMapOvr>
</ns0:sld>
</file>

<file path=ppt/slides/slide53.xml><?xml version="1.0" encoding="utf-8"?>
<ns0:sld xmlns:a="http://schemas.openxmlformats.org/drawingml/2006/main" xmlns:ns0="http://schemas.openxmlformats.org/presentationml/2006/main">
  <ns0:cSld name="Slide 5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Take-Away (Negative Close): Let Them Chase the Deal</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'Honestamente, Sr. y Sra. Johnson — basándonos en lo que dicen, parece que solar podría no ser el ajuste correcto para ustedes ahora mismo. Y eso está completamente bien.'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'Preferiría que no hiciera esto y estar feliz con esa decisión que hacerlo y tener arrepentimientos. ¿Deberíamos posponer esto por hoy?'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psychology: when a deal is offered and then removed, humans instinctively want what they can no longer have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Boomerang: most homeowners who were about to say no respond to the Take-Away by recommitting — often with the real objection now visible</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honest with you — I've been doing this long enough to know when the timing isn't right. It sounds like there are a few things that aren't quite lined up for you today. I'd rather pull the plug and let you think through it than push you into something you're not sure about. Does that make sense?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Wait — no, I mean... we are interested. I think it's just the payment that's the sticking point.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glad you said that. Tell me more about the payment concern — is it the monthly amount or the total?</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Take-Away is a high-risk, high-reward technique — only use it when the deal is already dying. It should feel genuine, not manipulative. The rep must be truly willing to let the deal go. If they aren't, the homeowner will smell the desperation and it will backfire.</a:t>
            </a:r>
            <a:endParaRPr lang="en-US" sz="900" dirty="0"/>
          </a:p>
        </ns0:txBody>
      </ns0:sp>
    </ns0:spTree>
  </ns0:cSld>
  <ns0:clrMapOvr>
    <a:masterClrMapping/>
  </ns0:clrMapOvr>
</ns0:sld>
</file>

<file path=ppt/slides/slide54.xml><?xml version="1.0" encoding="utf-8"?>
<ns0:sld xmlns:a="http://schemas.openxmlformats.org/drawingml/2006/main" xmlns:ns0="http://schemas.openxmlformats.org/presentationml/2006/main">
  <ns0:cSld name="Slide 5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Revisiting Discovery: Go Back to the 'Why'</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6771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 close has stalled, return to the original pain from discovery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'¿Recuerda cuando me dijo que estaba preocupado por sus ingresos de jubilación y estos aumentos de tarifas? ¿Esa preocupación ya no está ahí, o simplemente no le mostré cómo esto lo resuelve suficientemente bien?'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reconnects the emotional memory of the original pain to the current decision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technique assumes the rep took detailed discovery notes — which is why Day 3 emphasized writing everything down</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Revisit move is only powerful if the discovery was deep. A rep who took surface notes has nothing to return to. A rep who captured emotional pain, future goals, and specific fears has a powerful 'Why' to return to when the 'What' has stalled.</a:t>
            </a:r>
            <a:endParaRPr lang="en-US" sz="900" dirty="0"/>
          </a:p>
        </ns0:txBody>
      </ns0:sp>
    </ns0:spTree>
  </ns0:cSld>
  <ns0:clrMapOvr>
    <a:masterClrMapping/>
  </ns0:clrMapOvr>
</ns0:sld>
</file>

<file path=ppt/slides/slide55.xml><?xml version="1.0" encoding="utf-8"?>
<ns0:sld xmlns:a="http://schemas.openxmlformats.org/drawingml/2006/main" xmlns:ns0="http://schemas.openxmlformats.org/presentationml/2006/main">
  <ns0:cSld name="Slide 5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Rescue Drill</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Recover a 'failed' consultation using the Elephant, Take-Away, or Revisit move</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El juego de roles comienza a mitad de una consulta que claramente ha ido mal — el propietario está desconectado</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enters the scene cold — no context except 'this deal is dying'</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Must identify WHICH rescue technique to use (Elephant, Take-Away, or Revisit) based on what they observe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The scene ends when the homeowner either re-engages OR the rep correctly identifies it as a DQ situation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written 'Deal Rescue' script covering all three techniques in order of escalation</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35 MIN</a:t>
            </a:r>
            <a:endParaRPr lang="en-US" sz="1400" dirty="0"/>
          </a:p>
        </ns0:txBody>
      </ns0:sp>
    </ns0:spTree>
  </ns0:cSld>
  <ns0:clrMapOvr>
    <a:masterClrMapping/>
  </ns0:clrMapOvr>
</ns0:sld>
</file>

<file path=ppt/slides/slide56.xml><?xml version="1.0" encoding="utf-8"?>
<ns0:sld xmlns:a="http://schemas.openxmlformats.org/drawingml/2006/main" xmlns:ns0="http://schemas.openxmlformats.org/presentationml/2006/main">
  <ns0:cSld name="Slide 5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6.9</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Advanced Scenario Training: Neighbors, Media &amp; Fear</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Neutralize Misinformation from Outside the Room</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6.9 — EXTERNAL OBJECTIONS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Objection That Wasn't Born in the Room</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Neighbor Nancy objection: handling hearsay about a bad solar experience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Media Myth Busting: science over stories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Financial Fear: recession, job loss, and solar as insurance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Myth-Buster cheat sheet for the field folder</a:t>
            </a:r>
            <a:endParaRPr lang="en-US" sz="1300" dirty="0"/>
          </a:p>
        </p:txBody>
      </p:sp>
    </p:spTree>
  </p:cSld>
  <p:clrMapOvr>
    <a:masterClrMapping/>
  </p:clrMapOvr>
</p:sld>
</file>

<file path=ppt/slides/slide58.xml><?xml version="1.0" encoding="utf-8"?>
<ns0:sld xmlns:a="http://schemas.openxmlformats.org/drawingml/2006/main" xmlns:ns0="http://schemas.openxmlformats.org/presentationml/2006/main">
  <ns0:cSld name="Slide 5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'Neighbor Nancy' Objection: Handling Hearsay</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'Mi vecino dice que sus paneles solares no funcionan' — la objeción más viral de la industria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ask for specifics before defending: 'Do you know who installed them and when?'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distinction: 'Professional solar' vs. 'DIY/cheap solar' is the most important comparison in the industry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'There's a massive difference between a $12,000 budget install and a $35,000 engineered system with a 25-year warranty — your neighbor may have bought the Walmart version'</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My neighbor did solar 3 years ago and says his panels barely generate anything.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really useful information, actually. Do you know what company installed them or what brand panels they used? I ask because there's a real quality divide in this industry — and honestly, the problems your neighbor is describing are almost always associated with budget installs or fly-by-night companies. Let me show you what separates what we do from that situation.</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'Neighbor Nancy' objections are uniquely powerful because they come from a trusted source. The rep who argues against the neighbor loses. The rep who agrees that bad solar exists — then pivots to the distinction between cheap and professional — wins.</a:t>
            </a:r>
            <a:endParaRPr lang="en-US" sz="900" dirty="0"/>
          </a:p>
        </ns0:txBody>
      </ns0:sp>
    </ns0:spTree>
  </ns0:cSld>
  <ns0:clrMapOvr>
    <a:masterClrMapping/>
  </ns0:clrMapOvr>
</ns0: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Media Myth Buster: Science Over Stories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75488" cy="822960"/>
          </a:xfrm>
          <a:prstGeom prst="rect">
            <a:avLst/>
          </a:prstGeom>
          <a:solidFill>
            <a:srgbClr val="C0392B"/>
          </a:solidFill>
          <a:ln w="12700">
            <a:solidFill>
              <a:srgbClr val="C0392B"/>
            </a:solidFill>
            <a:prstDash val="solid"/>
          </a:ln>
        </p:spPr>
      </p:sp>
      <p:sp>
        <p:nvSpPr>
          <p:cNvPr id="7" name="Text 5"/>
          <p:cNvSpPr/>
          <p:nvPr/>
        </p:nvSpPr>
        <p:spPr>
          <a:xfrm>
            <a:off x="274320" y="84124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8" name="Shape 6"/>
          <p:cNvSpPr/>
          <p:nvPr/>
        </p:nvSpPr>
        <p:spPr>
          <a:xfrm>
            <a:off x="4498848" y="822960"/>
            <a:ext cx="475488" cy="822960"/>
          </a:xfrm>
          <a:prstGeom prst="rect">
            <a:avLst/>
          </a:prstGeom>
          <a:solidFill>
            <a:srgbClr val="2D9B4E"/>
          </a:solidFill>
          <a:ln w="12700">
            <a:solidFill>
              <a:srgbClr val="2D9B4E"/>
            </a:solidFill>
            <a:prstDash val="solid"/>
          </a:ln>
        </p:spPr>
      </p:sp>
      <p:sp>
        <p:nvSpPr>
          <p:cNvPr id="9" name="Text 7"/>
          <p:cNvSpPr/>
          <p:nvPr/>
        </p:nvSpPr>
        <p:spPr>
          <a:xfrm>
            <a:off x="4498848" y="84124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0" name="Text 8"/>
          <p:cNvSpPr/>
          <p:nvPr/>
        </p:nvSpPr>
        <p:spPr>
          <a:xfrm>
            <a:off x="804672" y="93268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causes house fires'</a:t>
            </a:r>
            <a:endParaRPr lang="en-US" sz="1100" dirty="0"/>
          </a:p>
        </p:txBody>
      </p:sp>
      <p:sp>
        <p:nvSpPr>
          <p:cNvPr id="11" name="Text 9"/>
          <p:cNvSpPr/>
          <p:nvPr/>
        </p:nvSpPr>
        <p:spPr>
          <a:xfrm>
            <a:off x="5029200" y="93268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Fires are caused by improper DIY installs. Code-compliant professional installs have a near-zero fire incidence rate.</a:t>
            </a:r>
            <a:endParaRPr lang="en-US" sz="1100" dirty="0"/>
          </a:p>
        </p:txBody>
      </p:sp>
      <p:sp>
        <p:nvSpPr>
          <p:cNvPr id="12" name="Shape 10"/>
          <p:cNvSpPr/>
          <p:nvPr/>
        </p:nvSpPr>
        <p:spPr>
          <a:xfrm>
            <a:off x="274320" y="178308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13" name="Shape 11"/>
          <p:cNvSpPr/>
          <p:nvPr/>
        </p:nvSpPr>
        <p:spPr>
          <a:xfrm>
            <a:off x="274320" y="1783080"/>
            <a:ext cx="475488" cy="822960"/>
          </a:xfrm>
          <a:prstGeom prst="rect">
            <a:avLst/>
          </a:prstGeom>
          <a:solidFill>
            <a:srgbClr val="C0392B"/>
          </a:solidFill>
          <a:ln w="12700">
            <a:solidFill>
              <a:srgbClr val="C0392B"/>
            </a:solidFill>
            <a:prstDash val="solid"/>
          </a:ln>
        </p:spPr>
      </p:sp>
      <p:sp>
        <p:nvSpPr>
          <p:cNvPr id="14" name="Text 12"/>
          <p:cNvSpPr/>
          <p:nvPr/>
        </p:nvSpPr>
        <p:spPr>
          <a:xfrm>
            <a:off x="274320" y="180136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5" name="Shape 13"/>
          <p:cNvSpPr/>
          <p:nvPr/>
        </p:nvSpPr>
        <p:spPr>
          <a:xfrm>
            <a:off x="4498848" y="1783080"/>
            <a:ext cx="475488" cy="822960"/>
          </a:xfrm>
          <a:prstGeom prst="rect">
            <a:avLst/>
          </a:prstGeom>
          <a:solidFill>
            <a:srgbClr val="2D9B4E"/>
          </a:solidFill>
          <a:ln w="12700">
            <a:solidFill>
              <a:srgbClr val="2D9B4E"/>
            </a:solidFill>
            <a:prstDash val="solid"/>
          </a:ln>
        </p:spPr>
      </p:sp>
      <p:sp>
        <p:nvSpPr>
          <p:cNvPr id="16" name="Text 14"/>
          <p:cNvSpPr/>
          <p:nvPr/>
        </p:nvSpPr>
        <p:spPr>
          <a:xfrm>
            <a:off x="4498848" y="180136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7" name="Text 15"/>
          <p:cNvSpPr/>
          <p:nvPr/>
        </p:nvSpPr>
        <p:spPr>
          <a:xfrm>
            <a:off x="804672" y="189280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doesn't work when it's cloudy'</a:t>
            </a:r>
            <a:endParaRPr lang="en-US" sz="1100" dirty="0"/>
          </a:p>
        </p:txBody>
      </p:sp>
      <p:sp>
        <p:nvSpPr>
          <p:cNvPr id="18" name="Text 16"/>
          <p:cNvSpPr/>
          <p:nvPr/>
        </p:nvSpPr>
        <p:spPr>
          <a:xfrm>
            <a:off x="5029200" y="189280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Panels produce 10–25% of peak output on cloudy days. Germany — one of the least sunny nations — is a top solar producer.</a:t>
            </a:r>
            <a:endParaRPr lang="en-US" sz="1100" dirty="0"/>
          </a:p>
        </p:txBody>
      </p:sp>
      <p:sp>
        <p:nvSpPr>
          <p:cNvPr id="19" name="Shape 17"/>
          <p:cNvSpPr/>
          <p:nvPr/>
        </p:nvSpPr>
        <p:spPr>
          <a:xfrm>
            <a:off x="274320" y="274320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0" name="Shape 18"/>
          <p:cNvSpPr/>
          <p:nvPr/>
        </p:nvSpPr>
        <p:spPr>
          <a:xfrm>
            <a:off x="274320" y="2743200"/>
            <a:ext cx="475488" cy="822960"/>
          </a:xfrm>
          <a:prstGeom prst="rect">
            <a:avLst/>
          </a:prstGeom>
          <a:solidFill>
            <a:srgbClr val="C0392B"/>
          </a:solidFill>
          <a:ln w="12700">
            <a:solidFill>
              <a:srgbClr val="C0392B"/>
            </a:solidFill>
            <a:prstDash val="solid"/>
          </a:ln>
        </p:spPr>
      </p:sp>
      <p:sp>
        <p:nvSpPr>
          <p:cNvPr id="21" name="Text 19"/>
          <p:cNvSpPr/>
          <p:nvPr/>
        </p:nvSpPr>
        <p:spPr>
          <a:xfrm>
            <a:off x="274320" y="276148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2" name="Shape 20"/>
          <p:cNvSpPr/>
          <p:nvPr/>
        </p:nvSpPr>
        <p:spPr>
          <a:xfrm>
            <a:off x="4498848" y="2743200"/>
            <a:ext cx="475488" cy="822960"/>
          </a:xfrm>
          <a:prstGeom prst="rect">
            <a:avLst/>
          </a:prstGeom>
          <a:solidFill>
            <a:srgbClr val="2D9B4E"/>
          </a:solidFill>
          <a:ln w="12700">
            <a:solidFill>
              <a:srgbClr val="2D9B4E"/>
            </a:solidFill>
            <a:prstDash val="solid"/>
          </a:ln>
        </p:spPr>
      </p:sp>
      <p:sp>
        <p:nvSpPr>
          <p:cNvPr id="23" name="Text 21"/>
          <p:cNvSpPr/>
          <p:nvPr/>
        </p:nvSpPr>
        <p:spPr>
          <a:xfrm>
            <a:off x="4498848" y="276148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4" name="Text 22"/>
          <p:cNvSpPr/>
          <p:nvPr/>
        </p:nvSpPr>
        <p:spPr>
          <a:xfrm>
            <a:off x="804672" y="285292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panels are bad for your roof'</a:t>
            </a:r>
            <a:endParaRPr lang="en-US" sz="1100" dirty="0"/>
          </a:p>
        </p:txBody>
      </p:sp>
      <p:sp>
        <p:nvSpPr>
          <p:cNvPr id="25" name="Text 23"/>
          <p:cNvSpPr/>
          <p:nvPr/>
        </p:nvSpPr>
        <p:spPr>
          <a:xfrm>
            <a:off x="5029200" y="285292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Properly installed panels protect the covered section. Most installers guarantee roof penetration for 25 years.</a:t>
            </a:r>
            <a:endParaRPr lang="en-US" sz="1100" dirty="0"/>
          </a:p>
        </p:txBody>
      </p:sp>
      <p:sp>
        <p:nvSpPr>
          <p:cNvPr id="26" name="Shape 24"/>
          <p:cNvSpPr/>
          <p:nvPr/>
        </p:nvSpPr>
        <p:spPr>
          <a:xfrm>
            <a:off x="274320" y="370332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7" name="Shape 25"/>
          <p:cNvSpPr/>
          <p:nvPr/>
        </p:nvSpPr>
        <p:spPr>
          <a:xfrm>
            <a:off x="274320" y="3703320"/>
            <a:ext cx="475488" cy="822960"/>
          </a:xfrm>
          <a:prstGeom prst="rect">
            <a:avLst/>
          </a:prstGeom>
          <a:solidFill>
            <a:srgbClr val="C0392B"/>
          </a:solidFill>
          <a:ln w="12700">
            <a:solidFill>
              <a:srgbClr val="C0392B"/>
            </a:solidFill>
            <a:prstDash val="solid"/>
          </a:ln>
        </p:spPr>
      </p:sp>
      <p:sp>
        <p:nvSpPr>
          <p:cNvPr id="28" name="Text 26"/>
          <p:cNvSpPr/>
          <p:nvPr/>
        </p:nvSpPr>
        <p:spPr>
          <a:xfrm>
            <a:off x="274320" y="372160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9" name="Shape 27"/>
          <p:cNvSpPr/>
          <p:nvPr/>
        </p:nvSpPr>
        <p:spPr>
          <a:xfrm>
            <a:off x="4498848" y="3703320"/>
            <a:ext cx="475488" cy="822960"/>
          </a:xfrm>
          <a:prstGeom prst="rect">
            <a:avLst/>
          </a:prstGeom>
          <a:solidFill>
            <a:srgbClr val="2D9B4E"/>
          </a:solidFill>
          <a:ln w="12700">
            <a:solidFill>
              <a:srgbClr val="2D9B4E"/>
            </a:solidFill>
            <a:prstDash val="solid"/>
          </a:ln>
        </p:spPr>
      </p:sp>
      <p:sp>
        <p:nvSpPr>
          <p:cNvPr id="30" name="Text 28"/>
          <p:cNvSpPr/>
          <p:nvPr/>
        </p:nvSpPr>
        <p:spPr>
          <a:xfrm>
            <a:off x="4498848" y="372160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31" name="Text 29"/>
          <p:cNvSpPr/>
          <p:nvPr/>
        </p:nvSpPr>
        <p:spPr>
          <a:xfrm>
            <a:off x="804672" y="381304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companies always go bankrupt'</a:t>
            </a:r>
            <a:endParaRPr lang="en-US" sz="1100" dirty="0"/>
          </a:p>
        </p:txBody>
      </p:sp>
      <p:sp>
        <p:nvSpPr>
          <p:cNvPr id="32" name="Text 30"/>
          <p:cNvSpPr/>
          <p:nvPr/>
        </p:nvSpPr>
        <p:spPr>
          <a:xfrm>
            <a:off x="5029200" y="381304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Manufacturer warranties are independent of the installer. Tier-1 panels carry 25-year manufacturer guarantees.</a:t>
            </a:r>
            <a:endParaRPr lang="en-US" sz="1100" dirty="0"/>
          </a:p>
        </p:txBody>
      </p:sp>
      <p:sp>
        <p:nvSpPr>
          <p:cNvPr id="33" name="Shape 3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34" name="Text 3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Laminate this myth-buster card and keep it in every rep's field folder. When a media myth surfaces, pull out the card, hand it to the homeowner, and read the fact aloud together. Shared reading creates shared belief.</a:t>
            </a:r>
            <a:endParaRPr lang="en-US" sz="900" dirty="0"/>
          </a:p>
        </p:txBody>
      </p:sp>
    </p:spTree>
  </p:cSld>
  <p:clrMapOvr>
    <a:masterClrMapping/>
  </p:clrMapOvr>
</p:sld>
</file>

<file path=ppt/slides/slide60.xml><?xml version="1.0" encoding="utf-8"?>
<ns0:sld xmlns:a="http://schemas.openxmlformats.org/drawingml/2006/main" xmlns:ns0="http://schemas.openxmlformats.org/presentationml/2006/main">
  <ns0:cSld name="Slide 6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Financial Fear: Solar as Insurance Against Economic Uncertainty</a:t>
            </a:r>
            <a:endParaRPr lang="en-US" sz="2000" dirty="0"/>
          </a:p>
        </ns0:txBody>
      </ns0:sp>
      <ns0:sp>
        <ns0:nvSpPr>
          <ns0:cNvPr id="4" name="Shape 2"/>
          <ns0:cNvSpPr/>
          <ns0:nvPr/>
        </ns0:nvSpPr>
        <ns0:spPr>
          <a:xfrm>
            <a:off x="274320" y="77724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44752"/>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Fear: 'What if I lose my job — will I be stuck with a solar payment I can't afford?'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Reframe: 'If you lost your job, would you rather have a $300 bill that keeps rising, or a $160 fixed payment that ends in 10 years?'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reduces financial exposure to utility volatility — it is a hedge, not a luxury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'En una recesión económica, la empresa eléctrica aún le cobra — y aumenta las tarifas. Solar elimina esa variable de su presupuesto familiar de forma permanente'</a:t>
            </a:r>
            <a:endParaRPr lang="en-US" sz="1300" dirty="0"/>
          </a:p>
        </ns0:txBody>
      </ns0:sp>
      <ns0:sp>
        <ns0:nvSpPr>
          <ns0:cNvPr id="6" name="Shape 4"/>
          <ns0:cNvSpPr/>
          <ns0:nvPr/>
        </ns0:nvSpPr>
        <ns0: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6888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48716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26080"/>
            <a:ext cx="8275320" cy="132588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With everything going on economically, I'm just not sure now is the right time.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completely hear that — and I want to show you something that might change the framing. If things get hard economically, the utility bill doesn't pause. In fact, historically, utility rates go UP during economic stress. Solar is the one thing that locks in your energy cost no matter what happens to the economy. It's not a luxury purchase — it's economic protection.</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Financial Fear is particularly common in economic uncertainty periods. The rep who positions solar as a hedge against inflation and job market volatility is selling something every homeowner genuinely needs — regardless of their income level.</a:t>
            </a:r>
            <a:endParaRPr lang="en-US" sz="900" dirty="0"/>
          </a:p>
        </ns0:txBody>
      </ns0:sp>
    </ns0:spTree>
  </ns0:cSld>
  <ns0:clrMapOvr>
    <a:masterClrMapping/>
  </ns0:clrMapOvr>
</ns0: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Myth-Buster Presentation</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Debunk a media myth using data in under 60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assigns each rep a 'Media Myth' from the cheat sheet (or creates a new one)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has 60 seconds to: acknowledge the myth as understandable → present the counterevidence → connect it to a financial or safety outcome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No reading from notes — must be delivered conversationally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grades: Did this feel like facts or propaganda? Was the source credible?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completed 'Myth-Buster' cheat sheet — 6 myths, 6 facts, 6 financial/safety bridges</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62.xml><?xml version="1.0" encoding="utf-8"?>
<ns0:sld xmlns:a="http://schemas.openxmlformats.org/drawingml/2006/main" xmlns:ns0="http://schemas.openxmlformats.org/presentationml/2006/main">
  <ns0:cSld name="Slide 6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6.10</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Day 6 Objection Handling Certification</a:t>
            </a:r>
            <a:endParaRPr lang="en-US" sz="25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Master of Objections — Prove It Under Pressure</a:t>
            </a:r>
            <a:endParaRPr lang="en-US" sz="15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6.10 — CERTIFICATION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Objection Gauntlet: 5 Objections, 30 Minutes, One Signature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5 specific objections thrown in a live consultation: Smoke Screen, Hostile, Analytical Owl, Neighbor myth, and Think About It at the line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Must use ACAC, Isolation, and the Emotional Reset throughout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Evaluation on Composure, Framework Accuracy, and Transition Speed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Miller Family AI Final Gauntlet simulation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Objection Gauntlet: Setup &amp; Certification Rules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023360" cy="166420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4023360" cy="329184"/>
          </a:xfrm>
          <a:prstGeom prst="rect">
            <a:avLst/>
          </a:prstGeom>
          <a:solidFill>
            <a:srgbClr val="0891B2"/>
          </a:solidFill>
          <a:ln w="12700">
            <a:solidFill>
              <a:srgbClr val="0891B2"/>
            </a:solidFill>
            <a:prstDash val="solid"/>
          </a:ln>
        </p:spPr>
      </p:sp>
      <p:sp>
        <p:nvSpPr>
          <p:cNvPr id="7" name="Text 5"/>
          <p:cNvSpPr/>
          <p:nvPr/>
        </p:nvSpPr>
        <p:spPr>
          <a:xfrm>
            <a:off x="320040" y="832104"/>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THE MILLER FAMILY</a:t>
            </a:r>
            <a:endParaRPr lang="en-US" sz="1000" dirty="0"/>
          </a:p>
        </p:txBody>
      </p:sp>
      <p:sp>
        <p:nvSpPr>
          <p:cNvPr id="8" name="Text 6"/>
          <p:cNvSpPr/>
          <p:nvPr/>
        </p:nvSpPr>
        <p:spPr>
          <a:xfrm>
            <a:off x="365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Husband: retired engineer (Owl) — has another quote from a competitor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Wife: skeptical — 'heard bad things from a neighbor'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High bill ($340/mo) but cautious about long-term financial commitments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Will deploy all 5 objection types — not in order</a:t>
            </a:r>
            <a:endParaRPr lang="en-US" sz="1000" dirty="0"/>
          </a:p>
        </p:txBody>
      </p:sp>
      <p:sp>
        <p:nvSpPr>
          <p:cNvPr id="9" name="Shape 7"/>
          <p:cNvSpPr/>
          <p:nvPr/>
        </p:nvSpPr>
        <p:spPr>
          <a:xfrm>
            <a:off x="4846320" y="804672"/>
            <a:ext cx="4023360" cy="166420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04672"/>
            <a:ext cx="4023360" cy="329184"/>
          </a:xfrm>
          <a:prstGeom prst="rect">
            <a:avLst/>
          </a:prstGeom>
          <a:solidFill>
            <a:srgbClr val="F4A61D"/>
          </a:solidFill>
          <a:ln w="12700">
            <a:solidFill>
              <a:srgbClr val="F4A61D"/>
            </a:solidFill>
            <a:prstDash val="solid"/>
          </a:ln>
        </p:spPr>
      </p:sp>
      <p:sp>
        <p:nvSpPr>
          <p:cNvPr id="11" name="Text 9"/>
          <p:cNvSpPr/>
          <p:nvPr/>
        </p:nvSpPr>
        <p:spPr>
          <a:xfrm>
            <a:off x="4892040" y="832104"/>
            <a:ext cx="3931920" cy="274320"/>
          </a:xfrm>
          <a:prstGeom prst="rect">
            <a:avLst/>
          </a:prstGeom>
          <a:noFill/>
          <a:ln/>
        </p:spPr>
        <p:txBody>
          <a:bodyPr wrap="square" lIns="0" tIns="0" rIns="0" bIns="0" rtlCol="0" anchor="ctr"/>
          <a:lstStyle/>
          <a:p>
            <a:pPr algn="ctr" indent="0" marL="0">
              <a:buNone/>
            </a:pPr>
            <a:r>
              <a:rPr lang="en-US" sz="1000" b="1" dirty="0">
                <a:solidFill>
                  <a:srgbClr val="0D1B2A"/>
                </a:solidFill>
                <a:latin typeface="Arial Black" pitchFamily="34" charset="0"/>
                <a:ea typeface="Arial Black" pitchFamily="34" charset="-122"/>
                <a:cs typeface="Arial Black" pitchFamily="34" charset="-120"/>
              </a:rPr>
              <a:t>⚔️  THE 5 GAUNTLET OBJECTIONS</a:t>
            </a:r>
            <a:endParaRPr lang="en-US" sz="1000" dirty="0"/>
          </a:p>
        </p:txBody>
      </p:sp>
      <p:sp>
        <p:nvSpPr>
          <p:cNvPr id="12" name="Text 10"/>
          <p:cNvSpPr/>
          <p:nvPr/>
        </p:nvSpPr>
        <p:spPr>
          <a:xfrm>
            <a:off x="4937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1. Smoke Screen: 'We want to talk to our financial advisor'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2. Hostile: 'I've seen articles about solar companies scamming people'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3. Analytical Owl: Detailed degradation rate + inverter comparison questions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4. Neighbor Myth: 'Our neighbor's system barely produces anything'</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5. Think About It at the line: 'We're 90% there but just need one more day'</a:t>
            </a:r>
            <a:endParaRPr lang="en-US" sz="1000" dirty="0"/>
          </a:p>
        </p:txBody>
      </p:sp>
      <p:sp>
        <p:nvSpPr>
          <p:cNvPr id="13" name="Shape 11"/>
          <p:cNvSpPr/>
          <p:nvPr/>
        </p:nvSpPr>
        <p:spPr>
          <a:xfrm>
            <a:off x="274320" y="2651760"/>
            <a:ext cx="4023360" cy="166420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51760"/>
            <a:ext cx="4023360" cy="329184"/>
          </a:xfrm>
          <a:prstGeom prst="rect">
            <a:avLst/>
          </a:prstGeom>
          <a:solidFill>
            <a:srgbClr val="2D9B4E"/>
          </a:solidFill>
          <a:ln w="12700">
            <a:solidFill>
              <a:srgbClr val="2D9B4E"/>
            </a:solidFill>
            <a:prstDash val="solid"/>
          </a:ln>
        </p:spPr>
      </p:sp>
      <p:sp>
        <p:nvSpPr>
          <p:cNvPr id="15" name="Text 13"/>
          <p:cNvSpPr/>
          <p:nvPr/>
        </p:nvSpPr>
        <p:spPr>
          <a:xfrm>
            <a:off x="320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CERTIFICATION RULES</a:t>
            </a:r>
            <a:endParaRPr lang="en-US" sz="1000" dirty="0"/>
          </a:p>
        </p:txBody>
      </p:sp>
      <p:sp>
        <p:nvSpPr>
          <p:cNvPr id="16" name="Text 14"/>
          <p:cNvSpPr/>
          <p:nvPr/>
        </p:nvSpPr>
        <p:spPr>
          <a:xfrm>
            <a:off x="365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ACAC framework must be visible in every objection response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skipping the Cushion — any argumentative tone fails automatically</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Rescue move required if consultation stalls mid-session</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Recording required — manager reviews within 24 hours</a:t>
            </a:r>
            <a:endParaRPr lang="en-US" sz="1000" dirty="0"/>
          </a:p>
        </p:txBody>
      </p:sp>
      <p:sp>
        <p:nvSpPr>
          <p:cNvPr id="17" name="Shape 15"/>
          <p:cNvSpPr/>
          <p:nvPr/>
        </p:nvSpPr>
        <p:spPr>
          <a:xfrm>
            <a:off x="4846320" y="2651760"/>
            <a:ext cx="4023360" cy="166420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51760"/>
            <a:ext cx="4023360" cy="329184"/>
          </a:xfrm>
          <a:prstGeom prst="rect">
            <a:avLst/>
          </a:prstGeom>
          <a:solidFill>
            <a:srgbClr val="E07B39"/>
          </a:solidFill>
          <a:ln w="12700">
            <a:solidFill>
              <a:srgbClr val="E07B39"/>
            </a:solidFill>
            <a:prstDash val="solid"/>
          </a:ln>
        </p:spPr>
      </p:sp>
      <p:sp>
        <p:nvSpPr>
          <p:cNvPr id="19" name="Text 17"/>
          <p:cNvSpPr/>
          <p:nvPr/>
        </p:nvSpPr>
        <p:spPr>
          <a:xfrm>
            <a:off x="4892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PASS CRITERIA</a:t>
            </a:r>
            <a:endParaRPr lang="en-US" sz="1000" dirty="0"/>
          </a:p>
        </p:txBody>
      </p:sp>
      <p:sp>
        <p:nvSpPr>
          <p:cNvPr id="20" name="Text 18"/>
          <p:cNvSpPr/>
          <p:nvPr/>
        </p:nvSpPr>
        <p:spPr>
          <a:xfrm>
            <a:off x="4937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Score 22/30 on the Evaluation Scorecard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5 objections handled with visible ACAC structure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defensive responses — curiosity only</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Consultation ends with a scheduled next step</a:t>
            </a:r>
            <a:endParaRPr lang="en-US" sz="10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hardest certification in the 7-day program. Reps who pass earn 'Master of Objections' status and advance to Day 7. Reps who score 18–21 get one targeted retry session. Below 18 requires a full Day 6 review.</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Day 6 Certification Scorecard: Master of Objections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68580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1463040" cy="685800"/>
          </a:xfrm>
          <a:prstGeom prst="rect">
            <a:avLst/>
          </a:prstGeom>
          <a:solidFill>
            <a:srgbClr val="F4A61D">
              <a:alpha val="80000"/>
            </a:srgbClr>
          </a:solidFill>
          <a:ln w="12700">
            <a:solidFill>
              <a:srgbClr val="F4A61D"/>
            </a:solidFill>
            <a:prstDash val="solid"/>
          </a:ln>
        </p:spPr>
      </p:sp>
      <p:sp>
        <p:nvSpPr>
          <p:cNvPr id="7" name="Text 5"/>
          <p:cNvSpPr/>
          <p:nvPr/>
        </p:nvSpPr>
        <p:spPr>
          <a:xfrm>
            <a:off x="292608" y="859536"/>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8" name="Text 6"/>
          <p:cNvSpPr/>
          <p:nvPr/>
        </p:nvSpPr>
        <p:spPr>
          <a:xfrm>
            <a:off x="1874520" y="896112"/>
            <a:ext cx="6766560" cy="566928"/>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ACAC Framework Execution  </a:t>
            </a:r>
            <a:pPr indent="0" marL="0">
              <a:buNone/>
            </a:pPr>
            <a:r>
              <a:rPr lang="en-US" sz="1100" dirty="0">
                <a:solidFill>
                  <a:srgbClr val="8FA3B1"/>
                </a:solidFill>
                <a:latin typeface="Calibri" pitchFamily="34" charset="0"/>
                <a:ea typeface="Calibri" pitchFamily="34" charset="-122"/>
                <a:cs typeface="Calibri" pitchFamily="34" charset="-120"/>
              </a:rPr>
              <a:t>Was the full sequence visible in every response? Was the Cushion never skipped?</a:t>
            </a:r>
            <a:endParaRPr lang="en-US" sz="1200" dirty="0"/>
          </a:p>
        </p:txBody>
      </p:sp>
      <p:sp>
        <p:nvSpPr>
          <p:cNvPr id="9" name="Shape 7"/>
          <p:cNvSpPr/>
          <p:nvPr/>
        </p:nvSpPr>
        <p:spPr>
          <a:xfrm>
            <a:off x="274320" y="1627632"/>
            <a:ext cx="8503920" cy="68580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627632"/>
            <a:ext cx="1463040" cy="685800"/>
          </a:xfrm>
          <a:prstGeom prst="rect">
            <a:avLst/>
          </a:prstGeom>
          <a:solidFill>
            <a:srgbClr val="0891B2">
              <a:alpha val="80000"/>
            </a:srgbClr>
          </a:solidFill>
          <a:ln w="12700">
            <a:solidFill>
              <a:srgbClr val="0891B2"/>
            </a:solidFill>
            <a:prstDash val="solid"/>
          </a:ln>
        </p:spPr>
      </p:sp>
      <p:sp>
        <p:nvSpPr>
          <p:cNvPr id="11" name="Text 9"/>
          <p:cNvSpPr/>
          <p:nvPr/>
        </p:nvSpPr>
        <p:spPr>
          <a:xfrm>
            <a:off x="292608" y="1664208"/>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12" name="Text 10"/>
          <p:cNvSpPr/>
          <p:nvPr/>
        </p:nvSpPr>
        <p:spPr>
          <a:xfrm>
            <a:off x="1874520" y="1700784"/>
            <a:ext cx="6766560" cy="566928"/>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Composure Under Hostility  </a:t>
            </a:r>
            <a:pPr indent="0" marL="0">
              <a:buNone/>
            </a:pPr>
            <a:r>
              <a:rPr lang="en-US" sz="1100" dirty="0">
                <a:solidFill>
                  <a:srgbClr val="8FA3B1"/>
                </a:solidFill>
                <a:latin typeface="Calibri" pitchFamily="34" charset="0"/>
                <a:ea typeface="Calibri" pitchFamily="34" charset="-122"/>
                <a:cs typeface="Calibri" pitchFamily="34" charset="-120"/>
              </a:rPr>
              <a:t>Did the rep maintain the Late Night DJ voice when challenged aggressively?</a:t>
            </a:r>
            <a:endParaRPr lang="en-US" sz="1200" dirty="0"/>
          </a:p>
        </p:txBody>
      </p:sp>
      <p:sp>
        <p:nvSpPr>
          <p:cNvPr id="13" name="Shape 11"/>
          <p:cNvSpPr/>
          <p:nvPr/>
        </p:nvSpPr>
        <p:spPr>
          <a:xfrm>
            <a:off x="274320" y="2432304"/>
            <a:ext cx="8503920" cy="685800"/>
          </a:xfrm>
          <a:prstGeom prst="rect">
            <a:avLst/>
          </a:prstGeom>
          <a:solidFill>
            <a:srgbClr val="1A2840"/>
          </a:solidFill>
          <a:ln w="1270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432304"/>
            <a:ext cx="1463040" cy="685800"/>
          </a:xfrm>
          <a:prstGeom prst="rect">
            <a:avLst/>
          </a:prstGeom>
          <a:solidFill>
            <a:srgbClr val="2D9B4E">
              <a:alpha val="80000"/>
            </a:srgbClr>
          </a:solidFill>
          <a:ln w="12700">
            <a:solidFill>
              <a:srgbClr val="2D9B4E"/>
            </a:solidFill>
            <a:prstDash val="solid"/>
          </a:ln>
        </p:spPr>
      </p:sp>
      <p:sp>
        <p:nvSpPr>
          <p:cNvPr id="15" name="Text 13"/>
          <p:cNvSpPr/>
          <p:nvPr/>
        </p:nvSpPr>
        <p:spPr>
          <a:xfrm>
            <a:off x="292608" y="2468880"/>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16" name="Text 14"/>
          <p:cNvSpPr/>
          <p:nvPr/>
        </p:nvSpPr>
        <p:spPr>
          <a:xfrm>
            <a:off x="1874520" y="2505456"/>
            <a:ext cx="6766560" cy="566928"/>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Objection Isolation Accuracy  </a:t>
            </a:r>
            <a:pPr indent="0" marL="0">
              <a:buNone/>
            </a:pPr>
            <a:r>
              <a:rPr lang="en-US" sz="1100" dirty="0">
                <a:solidFill>
                  <a:srgbClr val="8FA3B1"/>
                </a:solidFill>
                <a:latin typeface="Calibri" pitchFamily="34" charset="0"/>
                <a:ea typeface="Calibri" pitchFamily="34" charset="-122"/>
                <a:cs typeface="Calibri" pitchFamily="34" charset="-120"/>
              </a:rPr>
              <a:t>Were Smoke Screens correctly identified and separated from real objections?</a:t>
            </a:r>
            <a:endParaRPr lang="en-US" sz="1200" dirty="0"/>
          </a:p>
        </p:txBody>
      </p:sp>
      <p:sp>
        <p:nvSpPr>
          <p:cNvPr id="17" name="Shape 15"/>
          <p:cNvSpPr/>
          <p:nvPr/>
        </p:nvSpPr>
        <p:spPr>
          <a:xfrm>
            <a:off x="274320" y="3236976"/>
            <a:ext cx="8503920" cy="685800"/>
          </a:xfrm>
          <a:prstGeom prst="rect">
            <a:avLst/>
          </a:prstGeom>
          <a:solidFill>
            <a:srgbClr val="1A2840"/>
          </a:solidFill>
          <a:ln w="1270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236976"/>
            <a:ext cx="1463040" cy="685800"/>
          </a:xfrm>
          <a:prstGeom prst="rect">
            <a:avLst/>
          </a:prstGeom>
          <a:solidFill>
            <a:srgbClr val="E07B39">
              <a:alpha val="80000"/>
            </a:srgbClr>
          </a:solidFill>
          <a:ln w="12700">
            <a:solidFill>
              <a:srgbClr val="E07B39"/>
            </a:solidFill>
            <a:prstDash val="solid"/>
          </a:ln>
        </p:spPr>
      </p:sp>
      <p:sp>
        <p:nvSpPr>
          <p:cNvPr id="19" name="Text 17"/>
          <p:cNvSpPr/>
          <p:nvPr/>
        </p:nvSpPr>
        <p:spPr>
          <a:xfrm>
            <a:off x="292608" y="3273552"/>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20" name="Text 18"/>
          <p:cNvSpPr/>
          <p:nvPr/>
        </p:nvSpPr>
        <p:spPr>
          <a:xfrm>
            <a:off x="1874520" y="3310128"/>
            <a:ext cx="6766560" cy="566928"/>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Deal Rescue Deployment  </a:t>
            </a:r>
            <a:pPr indent="0" marL="0">
              <a:buNone/>
            </a:pPr>
            <a:r>
              <a:rPr lang="en-US" sz="1100" dirty="0">
                <a:solidFill>
                  <a:srgbClr val="8FA3B1"/>
                </a:solidFill>
                <a:latin typeface="Calibri" pitchFamily="34" charset="0"/>
                <a:ea typeface="Calibri" pitchFamily="34" charset="-122"/>
                <a:cs typeface="Calibri" pitchFamily="34" charset="-120"/>
              </a:rPr>
              <a:t>Was the Elephant/Take-Away/Revisit used correctly when the consultation stalled?</a:t>
            </a:r>
            <a:endParaRPr lang="en-US" sz="1200" dirty="0"/>
          </a:p>
        </p:txBody>
      </p:sp>
      <p:sp>
        <p:nvSpPr>
          <p:cNvPr id="21" name="Shape 19"/>
          <p:cNvSpPr/>
          <p:nvPr/>
        </p:nvSpPr>
        <p:spPr>
          <a:xfrm>
            <a:off x="274320" y="4041648"/>
            <a:ext cx="8503920" cy="68580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4041648"/>
            <a:ext cx="1463040" cy="685800"/>
          </a:xfrm>
          <a:prstGeom prst="rect">
            <a:avLst/>
          </a:prstGeom>
          <a:solidFill>
            <a:srgbClr val="C0392B">
              <a:alpha val="80000"/>
            </a:srgbClr>
          </a:solidFill>
          <a:ln w="12700">
            <a:solidFill>
              <a:srgbClr val="C0392B"/>
            </a:solidFill>
            <a:prstDash val="solid"/>
          </a:ln>
        </p:spPr>
      </p:sp>
      <p:sp>
        <p:nvSpPr>
          <p:cNvPr id="23" name="Text 21"/>
          <p:cNvSpPr/>
          <p:nvPr/>
        </p:nvSpPr>
        <p:spPr>
          <a:xfrm>
            <a:off x="292608" y="4078224"/>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24" name="Text 22"/>
          <p:cNvSpPr/>
          <p:nvPr/>
        </p:nvSpPr>
        <p:spPr>
          <a:xfrm>
            <a:off x="1874520" y="4114800"/>
            <a:ext cx="6766560" cy="566928"/>
          </a:xfrm>
          <a:prstGeom prst="rect">
            <a:avLst/>
          </a:prstGeom>
          <a:noFill/>
          <a:ln/>
        </p:spPr>
        <p: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Close Completion  </a:t>
            </a:r>
            <a:pPr indent="0" marL="0">
              <a:buNone/>
            </a:pPr>
            <a:r>
              <a:rPr lang="en-US" sz="1100" dirty="0">
                <a:solidFill>
                  <a:srgbClr val="8FA3B1"/>
                </a:solidFill>
                <a:latin typeface="Calibri" pitchFamily="34" charset="0"/>
                <a:ea typeface="Calibri" pitchFamily="34" charset="-122"/>
                <a:cs typeface="Calibri" pitchFamily="34" charset="-120"/>
              </a:rPr>
              <a:t>Did the consultation end with a clear next step — scheduled, confirmed, and on the calendar?</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What a 30/30 Performance Looks Like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treats every objection as information, not as an attack — curiosity is the baseline state throughout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Cushion is delivered with genuine warmth — never robotic, never rushed, never skipped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adjusts in real time: if one technique isn't landing, they pivot — they don't repeat the same approach louder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close feels inevitable — like the natural conclusion of a well-facilitated conversation, not a sales event</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 30/30 performance is rare. Play recordings from previous exemplary Gauntlet performances if available — let reps hear what mastery in motion sounds like. Elite performance has a feel that words alone cannot fully describe.</a:t>
            </a:r>
            <a:endParaRPr lang="en-US" sz="900" dirty="0"/>
          </a:p>
        </p:txBody>
      </p:sp>
    </p:spTree>
  </p:cSld>
  <p:clrMapOvr>
    <a:masterClrMapping/>
  </p:clrMapOvr>
</p:sld>
</file>

<file path=ppt/slides/slide67.xml><?xml version="1.0" encoding="utf-8"?>
<ns0:sld xmlns:a="http://schemas.openxmlformats.org/drawingml/2006/main" xmlns:ns0="http://schemas.openxmlformats.org/presentationml/2006/main">
  <ns0:cSld name="Slide 6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ns0:txBody>
      </ns0:sp>
      <ns0:sp>
        <ns0:nvSpPr>
          <ns0:cNvPr id="4" name="Text 2"/>
          <ns0:cNvSpPr/>
          <ns0:nvPr/>
        </ns0:nvSpPr>
        <ns0:spPr>
          <a:xfrm>
            <a:off x="365760" y="457200"/>
            <a:ext cx="8412480" cy="457200"/>
          </a:xfrm>
          <a:prstGeom prst="rect">
            <a:avLst/>
          </a:prstGeom>
          <a:noFill/>
          <a:ln/>
        </ns0:spPr>
        <ns0: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AI Simulation: The Miller Family Final Gauntlet</a:t>
            </a:r>
            <a:endParaRPr lang="en-US" sz="1700" dirty="0"/>
          </a:p>
        </ns0:txBody>
      </ns0:sp>
      <ns0:sp>
        <ns0:nvSpPr>
          <ns0:cNvPr id="5" name="Shape 3"/>
          <ns0:cNvSpPr/>
          <ns0:nvPr/>
        </ns0:nvSpPr>
        <ns0: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20624"/>
          </a:xfrm>
          <a:prstGeom prst="rect">
            <a:avLst/>
          </a:prstGeom>
          <a:noFill/>
          <a:ln/>
        </ns0:spPr>
        <ns0: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Handle a retired engineer Owl, a skeptical spouse, and a neighbor objection — close on the site survey</a:t>
            </a:r>
            <a:endParaRPr lang="en-US" sz="1100" dirty="0"/>
          </a:p>
        </ns0:txBody>
      </ns0:sp>
      <ns0:sp>
        <ns0:nvSpPr>
          <ns0:cNvPr id="7" name="Text 5"/>
          <ns0:cNvSpPr/>
          <ns0:nvPr/>
        </ns0:nvSpPr>
        <ns0:spPr>
          <a:xfrm>
            <a:off x="365760" y="1755648"/>
            <a:ext cx="6858000" cy="2834640"/>
          </a:xfrm>
          <a:prstGeom prst="rect">
            <a:avLst/>
          </a:prstGeom>
          <a:noFill/>
          <a:ln/>
        </ns0:spPr>
        <ns0: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Escanee el código QR o haga clic en el enlace para iniciar el bot de Simulación AI de la Familia Miller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Mr. Miller (Owl) will demand degradation data, compare your quote to Competitor X, and question inverter specs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Mrs. Miller will surface the neighbor objection and a Smoke Screen about their 'financial advisor'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Goal: handle all 5 objection types, use ACAC throughout, and close on a scheduled site survey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Submit your recording for manager scoring on the Day 6 Evaluation Scorecard</a:t>
            </a:r>
            <a:endParaRPr lang="en-US" sz="1200" dirty="0"/>
          </a:p>
        </ns0:txBody>
      </ns0:sp>
      <ns0:sp>
        <ns0:nvSpPr>
          <ns0:cNvPr id="8" name="Shape 6"/>
          <ns0:cNvSpPr/>
          <ns0:nvPr/>
        </ns0:nvSpPr>
        <ns0: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773936"/>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45 MIN</a:t>
            </a:r>
            <a:endParaRPr lang="en-US" sz="1400" dirty="0"/>
          </a:p>
        </ns0:txBody>
      </ns0:sp>
    </ns0:spTree>
  </ns0:cSld>
  <ns0:clrMapOvr>
    <a:masterClrMapping/>
  </ns0:clrMapOvr>
</ns0: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WRAP-UP</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Day 6 Wrap-Up</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The Master of Objections Mindset</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6 Laws of the Day 6 Master of Objections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1440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01</a:t>
            </a:r>
            <a:endParaRPr lang="en-US" sz="2400" dirty="0"/>
          </a:p>
        </p:txBody>
      </p:sp>
      <p:sp>
        <p:nvSpPr>
          <p:cNvPr id="7" name="Shape 5"/>
          <p:cNvSpPr/>
          <p:nvPr/>
        </p:nvSpPr>
        <p:spPr>
          <a:xfrm>
            <a:off x="960120" y="960120"/>
            <a:ext cx="27432" cy="640080"/>
          </a:xfrm>
          <a:prstGeom prst="rect">
            <a:avLst/>
          </a:prstGeom>
          <a:solidFill>
            <a:srgbClr val="F4A61D"/>
          </a:solidFill>
          <a:ln w="12700">
            <a:solidFill>
              <a:srgbClr val="F4A61D"/>
            </a:solidFill>
            <a:prstDash val="solid"/>
          </a:ln>
        </p:spPr>
      </p:sp>
      <p:sp>
        <p:nvSpPr>
          <p:cNvPr id="8" name="Text 6"/>
          <p:cNvSpPr/>
          <p:nvPr/>
        </p:nvSpPr>
        <p:spPr>
          <a:xfrm>
            <a:off x="1051560" y="9601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The Cushion Is Non-Negotiable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Never skip the Acknowledge step. An objection argued with is an objection that grows. An objection cushioned is one that deflates.</a:t>
            </a:r>
            <a:endParaRPr lang="en-US" sz="1200" dirty="0"/>
          </a:p>
        </p:txBody>
      </p:sp>
      <p:sp>
        <p:nvSpPr>
          <p:cNvPr id="9" name="Shape 7"/>
          <p:cNvSpPr/>
          <p:nvPr/>
        </p:nvSpPr>
        <p:spPr>
          <a:xfrm>
            <a:off x="274320" y="182880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87452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02</a:t>
            </a:r>
            <a:endParaRPr lang="en-US" sz="2400" dirty="0"/>
          </a:p>
        </p:txBody>
      </p:sp>
      <p:sp>
        <p:nvSpPr>
          <p:cNvPr id="11" name="Shape 9"/>
          <p:cNvSpPr/>
          <p:nvPr/>
        </p:nvSpPr>
        <p:spPr>
          <a:xfrm>
            <a:off x="960120" y="192024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2024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Smoke Before Fire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Never address what they say until you know why they're saying it. The Isolate move separates polite excuses from real fears every time.</a:t>
            </a:r>
            <a:endParaRPr lang="en-US" sz="1200" dirty="0"/>
          </a:p>
        </p:txBody>
      </p:sp>
      <p:sp>
        <p:nvSpPr>
          <p:cNvPr id="13" name="Shape 11"/>
          <p:cNvSpPr/>
          <p:nvPr/>
        </p:nvSpPr>
        <p:spPr>
          <a:xfrm>
            <a:off x="274320" y="278892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3464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03</a:t>
            </a:r>
            <a:endParaRPr lang="en-US" sz="2400" dirty="0"/>
          </a:p>
        </p:txBody>
      </p:sp>
      <p:sp>
        <p:nvSpPr>
          <p:cNvPr id="15" name="Shape 13"/>
          <p:cNvSpPr/>
          <p:nvPr/>
        </p:nvSpPr>
        <p:spPr>
          <a:xfrm>
            <a:off x="960120" y="2880360"/>
            <a:ext cx="27432" cy="640080"/>
          </a:xfrm>
          <a:prstGeom prst="rect">
            <a:avLst/>
          </a:prstGeom>
          <a:solidFill>
            <a:srgbClr val="F4A61D"/>
          </a:solidFill>
          <a:ln w="12700">
            <a:solidFill>
              <a:srgbClr val="F4A61D"/>
            </a:solidFill>
            <a:prstDash val="solid"/>
          </a:ln>
        </p:spPr>
      </p:sp>
      <p:sp>
        <p:nvSpPr>
          <p:cNvPr id="16" name="Text 14"/>
          <p:cNvSpPr/>
          <p:nvPr/>
        </p:nvSpPr>
        <p:spPr>
          <a:xfrm>
            <a:off x="1051560" y="288036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Agreement Disarms, Defense Escalates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Join the resistance before redirecting it. A rep who agrees with skepticism removes the homeowner's reason to fight.</a:t>
            </a:r>
            <a:endParaRPr lang="en-US" sz="1200" dirty="0"/>
          </a:p>
        </p:txBody>
      </p:sp>
      <p:sp>
        <p:nvSpPr>
          <p:cNvPr id="17" name="Shape 15"/>
          <p:cNvSpPr/>
          <p:nvPr/>
        </p:nvSpPr>
        <p:spPr>
          <a:xfrm>
            <a:off x="274320" y="374904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79476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04</a:t>
            </a:r>
            <a:endParaRPr lang="en-US" sz="2400" dirty="0"/>
          </a:p>
        </p:txBody>
      </p:sp>
      <p:sp>
        <p:nvSpPr>
          <p:cNvPr id="19" name="Shape 17"/>
          <p:cNvSpPr/>
          <p:nvPr/>
        </p:nvSpPr>
        <p:spPr>
          <a:xfrm>
            <a:off x="960120" y="384048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4048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Calm Is a Weapon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Your voice under pressure is the most powerful persuasion tool you own. The Late Night DJ voice closes deals that logic cannot.</a:t>
            </a:r>
            <a:endParaRPr lang="en-US" sz="1200" dirty="0"/>
          </a:p>
        </p:txBody>
      </p:sp>
      <p:sp>
        <p:nvSpPr>
          <p:cNvPr id="21" name="Shape 19"/>
          <p:cNvSpPr/>
          <p:nvPr/>
        </p:nvSpPr>
        <p:spPr>
          <a:xfrm>
            <a:off x="274320" y="470916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22" name="Text 20"/>
          <p:cNvSpPr/>
          <p:nvPr/>
        </p:nvSpPr>
        <p:spPr>
          <a:xfrm>
            <a:off x="320040" y="475488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05</a:t>
            </a:r>
            <a:endParaRPr lang="en-US" sz="2400" dirty="0"/>
          </a:p>
        </p:txBody>
      </p:sp>
      <p:sp>
        <p:nvSpPr>
          <p:cNvPr id="23" name="Shape 21"/>
          <p:cNvSpPr/>
          <p:nvPr/>
        </p:nvSpPr>
        <p:spPr>
          <a:xfrm>
            <a:off x="960120" y="4800600"/>
            <a:ext cx="27432" cy="640080"/>
          </a:xfrm>
          <a:prstGeom prst="rect">
            <a:avLst/>
          </a:prstGeom>
          <a:solidFill>
            <a:srgbClr val="F4A61D"/>
          </a:solidFill>
          <a:ln w="12700">
            <a:solidFill>
              <a:srgbClr val="F4A61D"/>
            </a:solidFill>
            <a:prstDash val="solid"/>
          </a:ln>
        </p:spPr>
      </p:sp>
      <p:sp>
        <p:nvSpPr>
          <p:cNvPr id="24" name="Text 22"/>
          <p:cNvSpPr/>
          <p:nvPr/>
        </p:nvSpPr>
        <p:spPr>
          <a:xfrm>
            <a:off x="1051560" y="480060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Name the Wall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When a deal stalls, call it out. The rep with the courage to say 'It feels like we've hit a wall' is the one who finds the door through it.</a:t>
            </a:r>
            <a:endParaRPr lang="en-US" sz="1200" dirty="0"/>
          </a:p>
        </p:txBody>
      </p:sp>
      <p:sp>
        <p:nvSpPr>
          <p:cNvPr id="25" name="Shape 23"/>
          <p:cNvSpPr/>
          <p:nvPr/>
        </p:nvSpPr>
        <p:spPr>
          <a:xfrm>
            <a:off x="274320" y="566928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26" name="Text 24"/>
          <p:cNvSpPr/>
          <p:nvPr/>
        </p:nvSpPr>
        <p:spPr>
          <a:xfrm>
            <a:off x="320040" y="571500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06</a:t>
            </a:r>
            <a:endParaRPr lang="en-US" sz="2400" dirty="0"/>
          </a:p>
        </p:txBody>
      </p:sp>
      <p:sp>
        <p:nvSpPr>
          <p:cNvPr id="27" name="Shape 25"/>
          <p:cNvSpPr/>
          <p:nvPr/>
        </p:nvSpPr>
        <p:spPr>
          <a:xfrm>
            <a:off x="960120" y="5760720"/>
            <a:ext cx="27432" cy="640080"/>
          </a:xfrm>
          <a:prstGeom prst="rect">
            <a:avLst/>
          </a:prstGeom>
          <a:solidFill>
            <a:srgbClr val="0891B2"/>
          </a:solidFill>
          <a:ln w="12700">
            <a:solidFill>
              <a:srgbClr val="0891B2"/>
            </a:solidFill>
            <a:prstDash val="solid"/>
          </a:ln>
        </p:spPr>
      </p:sp>
      <p:sp>
        <p:nvSpPr>
          <p:cNvPr id="28" name="Text 26"/>
          <p:cNvSpPr/>
          <p:nvPr/>
        </p:nvSpPr>
        <p:spPr>
          <a:xfrm>
            <a:off x="1051560" y="57607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Every Objection Is Information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The homeowner who objects is telling you exactly what they need to feel safe. Treat every objection as a gift — it's a roadmap to the close.</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Day 6 Self-Assessment: Before You Go to Day 7</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deliver the ACAC framework for any objection without notes — and without skipping the Cushion?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identify a Smoke Screen within 60 seconds and isolate the real fear using the Magic Wand?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maintain the Late Night DJ voice when someone tells me solar is a scam — calmly, and without becoming defensive?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deploy the Deal Rescue toolkit (Elephant, Take-Away, Revisit) when a consultation goes sideways?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Did I score 22/30 or above on the Gauntlet Scorecard?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debunk 5 media myths from memory with data and a financial bridge?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7 is the final day: referral generation, pipeline management, personal brand, and the rep's long-term identity as a solar professional. Day 6 reps who haven't mastered composure will struggle on Day 7's live field scenarios.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1A2840"/>
          </a:solidFill>
          <a:ln w="12700">
            <a:solidFill>
              <a:srgbClr val="1A2840"/>
            </a:solidFill>
            <a:prstDash val="solid"/>
          </a:ln>
        </p:spPr>
      </p:sp>
      <p:sp>
        <p:nvSpPr>
          <p:cNvPr id="3" name="Shape 1"/>
          <p:cNvSpPr/>
          <p:nvPr/>
        </p:nvSpPr>
        <p:spPr>
          <a:xfrm>
            <a:off x="0" y="0"/>
            <a:ext cx="320040" cy="1417320"/>
          </a:xfrm>
          <a:prstGeom prst="rect">
            <a:avLst/>
          </a:prstGeom>
          <a:solidFill>
            <a:srgbClr val="F4A61D"/>
          </a:solidFill>
          <a:ln w="12700">
            <a:solidFill>
              <a:srgbClr val="F4A61D"/>
            </a:solidFill>
            <a:prstDash val="solid"/>
          </a:ln>
        </p:spPr>
      </p:sp>
      <p:sp>
        <p:nvSpPr>
          <p:cNvPr id="4" name="Text 2"/>
          <p:cNvSpPr/>
          <p:nvPr/>
        </p:nvSpPr>
        <p:spPr>
          <a:xfrm>
            <a:off x="502920" y="164592"/>
            <a:ext cx="8229600" cy="384048"/>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7</a:t>
            </a:r>
            <a:endParaRPr lang="en-US" sz="1200" dirty="0"/>
          </a:p>
        </p:txBody>
      </p:sp>
      <p:sp>
        <p:nvSpPr>
          <p:cNvPr id="5" name="Text 3"/>
          <p:cNvSpPr/>
          <p:nvPr/>
        </p:nvSpPr>
        <p:spPr>
          <a:xfrm>
            <a:off x="502920" y="603504"/>
            <a:ext cx="8229600" cy="676656"/>
          </a:xfrm>
          <a:prstGeom prst="rect">
            <a:avLst/>
          </a:prstGeom>
          <a:noFill/>
          <a:ln/>
        </p:spPr>
        <p:txBody>
          <a:bodyPr wrap="square" lIns="0" tIns="0" rIns="0" bIns="0" rtlCol="0" anchor="ctr"/>
          <a:lstStyle/>
          <a:p>
            <a:pPr algn="l" indent="0" marL="0">
              <a:buNone/>
            </a:pPr>
            <a:r>
              <a:rPr lang="en-US" sz="2100" b="1" dirty="0">
                <a:solidFill>
                  <a:srgbClr val="FFFFFF"/>
                </a:solidFill>
                <a:latin typeface="Arial Black" pitchFamily="34" charset="0"/>
                <a:ea typeface="Arial Black" pitchFamily="34" charset="-122"/>
                <a:cs typeface="Arial Black" pitchFamily="34" charset="-120"/>
              </a:rPr>
              <a:t>Long-Term Excellence &amp; The Solar Professional</a:t>
            </a:r>
            <a:endParaRPr lang="en-US" sz="2100" dirty="0"/>
          </a:p>
        </p:txBody>
      </p:sp>
      <p:sp>
        <p:nvSpPr>
          <p:cNvPr id="6" name="Shape 4"/>
          <p:cNvSpPr/>
          <p:nvPr/>
        </p:nvSpPr>
        <p:spPr>
          <a:xfrm>
            <a:off x="27432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Referrals at the Table</a:t>
            </a:r>
            <a:endParaRPr lang="en-US" sz="1300" dirty="0"/>
          </a:p>
        </p:txBody>
      </p:sp>
      <p:sp>
        <p:nvSpPr>
          <p:cNvPr id="8" name="Text 6"/>
          <p:cNvSpPr/>
          <p:nvPr/>
        </p:nvSpPr>
        <p:spPr>
          <a:xfrm>
            <a:off x="41148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Generating 3 warm referrals while the ink is still wet — the system that doubles your pipeline</a:t>
            </a:r>
            <a:endParaRPr lang="en-US" sz="1100" dirty="0"/>
          </a:p>
        </p:txBody>
      </p:sp>
      <p:sp>
        <p:nvSpPr>
          <p:cNvPr id="9" name="Shape 7"/>
          <p:cNvSpPr/>
          <p:nvPr/>
        </p:nvSpPr>
        <p:spPr>
          <a:xfrm>
            <a:off x="475488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Pipeline Management</a:t>
            </a:r>
            <a:endParaRPr lang="en-US" sz="1300" dirty="0"/>
          </a:p>
        </p:txBody>
      </p:sp>
      <p:sp>
        <p:nvSpPr>
          <p:cNvPr id="11" name="Text 9"/>
          <p:cNvSpPr/>
          <p:nvPr/>
        </p:nvSpPr>
        <p:spPr>
          <a:xfrm>
            <a:off x="489204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Lead stages, follow-up cadence, and CRM discipline that prevents deals from dying in the dark</a:t>
            </a:r>
            <a:endParaRPr lang="en-US" sz="1100" dirty="0"/>
          </a:p>
        </p:txBody>
      </p:sp>
      <p:sp>
        <p:nvSpPr>
          <p:cNvPr id="12" name="Shape 10"/>
          <p:cNvSpPr/>
          <p:nvPr/>
        </p:nvSpPr>
        <p:spPr>
          <a:xfrm>
            <a:off x="27432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Personal Brand</a:t>
            </a:r>
            <a:endParaRPr lang="en-US" sz="1300" dirty="0"/>
          </a:p>
        </p:txBody>
      </p:sp>
      <p:sp>
        <p:nvSpPr>
          <p:cNvPr id="14" name="Text 12"/>
          <p:cNvSpPr/>
          <p:nvPr/>
        </p:nvSpPr>
        <p:spPr>
          <a:xfrm>
            <a:off x="41148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Building a reputation in your market that makes homeowners call YOU before you knock</a:t>
            </a:r>
            <a:endParaRPr lang="en-US" sz="1100" dirty="0"/>
          </a:p>
        </p:txBody>
      </p:sp>
      <p:sp>
        <p:nvSpPr>
          <p:cNvPr id="15" name="Shape 13"/>
          <p:cNvSpPr/>
          <p:nvPr/>
        </p:nvSpPr>
        <p:spPr>
          <a:xfrm>
            <a:off x="475488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Final Certification</a:t>
            </a:r>
            <a:endParaRPr lang="en-US" sz="1300" dirty="0"/>
          </a:p>
        </p:txBody>
      </p:sp>
      <p:sp>
        <p:nvSpPr>
          <p:cNvPr id="17" name="Text 15"/>
          <p:cNvSpPr/>
          <p:nvPr/>
        </p:nvSpPr>
        <p:spPr>
          <a:xfrm>
            <a:off x="489204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7-Day Solar Accelerator Closer Certification — the credential that defines your career</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6 Complete  ·  You Are the Master of Objections. One Day Left.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6</dc:title>
  <dc:subject>PptxGenJS Presentation</dc:subject>
  <dc:creator>PptxGenJS</dc:creator>
  <cp:lastModifiedBy>PptxGenJS</cp:lastModifiedBy>
  <cp:revision>1</cp:revision>
  <dcterms:created xsi:type="dcterms:W3CDTF">2026-03-09T16:31:46Z</dcterms:created>
  <dcterms:modified xsi:type="dcterms:W3CDTF">2026-03-09T16:31:46Z</dcterms:modified>
</cp:coreProperties>
</file>