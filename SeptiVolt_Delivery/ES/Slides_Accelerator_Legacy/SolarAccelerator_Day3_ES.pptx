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ns0:sld xmlns:a="http://schemas.openxmlformats.org/drawingml/2006/main" xmlns:ns0="http://schemas.openxmlformats.org/presentationml/2006/main">
  <ns0:cSld name="Slide 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1645920"/>
            <a:ext cx="9144000" cy="2011680"/>
          </a:xfrm>
          <a:prstGeom prst="rect">
            <a:avLst/>
          </a:prstGeom>
          <a:solidFill>
            <a:srgbClr val="1A2840"/>
          </a:solidFill>
          <a:ln w="12700">
            <a:solidFill>
              <a:srgbClr val="1A2840"/>
            </a:solidFill>
            <a:prstDash val="solid"/>
          </a:ln>
        </ns0:spPr>
      </ns0:sp>
      <ns0:sp>
        <ns0:nvSpPr>
          <ns0:cNvPr id="3" name="Shape 1"/>
          <ns0:cNvSpPr/>
          <ns0:nvPr/>
        </ns0:nvSpPr>
        <ns0:spPr>
          <a:xfrm>
            <a:off x="0" y="1645920"/>
            <a:ext cx="320040" cy="2011680"/>
          </a:xfrm>
          <a:prstGeom prst="rect">
            <a:avLst/>
          </a:prstGeom>
          <a:solidFill>
            <a:srgbClr val="F4A61D"/>
          </a:solidFill>
          <a:ln w="12700">
            <a:solidFill>
              <a:srgbClr val="F4A61D"/>
            </a:solidFill>
            <a:prstDash val="solid"/>
          </a:ln>
        </ns0:spPr>
      </ns0:sp>
      <ns0:sp>
        <ns0:nvSpPr>
          <ns0:cNvPr id="4" name="Text 2"/>
          <ns0:cNvSpPr/>
          <ns0:nvPr/>
        </ns0:nvSpPr>
        <ns0:spPr>
          <a:xfrm>
            <a:off x="548640" y="411480"/>
            <a:ext cx="8229600" cy="548640"/>
          </a:xfrm>
          <a:prstGeom prst="rect">
            <a:avLst/>
          </a:prstGeom>
          <a:noFill/>
          <a:ln/>
        </ns0:spPr>
        <ns0: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ns0:txBody>
      </ns0:sp>
      <ns0:sp>
        <ns0:nvSpPr>
          <ns0:cNvPr id="5" name="Text 3"/>
          <ns0:cNvSpPr/>
          <ns0:nvPr/>
        </ns0:nvSpPr>
        <ns0:spPr>
          <a:xfrm>
            <a:off x="548640" y="868680"/>
            <a:ext cx="8229600" cy="822960"/>
          </a:xfrm>
          <a:prstGeom prst="rect">
            <a:avLst/>
          </a:prstGeom>
          <a:noFill/>
          <a:ln/>
        </ns0:spPr>
        <ns0:txBody>
          <a:bodyPr wrap="square" lIns="0" tIns="0" rIns="0" bIns="0" rtlCol="0" anchor="ctr"/>
          <a:lstStyle/>
          <a:p>
            <a:pPr algn="l" indent="0" marL="0">
              <a:buNone/>
            </a:pPr>
            <a:r>
              <a:rPr lang="en-US" sz="1800" dirty="0">
                <a:solidFill>
                  <a:srgbClr val="8FA3B1"/>
                </a:solidFill>
                <a:latin typeface="Calibri" pitchFamily="34" charset="0"/>
                <a:ea typeface="Calibri" pitchFamily="34" charset="-122"/>
                <a:cs typeface="Calibri" pitchFamily="34" charset="-120"/>
              </a:rPr>
              <a:t>Programa de 7 Días para Representantes</a:t>
            </a:r>
            <a:endParaRPr lang="en-US" sz="1800" dirty="0"/>
          </a:p>
          <a:p>
            <a:pPr algn="l" indent="0" marL="0">
              <a:buNone/>
            </a:pPr>
            <a:r>
              <a:rPr lang="en-US" sz="1800" dirty="0">
                <a:solidFill>
                  <a:srgbClr val="8FA3B1"/>
                </a:solidFill>
                <a:latin typeface="Calibri" pitchFamily="34" charset="0"/>
                <a:ea typeface="Calibri" pitchFamily="34" charset="-122"/>
                <a:cs typeface="Calibri" pitchFamily="34" charset="-120"/>
              </a:rPr>
              <a:t>Programa de Certificación</a:t>
            </a:r>
            <a:endParaRPr lang="en-US" sz="1800" dirty="0"/>
          </a:p>
        </ns0:txBody>
      </ns0:sp>
      <ns0:sp>
        <ns0:nvSpPr>
          <ns0:cNvPr id="6" name="Text 4"/>
          <ns0:cNvSpPr/>
          <ns0:nvPr/>
        </ns0:nvSpPr>
        <ns0:spPr>
          <a:xfrm>
            <a:off x="548640" y="1737360"/>
            <a:ext cx="2743200" cy="640080"/>
          </a:xfrm>
          <a:prstGeom prst="rect">
            <a:avLst/>
          </a:prstGeom>
          <a:noFill/>
          <a:ln/>
        </ns0:spPr>
        <ns0: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DÍA 3</a:t>
            </a:r>
            <a:endParaRPr lang="en-US" sz="3800" dirty="0"/>
          </a:p>
        </ns0:txBody>
      </ns0:sp>
      <ns0:sp>
        <ns0:nvSpPr>
          <ns0:cNvPr id="7" name="Text 5"/>
          <ns0:cNvSpPr/>
          <ns0:nvPr/>
        </ns0:nvSpPr>
        <ns0:spPr>
          <a:xfrm>
            <a:off x="548640" y="2423160"/>
            <a:ext cx="8229600" cy="502920"/>
          </a:xfrm>
          <a:prstGeom prst="rect">
            <a:avLst/>
          </a:prstGeom>
          <a:noFill/>
          <a:ln/>
        </ns0:spPr>
        <ns0:txBody>
          <a:bodyPr wrap="square" lIns="0" tIns="0" rIns="0" bIns="0" rtlCol="0" anchor="ctr"/>
          <a:lstStyle/>
          <a:p>
            <a:pPr algn="l" indent="0" marL="0">
              <a:buNone/>
            </a:pPr>
            <a:r>
              <a:rPr lang="en-US" sz="2200" i="1" dirty="0">
                <a:solidFill>
                  <a:srgbClr val="F4A61D"/>
                </a:solidFill>
                <a:latin typeface="Calibri" pitchFamily="34" charset="0"/>
                <a:ea typeface="Calibri" pitchFamily="34" charset="-122"/>
                <a:cs typeface="Calibri" pitchFamily="34" charset="-120"/>
              </a:rPr>
              <a:t>El Plano de la Consulta</a:t>
            </a:r>
            <a:endParaRPr lang="en-US" sz="2200" dirty="0"/>
          </a:p>
        </ns0:txBody>
      </ns0:sp>
      <ns0:sp>
        <ns0:nvSpPr>
          <ns0:cNvPr id="8" name="Text 6"/>
          <ns0:cNvSpPr/>
          <ns0:nvPr/>
        </ns0:nvSpPr>
        <ns0:spPr>
          <a:xfrm>
            <a:off x="548640" y="2971800"/>
            <a:ext cx="8229600" cy="365760"/>
          </a:xfrm>
          <a:prstGeom prst="rect">
            <a:avLst/>
          </a:prstGeom>
          <a:noFill/>
          <a:ln/>
        </ns0:spPr>
        <ns0: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Módulos 3.1 – 3.10  |  Control del Entorno · Perfil BOLT · Descubrimiento · Empatía · El Cierre</a:t>
            </a:r>
            <a:endParaRPr lang="en-US" sz="1000" dirty="0"/>
          </a:p>
        </ns0:txBody>
      </ns0:sp>
      <ns0:sp>
        <ns0:nvSpPr>
          <ns0:cNvPr id="9" name="Shape 7"/>
          <ns0:cNvSpPr/>
          <ns0:nvPr/>
        </ns0:nvSpPr>
        <ns0:spPr>
          <a:xfrm>
            <a:off x="0" y="4526280"/>
            <a:ext cx="9144000" cy="617220"/>
          </a:xfrm>
          <a:prstGeom prst="rect">
            <a:avLst/>
          </a:prstGeom>
          <a:solidFill>
            <a:srgbClr val="F4A61D"/>
          </a:solidFill>
          <a:ln w="12700">
            <a:solidFill>
              <a:srgbClr val="F4A61D"/>
            </a:solidFill>
            <a:prstDash val="solid"/>
          </a:ln>
        </ns0:spPr>
      </ns0:sp>
      <ns0:sp>
        <ns0:nvSpPr>
          <ns0:cNvPr id="10" name="Text 8"/>
          <ns0:cNvSpPr/>
          <ns0:nvPr/>
        </ns0:nvSpPr>
        <ns0:spPr>
          <a:xfrm>
            <a:off x="457200" y="4544568"/>
            <a:ext cx="8229600" cy="58064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Controla el Espacio. Diagnostica el Dolor. Cierra el Trato.</a:t>
            </a:r>
            <a:endParaRPr lang="en-US" sz="1400" dirty="0"/>
          </a:p>
        </ns0:txBody>
      </ns0:sp>
    </ns0:spTree>
  </ns0:cSld>
  <ns0:clrMapOvr>
    <a:masterClrMapping/>
  </ns0:clrMapOvr>
</ns0:sld>
</file>

<file path=ppt/slides/slide2.xml><?xml version="1.0" encoding="utf-8"?>
<ns0:sld xmlns:a="http://schemas.openxmlformats.org/drawingml/2006/main" xmlns:ns0="http://schemas.openxmlformats.org/presentationml/2006/main">
  <ns0:cSld name="Slide 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3.1</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Posicionamiento en el Hogar y Control del Entorno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Preparando el Escenario para el Cierre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xml><?xml version="1.0" encoding="utf-8"?>
<ns0:sld xmlns:a="http://schemas.openxmlformats.org/drawingml/2006/main" xmlns:ns0="http://schemas.openxmlformats.org/presentationml/2006/main">
  <ns0:cSld name="Slide 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3.1 — CONTROL DEL ENTORNO</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Preparando el Escenario para el Cierre</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los primeros 5 minutos determinan el resultado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Transición de la puerta a la mesa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El Marco de Experto vs. La Trampa del Invitado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Controlling the physical and psychological environment</a:t>
            </a:r>
            <a:endParaRPr lang="en-US" sz="1400" dirty="0"/>
          </a:p>
        </ns0:txBody>
      </ns0:sp>
    </ns0:spTree>
  </ns0:cSld>
  <ns0:clrMapOvr>
    <a:masterClrMapping/>
  </ns0:clrMapOvr>
</ns0:sld>
</file>

<file path=ppt/slides/slide4.xml><?xml version="1.0" encoding="utf-8"?>
<ns0:sld xmlns:a="http://schemas.openxmlformats.org/drawingml/2006/main" xmlns:ns0="http://schemas.openxmlformats.org/presentationml/2006/main">
  <ns0:cSld name="Slide 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 Mentalidad Pre-Llegada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Revisa tus notas del lead — conoce su nombre, vecindario, promedio de factura antes de tocar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Visualiza el 'Sí': ensaya mentalmente una consulta fluida y confiada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Revisa tu uniforme — iPad cargado, polo limpio, mentas; las primeras impresiones comienzan en tu auto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de estacionamiento: estaciona en la calle, no en la entrada (los consultores estacionan en la calle)</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Professionalism starts 10 minutes before you ring the bell. Parking on the street signals 'consultant,' not 'delivery driver.' This subtle cue shifts the homeowner's frame from transaction to consultation.</a:t>
            </a:r>
            <a:endParaRPr lang="en-US" sz="900" dirty="0"/>
          </a:p>
        </ns0:txBody>
      </ns0:sp>
    </ns0:spTree>
  </ns0:cSld>
  <ns0:clrMapOvr>
    <a:masterClrMapping/>
  </ns0:clrMapOvr>
</ns0:sld>
</file>

<file path=ppt/slides/slide5.xml><?xml version="1.0" encoding="utf-8"?>
<ns0:sld xmlns:a="http://schemas.openxmlformats.org/drawingml/2006/main" xmlns:ns0="http://schemas.openxmlformats.org/presentationml/2006/main">
  <ns0:cSld name="Slide 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Primeras Impresiones en la Puerta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Regla de los 3 Pies: retrocede cuando la puerta se abra — dales espacio, evita la presión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Sonrisa de 'He Llegado': confiada, cálida, no desesperada — eres el experto que estaban esperando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un accesorio (iPad o carpeta de diseño) para lucir oficial y con propósito, no con las manos vacías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Cruzando el Umbral: espera a que la puerta se abra completamente, luego usa el paso 'Asumir Entrada'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Hey [Name]! I'm [Your Name] with [Company]. I've got those design options we discussed. Where's the best place for us to spread these out for a second?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uh — come on in. I guess we can go to the kitchen...</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moment you appear at the door is when the homeowner decides if you're a threat or an expert. Body language tells the full story before you say a word.</a:t>
            </a:r>
            <a:endParaRPr lang="en-US" sz="900" dirty="0"/>
          </a:p>
        </ns0:txBody>
      </ns0:sp>
    </ns0:spTree>
  </ns0:cSld>
  <ns0:clrMapOvr>
    <a:masterClrMapping/>
  </ns0:clrMapOvr>
</ns0:sld>
</file>

<file path=ppt/slides/slide6.xml><?xml version="1.0" encoding="utf-8"?>
<ns0:sld xmlns:a="http://schemas.openxmlformats.org/drawingml/2006/main" xmlns:ns0="http://schemas.openxmlformats.org/presentationml/2006/main">
  <ns0:cSld name="Slide 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Posicionamiento de Autoridad: Experto vs. Invitado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Trampa del Invitado: si te ofrecen agua, te piden que te sientes en el sofá — ellos están en control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Marco de Experto: los guías a la mesa, estableces la agenda, lideras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Direcciones, no Sugerencias — 'Vamos a la mesa de la cocina' vs. '¿Está bien la cocina?'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Gestiona el flujo: muévete por la casa con intención, no con duda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reps fall into the Guest Trap within 60 seconds of entry. The homeowner defaults to social norms. Your job is to redirect — politely but firmly — to the Expert frame.</a:t>
            </a:r>
            <a:endParaRPr lang="en-US" sz="900" dirty="0"/>
          </a:p>
        </ns0:txBody>
      </ns0:sp>
    </ns0:spTree>
  </ns0:cSld>
  <ns0:clrMapOvr>
    <a:masterClrMapping/>
  </ns0:clrMapOvr>
</ns0:sld>
</file>

<file path=ppt/slides/slide7.xml><?xml version="1.0" encoding="utf-8"?>
<ns0:sld xmlns:a="http://schemas.openxmlformats.org/drawingml/2006/main" xmlns:ns0="http://schemas.openxmlformats.org/presentationml/2006/main">
  <ns0:cSld name="Slide 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Estrategia de Asientos: Mesa de Cocina vs. El Sofá</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960120"/>
            <a:ext cx="4023360" cy="338328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960120"/>
            <a:ext cx="4023360" cy="384048"/>
          </a:xfrm>
          <a:prstGeom prst="rect">
            <a:avLst/>
          </a:prstGeom>
          <a:solidFill>
            <a:srgbClr val="0891B2"/>
          </a:solidFill>
          <a:ln w="12700">
            <a:solidFill>
              <a:srgbClr val="0891B2"/>
            </a:solidFill>
            <a:prstDash val="solid"/>
          </a:ln>
        </ns0:spPr>
      </ns0:sp>
      <ns0:sp>
        <ns0:nvSpPr>
          <ns0:cNvPr id="7" name="Text 5"/>
          <ns0:cNvSpPr/>
          <ns0:nvPr/>
        </ns0:nvSpPr>
        <ns0:spPr>
          <a:xfrm>
            <a:off x="320040" y="978408"/>
            <a:ext cx="3931920" cy="347472"/>
          </a:xfrm>
          <a:prstGeom prst="rect">
            <a:avLst/>
          </a:prstGeom>
          <a:noFill/>
          <a:ln/>
        </ns0:spPr>
        <ns0: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EL SOFÁ (EVITAR)</a:t>
            </a:r>
            <a:endParaRPr lang="en-US" sz="1200" dirty="0"/>
          </a:p>
        </ns0:txBody>
      </ns0:sp>
      <ns0:sp>
        <ns0:nvSpPr>
          <ns0:cNvPr id="8" name="Text 6"/>
          <ns0:cNvSpPr/>
          <ns0:nvPr/>
        </ns0:nvSpPr>
        <ns0:spPr>
          <a:xfrm>
            <a:off x="365760" y="1417320"/>
            <a:ext cx="3840480" cy="2834640"/>
          </a:xfrm>
          <a:prstGeom prst="rect">
            <a:avLst/>
          </a:prstGeom>
          <a:noFill/>
          <a:ln/>
        </ns0:spPr>
        <ns0: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Demasiado relajado — el propietario está en 'modo TV'</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Lado a lado u opuesto crea una dinámica adversarial o social</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La mesa de centro baja arruina tu presentación en iPad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You're a guest, not a consultant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Deal momentum is lost in the cushions</a:t>
            </a:r>
            <a:endParaRPr lang="en-US" sz="1200" dirty="0"/>
          </a:p>
        </ns0:txBody>
      </ns0:sp>
      <ns0:sp>
        <ns0:nvSpPr>
          <ns0:cNvPr id="9" name="Shape 7"/>
          <ns0:cNvSpPr/>
          <ns0:nvPr/>
        </ns0:nvSpPr>
        <ns0:spPr>
          <a:xfrm>
            <a:off x="4846320" y="960120"/>
            <a:ext cx="4023360" cy="338328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960120"/>
            <a:ext cx="4023360" cy="384048"/>
          </a:xfrm>
          <a:prstGeom prst="rect">
            <a:avLst/>
          </a:prstGeom>
          <a:solidFill>
            <a:srgbClr val="F4A61D"/>
          </a:solidFill>
          <a:ln w="12700">
            <a:solidFill>
              <a:srgbClr val="F4A61D"/>
            </a:solidFill>
            <a:prstDash val="solid"/>
          </a:ln>
        </ns0:spPr>
      </ns0:sp>
      <ns0:sp>
        <ns0:nvSpPr>
          <ns0:cNvPr id="11" name="Text 9"/>
          <ns0:cNvSpPr/>
          <ns0:nvPr/>
        </ns0:nvSpPr>
        <ns0:spPr>
          <a:xfrm>
            <a:off x="4892040" y="978408"/>
            <a:ext cx="3931920" cy="347472"/>
          </a:xfrm>
          <a:prstGeom prst="rect">
            <a:avLst/>
          </a:prstGeom>
          <a:noFill/>
          <a:ln/>
        </ns0:spPr>
        <ns0: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THE KITCHEN TABLE</a:t>
            </a:r>
            <a:endParaRPr lang="en-US" sz="1200" dirty="0"/>
          </a:p>
        </ns0:txBody>
      </ns0:sp>
      <ns0:sp>
        <ns0:nvSpPr>
          <ns0:cNvPr id="12" name="Text 10"/>
          <ns0:cNvSpPr/>
          <ns0:nvPr/>
        </ns0:nvSpPr>
        <ns0:spPr>
          <a:xfrm>
            <a:off x="4937760" y="1417320"/>
            <a:ext cx="3840480" cy="2834640"/>
          </a:xfrm>
          <a:prstGeom prst="rect">
            <a:avLst/>
          </a:prstGeom>
          <a:noFill/>
          <a:ln/>
        </ns0:spPr>
        <ns0: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This is where bills get paid and financial decisions get made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90-degree seating rule — sit adjacent, not opposite (less interrogation energy)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Full visibility of the iPad at all times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control the space and the pace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homeowner enters 'decision mode' automatically</a:t>
            </a:r>
            <a:endParaRPr lang="en-US" sz="1200" dirty="0"/>
          </a:p>
        </ns0:txBody>
      </ns0:sp>
      <ns0:sp>
        <ns0:nvSpPr>
          <ns0:cNvPr id="13" name="Shape 11"/>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4" name="Text 12"/>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Never present on a low coffee table. The kitchen table is the psychological 'command center' of every home. Getting them there is half the close.</a:t>
            </a:r>
            <a:endParaRPr lang="en-US" sz="900" dirty="0"/>
          </a:p>
        </ns0:txBody>
      </ns0:sp>
    </ns0:spTree>
  </ns0:cSld>
  <ns0:clrMapOvr>
    <a:masterClrMapping/>
  </ns0:clrMapOvr>
</ns0:sld>
</file>

<file path=ppt/slides/slide8.xml><?xml version="1.0" encoding="utf-8"?>
<ns0:sld xmlns:a="http://schemas.openxmlformats.org/drawingml/2006/main" xmlns:ns0="http://schemas.openxmlformats.org/presentationml/2006/main">
  <ns0:cSld name="Slide 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Eliminando Distracciones: La Estrategia del Silencio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TV: '¿Te importa si silenciamos eso un momento? Quiero asegurarme de no perderme nada de lo que me digas.'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Mascotas: Usa el movimiento 'Me encantan los perros, pero...' — redirígelos amablemente antes de que descarrilen la conversación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Niños: El iPad Niñero — ten una aplicación para niños lista para dar en un dispositivo secundario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 puedes competir con Netflix, ESPN o un Labrador ladrando — aborda las distracciones antes de comenzar</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Do you mind if we just turn that down for a sec? I want to give you my full attention — and honestly I'm a little jealous of whatever you're watching.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[laughs] Sure, no problem.</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non-negotiable. One rep lost a $38k deal because he tried to present over a game show with the volume on. Address every distraction before you open the iPad.</a:t>
            </a:r>
            <a:endParaRPr lang="en-US" sz="900" dirty="0"/>
          </a:p>
        </ns0:txBody>
      </ns0:sp>
    </ns0:spTree>
  </ns0:cSld>
  <ns0:clrMapOvr>
    <a:masterClrMapping/>
  </ns0:clrMapOvr>
</ns0:sld>
</file>

<file path=ppt/slides/slide9.xml><?xml version="1.0" encoding="utf-8"?>
<ns0:sld xmlns:a="http://schemas.openxmlformats.org/drawingml/2006/main" xmlns:ns0="http://schemas.openxmlformats.org/presentationml/2006/main">
  <ns0:cSld name="Slide 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Abriendo el Marco de Consulta</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822960"/>
            <a:ext cx="8503920" cy="347472"/>
          </a:xfrm>
          <a:prstGeom prst="rect">
            <a:avLst/>
          </a:prstGeom>
          <a:noFill/>
          <a:ln/>
        </ns0:spPr>
        <ns0: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Establecer la agenda antes de la presentación elimina el 80% de la guardia del propietario.</a:t>
            </a:r>
            <a:endParaRPr lang="en-US" sz="1100" dirty="0"/>
          </a:p>
        </ns0:txBody>
      </ns0:sp>
      <ns0:sp>
        <ns0:nvSpPr>
          <ns0:cNvPr id="6" name="Shape 4"/>
          <ns0:cNvSpPr/>
          <ns0:nvPr/>
        </ns0:nvSpPr>
        <ns0:spPr>
          <a:xfrm>
            <a:off x="274320" y="1261872"/>
            <a:ext cx="7680960" cy="129844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Text 5"/>
          <ns0:cNvSpPr/>
          <ns0:nvPr/>
        </ns0:nvSpPr>
        <ns0:spPr>
          <a:xfrm>
            <a:off x="384048" y="1316736"/>
            <a:ext cx="7461504" cy="1188720"/>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Antes de mostrar cualquier cosa, déjame decirte exactamente cómo serán los próximos 30 minutos. Voy a hacerte algunas preguntas sobre tu situación, mostrarte los números, responder lo que quieras. Y al final — si tiene todo el sentido del mundo, genial. Si no, sin ningún problema. ¿Te parece bien?</a:t>
            </a:r>
            <a:endParaRPr lang="en-US" sz="1100" dirty="0"/>
          </a:p>
        </ns0:txBody>
      </ns0:sp>
      <ns0:sp>
        <ns0:nvSpPr>
          <ns0:cNvPr id="8" name="Shape 6"/>
          <ns0:cNvSpPr/>
          <ns0:nvPr/>
        </ns0:nvSpPr>
        <ns0:spPr>
          <a:xfrm>
            <a:off x="914400" y="2670048"/>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1024128" y="2724912"/>
            <a:ext cx="7461504" cy="438912"/>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Homeowner: </a:t>
            </a:r>
            <a:pPr indent="0" marL="0">
              <a:buNone/>
            </a:pPr>
            <a:r>
              <a:rPr lang="en-US" sz="1100" dirty="0">
                <a:solidFill>
                  <a:srgbClr val="FFFFFF"/>
                </a:solidFill>
                <a:latin typeface="Calibri" pitchFamily="34" charset="0"/>
                <a:ea typeface="Calibri" pitchFamily="34" charset="-122"/>
                <a:cs typeface="Calibri" pitchFamily="34" charset="-120"/>
              </a:rPr>
              <a:t>Yeah... that sounds reasonable.</a:t>
            </a:r>
            <a:endParaRPr lang="en-US" sz="1100" dirty="0"/>
          </a:p>
        </ns0:txBody>
      </ns0:sp>
      <ns0:sp>
        <ns0:nvSpPr>
          <ns0:cNvPr id="10" name="Shape 8"/>
          <ns0:cNvSpPr/>
          <ns0:nvPr/>
        </ns0:nvSpPr>
        <ns0:spPr>
          <a:xfrm>
            <a:off x="274320" y="3328416"/>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11" name="Text 9"/>
          <ns0:cNvSpPr/>
          <ns0:nvPr/>
        </ns0:nvSpPr>
        <ns0:spPr>
          <a:xfrm>
            <a:off x="384048" y="3383280"/>
            <a:ext cx="7461504" cy="676656"/>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Perfect. And I promise I'll be straight with you — if this doesn't make financial sense for your home, I'll tell you that too. Sound good?</a:t>
            </a:r>
            <a:endParaRPr lang="en-US" sz="1100" dirty="0"/>
          </a:p>
        </ns0:txBody>
      </ns0:sp>
      <ns0:sp>
        <ns0:nvSpPr>
          <ns0:cNvPr id="12" name="Shape 10"/>
          <ns0:cNvSpPr/>
          <ns0:nvPr/>
        </ns0:nvSpPr>
        <ns0:spPr>
          <a:xfrm>
            <a:off x="914400" y="4224528"/>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13" name="Text 11"/>
          <ns0:cNvSpPr/>
          <ns0:nvPr/>
        </ns0:nvSpPr>
        <ns0:spPr>
          <a:xfrm>
            <a:off x="1024128" y="4279392"/>
            <a:ext cx="7461504" cy="438912"/>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Homeowner: </a:t>
            </a:r>
            <a:pPr indent="0" marL="0">
              <a:buNone/>
            </a:pPr>
            <a:r>
              <a:rPr lang="en-US" sz="1100" dirty="0">
                <a:solidFill>
                  <a:srgbClr val="FFFFFF"/>
                </a:solidFill>
                <a:latin typeface="Calibri" pitchFamily="34" charset="0"/>
                <a:ea typeface="Calibri" pitchFamily="34" charset="-122"/>
                <a:cs typeface="Calibri" pitchFamily="34" charset="-120"/>
              </a:rPr>
              <a:t>Yeah, that's actually refreshing to hear.</a:t>
            </a:r>
            <a:endParaRPr lang="en-US" sz="1100" dirty="0"/>
          </a:p>
        </ns0:txBody>
      </ns0:sp>
      <ns0:sp>
        <ns0:nvSpPr>
          <ns0:cNvPr id="14" name="Shape 12"/>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5" name="Text 13"/>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script lowers their guard immediately. You're giving them an exit — but most won't use it. The 'No Pressure Promise' disarms the most skeptical homeowners.</a:t>
            </a:r>
            <a:endParaRPr lang="en-US" sz="900" dirty="0"/>
          </a:p>
        </ns0:txBody>
      </ns0:sp>
    </ns0:spTree>
  </ns0:cSld>
  <ns0:clrMapOvr>
    <a:masterClrMapping/>
  </ns0:clrMapOvr>
</ns0:sld>
</file>

<file path=ppt/slides/slide10.xml><?xml version="1.0" encoding="utf-8"?>
<ns0:sld xmlns:a="http://schemas.openxmlformats.org/drawingml/2006/main" xmlns:ns0="http://schemas.openxmlformats.org/presentationml/2006/main">
  <ns0:cSld name="Slide 1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Marco de Resultado 'No/Sí/Tal vez'</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Establece la agenda: 'Te mostraré los números, responderé tus preguntas y sabrás exactamente dónde estás parado'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Define los resultados aceptables desde el inicio: Sí, No, o 'Ahora no, pero esto es lo que necesita cambiar'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Delimita el tiempo: 'Normalmente esto toma unos 30–40 minutos — ¿te parece bien?'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Diles lo que NO pasará: 'No te voy a presionar. Si lo hago, dímelo.'</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Cuando defines las opciones de resultado antes de la consulta, eliminas la objeción más común — 'Necesito pensarlo' — porque ya acordaron que un 'no' es una respuesta válida.</a:t>
            </a:r>
            <a:endParaRPr lang="en-US" sz="900" dirty="0"/>
          </a:p>
        </ns0:txBody>
      </ns0:sp>
    </ns0:spTree>
  </ns0:cSld>
  <ns0:clrMapOvr>
    <a:masterClrMapping/>
  </ns0:clrMapOvr>
</ns0:sld>
</file>

<file path=ppt/slides/slide11.xml><?xml version="1.0" encoding="utf-8"?>
<ns0:sld xmlns:a="http://schemas.openxmlformats.org/drawingml/2006/main" xmlns:ns0="http://schemas.openxmlformats.org/presentationml/2006/main">
  <ns0:cSld name="Slide 1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Juego de Roles — Preparación del Espacio</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Controlar el entorno y establecer el Marco de Experto dentro de los primeros 3 minutos de entrada</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Prepara una sala simulada — sofá, mesa de centro, control remoto del televisor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Un representante juega al 'Propietario Distraído' (TV encendida, juguete del perro en el sofá, listo para sentarte)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El representante de ventas debe: redirigir a la mesa de cocina, silenciar el TV, establecer el marco de consulta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El observador califica en 'Puntaje de Autoridad' (1–10) — ¿Lideró o siguió?</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Debriefing: ¿Qué pasó en la puerta? ¿Dónde cambió el control?</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12.xml><?xml version="1.0" encoding="utf-8"?>
<ns0:sld xmlns:a="http://schemas.openxmlformats.org/drawingml/2006/main" xmlns:ns0="http://schemas.openxmlformats.org/presentationml/2006/main">
  <ns0:cSld name="Slide 1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3.2</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Perfil de Personalidad: El Marco BOLT</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Lee a las Personas en Segundos. Adáptate o Pierde el Trato.</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3.xml><?xml version="1.0" encoding="utf-8"?>
<ns0:sld xmlns:a="http://schemas.openxmlformats.org/drawingml/2006/main" xmlns:ns0="http://schemas.openxmlformats.org/presentationml/2006/main">
  <ns0:cSld name="Slide 1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3.2 — EL MARCO BOLT</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La Psicología de la Comunicación</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la mayoría de los representantes venden como les gusta que les vendan — y pierden tratos por eso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Los 4 tipos de personalidad del propietario y cómo identificarlos rápido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Adaptar tu tono, ritmo y lenguaje para coincidir con su forma de pensar</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Handling mixed-personality couples</a:t>
            </a:r>
            <a:endParaRPr lang="en-US" sz="1400" dirty="0"/>
          </a:p>
        </ns0:txBody>
      </ns0:sp>
    </ns0:spTree>
  </ns0:cSld>
  <ns0:clrMapOvr>
    <a:masterClrMapping/>
  </ns0:clrMapOvr>
</ns0:sld>
</file>

<file path=ppt/slides/slide14.xml><?xml version="1.0" encoding="utf-8"?>
<ns0:sld xmlns:a="http://schemas.openxmlformats.org/drawingml/2006/main" xmlns:ns0="http://schemas.openxmlformats.org/presentationml/2006/main">
  <ns0:cSld name="Slide 1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Marco BOLT: 4 Tipos de Propietario</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22960"/>
            <a:ext cx="402336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22960"/>
            <a:ext cx="4023360" cy="365760"/>
          </a:xfrm>
          <a:prstGeom prst="rect">
            <a:avLst/>
          </a:prstGeom>
          <a:solidFill>
            <a:srgbClr val="0891B2"/>
          </a:solidFill>
          <a:ln w="12700">
            <a:solidFill>
              <a:srgbClr val="0891B2"/>
            </a:solidFill>
            <a:prstDash val="solid"/>
          </a:ln>
        </ns0:spPr>
      </ns0:sp>
      <ns0:sp>
        <ns0:nvSpPr>
          <ns0:cNvPr id="7" name="Text 5"/>
          <ns0:cNvSpPr/>
          <ns0:nvPr/>
        </ns0:nvSpPr>
        <ns0:spPr>
          <a:xfrm>
            <a:off x="320040" y="85039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B — TORO (Conductor/Dominante)</a:t>
            </a:r>
            <a:endParaRPr lang="en-US" sz="1100" dirty="0"/>
          </a:p>
        </ns0:txBody>
      </ns0:sp>
      <ns0:sp>
        <ns0:nvSpPr>
          <ns0:cNvPr id="8" name="Text 6"/>
          <ns0:cNvSpPr/>
          <ns0:nvPr/>
        </ns0:nvSpPr>
        <ns0:spPr>
          <a:xfrm>
            <a:off x="365760" y="126187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Pensador directo, rápido, orientado a resultados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Quiere ROI y ahorro de tiempo</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Odia el relleno y los argumentos emocionales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fast when convinced — or shuts you down</a:t>
            </a:r>
            <a:endParaRPr lang="en-US" sz="1100" dirty="0"/>
          </a:p>
        </ns0:txBody>
      </ns0:sp>
      <ns0:sp>
        <ns0:nvSpPr>
          <ns0:cNvPr id="9" name="Shape 7"/>
          <ns0:cNvSpPr/>
          <ns0:nvPr/>
        </ns0:nvSpPr>
        <ns0:spPr>
          <a:xfrm>
            <a:off x="4846320" y="822960"/>
            <a:ext cx="4023360" cy="17373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822960"/>
            <a:ext cx="4023360" cy="365760"/>
          </a:xfrm>
          <a:prstGeom prst="rect">
            <a:avLst/>
          </a:prstGeom>
          <a:solidFill>
            <a:srgbClr val="F4A61D"/>
          </a:solidFill>
          <a:ln w="12700">
            <a:solidFill>
              <a:srgbClr val="F4A61D"/>
            </a:solidFill>
            <a:prstDash val="solid"/>
          </a:ln>
        </ns0:spPr>
      </ns0:sp>
      <ns0:sp>
        <ns0:nvSpPr>
          <ns0:cNvPr id="11" name="Text 9"/>
          <ns0:cNvSpPr/>
          <ns0:nvPr/>
        </ns0:nvSpPr>
        <ns0:spPr>
          <a:xfrm>
            <a:off x="4892040" y="850392"/>
            <a:ext cx="3931920" cy="310896"/>
          </a:xfrm>
          <a:prstGeom prst="rect">
            <a:avLst/>
          </a:prstGeom>
          <a:noFill/>
          <a:ln/>
        </ns0:spPr>
        <ns0: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O — OWL (Analytical/Logical)</a:t>
            </a:r>
            <a:endParaRPr lang="en-US" sz="1100" dirty="0"/>
          </a:p>
        </ns0:txBody>
      </ns0:sp>
      <ns0:sp>
        <ns0:nvSpPr>
          <ns0:cNvPr id="12" name="Text 10"/>
          <ns0:cNvSpPr/>
          <ns0:nvPr/>
        </ns0:nvSpPr>
        <ns0:spPr>
          <a:xfrm>
            <a:off x="4937760" y="126187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Data-driven, skeptical, deliberate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specs, warranties, charts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Will research everything you say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slow but with total conviction</a:t>
            </a:r>
            <a:endParaRPr lang="en-US" sz="1100" dirty="0"/>
          </a:p>
        </ns0:txBody>
      </ns0:sp>
      <ns0:sp>
        <ns0:nvSpPr>
          <ns0:cNvPr id="13" name="Shape 11"/>
          <ns0:cNvSpPr/>
          <ns0:nvPr/>
        </ns0:nvSpPr>
        <ns0:spPr>
          <a:xfrm>
            <a:off x="274320" y="2697480"/>
            <a:ext cx="4023360" cy="173736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ns0:spPr>
      </ns0:sp>
      <ns0:sp>
        <ns0:nvSpPr>
          <ns0:cNvPr id="14" name="Shape 12"/>
          <ns0:cNvSpPr/>
          <ns0:nvPr/>
        </ns0:nvSpPr>
        <ns0:spPr>
          <a:xfrm>
            <a:off x="274320" y="2697480"/>
            <a:ext cx="4023360" cy="365760"/>
          </a:xfrm>
          <a:prstGeom prst="rect">
            <a:avLst/>
          </a:prstGeom>
          <a:solidFill>
            <a:srgbClr val="2D9B4E"/>
          </a:solidFill>
          <a:ln w="12700">
            <a:solidFill>
              <a:srgbClr val="2D9B4E"/>
            </a:solidFill>
            <a:prstDash val="solid"/>
          </a:ln>
        </ns0:spPr>
      </ns0:sp>
      <ns0:sp>
        <ns0:nvSpPr>
          <ns0:cNvPr id="15" name="Text 13"/>
          <ns0:cNvSpPr/>
          <ns0:nvPr/>
        </ns0:nvSpPr>
        <ns0:spPr>
          <a:xfrm>
            <a:off x="320040" y="272491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L — LION (Expressive/Enthusiastic)</a:t>
            </a:r>
            <a:endParaRPr lang="en-US" sz="1100" dirty="0"/>
          </a:p>
        </ns0:txBody>
      </ns0:sp>
      <ns0:sp>
        <ns0:nvSpPr>
          <ns0:cNvPr id="16" name="Text 14"/>
          <ns0:cNvSpPr/>
          <ns0:nvPr/>
        </ns0:nvSpPr>
        <ns0:spPr>
          <a:xfrm>
            <a:off x="365760" y="313639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Talkative, emotional, big-picture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Buys on vision and status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Distracted easily — keep energy high</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fast once they're 'in love'</a:t>
            </a:r>
            <a:endParaRPr lang="en-US" sz="1100" dirty="0"/>
          </a:p>
        </ns0:txBody>
      </ns0:sp>
      <ns0:sp>
        <ns0:nvSpPr>
          <ns0:cNvPr id="17" name="Shape 15"/>
          <ns0:cNvSpPr/>
          <ns0:nvPr/>
        </ns0:nvSpPr>
        <ns0:spPr>
          <a:xfrm>
            <a:off x="4846320" y="2697480"/>
            <a:ext cx="4023360" cy="173736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ns0:spPr>
      </ns0:sp>
      <ns0:sp>
        <ns0:nvSpPr>
          <ns0:cNvPr id="18" name="Shape 16"/>
          <ns0:cNvSpPr/>
          <ns0:nvPr/>
        </ns0:nvSpPr>
        <ns0:spPr>
          <a:xfrm>
            <a:off x="4846320" y="2697480"/>
            <a:ext cx="4023360" cy="365760"/>
          </a:xfrm>
          <a:prstGeom prst="rect">
            <a:avLst/>
          </a:prstGeom>
          <a:solidFill>
            <a:srgbClr val="E07B39"/>
          </a:solidFill>
          <a:ln w="12700">
            <a:solidFill>
              <a:srgbClr val="E07B39"/>
            </a:solidFill>
            <a:prstDash val="solid"/>
          </a:ln>
        </ns0:spPr>
      </ns0:sp>
      <ns0:sp>
        <ns0:nvSpPr>
          <ns0:cNvPr id="19" name="Text 17"/>
          <ns0:cNvSpPr/>
          <ns0:nvPr/>
        </ns0:nvSpPr>
        <ns0:spPr>
          <a:xfrm>
            <a:off x="4892040" y="272491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 — TORTUGA (Amable/Aversión al Riesgo)</a:t>
            </a:r>
            <a:endParaRPr lang="en-US" sz="1100" dirty="0"/>
          </a:p>
        </ns0:txBody>
      </ns0:sp>
      <ns0:sp>
        <ns0:nvSpPr>
          <ns0:cNvPr id="20" name="Text 18"/>
          <ns0:cNvSpPr/>
          <ns0:nvPr/>
        </ns0:nvSpPr>
        <ns0:spPr>
          <a:xfrm>
            <a:off x="4937760" y="313639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Soft-spoken, avoids conflict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safety, security, trust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Will agree with everything then stall</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when fear is removed</a:t>
            </a:r>
            <a:endParaRPr lang="en-US" sz="1100" dirty="0"/>
          </a:p>
        </ns0:txBody>
      </ns0:sp>
      <ns0:sp>
        <ns0:nvSpPr>
          <ns0:cNvPr id="21" name="Shape 19"/>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2" name="Text 20"/>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reps sell TO themselves — the Analytical rep bores the Lion, the Enthusiastic rep overwhelms the Owl. The goal is to mirror THEIR communication style.</a:t>
            </a:r>
            <a:endParaRPr lang="en-US" sz="900" dirty="0"/>
          </a:p>
        </ns0:txBody>
      </ns0:sp>
    </ns0:spTree>
  </ns0:cSld>
  <ns0:clrMapOvr>
    <a:masterClrMapping/>
  </ns0:clrMapOvr>
</ns0:sld>
</file>

<file path=ppt/slides/slide15.xml><?xml version="1.0" encoding="utf-8"?>
<ns0:sld xmlns:a="http://schemas.openxmlformats.org/drawingml/2006/main" xmlns:ns0="http://schemas.openxmlformats.org/presentationml/2006/main">
  <ns0:cSld name="Slide 1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Toro: Conductor Dominante</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Contacto visual directo, apretón de manos firme, '¿Cuánto cuesta esto?' en 90 segundos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Motivación: ROI, ahorro de tiempo, ganar contra la empresa eléctrica — encuádralo como una victoria financiera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de Alerta: Nunca desperdicies su tiempo con declaraciones de misión o discursos de 'energía verde'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Cierra rápido: dales los números, déjalos liderar, luego calla y déjalos decidir</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Bull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Look, I've got 20 minutes. What are we talking about here?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Based on your $290 bill, you'd eliminate that in year one and lock in your rate for 25 years. Let me show you the math — takes 3 minutes.</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Bulls want the bottom line. If you lead with 'Let me tell you about our company's mission...' you've lost them in 30 seconds. Lead with the math.</a:t>
            </a:r>
            <a:endParaRPr lang="en-US" sz="900" dirty="0"/>
          </a:p>
        </ns0:txBody>
      </ns0:sp>
    </ns0:spTree>
  </ns0:cSld>
  <ns0:clrMapOvr>
    <a:masterClrMapping/>
  </ns0:clrMapOvr>
</ns0:sld>
</file>

<file path=ppt/slides/slide16.xml><?xml version="1.0" encoding="utf-8"?>
<ns0:sld xmlns:a="http://schemas.openxmlformats.org/drawingml/2006/main" xmlns:ns0="http://schemas.openxmlformats.org/presentationml/2006/main">
  <ns0:cSld name="Slide 1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Búho: Lógico Analítico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Toma notas, pregunta '¿Qué tipo de inversor?', ya buscó tu empresa en Google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Motivación: Exactitud, datos verificables, especificaciones técnicas — quieren 'descubrir la verdad'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No los exageres — supéralos en hechos y deja que los datos vendan solos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gráficos, hojas de datos y validación de terceros (NREL, SEIA, datos de la empresa eléctrica)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Owl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do I know the production estimates are accurate? Your company built the model.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question — we use NREL's PVWatts calculator, which is the same tool the Department of Energy uses. Here's what that looks like for your address specifically...</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cannot 'hype' an Owl. They have a mental BS detector running at all times. Respect their intelligence, answer technical questions directly, and let the data close the deal.</a:t>
            </a:r>
            <a:endParaRPr lang="en-US" sz="900" dirty="0"/>
          </a:p>
        </ns0:txBody>
      </ns0:sp>
    </ns0:spTree>
  </ns0:cSld>
  <ns0:clrMapOvr>
    <a:masterClrMapping/>
  </ns0:clrMapOvr>
</ns0:sld>
</file>

<file path=ppt/slides/slide17.xml><?xml version="1.0" encoding="utf-8"?>
<ns0:sld xmlns:a="http://schemas.openxmlformats.org/drawingml/2006/main" xmlns:ns0="http://schemas.openxmlformats.org/presentationml/2006/main">
  <ns0:cSld name="Slide 1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León: Entusiasta Expresivo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Conversador, mucha energía, casa desordenada, pregunta '¿Podrán verlos mis vecinos?'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Motivación: Reconocimiento, ser el 'primero', estatus, el factor cool — quieren la historia para contar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Iguala su energía, pinta la visión, usa prueba social ('Tu vecino en la Calle Oak acaba de activar su sistema')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Mantén el ritmo — los Leones se distraen; redirige de vuelta a la visión antes de que persigan tangentes</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Lion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wow, I love it. My wife's going to think it's so cool. Do people actually notice them?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100%. Honestly, we get referrals from the neighbors who keep asking 'Where'd you get that?' — people notice. You'd be one of the first on this street.</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Lions buy on emotion and vision, not math. Tell them how it will look, how it will feel, what story they'll tell at the HOA meeting. The excitement IS the close.</a:t>
            </a:r>
            <a:endParaRPr lang="en-US" sz="900" dirty="0"/>
          </a:p>
        </ns0:txBody>
      </ns0:sp>
    </ns0:spTree>
  </ns0:cSld>
  <ns0:clrMapOvr>
    <a:masterClrMapping/>
  </ns0:clrMapOvr>
</ns0:sld>
</file>

<file path=ppt/slides/slide18.xml><?xml version="1.0" encoding="utf-8"?>
<ns0:sld xmlns:a="http://schemas.openxmlformats.org/drawingml/2006/main" xmlns:ns0="http://schemas.openxmlformats.org/presentationml/2006/main">
  <ns0:cSld name="Slide 1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 Tortuga: Amable y con Aversión al Riesgo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Habla suave, asiente, dice 'Eso suena bien' — pero no se compromete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Motivación: Seguridad, no cometer un error — temen el arrepentimiento más de lo que quieren ahorrar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Ve más despacio, enfatiza las garantías, usa 'nosotros', posiciónate como un guía de confianza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Descubre el miedo real: 'Parece que tu principal preocupación es asegurarte de que esto esté completamente respaldado, ¿es así?'</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Turtle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all sounds good, but I just... I don't know. I'd want to think it over.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makes complete sense. Most people feel exactly that way before we talk through it. What's the one thing you'd want to feel 100% comfortable about before moving forward?</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Turtles will tell you everything is fine right up until the moment they don't sign. Their 'I need to think about it' is always rooted in unspoken fear. Your job is to name the fear and neutralize it.</a:t>
            </a:r>
            <a:endParaRPr lang="en-US" sz="900" dirty="0"/>
          </a:p>
        </ns0:txBody>
      </ns0:sp>
    </ns0:spTree>
  </ns0:cSld>
  <ns0:clrMapOvr>
    <a:masterClrMapping/>
  </ns0:clrMapOvr>
</ns0:sld>
</file>

<file path=ppt/slides/slide19.xml><?xml version="1.0" encoding="utf-8"?>
<ns0:sld xmlns:a="http://schemas.openxmlformats.org/drawingml/2006/main" xmlns:ns0="http://schemas.openxmlformats.org/presentationml/2006/main">
  <ns0:cSld name="Slide 1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Identificación Rápida: Lee la Personalidad en 90 Segundos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Prueba de Primera Pregunta: '¿Cuánto cuesta?' = Toro. '¿Cómo funciona?' = Búho. '¿Cómo se ve?' = León. '¿Es seguro?' = Tortuga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Pistas visuales: Casa ordenada con hojas de cálculo en la mesa = Búho. Trofeos deportivos y arte llamativo = León o Toro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Ritmo verbal: Rápido/directo = Toro o León. Lento/medido = Búho o Tortuga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Prueba de energía: Iguala su ritmo por 60 segundos — si aceleran, son expresivos; si desaceleran, son analíticos</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have the first 90 seconds of conversation to ID the type. After that, you should already be adapting your language, pace, and evidence style. The fastest reps do this automatically.</a:t>
            </a:r>
            <a:endParaRPr lang="en-US" sz="900" dirty="0"/>
          </a:p>
        </ns0:txBody>
      </ns0:sp>
    </ns0:spTree>
  </ns0:cSld>
  <ns0:clrMapOvr>
    <a:masterClrMapping/>
  </ns0:clrMapOvr>
</ns0:sld>
</file>

<file path=ppt/slides/slide20.xml><?xml version="1.0" encoding="utf-8"?>
<ns0:sld xmlns:a="http://schemas.openxmlformats.org/drawingml/2006/main" xmlns:ns0="http://schemas.openxmlformats.org/presentationml/2006/main">
  <ns0:cSld name="Slide 2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Parejas con Personalidades Mixtas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Dinámica Toro/Tortuga: Uno quiere los números, el otro quiere la tranquilidad — da ambos simultáneamente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Dinámica Búho/León: Satisface primero la visión del León, luego ancla al Búho con datos para que pueda justificar la decisión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Controlador Financiero vs. Controlador Estético: A uno le importa el ROI, al otro le importa el techo y la reputación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Regla: Nunca te enfoques exclusivamente en un cónyuge — el cónyuge ignorado se convierte en la objeción silenciosa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In almost every couple, one person is 'The Money Brain' and one is 'The Feeling Brain.' You must satisfy both. Ignoring one means they'll kill the deal later when you're not in the room.</a:t>
            </a:r>
            <a:endParaRPr lang="en-US" sz="900" dirty="0"/>
          </a:p>
        </ns0:txBody>
      </ns0:sp>
    </ns0:spTree>
  </ns0:cSld>
  <ns0:clrMapOvr>
    <a:masterClrMapping/>
  </ns0:clrMapOvr>
</ns0:sld>
</file>

<file path=ppt/slides/slide21.xml><?xml version="1.0" encoding="utf-8"?>
<ns0:sld xmlns:a="http://schemas.openxmlformats.org/drawingml/2006/main" xmlns:ns0="http://schemas.openxmlformats.org/presentationml/2006/main">
  <ns0:cSld name="Slide 2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El Juego de Identificación BOLT</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Identificar rápidamente el tipo de propietario y adaptar tu enfoque de apertura en tiempo real</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Ve 3 clips cortos de interacciones con propietarios (llamadas reales o juego de roles del instructor)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Después de cada clip: escribe el tipo BOLT y tu razonamiento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Write 2 opening sentences you would use for that specific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Compare with a partner — discuss why you categorized them differently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Bonus: Identify mixed-personality couples and map your strategy for each</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ns0:txBody>
      </ns0:sp>
    </ns0:spTree>
  </ns0:cSld>
  <ns0:clrMapOvr>
    <a:masterClrMapping/>
  </ns0:clrMapOvr>
</ns0:sld>
</file>

<file path=ppt/slides/slide22.xml><?xml version="1.0" encoding="utf-8"?>
<ns0:sld xmlns:a="http://schemas.openxmlformats.org/drawingml/2006/main" xmlns:ns0="http://schemas.openxmlformats.org/presentationml/2006/main">
  <ns0:cSld name="Slide 2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3.3</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Biblioteca de Escenarios Reales con Propietarios</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Preparándose para los 'Difíciles'</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23.xml><?xml version="1.0" encoding="utf-8"?>
<ns0:sld xmlns:a="http://schemas.openxmlformats.org/drawingml/2006/main" xmlns:ns0="http://schemas.openxmlformats.org/presentationml/2006/main">
  <ns0:cSld name="Slide 2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3.3 — BIBLIOTECA DE ESCENARIOS</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Estrategia sobre Reactividad</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Cuando conoces el arquetipo, conoces el manual de juego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Los 5 perfiles de propietario más comunes que enfrentarás en el campo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Cómo identificar cada uno dentro de los 2 minutos de entrada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Opening hooks and trust-building strategies for each type</a:t>
            </a:r>
            <a:endParaRPr lang="en-US" sz="1400" dirty="0"/>
          </a:p>
        </ns0:txBody>
      </ns0:sp>
    </ns0:spTree>
  </ns0:cSld>
  <ns0:clrMapOvr>
    <a:masterClrMapping/>
  </ns0:clrMapOvr>
</ns0:sld>
</file>

<file path=ppt/slides/slide24.xml><?xml version="1.0" encoding="utf-8"?>
<ns0:sld xmlns:a="http://schemas.openxmlformats.org/drawingml/2006/main" xmlns:ns0="http://schemas.openxmlformats.org/presentationml/2006/main">
  <ns0:cSld name="Slide 2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Arquetipo 1: El Propietario Quemado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Psicología: Alta resistencia a las ventas — tuvo una mala experiencia o conoce a alguien que la tuvo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Brazos cruzados, 'Ya he escuchado esto antes', menciona una empresa o historia mala específica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No defiendas la industria — únete a ellos criticando a los malos actores para generar confianza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Enfoque: Transparencia radical, prueba de terceros, ritmo lento — gánate el derecho de presentar</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Look, I had a solar company come out last year and it was a total nightmare. I don't trust these companies.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You're right to feel that way. There are some real cowboys out there. Let me show you exactly what to look for — and if I can't check every box, I'll tell you to wait.</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Never get defensive when they bring up a bad experience. The fastest path to trust is to agree with them that bad actors exist — then show them how you're different with evidence, not words.</a:t>
            </a:r>
            <a:endParaRPr lang="en-US" sz="900" dirty="0"/>
          </a:p>
        </ns0:txBody>
      </ns0:sp>
    </ns0:spTree>
  </ns0:cSld>
  <ns0:clrMapOvr>
    <a:masterClrMapping/>
  </ns0:clrMapOvr>
</ns0:sld>
</file>

<file path=ppt/slides/slide25.xml><?xml version="1.0" encoding="utf-8"?>
<ns0:sld xmlns:a="http://schemas.openxmlformats.org/drawingml/2006/main" xmlns:ns0="http://schemas.openxmlformats.org/presentationml/2006/main">
  <ns0:cSld name="Slide 2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Arquetipo 2: El Investigador Analítico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Psicología: Cree que sabe más que tú después de 3 horas de investigación en YouTube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Artículos impresos en la mesa, pregunta sobre microinversores vs. inversores de cadena antes de saludar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Encuadre de 'Aprecio tu investigación' — déjalos sentir que tienen razón, luego llena los vacíos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Las inmersiones profundas son tus aliadas: ve técnico, valida su investigación, luego revela lo que les faltó</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I've done a lot of research. I know all about string inverters and degradation rates.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actually great — you've already done the hard work. Can I ask what you found on production modeling for your specific roof pitch? That's where most of the articles miss a step...</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analytical researcher isn't your enemy — they're your most loyal customer once converted. They want to feel like THEY found the answer. Your job is to guide them to your conclusion.</a:t>
            </a:r>
            <a:endParaRPr lang="en-US" sz="900" dirty="0"/>
          </a:p>
        </ns0:txBody>
      </ns0:sp>
    </ns0:spTree>
  </ns0:cSld>
  <ns0:clrMapOvr>
    <a:masterClrMapping/>
  </ns0:clrMapOvr>
</ns0:sld>
</file>

<file path=ppt/slides/slide26.xml><?xml version="1.0" encoding="utf-8"?>
<ns0:sld xmlns:a="http://schemas.openxmlformats.org/drawingml/2006/main" xmlns:ns0="http://schemas.openxmlformats.org/presentationml/2006/main">
  <ns0:cSld name="Slide 2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Arquetipo 3: El Propietario Ocupado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Psicología: Estresado, sin tiempo — ve tu cita como una intrusión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Contestando el teléfono durante tu llegada, zapatos puestos como si estuvieran a punto de salir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Ofrece la 'versión de 5 minutos' de inmediato — si peleas por tiempo, te resentirán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Cuando ofreces brevedad, frecuentemente te dan más tiempo — la paradoja de la escasez trabaja a tu favor</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have about 15 minutes. I've got somewhere to be.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problem — I'll give you the CliffNotes version. Two numbers, one decision. If it doesn't make sense in 10 minutes, we can schedule a proper time. Fair enough?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go ahead.</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biggest mistake reps make with Busy Homeowners is trying to hold them in the room. Instead, offer to leave. Most will relax and tell you to stay.</a:t>
            </a:r>
            <a:endParaRPr lang="en-US" sz="900" dirty="0"/>
          </a:p>
        </ns0:txBody>
      </ns0:sp>
    </ns0:spTree>
  </ns0:cSld>
  <ns0:clrMapOvr>
    <a:masterClrMapping/>
  </ns0:clrMapOvr>
</ns0:sld>
</file>

<file path=ppt/slides/slide27.xml><?xml version="1.0" encoding="utf-8"?>
<ns0:sld xmlns:a="http://schemas.openxmlformats.org/drawingml/2006/main" xmlns:ns0="http://schemas.openxmlformats.org/presentationml/2006/main">
  <ns0:cSld name="Slide 2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Arquetipo 4: El Amigable Sin Compromiso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Psicología: Está de acuerdo con todo — pero no tiene ninguna intención de firmar hoy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'Tiene mucho sentido', 'Lo hemos estado pensando', luego 'Te avisaremos'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Fuerza una decisión conceptual temprana — '¿Esto es algo que te gustaría tener o algo que necesitas tener?'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Estos son 'Noes Educados' — saca la objeción real temprano antes de construir la presentación completa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make sure I'm building the right plan for you. On a scale of 1–10, how serious are you about fixing your bill this year?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like a 6 or 7 I guess...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 what's the 3 or 4 that's holding you back? Let's talk about that now.</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Friendly non-committal homeowners will waste your entire presentation and then smile and wave you out the door. Force a concept decision at the 10-minute mark — not after you've shown everything.</a:t>
            </a:r>
            <a:endParaRPr lang="en-US" sz="900" dirty="0"/>
          </a:p>
        </ns0:txBody>
      </ns0:sp>
    </ns0:spTree>
  </ns0:cSld>
  <ns0:clrMapOvr>
    <a:masterClrMapping/>
  </ns0:clrMapOvr>
</ns0:sld>
</file>

<file path=ppt/slides/slide28.xml><?xml version="1.0" encoding="utf-8"?>
<ns0:sld xmlns:a="http://schemas.openxmlformats.org/drawingml/2006/main" xmlns:ns0="http://schemas.openxmlformats.org/presentationml/2006/main">
  <ns0:cSld name="Slide 2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Arquetipo 5: El Propietario Leal a la Empresa Eléctrica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Psicología: Miedo al cambio — 'La empresa eléctrica siempre ha estado ahí para mí'</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'Nunca he tenido un problema con [Empresa Eléctrica]', se pone a la defensiva cuando mencionas aumentos de tarifas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Estrategia: Posiciona a la empresa eléctrica como la opción riesgosa usando la analogía Rentar vs. Tener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Matemáticas del Costo de la Inacción: 'Esto es lo que le pagarás a la empresa eléctrica en 25 años si no haces nada...'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mean, the utility's always just been there. I don't see why I'd switch.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Here's the question I'd ask: If your landlord kept raising rent 8% every year — would you keep renting, or would you want to own? The utility is your energy landlord.</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utility-loyal homeowner isn't really loyal — they're change-averse. Show them what loyalty to the utility costs in real dollars over time. The math does the persuading.</a:t>
            </a:r>
            <a:endParaRPr lang="en-US" sz="900" dirty="0"/>
          </a:p>
        </ns0:txBody>
      </ns0:sp>
    </ns0:spTree>
  </ns0:cSld>
  <ns0:clrMapOvr>
    <a:masterClrMapping/>
  </ns0:clrMapOvr>
</ns0:sld>
</file>

<file path=ppt/slides/slide29.xml><?xml version="1.0" encoding="utf-8"?>
<ns0:sld xmlns:a="http://schemas.openxmlformats.org/drawingml/2006/main" xmlns:ns0="http://schemas.openxmlformats.org/presentationml/2006/main">
  <ns0:cSld name="Slide 2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El Carrusel de Escenarios</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Cambiar rápidamente el estilo de comunicación para coincidir con el arquetipo frente a ti</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Prepara 4 estaciones alrededor del salón — cada una etiquetada con un arquetipo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Un representante en cada estación juega al propietario usando una tarjeta de personaje proporcionada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Rotating rep has exactly 2 minutes to deliver their opening hook for that archetype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Observers score: Did their tone, pace, and language match the homeowner's type?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archetype was hardest? Why? What changed between stations?</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ns0:txBody>
      </ns0:sp>
    </ns0:spTree>
  </ns0:cSld>
  <ns0:clrMapOvr>
    <a:masterClrMapping/>
  </ns0:clrMapOvr>
</ns0:sld>
</file>

<file path=ppt/slides/slide30.xml><?xml version="1.0" encoding="utf-8"?>
<ns0:sld xmlns:a="http://schemas.openxmlformats.org/drawingml/2006/main" xmlns:ns0="http://schemas.openxmlformats.org/presentationml/2006/main">
  <ns0:cSld name="Slide 3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3.4</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Empatía Táctica y Técnica de Espejo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El Método Chris Voss para Ventas de Solar</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1.xml><?xml version="1.0" encoding="utf-8"?>
<ns0:sld xmlns:a="http://schemas.openxmlformats.org/drawingml/2006/main" xmlns:ns0="http://schemas.openxmlformats.org/presentationml/2006/main">
  <ns0:cSld name="Slide 3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3.4 — EMPATÍA TÁCTICA</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Escuchar con Intención. Etiquetar la Emoción.</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hablar menos cierra más tratos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La técnica del espejo: repite 1–3 palabras, desbloquea 10 oraciones más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Etiquetar emociones para evitar el ego del propietario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tactical pause: silence as a sales tool</a:t>
            </a:r>
            <a:endParaRPr lang="en-US" sz="1400" dirty="0"/>
          </a:p>
        </ns0:txBody>
      </ns0:sp>
    </ns0:spTree>
  </ns0:cSld>
  <ns0:clrMapOvr>
    <a:masterClrMapping/>
  </ns0:clrMapOvr>
</ns0:sld>
</file>

<file path=ppt/slides/slide32.xml><?xml version="1.0" encoding="utf-8"?>
<ns0:sld xmlns:a="http://schemas.openxmlformats.org/drawingml/2006/main" xmlns:ns0="http://schemas.openxmlformats.org/presentationml/2006/main">
  <ns0:cSld name="Slide 3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 Técnica del Espejo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Definición: Repite las últimas 1–3 palabras de lo que el propietario acaba de decir en un tono inquisitivo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Objetivo: Animarlos a ampliar y revelar más sin hacer una pregunta directa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Por qué funciona: Las personas están programadas para completar sus propios pensamientos cuando los reflejas de vuelta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un tono ascendente al final, como si los estuvieras pidiendo gentilmente que continúen</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Mirroring sounds almost too simple to work — but it is one of the most field-tested techniques in hostage negotiation. In solar, it gets homeowners to tell you their real objections without you having to pry.</a:t>
            </a:r>
            <a:endParaRPr lang="en-US" sz="900" dirty="0"/>
          </a:p>
        </ns0:txBody>
      </ns0:sp>
    </ns0:spTree>
  </ns0:cSld>
  <ns0:clrMapOvr>
    <a:masterClrMapping/>
  </ns0:clrMapOvr>
</ns0:sld>
</file>

<file path=ppt/slides/slide33.xml><?xml version="1.0" encoding="utf-8"?>
<ns0:sld xmlns:a="http://schemas.openxmlformats.org/drawingml/2006/main" xmlns:ns0="http://schemas.openxmlformats.org/presentationml/2006/main">
  <ns0:cSld name="Slide 3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Espejo en Acción</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822960"/>
            <a:ext cx="8503920" cy="347472"/>
          </a:xfrm>
          <a:prstGeom prst="rect">
            <a:avLst/>
          </a:prstGeom>
          <a:noFill/>
          <a:ln/>
        </ns0:spPr>
        <ns0: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Observa cómo el espejo actúa como un 'empuje' — el representante nunca hace una pregunta, pero obtiene la historia completa.</a:t>
            </a:r>
            <a:endParaRPr lang="en-US" sz="1100" dirty="0"/>
          </a:p>
        </ns0:txBody>
      </ns0:sp>
      <ns0:sp>
        <ns0:nvSpPr>
          <ns0:cNvPr id="6" name="Shape 4"/>
          <ns0:cNvSpPr/>
          <ns0:nvPr/>
        </ns0:nvSpPr>
        <ns0:spPr>
          <a:xfrm>
            <a:off x="914400" y="1261872"/>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7" name="Text 5"/>
          <ns0:cNvSpPr/>
          <ns0:nvPr/>
        </ns0:nvSpPr>
        <ns0:spPr>
          <a:xfrm>
            <a:off x="1024128" y="1316736"/>
            <a:ext cx="7461504" cy="438912"/>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Solo me preocupa que el techo gotee.</a:t>
            </a:r>
            <a:endParaRPr lang="en-US" sz="1100" dirty="0"/>
          </a:p>
        </ns0:txBody>
      </ns0:sp>
      <ns0:sp>
        <ns0:nvSpPr>
          <ns0:cNvPr id="8" name="Shape 6"/>
          <ns0:cNvSpPr/>
          <ns0:nvPr/>
        </ns0:nvSpPr>
        <ns0:spPr>
          <a:xfrm>
            <a:off x="274320" y="1920240"/>
            <a:ext cx="7680960" cy="5486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384048" y="1975104"/>
            <a:ext cx="7461504" cy="438912"/>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The roof leaking?</a:t>
            </a:r>
            <a:endParaRPr lang="en-US" sz="1100" dirty="0"/>
          </a:p>
        </ns0:txBody>
      </ns0:sp>
      <ns0:sp>
        <ns0:nvSpPr>
          <ns0:cNvPr id="10" name="Shape 8"/>
          <ns0:cNvSpPr/>
          <ns0:nvPr/>
        </ns0:nvSpPr>
        <ns0:spPr>
          <a:xfrm>
            <a:off x="914400" y="2578608"/>
            <a:ext cx="7680960" cy="78638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11" name="Text 9"/>
          <ns0:cNvSpPr/>
          <ns0:nvPr/>
        </ns0:nvSpPr>
        <ns0:spPr>
          <a:xfrm>
            <a:off x="1024128" y="2633472"/>
            <a:ext cx="7461504" cy="676656"/>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my neighbor had solar installed and his kitchen ceiling got a water spot six months later...</a:t>
            </a:r>
            <a:endParaRPr lang="en-US" sz="1100" dirty="0"/>
          </a:p>
        </ns0:txBody>
      </ns0:sp>
      <ns0:sp>
        <ns0:nvSpPr>
          <ns0:cNvPr id="12" name="Shape 10"/>
          <ns0:cNvSpPr/>
          <ns0:nvPr/>
        </ns0:nvSpPr>
        <ns0:spPr>
          <a:xfrm>
            <a:off x="274320" y="3474720"/>
            <a:ext cx="7680960" cy="5486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13" name="Text 11"/>
          <ns0:cNvSpPr/>
          <ns0:nvPr/>
        </ns0:nvSpPr>
        <ns0:spPr>
          <a:xfrm>
            <a:off x="384048" y="3529584"/>
            <a:ext cx="7461504" cy="438912"/>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A water spot in the kitchen...</a:t>
            </a:r>
            <a:endParaRPr lang="en-US" sz="1100" dirty="0"/>
          </a:p>
        </ns0:txBody>
      </ns0:sp>
      <ns0:sp>
        <ns0:nvSpPr>
          <ns0:cNvPr id="14" name="Shape 12"/>
          <ns0:cNvSpPr/>
          <ns0:nvPr/>
        </ns0:nvSpPr>
        <ns0:spPr>
          <a:xfrm>
            <a:off x="914400" y="4133088"/>
            <a:ext cx="7680960" cy="78638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15" name="Text 13"/>
          <ns0:cNvSpPr/>
          <ns0:nvPr/>
        </ns0:nvSpPr>
        <ns0:spPr>
          <a:xfrm>
            <a:off x="1024128" y="4187952"/>
            <a:ext cx="7461504" cy="676656"/>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and then the company was impossible to reach. Took them 3 months to fix it. That's what I'm scared of.</a:t>
            </a:r>
            <a:endParaRPr lang="en-US" sz="1100" dirty="0"/>
          </a:p>
        </ns0:txBody>
      </ns0:sp>
      <ns0:sp>
        <ns0:nvSpPr>
          <ns0:cNvPr id="16" name="Shape 14"/>
          <ns0:cNvSpPr/>
          <ns0:nvPr/>
        </ns0:nvSpPr>
        <ns0:spPr>
          <a:xfrm>
            <a:off x="274320" y="5029200"/>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17" name="Text 15"/>
          <ns0:cNvSpPr/>
          <ns0:nvPr/>
        </ns0:nvSpPr>
        <ns0:spPr>
          <a:xfrm>
            <a:off x="384048" y="5084064"/>
            <a:ext cx="7461504" cy="676656"/>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That's scary — and completely valid. Can I show you exactly what our installation protocol looks like on the roof?</a:t>
            </a:r>
            <a:endParaRPr lang="en-US" sz="1100" dirty="0"/>
          </a:p>
        </ns0:txBody>
      </ns0:sp>
      <ns0:sp>
        <ns0:nvSpPr>
          <ns0:cNvPr id="18" name="Shape 16"/>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9" name="Text 17"/>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said 8 words in 5 turns. The homeowner revealed their real fear (installer responsiveness) in full detail. Now the rep can address the REAL objection.</a:t>
            </a:r>
            <a:endParaRPr lang="en-US" sz="900" dirty="0"/>
          </a:p>
        </ns0:txBody>
      </ns0:sp>
    </ns0:spTree>
  </ns0:cSld>
  <ns0:clrMapOvr>
    <a:masterClrMapping/>
  </ns0:clrMapOvr>
</ns0:sld>
</file>

<file path=ppt/slides/slide34.xml><?xml version="1.0" encoding="utf-8"?>
<ns0:sld xmlns:a="http://schemas.openxmlformats.org/drawingml/2006/main" xmlns:ns0="http://schemas.openxmlformats.org/presentationml/2006/main">
  <ns0:cSld name="Slide 3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Etiquetar Emociones: La Herramienta de Empatía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Las etiquetas evitan el ego — dejan al propietario confirmarte o corregirte sin sentirse atacado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'Parece que...', 'Suena como si...', 'Se siente como si...'</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NUNCA empieces una etiqueta con 'Yo' — 'Escucho que estás frustrado' te pone a ti en el centro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 etiquetas incorrectamente, está bien — te corregirán y obtendrás la verdad de cualquier manera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sounds like you've had some bad experiences with contractors in general — not just solar.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actually it's not that. It's more that I just don't trust that the savings will be what they say.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Ah — so it's really about whether the numbers are real. That's a fair concern. Let's look at that together.</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Labeling is the fastest path to genuine connection with a skeptical homeowner. Even a wrong label gets you the right answer.</a:t>
            </a:r>
            <a:endParaRPr lang="en-US" sz="900" dirty="0"/>
          </a:p>
        </ns0:txBody>
      </ns0:sp>
    </ns0:spTree>
  </ns0:cSld>
  <ns0:clrMapOvr>
    <a:masterClrMapping/>
  </ns0:clrMapOvr>
</ns0:sld>
</file>

<file path=ppt/slides/slide35.xml><?xml version="1.0" encoding="utf-8"?>
<ns0:sld xmlns:a="http://schemas.openxmlformats.org/drawingml/2006/main" xmlns:ns0="http://schemas.openxmlformats.org/presentationml/2006/main">
  <ns0:cSld name="Slide 3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Ejemplos de Etiquetado en Consultas de Solar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'Parece que ya has pensado mucho en esto.' → Abre la puerta a su investigación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'Suena como si estuvieras frustrado con los aumentos de tarifas de la empresa eléctrica.' → Valida su dolor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 siente como si hubiera algo de duda sobre un compromiso a largo plazo.' → Nombra el miedo sin acusación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'Parece que el techo es una preocupación mayor que el ahorro en este momento.' → Reordena tu conversación</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label is a hypothesis. Treat it like one. Deliver it calmly and then go silent — let them respond. Do NOT follow a label with another question; let the label breathe.</a:t>
            </a:r>
            <a:endParaRPr lang="en-US" sz="900" dirty="0"/>
          </a:p>
        </ns0:txBody>
      </ns0:sp>
    </ns0:spTree>
  </ns0:cSld>
  <ns0:clrMapOvr>
    <a:masterClrMapping/>
  </ns0:clrMapOvr>
</ns0:sld>
</file>

<file path=ppt/slides/slide36.xml><?xml version="1.0" encoding="utf-8"?>
<ns0:sld xmlns:a="http://schemas.openxmlformats.org/drawingml/2006/main" xmlns:ns0="http://schemas.openxmlformats.org/presentationml/2006/main">
  <ns0:cSld name="Slide 3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Poder de la Pausa Táctica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Regla de los 4 Segundos: después de una pregunta difícil o una etiqueta, espera 4 segundos completos antes de volver a hablar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silencio crea presión psicológica — la mayoría de las personas lo llenarán revelando algo importante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persona que habla primero después de una pregunta cargada usualmente revela más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Practica: cuenta '1-Mississippi, 2-Mississippi...' en tu cabeza — 4 segundos se sienten como una eternidad pero funciona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tactical pause is the most underused tool in field sales. Silence after 'What would it take for this to make sense for you?' will surface the real objection 80% of the time — if you just wait.</a:t>
            </a:r>
            <a:endParaRPr lang="en-US" sz="900" dirty="0"/>
          </a:p>
        </ns0:txBody>
      </ns0:sp>
    </ns0:spTree>
  </ns0:cSld>
  <ns0:clrMapOvr>
    <a:masterClrMapping/>
  </ns0:clrMapOvr>
</ns0:sld>
</file>

<file path=ppt/slides/slide37.xml><?xml version="1.0" encoding="utf-8"?>
<ns0:sld xmlns:a="http://schemas.openxmlformats.org/drawingml/2006/main" xmlns:ns0="http://schemas.openxmlformats.org/presentationml/2006/main">
  <ns0:cSld name="Slide 3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Preguntas Calibradas: Cómo y Qué</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Siempre empieza con 'Cómo' o 'Qué' — invitan a la colaboración, no a la defensiva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'Por qué' activa el cerebro defensivo: '¿Por qué te sientes así?' se siente como una acusación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te hace decir eso?' vs. '¿Por qué piensas eso?' — misma información, reacción emocional opuesta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'¿Cómo se supone que debo igualar esa oferta?' — el movimiento de Chris Voss que cambia la situación</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What is it about the 25-year timeframe that concerns you?</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we might sell the house before then...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 what would it mean for the sale of the house if the solar was fully paid off and added to the value?</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'Why' activates the amygdala — the homeowner feels they need to justify themselves. 'What' and 'How' activate curiosity and problem-solving. Same words, completely different neurological response.</a:t>
            </a:r>
            <a:endParaRPr lang="en-US" sz="900" dirty="0"/>
          </a:p>
        </ns0:txBody>
      </ns0:sp>
    </ns0:spTree>
  </ns0:cSld>
  <ns0:clrMapOvr>
    <a:masterClrMapping/>
  </ns0:clrMapOvr>
</ns0:sld>
</file>

<file path=ppt/slides/slide38.xml><?xml version="1.0" encoding="utf-8"?>
<ns0:sld xmlns:a="http://schemas.openxmlformats.org/drawingml/2006/main" xmlns:ns0="http://schemas.openxmlformats.org/presentationml/2006/main">
  <ns0:cSld name="Slide 3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Juego de Roles de Empatía — Sin Pitch Permitido</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Usar solo Espejos y Etiquetas por 2 minutos completos — cero pitch, cero características, cero números</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El Compañero A juega a un propietario quejándose de su factura eléctrica o de una experiencia pasada con un contratista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El Compañero B SOLO puede responder con Espejos o Etiquetas por 2 minutos completos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Debrief: How much information did Partner B gather without a single pitch?</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Switch roles and repeat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Group share: What did Partner B learn that would have changed how they presented?</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39.xml><?xml version="1.0" encoding="utf-8"?>
<ns0:sld xmlns:a="http://schemas.openxmlformats.org/drawingml/2006/main" xmlns:ns0="http://schemas.openxmlformats.org/presentationml/2006/main">
  <ns0:cSld name="Slide 3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3.5</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Arquitectura de Preguntas: La Secuencia de Descubrimiento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La Consulta del Médico. Diagnóstico Antes de la Prescripción.</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40.xml><?xml version="1.0" encoding="utf-8"?>
<ns0:sld xmlns:a="http://schemas.openxmlformats.org/drawingml/2006/main" xmlns:ns0="http://schemas.openxmlformats.org/presentationml/2006/main">
  <ns0:cSld name="Slide 4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3.5 — SECUENCIA DE DESCUBRIMIENTO</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El Marco de 12 Preguntas</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presentar antes de diagnosticar te hace un vendedor de productos, no un profesional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Las tres categorías de descubrimiento: Estado Actual, Estado Futuro, Toma de Decisiones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Cómo construir hacia la transición 'Exactamente'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Listening for red flags and hidden objections during discovery</a:t>
            </a:r>
            <a:endParaRPr lang="en-US" sz="1400" dirty="0"/>
          </a:p>
        </ns0:txBody>
      </ns0:sp>
    </ns0:spTree>
  </ns0:cSld>
  <ns0:clrMapOvr>
    <a:masterClrMapping/>
  </ns0:clrMapOvr>
</ns0:sld>
</file>

<file path=ppt/slides/slide41.xml><?xml version="1.0" encoding="utf-8"?>
<ns0:sld xmlns:a="http://schemas.openxmlformats.org/drawingml/2006/main" xmlns:ns0="http://schemas.openxmlformats.org/presentationml/2006/main">
  <ns0:cSld name="Slide 4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Categoría 1: Estado Actual — El Dolor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'¿Cuánto tiempo llevas viviendo aquí?' — establece equidad, mentalidad de propiedad y rapport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has notado sobre tu factura en los últimos dos veranos?' — saca el dolor en sus propias palabras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hizo la empresa eléctrica con tus tarifas el mes pasado?' — activa la frustración y la aversión a la pérdida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'¿Cómo te sientes con tu relación actual con la empresa eléctrica?' — base emocional de su motivación</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are building the 'Cost of Doing Nothing.' Every answer to these questions becomes ammunition for the close. Don't rush this category — the gold is in their language, not your pitch.</a:t>
            </a:r>
            <a:endParaRPr lang="en-US" sz="900" dirty="0"/>
          </a:p>
        </ns0:txBody>
      </ns0:sp>
    </ns0:spTree>
  </ns0:cSld>
  <ns0:clrMapOvr>
    <a:masterClrMapping/>
  </ns0:clrMapOvr>
</ns0:sld>
</file>

<file path=ppt/slides/slide42.xml><?xml version="1.0" encoding="utf-8"?>
<ns0:sld xmlns:a="http://schemas.openxmlformats.org/drawingml/2006/main" xmlns:ns0="http://schemas.openxmlformats.org/presentationml/2006/main">
  <ns0:cSld name="Slide 4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Categoría 2: Estado Futuro — La Urgencia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'¿Hacia dónde ves que van las tarifas en los próximos 5–10 años?' — los hace predecir el dolor ellos mismos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 no haces nada, ¿cuál es la estrategia de salida para estas facturas?' — los obliga a enfrentar la alternativa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harías con $150 dólares extra al mes en tu bolsillo?' — conecta el ahorro con algo personal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tan importante es para ti ser dueño de tu energía vs. rentarla de la empresa eléctrica?' — planta la mentalidad de propiedad</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These questions create the 'Bridge' between their current pain and their desired future. When the homeowner builds the case for solar themselves, your job in the close is simply to confirm what they already said.</a:t>
            </a:r>
            <a:endParaRPr lang="en-US" sz="900" dirty="0"/>
          </a:p>
        </ns0:txBody>
      </ns0:sp>
    </ns0:spTree>
  </ns0:cSld>
  <ns0:clrMapOvr>
    <a:masterClrMapping/>
  </ns0:clrMapOvr>
</ns0:sld>
</file>

<file path=ppt/slides/slide43.xml><?xml version="1.0" encoding="utf-8"?>
<ns0:sld xmlns:a="http://schemas.openxmlformats.org/drawingml/2006/main" xmlns:ns0="http://schemas.openxmlformats.org/presentationml/2006/main">
  <ns0:cSld name="Slide 4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Categoría 3: Toma de Decisiones — La Calificación</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'Además de ustedes dos, ¿hay alguien más cuya opinión valoren en esto?' — saca a los tomadores de decisiones ocultos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'En una escala del 1 al 10, ¿qué tan comprometido estás en resolver esta factura este año?' — revela el nivel de urgencia de inmediato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'¿Cuál es la única cosa que te detendría para seguir adelante hoy?' — saca la objeción de antemano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'¿Qué buscas en una empresa de solar?' — te dicen exactamente cómo cerrarlos</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On a scale of 1–10, how committed are you to fixing this bill in the next 60 days?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Probably like a 7.</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What's the 3 or 4 that's not quite there yet?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guess I just want to make sure the installation is clean. Our last contractor left a mess...</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Question 11 is the most powerful in the entire framework. 'What would stop you?' at the discovery stage means you handle objections before they become deal-killers. Most reps wait until the close to ask this.</a:t>
            </a:r>
            <a:endParaRPr lang="en-US" sz="900" dirty="0"/>
          </a:p>
        </ns0:txBody>
      </ns0:sp>
    </ns0:spTree>
  </ns0:cSld>
  <ns0:clrMapOvr>
    <a:masterClrMapping/>
  </ns0:clrMapOvr>
</ns0:sld>
</file>

<file path=ppt/slides/slide44.xml><?xml version="1.0" encoding="utf-8"?>
<ns0:sld xmlns:a="http://schemas.openxmlformats.org/drawingml/2006/main" xmlns:ns0="http://schemas.openxmlformats.org/presentationml/2006/main">
  <ns0:cSld name="Slide 4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Escuchando las Señales de Alerta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'Planeamos mudarnos en unos 2 años' — el ROI solar no cierra a tiempo; descalifica o reencuadra alrededor del valor de la propiedad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'Me jubilo el próximo mes y mis ingresos van a bajar' — riesgo de calificación crediticia; sondea suavemente antes de proceder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'Mi techo tiene 25 años y no puedo costear uno nuevo ahora mismo' — no ignores esto; atiéndelo o descalifica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'Solo usamos unos $40 al mes en electricidad' — el uso extremadamente bajo puede no justificar el costo del sistema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Do NOT ignore red flags. Reps who push past red flags to get the install create chargebacks, cancellations, and reputation damage. Address them in discovery or disqualify gracefully.</a:t>
            </a:r>
            <a:endParaRPr lang="en-US" sz="900" dirty="0"/>
          </a:p>
        </ns0:txBody>
      </ns0:sp>
    </ns0:spTree>
  </ns0:cSld>
  <ns0:clrMapOvr>
    <a:masterClrMapping/>
  </ns0:clrMapOvr>
</ns0:sld>
</file>

<file path=ppt/slides/slide45.xml><?xml version="1.0" encoding="utf-8"?>
<ns0:sld xmlns:a="http://schemas.openxmlformats.org/drawingml/2006/main" xmlns:ns0="http://schemas.openxmlformats.org/presentationml/2006/main">
  <ns0:cSld name="Slide 4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Identificando Objeciones Ocultas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seguimiento '¿Eso es todo?': después de que compartan una preocupación, siempre pregunta '¿Es eso lo principal, o hay algo más?'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Profundiza en respuestas vagas: 'Necesito pensarlo' siempre tiene un miedo específico debajo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el descubrimiento para pre-cerrar: 'Si pudiéramos resolver eso completamente, ¿eliminaría tu preocupación?'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principio del iceberg: lo que dicen primero rara vez es la objeción real — la real está debajo de la superficie</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80% of 'I need to think about it' is a specific, solvable fear that was never named. The rep who digs for it in discovery never gets surprised by it at the close.</a:t>
            </a:r>
            <a:endParaRPr lang="en-US" sz="900" dirty="0"/>
          </a:p>
        </ns0:txBody>
      </ns0:sp>
    </ns0:spTree>
  </ns0:cSld>
  <ns0:clrMapOvr>
    <a:masterClrMapping/>
  </ns0:clrMapOvr>
</ns0:sld>
</file>

<file path=ppt/slides/slide46.xml><?xml version="1.0" encoding="utf-8"?>
<ns0:sld xmlns:a="http://schemas.openxmlformats.org/drawingml/2006/main" xmlns:ns0="http://schemas.openxmlformats.org/presentationml/2006/main">
  <ns0:cSld name="Slide 4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Transición a la Presentación: El Cierre 'Exactamente'</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822960"/>
            <a:ext cx="8503920" cy="347472"/>
          </a:xfrm>
          <a:prstGeom prst="rect">
            <a:avLst/>
          </a:prstGeom>
          <a:noFill/>
          <a:ln/>
        </ns0:spPr>
        <ns0: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Nunca abras el iPad hasta que hayas obtenido el 'Exactamente' verbal del propietario.</a:t>
            </a:r>
            <a:endParaRPr lang="en-US" sz="1100" dirty="0"/>
          </a:p>
        </ns0:txBody>
      </ns0:sp>
      <ns0:sp>
        <ns0:nvSpPr>
          <ns0:cNvPr id="6" name="Shape 4"/>
          <ns0:cNvSpPr/>
          <ns0:nvPr/>
        </ns0:nvSpPr>
        <ns0:spPr>
          <a:xfrm>
            <a:off x="274320" y="1261872"/>
            <a:ext cx="7680960" cy="155448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Text 5"/>
          <ns0:cNvSpPr/>
          <ns0:nvPr/>
        </ns0:nvSpPr>
        <ns0:spPr>
          <a:xfrm>
            <a:off x="384048" y="1316736"/>
            <a:ext cx="7461504" cy="1444752"/>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Déjame asegurarme de haber entendido bien antes de mostrarte algo. Tu factura ha estado alrededor de $280 al mes, y solo el año pasado subió dos veces. Tienes quizás 25 años más de pagos por delante si nada cambia, y ese es dinero que preferirías destinar al fondo universitario de tu hija. ¿Suena más o menos así?</a:t>
            </a:r>
            <a:endParaRPr lang="en-US" sz="1100" dirty="0"/>
          </a:p>
        </ns0:txBody>
      </ns0:sp>
      <ns0:sp>
        <ns0:nvSpPr>
          <ns0:cNvPr id="8" name="Shape 6"/>
          <ns0:cNvSpPr/>
          <ns0:nvPr/>
        </ns0:nvSpPr>
        <ns0:spPr>
          <a:xfrm>
            <a:off x="914400" y="2926080"/>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1024128" y="2980944"/>
            <a:ext cx="7461504" cy="438912"/>
          </a:xfrm>
          <a:prstGeom prst="rect">
            <a:avLst/>
          </a:prstGeom>
          <a:noFill/>
          <a:ln/>
        </ns0:spPr>
        <ns0: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yeah, that's exactly it.</a:t>
            </a:r>
            <a:endParaRPr lang="en-US" sz="1100" dirty="0"/>
          </a:p>
        </ns0:txBody>
      </ns0:sp>
      <ns0:sp>
        <ns0:nvSpPr>
          <ns0:cNvPr id="10" name="Shape 8"/>
          <ns0:cNvSpPr/>
          <ns0:nvPr/>
        </ns0:nvSpPr>
        <ns0:spPr>
          <a:xfrm>
            <a:off x="274320" y="3584448"/>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11" name="Text 9"/>
          <ns0:cNvSpPr/>
          <ns0:nvPr/>
        </ns0:nvSpPr>
        <ns0:spPr>
          <a:xfrm>
            <a:off x="384048" y="3639312"/>
            <a:ext cx="7461504" cy="676656"/>
          </a:xfrm>
          <a:prstGeom prst="rect">
            <a:avLst/>
          </a:prstGeom>
          <a:noFill/>
          <a:ln/>
        </ns0:spPr>
        <ns0: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Okay. Based on everything you just told me, here's what I put together for your home specifically...</a:t>
            </a:r>
            <a:endParaRPr lang="en-US" sz="1100" dirty="0"/>
          </a:p>
        </ns0:txBody>
      </ns0:sp>
      <ns0:sp>
        <ns0:nvSpPr>
          <ns0:cNvPr id="12" name="Shape 10"/>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3" name="Text 11"/>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'That's right' is the homeowner giving you permission to present. It signals alignment, validates their pain, and puts them in a 'Yes' mental state before the numbers even appear.</a:t>
            </a:r>
            <a:endParaRPr lang="en-US" sz="900" dirty="0"/>
          </a:p>
        </ns0:txBody>
      </ns0:sp>
    </ns0:spTree>
  </ns0:cSld>
  <ns0:clrMapOvr>
    <a:masterClrMapping/>
  </ns0:clrMapOvr>
</ns0:sld>
</file>

<file path=ppt/slides/slide47.xml><?xml version="1.0" encoding="utf-8"?>
<ns0:sld xmlns:a="http://schemas.openxmlformats.org/drawingml/2006/main" xmlns:ns0="http://schemas.openxmlformats.org/presentationml/2006/main">
  <ns0:cSld name="Slide 4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Juego de Roles de Descubrimiento Completo</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Realizar un descubrimiento completo de 15 minutos usando las 12 preguntas — llegar a la transición 'Exactamente'</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Un representante juega al Hogar García (Sr. García = Toro, Sra. García = Tortuga)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El representante de ventas realiza la secuencia completa de 12 preguntas de descubrimiento — lista de verificación en mano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Evaluator tracks: Were questions asked in logical order? Were red flags noted?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End with a clear 'That's right' summary that the homeowner confirms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information came out that changed the presentation strategy?</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ns0:txBody>
      </ns0:sp>
    </ns0:spTree>
  </ns0:cSld>
  <ns0:clrMapOvr>
    <a:masterClrMapping/>
  </ns0:clrMapOvr>
</ns0:sld>
</file>

<file path=ppt/slides/slide48.xml><?xml version="1.0" encoding="utf-8"?>
<ns0:sld xmlns:a="http://schemas.openxmlformats.org/drawingml/2006/main" xmlns:ns0="http://schemas.openxmlformats.org/presentationml/2006/main">
  <ns0:cSld name="Slide 4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3.6</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Dinámica de Cónyuge y Tomadores de Decisiones</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La Trampa del Pata Coja. Equilibrando la Sala.</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49.xml><?xml version="1.0" encoding="utf-8"?>
<ns0:sld xmlns:a="http://schemas.openxmlformats.org/drawingml/2006/main" xmlns:ns0="http://schemas.openxmlformats.org/presentationml/2006/main">
  <ns0:cSld name="Slide 4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3.6 — DINÁMICA DE TOMADORES DE DECISIONES</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Manejando Consultas con Múltiples Partes</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las citas 'Pata Coja' cierran en menos del 10%</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Cómo igualar a ambos tomadores de decisiones en la sala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Identificar al tomador de decisiones real (pista: no siempre es el que más habla)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Winning over the Skeptical Spouse without creating conflict</a:t>
            </a:r>
            <a:endParaRPr lang="en-US" sz="1400" dirty="0"/>
          </a:p>
        </ns0:txBody>
      </ns0:sp>
    </ns0:spTree>
  </ns0:cSld>
  <ns0:clrMapOvr>
    <a:masterClrMapping/>
  </ns0:clrMapOvr>
</ns0:sld>
</file>

<file path=ppt/slides/slide50.xml><?xml version="1.0" encoding="utf-8"?>
<ns0:sld xmlns:a="http://schemas.openxmlformats.org/drawingml/2006/main" xmlns:ns0="http://schemas.openxmlformats.org/presentationml/2006/main">
  <ns0:cSld name="Slide 5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Por Qué los 'Pata Coja' Matan los Tratos</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365760" y="1280160"/>
            <a:ext cx="2545080" cy="1280160"/>
          </a:xfrm>
          <a:prstGeom prst="rect">
            <a:avLst/>
          </a:prstGeom>
          <a:noFill/>
          <a:ln/>
        </ns0:spPr>
        <ns0:txBody>
          <a:bodyPr wrap="square" lIns="0" tIns="0" rIns="0" bIns="0" rtlCol="0" anchor="ctr"/>
          <a:lstStyle/>
          <a:p>
            <a:pPr algn="ctr" indent="0" marL="0">
              <a:buNone/>
            </a:pPr>
            <a:r>
              <a:rPr lang="en-US" sz="4400" b="1" dirty="0">
                <a:solidFill>
                  <a:srgbClr val="F4A61D"/>
                </a:solidFill>
                <a:latin typeface="Arial Black" pitchFamily="34" charset="0"/>
                <a:ea typeface="Arial Black" pitchFamily="34" charset="-122"/>
                <a:cs typeface="Arial Black" pitchFamily="34" charset="-120"/>
              </a:rPr>
              <a:t>&lt;10%</a:t>
            </a:r>
            <a:endParaRPr lang="en-US" sz="4400" dirty="0"/>
          </a:p>
        </ns0:txBody>
      </ns0:sp>
      <ns0:sp>
        <ns0:nvSpPr>
          <ns0:cNvPr id="7" name="Text 5"/>
          <ns0:cNvSpPr/>
          <ns0:nvPr/>
        </ns0:nvSpPr>
        <ns0:spPr>
          <a:xfrm>
            <a:off x="365760" y="2606040"/>
            <a:ext cx="2545080" cy="502920"/>
          </a:xfrm>
          <a:prstGeom prst="rect">
            <a:avLst/>
          </a:prstGeom>
          <a:noFill/>
          <a:ln/>
        </ns0:spPr>
        <ns0: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Tasa de Cierre</a:t>
            </a:r>
            <a:endParaRPr lang="en-US" sz="1400" dirty="0"/>
          </a:p>
        </ns0:txBody>
      </ns0:sp>
      <ns0:sp>
        <ns0:nvSpPr>
          <ns0:cNvPr id="8" name="Text 6"/>
          <ns0:cNvSpPr/>
          <ns0:nvPr/>
        </ns0:nvSpPr>
        <ns0:spPr>
          <a:xfrm>
            <a:off x="365760" y="3154680"/>
            <a:ext cx="2545080" cy="502920"/>
          </a:xfrm>
          <a:prstGeom prst="rect">
            <a:avLst/>
          </a:prstGeom>
          <a:noFill/>
          <a:ln/>
        </ns0:spPr>
        <ns0: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Citas 'Pata Coja'</a:t>
            </a:r>
            <a:endParaRPr lang="en-US" sz="1000" dirty="0"/>
          </a:p>
        </ns0:txBody>
      </ns0:sp>
      <ns0:sp>
        <ns0:nvSpPr>
          <ns0:cNvPr id="9" name="Shape 7"/>
          <ns0:cNvSpPr/>
          <ns0:nvPr/>
        </ns0:nvSpPr>
        <ns0: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ns0:spPr>
      </ns0:sp>
      <ns0:sp>
        <ns0:nvSpPr>
          <ns0:cNvPr id="10" name="Text 8"/>
          <ns0:cNvSpPr/>
          <ns0:nvPr/>
        </ns0:nvSpPr>
        <ns0:spPr>
          <a:xfrm>
            <a:off x="3230880" y="1280160"/>
            <a:ext cx="2545080" cy="1280160"/>
          </a:xfrm>
          <a:prstGeom prst="rect">
            <a:avLst/>
          </a:prstGeom>
          <a:noFill/>
          <a:ln/>
        </ns0:spPr>
        <ns0:txBody>
          <a:bodyPr wrap="square" lIns="0" tIns="0" rIns="0" bIns="0" rtlCol="0" anchor="ctr"/>
          <a:lstStyle/>
          <a:p>
            <a:pPr algn="ctr" indent="0" marL="0">
              <a:buNone/>
            </a:pPr>
            <a:r>
              <a:rPr lang="en-US" sz="4400" b="1" dirty="0">
                <a:solidFill>
                  <a:srgbClr val="0891B2"/>
                </a:solidFill>
                <a:latin typeface="Arial Black" pitchFamily="34" charset="0"/>
                <a:ea typeface="Arial Black" pitchFamily="34" charset="-122"/>
                <a:cs typeface="Arial Black" pitchFamily="34" charset="-120"/>
              </a:rPr>
              <a:t>40k+</a:t>
            </a:r>
            <a:endParaRPr lang="en-US" sz="4400" dirty="0"/>
          </a:p>
        </ns0:txBody>
      </ns0:sp>
      <ns0:sp>
        <ns0:nvSpPr>
          <ns0:cNvPr id="11" name="Text 9"/>
          <ns0:cNvSpPr/>
          <ns0:nvPr/>
        </ns0:nvSpPr>
        <ns0:spPr>
          <a:xfrm>
            <a:off x="3230880" y="2606040"/>
            <a:ext cx="2545080" cy="502920"/>
          </a:xfrm>
          <a:prstGeom prst="rect">
            <a:avLst/>
          </a:prstGeom>
          <a:noFill/>
          <a:ln/>
        </ns0:spPr>
        <ns0: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Avg. Deal Size</a:t>
            </a:r>
            <a:endParaRPr lang="en-US" sz="1400" dirty="0"/>
          </a:p>
        </ns0:txBody>
      </ns0:sp>
      <ns0:sp>
        <ns0:nvSpPr>
          <ns0:cNvPr id="12" name="Text 10"/>
          <ns0:cNvSpPr/>
          <ns0:nvPr/>
        </ns0:nvSpPr>
        <ns0:spPr>
          <a:xfrm>
            <a:off x="3230880" y="3154680"/>
            <a:ext cx="2545080" cy="502920"/>
          </a:xfrm>
          <a:prstGeom prst="rect">
            <a:avLst/>
          </a:prstGeom>
          <a:noFill/>
          <a:ln/>
        </ns0:spPr>
        <ns0: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You're asking 1 person to sell this</a:t>
            </a:r>
            <a:endParaRPr lang="en-US" sz="1000" dirty="0"/>
          </a:p>
        </ns0:txBody>
      </ns0:sp>
      <ns0:sp>
        <ns0:nvSpPr>
          <ns0:cNvPr id="13" name="Shape 11"/>
          <ns0:cNvSpPr/>
          <ns0:nvPr/>
        </ns0:nvSpPr>
        <ns0: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ns0:spPr>
      </ns0:sp>
      <ns0:sp>
        <ns0:nvSpPr>
          <ns0:cNvPr id="14" name="Text 12"/>
          <ns0:cNvSpPr/>
          <ns0:nvPr/>
        </ns0:nvSpPr>
        <ns0:spPr>
          <a:xfrm>
            <a:off x="6096000" y="1280160"/>
            <a:ext cx="2545080" cy="1280160"/>
          </a:xfrm>
          <a:prstGeom prst="rect">
            <a:avLst/>
          </a:prstGeom>
          <a:noFill/>
          <a:ln/>
        </ns0:spPr>
        <ns0:txBody>
          <a:bodyPr wrap="square" lIns="0" tIns="0" rIns="0" bIns="0" rtlCol="0" anchor="ctr"/>
          <a:lstStyle/>
          <a:p>
            <a:pPr algn="ctr" indent="0" marL="0">
              <a:buNone/>
            </a:pPr>
            <a:r>
              <a:rPr lang="en-US" sz="4400" b="1" dirty="0">
                <a:solidFill>
                  <a:srgbClr val="2D9B4E"/>
                </a:solidFill>
                <a:latin typeface="Arial Black" pitchFamily="34" charset="0"/>
                <a:ea typeface="Arial Black" pitchFamily="34" charset="-122"/>
                <a:cs typeface="Arial Black" pitchFamily="34" charset="-120"/>
              </a:rPr>
              <a:t>3x</a:t>
            </a:r>
            <a:endParaRPr lang="en-US" sz="4400" dirty="0"/>
          </a:p>
        </ns0:txBody>
      </ns0:sp>
      <ns0:sp>
        <ns0:nvSpPr>
          <ns0:cNvPr id="15" name="Text 13"/>
          <ns0:cNvSpPr/>
          <ns0:nvPr/>
        </ns0:nvSpPr>
        <ns0:spPr>
          <a:xfrm>
            <a:off x="6096000" y="2606040"/>
            <a:ext cx="2545080" cy="502920"/>
          </a:xfrm>
          <a:prstGeom prst="rect">
            <a:avLst/>
          </a:prstGeom>
          <a:noFill/>
          <a:ln/>
        </ns0:spPr>
        <ns0: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Higher Cancellations</a:t>
            </a:r>
            <a:endParaRPr lang="en-US" sz="1400" dirty="0"/>
          </a:p>
        </ns0:txBody>
      </ns0:sp>
      <ns0:sp>
        <ns0:nvSpPr>
          <ns0:cNvPr id="16" name="Text 14"/>
          <ns0:cNvSpPr/>
          <ns0:nvPr/>
        </ns0:nvSpPr>
        <ns0:spPr>
          <a:xfrm>
            <a:off x="6096000" y="3154680"/>
            <a:ext cx="2545080" cy="502920"/>
          </a:xfrm>
          <a:prstGeom prst="rect">
            <a:avLst/>
          </a:prstGeom>
          <a:noFill/>
          <a:ln/>
        </ns0:spPr>
        <ns0: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When spouse wasn't in the room</a:t>
            </a:r>
            <a:endParaRPr lang="en-US" sz="1000" dirty="0"/>
          </a:p>
        </ns0:txBody>
      </ns0:sp>
      <ns0:sp>
        <ns0:nvSpPr>
          <ns0:cNvPr id="17" name="Shape 15"/>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8" name="Text 16"/>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 One-Legger means you're asking one person to sell a $40,000+ financial decision to their spouse using a summary of a presentation they half-remember. That's not a strategy — it's wishful thinking.</a:t>
            </a:r>
            <a:endParaRPr lang="en-US" sz="900" dirty="0"/>
          </a:p>
        </ns0:txBody>
      </ns0:sp>
    </ns0:spTree>
  </ns0:cSld>
  <ns0:clrMapOvr>
    <a:masterClrMapping/>
  </ns0:clrMapOvr>
</ns0:sld>
</file>

<file path=ppt/slides/slide51.xml><?xml version="1.0" encoding="utf-8"?>
<ns0:sld xmlns:a="http://schemas.openxmlformats.org/drawingml/2006/main" xmlns:ns0="http://schemas.openxmlformats.org/presentationml/2006/main">
  <ns0:cSld name="Slide 5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Por Qué el Juego del Teléfono Descompuesto Arruina el Trato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cónyuge presente olvidará el 60% de lo que dijiste — y recordará mal el otro 40%</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 tienen tus respuestas, tus gráficos, tus refutaciones ni tu confianza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'Instinto de Protección' del cónyuge ausente entra en acción — por defecto dicen 'No' a todo lo que no experimentaron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Tu tasa de cierre con Pata Coja es esencialmente tu tasa de referidos — le presentas a una persona para quizás persuadir a otra</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Is your husband going to be joining us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no, he said just go ahead — whatever I decide is fine.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great he trusts you! For something this size though, I'd love to have him here so I can answer his questions directly. Would Tuesday work for both of you?</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Always work to reschedule if a key decision-maker is missing. Use: 'I want to make sure I can answer both of your questions in person — it's not fair to you if [spouse] has questions I'm not there to answer.'</a:t>
            </a:r>
            <a:endParaRPr lang="en-US" sz="900" dirty="0"/>
          </a:p>
        </ns0:txBody>
      </ns0:sp>
    </ns0:spTree>
  </ns0:cSld>
  <ns0:clrMapOvr>
    <a:masterClrMapping/>
  </ns0:clrMapOvr>
</ns0:sld>
</file>

<file path=ppt/slides/slide52.xml><?xml version="1.0" encoding="utf-8"?>
<ns0:sld xmlns:a="http://schemas.openxmlformats.org/drawingml/2006/main" xmlns:ns0="http://schemas.openxmlformats.org/presentationml/2006/main">
  <ns0:cSld name="Slide 5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Igualando a Ambos Tomadores de Decisiones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Distribuye el contacto visual igualmente — si te enfocas solo en el que habla, el callado se convierte en un objetor silencioso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Hazle preguntas directas al cónyuge callado: '¿Cuál es tu opinión sobre esto? Quiero asegurarme de que tenga sentido para ambos'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Adapta tu estilo de comunicación al tipo BOLT de cada cónyuge simultáneamente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Nunca hagas sentir a un cónyuge 'menos importante' — el cónyuge ignorado se convierte en el 'no' que aparece 24 horas después</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quieter spouse is almost always the final decision-maker. They're running a parallel evaluation the whole time. If they leave the consultation unconvinced, no signature holds.</a:t>
            </a:r>
            <a:endParaRPr lang="en-US" sz="900" dirty="0"/>
          </a:p>
        </ns0:txBody>
      </ns0:sp>
    </ns0:spTree>
  </ns0:cSld>
  <ns0:clrMapOvr>
    <a:masterClrMapping/>
  </ns0:clrMapOvr>
</ns0:sld>
</file>

<file path=ppt/slides/slide53.xml><?xml version="1.0" encoding="utf-8"?>
<ns0:sld xmlns:a="http://schemas.openxmlformats.org/drawingml/2006/main" xmlns:ns0="http://schemas.openxmlformats.org/presentationml/2006/main">
  <ns0:cSld name="Slide 5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Manejando al Cónyuge Escéptico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 discutas, defiendas, ni te frustres — el escéptico está haciendo su trabajo: proteger el hogar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Usa Empatía Táctica: 'Parece que tienes algunas preocupaciones sobre esto que quizás aún no se han abordado'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Tráelos al proceso — pregunta qué NECESITARÍAN ver para sentirse cómodos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regla de oro: el escéptico que se convierte se vuelve tu defensor más leal — referirá agresivamente</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Skeptical Spouse: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just think we should get more quotes. I don't see why we have to decide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a completely fair position and I respect it. I actually encourage comparison shopping. Can I ask — what specifically would you want the other companies to prove to you? That way you're comparing apples to apples.</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skeptical spouse is your best friend in disguise. If you win them over, the deal is bulletproof. If you ignore them, it's a time bomb.</a:t>
            </a:r>
            <a:endParaRPr lang="en-US" sz="900" dirty="0"/>
          </a:p>
        </ns0:txBody>
      </ns0:sp>
    </ns0:spTree>
  </ns0:cSld>
  <ns0:clrMapOvr>
    <a:masterClrMapping/>
  </ns0:clrMapOvr>
</ns0:sld>
</file>

<file path=ppt/slides/slide54.xml><?xml version="1.0" encoding="utf-8"?>
<ns0:sld xmlns:a="http://schemas.openxmlformats.org/drawingml/2006/main" xmlns:ns0="http://schemas.openxmlformats.org/presentationml/2006/main">
  <ns0:cSld name="Slide 5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Actividad: Juego de Roles del Cónyuge Escéptico</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Equilibrar la conversación y ganarse al escéptico sin alejar al cónyuge entusiasmado</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Juego de roles de tres personas: Representante, Cónyuge Entusiasmado y Cónyuge Escéptico/Gruñón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El representante debe usar empatía táctica en el escéptico mientras mantiene al cónyuge entusiasmado involucrado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Observer watches specifically for: who does the rep face more? Does the skeptic feel heard?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Rep must get BOTH spouses to verbalize agreement before the consultation ends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did the rep do when they disagreed? How was the balance managed?</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55.xml><?xml version="1.0" encoding="utf-8"?>
<ns0:sld xmlns:a="http://schemas.openxmlformats.org/drawingml/2006/main" xmlns:ns0="http://schemas.openxmlformats.org/presentationml/2006/main">
  <ns0:cSld name="Slide 5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3.7</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Evaluación del Techo y el Sitio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La Verdad Física. No Vendas lo que No Puede Instalarse.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6.xml><?xml version="1.0" encoding="utf-8"?>
<ns0:sld xmlns:a="http://schemas.openxmlformats.org/drawingml/2006/main" xmlns:ns0="http://schemas.openxmlformats.org/presentationml/2006/main">
  <ns0:cSld name="Slide 5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3.7 — EVALUACIÓN DEL SITIO</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Generando Confianza a Través de la Competencia Técnica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los propietarios confían en el representante que realmente revisa su techo y panel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Los 5 puntos de inspección clave que todo representante debe evaluar antes de cotizar</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Señales de alerta del panel eléctrico y cómo convertirlas en oportunidades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handle HOA restrictions and shading issues proactively</a:t>
            </a:r>
            <a:endParaRPr lang="en-US" sz="1400" dirty="0"/>
          </a:p>
        </ns0:txBody>
      </ns0:sp>
    </ns0:spTree>
  </ns0:cSld>
  <ns0:clrMapOvr>
    <a:masterClrMapping/>
  </ns0:clrMapOvr>
</ns0:sld>
</file>

<file path=ppt/slides/slide57.xml><?xml version="1.0" encoding="utf-8"?>
<ns0:sld xmlns:a="http://schemas.openxmlformats.org/drawingml/2006/main" xmlns:ns0="http://schemas.openxmlformats.org/presentationml/2006/main">
  <ns0:cSld name="Slide 5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Inspección del Techo: La Verificación de 5 Puntos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Edad: Los techos de 10–15+ años son una señal de alerta — si necesitan un techo nuevo, vende el combo techo + solar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Condición de las tejas: Busca pérdida de granulado en los canalones, bordes curvados, secciones faltantes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Integridad estructural: Observa visualmente la línea del techo — hundimientos u ondulaciones indican problemas en las vigas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Inclinación y orientación: Orientación sur, inclinación de 15–35 grados = producción ideal; Este/Oeste = aceptable</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Homeowners trust a rep who actually inspects their property. Walking outside to look at the roof before presenting signals professionalism, confidence, and technical credibility — all three of which accelerate the close.</a:t>
            </a:r>
            <a:endParaRPr lang="en-US" sz="900" dirty="0"/>
          </a:p>
        </ns0:txBody>
      </ns0:sp>
    </ns0:spTree>
  </ns0:cSld>
  <ns0:clrMapOvr>
    <a:masterClrMapping/>
  </ns0:clrMapOvr>
</ns0:sld>
</file>

<file path=ppt/slides/slide58.xml><?xml version="1.0" encoding="utf-8"?>
<ns0:sld xmlns:a="http://schemas.openxmlformats.org/drawingml/2006/main" xmlns:ns0="http://schemas.openxmlformats.org/presentationml/2006/main">
  <ns0:cSld name="Slide 5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Sombreado y Obstrucciones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Problema del Árbol: la sombra matutina arruina la producción diaria — sé honesto, no optimista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Chimeneas y ventilaciones: ten en cuenta los requisitos de retroceso (los códigos locales varían — mínimo típico de 18")</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Compara los datos satelitales LIDAR con tu inspección visual — el software no detecta todas las obstrucciones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 se requiere podar un árbol: díselo AHORA, no 3 semanas después del proceso de permisos</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Shade lies are one of the top reasons for customer complaints and chargebacks. A rep who tells the truth about a shading problem early looks professional. A rep who hides it to close the deal looks fraudulent.</a:t>
            </a:r>
            <a:endParaRPr lang="en-US" sz="900" dirty="0"/>
          </a:p>
        </ns0:txBody>
      </ns0:sp>
    </ns0:spTree>
  </ns0:cSld>
  <ns0:clrMapOvr>
    <a:masterClrMapping/>
  </ns0:clrMapOvr>
</ns0:sld>
</file>

<file path=ppt/slides/slide59.xml><?xml version="1.0" encoding="utf-8"?>
<ns0:sld xmlns:a="http://schemas.openxmlformats.org/drawingml/2006/main" xmlns:ns0="http://schemas.openxmlformats.org/presentationml/2006/main">
  <ns0:cSld name="Slide 5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Panel Eléctrico: Tu Herramienta de Ventas Secreta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Verificación de amperaje: Los paneles de 200 amperios son ideales; los de 100 amperios pueden necesitar actualización (oportunidad de venta adicional)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Espacio para un nuevo interruptor: confirma que hay espacios abiertos antes de prometer un cronograma de interconexión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Marcas de alerta: Los paneles Zinsco y Federal Pacific son peligros de incendio — encontrar uno es una oportunidad de servicio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Siempre inspecciona el panel — un representante que puede explicar el MSP genera credibilidad técnica instantánea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Finding an old or dangerous panel isn't a deal-killer — it's a deal-sweetener. Position it as: 'Good news — we found a safety issue before it found you. Here's how we can address that as part of the project.'</a:t>
            </a:r>
            <a:endParaRPr lang="en-US" sz="900" dirty="0"/>
          </a:p>
        </ns0:txBody>
      </ns0:sp>
    </ns0:spTree>
  </ns0:cSld>
  <ns0:clrMapOvr>
    <a:masterClrMapping/>
  </ns0:clrMapOvr>
</ns0:sld>
</file>

<file path=ppt/slides/slide60.xml><?xml version="1.0" encoding="utf-8"?>
<ns0:sld xmlns:a="http://schemas.openxmlformats.org/drawingml/2006/main" xmlns:ns0="http://schemas.openxmlformats.org/presentationml/2006/main">
  <ns0:cSld name="Slide 6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Consideraciones de HOA y Montaje</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Pregunta sobre el estado del HOA en el descubrimiento — averígualo ANTES de diseñar el sistema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Las restricciones de paneles frontales son comunes — verifica las pautas del HOA para las reglas de colocación de paneles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Los plazos de aprobación del HOA varían: 30–90 días en muchos mercados — establece expectativas de inmediato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Montaje en tierra vs. Montaje en techo: cuando el techo es subóptimo, el montaje en tierra es la alternativa profesional</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discovers an HOA restriction during the proposal (not the permit stage) looks incompetent. Ask in discovery. Address it proactively. Manage expectations before the homeowner googles it.</a:t>
            </a:r>
            <a:endParaRPr lang="en-US" sz="900" dirty="0"/>
          </a:p>
        </ns0:txBody>
      </ns0:sp>
    </ns0:spTree>
  </ns0:cSld>
  <ns0:clrMapOvr>
    <a:masterClrMapping/>
  </ns0:clrMapOvr>
</ns0:sld>
</file>

<file path=ppt/slides/slide61.xml><?xml version="1.0" encoding="utf-8"?>
<ns0:sld xmlns:a="http://schemas.openxmlformats.org/drawingml/2006/main" xmlns:ns0="http://schemas.openxmlformats.org/presentationml/2006/main">
  <ns0:cSld name="Slide 6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Evaluación del Sitio: Luz Verde vs. Luz Roja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960120"/>
            <a:ext cx="4023360" cy="338328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960120"/>
            <a:ext cx="4023360" cy="384048"/>
          </a:xfrm>
          <a:prstGeom prst="rect">
            <a:avLst/>
          </a:prstGeom>
          <a:solidFill>
            <a:srgbClr val="0891B2"/>
          </a:solidFill>
          <a:ln w="12700">
            <a:solidFill>
              <a:srgbClr val="0891B2"/>
            </a:solidFill>
            <a:prstDash val="solid"/>
          </a:ln>
        </ns0:spPr>
      </ns0:sp>
      <ns0:sp>
        <ns0:nvSpPr>
          <ns0:cNvPr id="7" name="Text 5"/>
          <ns0:cNvSpPr/>
          <ns0:nvPr/>
        </ns0:nvSpPr>
        <ns0:spPr>
          <a:xfrm>
            <a:off x="320040" y="978408"/>
            <a:ext cx="3931920" cy="347472"/>
          </a:xfrm>
          <a:prstGeom prst="rect">
            <a:avLst/>
          </a:prstGeom>
          <a:noFill/>
          <a:ln/>
        </ns0:spPr>
        <ns0: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INSTALACIONES CON LUZ VERDE</a:t>
            </a:r>
            <a:endParaRPr lang="en-US" sz="1200" dirty="0"/>
          </a:p>
        </ns0:txBody>
      </ns0:sp>
      <ns0:sp>
        <ns0:nvSpPr>
          <ns0:cNvPr id="8" name="Text 6"/>
          <ns0:cNvSpPr/>
          <ns0:nvPr/>
        </ns0:nvSpPr>
        <ns0:spPr>
          <a:xfrm>
            <a:off x="365760" y="1417320"/>
            <a:ext cx="3840480" cy="2834640"/>
          </a:xfrm>
          <a:prstGeom prst="rect">
            <a:avLst/>
          </a:prstGeom>
          <a:noFill/>
          <a:ln/>
        </ns0:spPr>
        <ns0: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Techo de menos de 10 años, orientado al sur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Panel eléctrico actualizado de 200 amperios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Sin sombra en la ventana de 9am–3pm</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 HOA or HOA pre-approved solar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High monthly bill ($200+) with consistent usage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Owns the home, solid credit profile</a:t>
            </a:r>
            <a:endParaRPr lang="en-US" sz="1200" dirty="0"/>
          </a:p>
        </ns0:txBody>
      </ns0:sp>
      <ns0:sp>
        <ns0:nvSpPr>
          <ns0:cNvPr id="9" name="Shape 7"/>
          <ns0:cNvSpPr/>
          <ns0:nvPr/>
        </ns0:nvSpPr>
        <ns0:spPr>
          <a:xfrm>
            <a:off x="4846320" y="960120"/>
            <a:ext cx="4023360" cy="338328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960120"/>
            <a:ext cx="4023360" cy="384048"/>
          </a:xfrm>
          <a:prstGeom prst="rect">
            <a:avLst/>
          </a:prstGeom>
          <a:solidFill>
            <a:srgbClr val="F4A61D"/>
          </a:solidFill>
          <a:ln w="12700">
            <a:solidFill>
              <a:srgbClr val="F4A61D"/>
            </a:solidFill>
            <a:prstDash val="solid"/>
          </a:ln>
        </ns0:spPr>
      </ns0:sp>
      <ns0:sp>
        <ns0:nvSpPr>
          <ns0:cNvPr id="11" name="Text 9"/>
          <ns0:cNvSpPr/>
          <ns0:nvPr/>
        </ns0:nvSpPr>
        <ns0:spPr>
          <a:xfrm>
            <a:off x="4892040" y="978408"/>
            <a:ext cx="3931920" cy="347472"/>
          </a:xfrm>
          <a:prstGeom prst="rect">
            <a:avLst/>
          </a:prstGeom>
          <a:noFill/>
          <a:ln/>
        </ns0:spPr>
        <ns0: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RED LIGHT INDICATORS</a:t>
            </a:r>
            <a:endParaRPr lang="en-US" sz="1200" dirty="0"/>
          </a:p>
        </ns0:txBody>
      </ns0:sp>
      <ns0:sp>
        <ns0:nvSpPr>
          <ns0:cNvPr id="12" name="Text 10"/>
          <ns0:cNvSpPr/>
          <ns0:nvPr/>
        </ns0:nvSpPr>
        <ns0:spPr>
          <a:xfrm>
            <a:off x="4937760" y="1417320"/>
            <a:ext cx="3840480" cy="2834640"/>
          </a:xfrm>
          <a:prstGeom prst="rect">
            <a:avLst/>
          </a:prstGeom>
          <a:noFill/>
          <a:ln/>
        </ns0:spPr>
        <ns0: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Roof 20+ years old, granule loss visible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100-amp or Zinsco/Federal Pacific panel</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Heavy shading from mature trees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HOA unknown or historically difficult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Bill under $80/month, minimal usage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Moving within 2 years, credit concerns</a:t>
            </a:r>
            <a:endParaRPr lang="en-US" sz="1200" dirty="0"/>
          </a:p>
        </ns0:txBody>
      </ns0:sp>
      <ns0:sp>
        <ns0:nvSpPr>
          <ns0:cNvPr id="13" name="Shape 11"/>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4" name="Text 12"/>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rep should be doing a 5-minute site assessment before opening the iPad. You're building credibility AND qualifying the deal simultaneously.</a:t>
            </a:r>
            <a:endParaRPr lang="en-US" sz="900" dirty="0"/>
          </a:p>
        </ns0:txBody>
      </ns0:sp>
    </ns0:spTree>
  </ns0:cSld>
  <ns0:clrMapOvr>
    <a:masterClrMapping/>
  </ns0:clrMapOvr>
</ns0:sld>
</file>

<file path=ppt/slides/slide62.xml><?xml version="1.0" encoding="utf-8"?>
<ns0:sld xmlns:a="http://schemas.openxmlformats.org/drawingml/2006/main" xmlns:ns0="http://schemas.openxmlformats.org/presentationml/2006/main">
  <ns0:cSld name="Slide 6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3.8</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Maestría en Descalificación</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El Poder del No. Protegiendo Tu Tiempo.</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63.xml><?xml version="1.0" encoding="utf-8"?>
<ns0:sld xmlns:a="http://schemas.openxmlformats.org/drawingml/2006/main" xmlns:ns0="http://schemas.openxmlformats.org/presentationml/2006/main">
  <ns0:cSld name="Slide 6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3.8 — MAESTRÍA EN DESCALIFICACIÓN</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Cuándo NO Vender</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el 1% de los mejores representantes descalifica más leads que los representantes promedio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Las 4 principales señales de descalificación que arruinan las instalaciones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decirle a alguien 'ahora no' genera más confianza que un pitch</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Soft DQ: keeping the door open and collecting referrals</a:t>
            </a:r>
            <a:endParaRPr lang="en-US" sz="1400" dirty="0"/>
          </a:p>
        </ns0:txBody>
      </ns0:sp>
    </ns0:spTree>
  </ns0:cSld>
  <ns0:clrMapOvr>
    <a:masterClrMapping/>
  </ns0:clrMapOvr>
</ns0:sld>
</file>

<file path=ppt/slides/slide64.xml><?xml version="1.0" encoding="utf-8"?>
<ns0:sld xmlns:a="http://schemas.openxmlformats.org/drawingml/2006/main" xmlns:ns0="http://schemas.openxmlformats.org/presentationml/2006/main">
  <ns0:cSld name="Slide 6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Principales Señales de Descalificación</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Mudarse en 2 años: El ROI solar típicamente necesita 5–7 años para recuperar la inversión — aconseja honestamente en contra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Puntaje crediticio menor a 600 sin cofirmante: El financiamiento no será aprobado; no desperdicies 2 horas construyendo una propuesta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 necesita reemplazo del techo pero sin presupuesto: No se puede instalar con seguridad sin atender el techo primero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Uso extremadamente bajo (la factura de $40): El costo del sistema nunca será viable — un sistema pequeño no tiene sentido financiero</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Top reps spend their time closing. They do not spend their time chasing. Disqualifying the bottom 20% of leads is what frees up the time and energy to close the top 20% properly.</a:t>
            </a:r>
            <a:endParaRPr lang="en-US" sz="900" dirty="0"/>
          </a:p>
        </ns0:txBody>
      </ns0:sp>
    </ns0:spTree>
  </ns0:cSld>
  <ns0:clrMapOvr>
    <a:masterClrMapping/>
  </ns0:clrMapOvr>
</ns0:sld>
</file>

<file path=ppt/slides/slide65.xml><?xml version="1.0" encoding="utf-8"?>
<ns0:sld xmlns:a="http://schemas.openxmlformats.org/drawingml/2006/main" xmlns:ns0="http://schemas.openxmlformats.org/presentationml/2006/main">
  <ns0:cSld name="Slide 6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Por Qué Descalificar Genera Confianza — y Referidos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544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movimiento del 'Consultor': 'No voy a venderte algo que no tiene sentido para ti en este momento'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Decirle la verdad a alguien cuando podrías haberle vendido de todos modos = la señal de confianza más poderosa en ventas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Las personas recomiendan empresas que no se aprovecharon de ellos — los propietarios descalificados envían referidos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Tu integridad es tu herramienta de ventas más duradera — un honesto 'todavía no' crea 3 oportunidades futuras</a:t>
            </a:r>
            <a:endParaRPr lang="en-US" sz="1400" dirty="0"/>
          </a:p>
        </ns0:txBody>
      </ns0:sp>
      <ns0:sp>
        <ns0:nvSpPr>
          <ns0:cNvPr id="6" name="Shape 4"/>
          <ns0:cNvSpPr/>
          <ns0:nvPr/>
        </ns0:nvSpPr>
        <ns0: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60604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62432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3063240"/>
            <a:ext cx="8321040" cy="118872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 based on the shade from your oak tree and the fact that you're relocating in 18 months, solar doesn't make financial sense for you right now. I'd be doing you a disservice if I let you sign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Wow... I appreciate that. My brother-in-law just bought a new place though — should I send him your number?</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powerful referrals come from people you didn't sell. When you tell a homeowner 'this doesn't make sense for you right now' and walk away, they will call their neighbor who DOES make sense.</a:t>
            </a:r>
            <a:endParaRPr lang="en-US" sz="900" dirty="0"/>
          </a:p>
        </ns0:txBody>
      </ns0:sp>
    </ns0:spTree>
  </ns0:cSld>
  <ns0:clrMapOvr>
    <a:masterClrMapping/>
  </ns0:clrMapOvr>
</ns0:sld>
</file>

<file path=ppt/slides/slide66.xml><?xml version="1.0" encoding="utf-8"?>
<ns0:sld xmlns:a="http://schemas.openxmlformats.org/drawingml/2006/main" xmlns:ns0="http://schemas.openxmlformats.org/presentationml/2006/main">
  <ns0:cSld name="Slide 6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 Descalificación Suave: Ahora No, Nunca Jamás No</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'Basado en la edad de tu techo, querríamos esperar hasta que lo hayas reemplazado — probablemente 12–18 meses desde ahora'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Deja un camino claro de regreso: 'Esto es exactamente lo que necesita cambiar antes de que el solar tenga sentido para ti'</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Mantenlos en tu CRM con un disparador de seguimiento — la Descalificación Suave se convierte en un activo de pipeline futuro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Siempre cierra en un referido: '¿Conoces a alguien que sea dueño de su casa y tenga una factura eléctrica alta?'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Soft DQ is not a lost deal — it's a delayed deal plus a referral opportunity. Every Soft DQ should end with a specific 're-entry trigger' and a referral ask.</a:t>
            </a:r>
            <a:endParaRPr lang="en-US" sz="900" dirty="0"/>
          </a:p>
        </ns0:txBody>
      </ns0:sp>
    </ns0:spTree>
  </ns0:cSld>
  <ns0:clrMapOvr>
    <a:masterClrMapping/>
  </ns0:clrMapOvr>
</ns0:sld>
</file>

<file path=ppt/slides/slide67.xml><?xml version="1.0" encoding="utf-8"?>
<ns0:sld xmlns:a="http://schemas.openxmlformats.org/drawingml/2006/main" xmlns:ns0="http://schemas.openxmlformats.org/presentationml/2006/main">
  <ns0:cSld name="Slide 6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3.9</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Simulación Completa de Descubrimiento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El Hogar García. Certificación de Descubrimiento.</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68.xml><?xml version="1.0" encoding="utf-8"?>
<ns0:sld xmlns:a="http://schemas.openxmlformats.org/drawingml/2006/main" xmlns:ns0="http://schemas.openxmlformats.org/presentationml/2006/main">
  <ns0:cSld name="Slide 6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3.9 — SIMULACIÓN COMPLETA</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Juntando Todo</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El escenario del Hogar García: pareja Toro + Tortuga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Probando todas las habilidades del Día 3 simultáneamente en una simulación en vivo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Lista de evaluación: Entorno, BOLT, Descubrimiento, Empatía</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AI simulation for immediate field-realistic practice</a:t>
            </a:r>
            <a:endParaRPr lang="en-US" sz="1400" dirty="0"/>
          </a:p>
        </ns0:txBody>
      </ns0:sp>
    </ns0:spTree>
  </ns0:cSld>
  <ns0:clrMapOvr>
    <a:masterClrMapping/>
  </ns0:clrMapOvr>
</ns0:sld>
</file>

<file path=ppt/slides/slide69.xml><?xml version="1.0" encoding="utf-8"?>
<ns0:sld xmlns:a="http://schemas.openxmlformats.org/drawingml/2006/main" xmlns:ns0="http://schemas.openxmlformats.org/presentationml/2006/main">
  <ns0:cSld name="Slide 6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Configuración del Escenario: El Hogar García</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22960"/>
            <a:ext cx="402336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22960"/>
            <a:ext cx="4023360" cy="365760"/>
          </a:xfrm>
          <a:prstGeom prst="rect">
            <a:avLst/>
          </a:prstGeom>
          <a:solidFill>
            <a:srgbClr val="0891B2"/>
          </a:solidFill>
          <a:ln w="12700">
            <a:solidFill>
              <a:srgbClr val="0891B2"/>
            </a:solidFill>
            <a:prstDash val="solid"/>
          </a:ln>
        </ns0:spPr>
      </ns0:sp>
      <ns0:sp>
        <ns0:nvSpPr>
          <ns0:cNvPr id="7" name="Text 5"/>
          <ns0:cNvSpPr/>
          <ns0:nvPr/>
        </ns0:nvSpPr>
        <ns0:spPr>
          <a:xfrm>
            <a:off x="320040" y="85039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SR. GARCÍA — EL TORO</a:t>
            </a:r>
            <a:endParaRPr lang="en-US" sz="1100" dirty="0"/>
          </a:p>
        </ns0:txBody>
      </ns0:sp>
      <ns0:sp>
        <ns0:nvSpPr>
          <ns0:cNvPr id="8" name="Text 6"/>
          <ns0:cNvSpPr/>
          <ns0:nvPr/>
        </ns0:nvSpPr>
        <ns0:spPr>
          <a:xfrm>
            <a:off x="365760" y="126187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Ocupado, directo, enfocado en resultados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Odia la empresa eléctrica, quiere ahorrar dinero</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Desafiará tus estimaciones de tiempo</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the ROI in the first 5 minutes</a:t>
            </a:r>
            <a:endParaRPr lang="en-US" sz="1100" dirty="0"/>
          </a:p>
        </ns0:txBody>
      </ns0:sp>
      <ns0:sp>
        <ns0:nvSpPr>
          <ns0:cNvPr id="9" name="Shape 7"/>
          <ns0:cNvSpPr/>
          <ns0:nvPr/>
        </ns0:nvSpPr>
        <ns0:spPr>
          <a:xfrm>
            <a:off x="4846320" y="822960"/>
            <a:ext cx="4023360" cy="17373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822960"/>
            <a:ext cx="4023360" cy="365760"/>
          </a:xfrm>
          <a:prstGeom prst="rect">
            <a:avLst/>
          </a:prstGeom>
          <a:solidFill>
            <a:srgbClr val="F4A61D"/>
          </a:solidFill>
          <a:ln w="12700">
            <a:solidFill>
              <a:srgbClr val="F4A61D"/>
            </a:solidFill>
            <a:prstDash val="solid"/>
          </a:ln>
        </ns0:spPr>
      </ns0:sp>
      <ns0:sp>
        <ns0:nvSpPr>
          <ns0:cNvPr id="11" name="Text 9"/>
          <ns0:cNvSpPr/>
          <ns0:nvPr/>
        </ns0:nvSpPr>
        <ns0:spPr>
          <a:xfrm>
            <a:off x="4892040" y="850392"/>
            <a:ext cx="3931920" cy="310896"/>
          </a:xfrm>
          <a:prstGeom prst="rect">
            <a:avLst/>
          </a:prstGeom>
          <a:noFill/>
          <a:ln/>
        </ns0:spPr>
        <ns0: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SRA. GARCÍA — LA TORTUGA</a:t>
            </a:r>
            <a:endParaRPr lang="en-US" sz="1100" dirty="0"/>
          </a:p>
        </ns0:txBody>
      </ns0:sp>
      <ns0:sp>
        <ns0:nvSpPr>
          <ns0:cNvPr id="12" name="Text 10"/>
          <ns0:cNvSpPr/>
          <ns0:nvPr/>
        </ns0:nvSpPr>
        <ns0:spPr>
          <a:xfrm>
            <a:off x="4937760" y="126187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Worried about the roof &amp; installation</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Thinks it 'sounds too good to be true'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Won't voice concerns unless asked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safety, warranties, and reassurance</a:t>
            </a:r>
            <a:endParaRPr lang="en-US" sz="1100" dirty="0"/>
          </a:p>
        </ns0:txBody>
      </ns0:sp>
      <ns0:sp>
        <ns0:nvSpPr>
          <ns0:cNvPr id="13" name="Shape 11"/>
          <ns0:cNvSpPr/>
          <ns0:nvPr/>
        </ns0:nvSpPr>
        <ns0:spPr>
          <a:xfrm>
            <a:off x="274320" y="2697480"/>
            <a:ext cx="4023360" cy="173736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ns0:spPr>
      </ns0:sp>
      <ns0:sp>
        <ns0:nvSpPr>
          <ns0:cNvPr id="14" name="Shape 12"/>
          <ns0:cNvSpPr/>
          <ns0:nvPr/>
        </ns0:nvSpPr>
        <ns0:spPr>
          <a:xfrm>
            <a:off x="274320" y="2697480"/>
            <a:ext cx="4023360" cy="365760"/>
          </a:xfrm>
          <a:prstGeom prst="rect">
            <a:avLst/>
          </a:prstGeom>
          <a:solidFill>
            <a:srgbClr val="2D9B4E"/>
          </a:solidFill>
          <a:ln w="12700">
            <a:solidFill>
              <a:srgbClr val="2D9B4E"/>
            </a:solidFill>
            <a:prstDash val="solid"/>
          </a:ln>
        </ns0:spPr>
      </ns0:sp>
      <ns0:sp>
        <ns0:nvSpPr>
          <ns0:cNvPr id="15" name="Text 13"/>
          <ns0:cNvSpPr/>
          <ns0:nvPr/>
        </ns0:nvSpPr>
        <ns0:spPr>
          <a:xfrm>
            <a:off x="320040" y="272491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THE HOME</a:t>
            </a:r>
            <a:endParaRPr lang="en-US" sz="1100" dirty="0"/>
          </a:p>
        </ns0:txBody>
      </ns0:sp>
      <ns0:sp>
        <ns0:nvSpPr>
          <ns0:cNvPr id="16" name="Text 14"/>
          <ns0:cNvSpPr/>
          <ns0:nvPr/>
        </ns0:nvSpPr>
        <ns0:spPr>
          <a:xfrm>
            <a:off x="365760" y="313639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12-year-old roof (borderline flag)</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$280/month average electric bill</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100-amp electrical panel (upgrade needed)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South-facing roof, minimal shading</a:t>
            </a:r>
            <a:endParaRPr lang="en-US" sz="1100" dirty="0"/>
          </a:p>
        </ns0:txBody>
      </ns0:sp>
      <ns0:sp>
        <ns0:nvSpPr>
          <ns0:cNvPr id="17" name="Shape 15"/>
          <ns0:cNvSpPr/>
          <ns0:nvPr/>
        </ns0:nvSpPr>
        <ns0:spPr>
          <a:xfrm>
            <a:off x="4846320" y="2697480"/>
            <a:ext cx="4023360" cy="173736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ns0:spPr>
      </ns0:sp>
      <ns0:sp>
        <ns0:nvSpPr>
          <ns0:cNvPr id="18" name="Shape 16"/>
          <ns0:cNvSpPr/>
          <ns0:nvPr/>
        </ns0:nvSpPr>
        <ns0:spPr>
          <a:xfrm>
            <a:off x="4846320" y="2697480"/>
            <a:ext cx="4023360" cy="365760"/>
          </a:xfrm>
          <a:prstGeom prst="rect">
            <a:avLst/>
          </a:prstGeom>
          <a:solidFill>
            <a:srgbClr val="E07B39"/>
          </a:solidFill>
          <a:ln w="12700">
            <a:solidFill>
              <a:srgbClr val="E07B39"/>
            </a:solidFill>
            <a:prstDash val="solid"/>
          </a:ln>
        </ns0:spPr>
      </ns0:sp>
      <ns0:sp>
        <ns0:nvSpPr>
          <ns0:cNvPr id="19" name="Text 17"/>
          <ns0:cNvSpPr/>
          <ns0:nvPr/>
        </ns0:nvSpPr>
        <ns0:spPr>
          <a:xfrm>
            <a:off x="4892040" y="2724912"/>
            <a:ext cx="393192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YOUR OBJECTIVES</a:t>
            </a:r>
            <a:endParaRPr lang="en-US" sz="1100" dirty="0"/>
          </a:p>
        </ns0:txBody>
      </ns0:sp>
      <ns0:sp>
        <ns0:nvSpPr>
          <ns0:cNvPr id="20" name="Text 18"/>
          <ns0:cNvSpPr/>
          <ns0:nvPr/>
        </ns0:nvSpPr>
        <ns0:spPr>
          <a:xfrm>
            <a:off x="4937760" y="3136392"/>
            <a:ext cx="3840480" cy="1234440"/>
          </a:xfrm>
          <a:prstGeom prst="rect">
            <a:avLst/>
          </a:prstGeom>
          <a:noFill/>
          <a:ln/>
        </ns0:spPr>
        <ns0: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Control seating within 3 minutes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Identify BOLT type for each Garcia</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Ask 8+ discovery questions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Reach the 'That's right' transition</a:t>
            </a:r>
            <a:endParaRPr lang="en-US" sz="1100" dirty="0"/>
          </a:p>
        </ns0:txBody>
      </ns0:sp>
      <ns0:sp>
        <ns0:nvSpPr>
          <ns0:cNvPr id="21" name="Shape 19"/>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2" name="Text 20"/>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scenario tests every skill taught in Day 3. Mr. Garcia will pressure you for the numbers early. Mrs. Garcia won't say much unless you ask her directly. Both must be satisfied to get the close.</a:t>
            </a:r>
            <a:endParaRPr lang="en-US" sz="900" dirty="0"/>
          </a:p>
        </ns0:txBody>
      </ns0:sp>
    </ns0:spTree>
  </ns0:cSld>
  <ns0:clrMapOvr>
    <a:masterClrMapping/>
  </ns0:clrMapOvr>
</ns0:sld>
</file>

<file path=ppt/slides/slide70.xml><?xml version="1.0" encoding="utf-8"?>
<ns0:sld xmlns:a="http://schemas.openxmlformats.org/drawingml/2006/main" xmlns:ns0="http://schemas.openxmlformats.org/presentationml/2006/main">
  <ns0:cSld name="Slide 7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Lista de Evaluación: Certificación del Día 3</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Control del Entorno: ¿Guiaron a los García a la mesa de la cocina? ¿Eliminaron el TV?</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Identificación BOLT: ¿Identificaron correctamente al Sr. García (Toro) y a la Sra. García (Tortuga) en 5 minutos?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Profundidad de Descubrimiento: ¿Hicieron 8+ preguntas en las 3 categorías (Dolor, Urgencia, Decisión)?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Empatía Táctica: ¿Usaron al menos 2 espejos y 2 etiquetas durante la consulta?</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Managers will score reps using this checklist. A score of 80% or above on all four categories = Day 3 Certified. Below 80% = focused coaching session before advancing to Day 4.</a:t>
            </a:r>
            <a:endParaRPr lang="en-US" sz="900" dirty="0"/>
          </a:p>
        </ns0:txBody>
      </ns0:sp>
    </ns0:spTree>
  </ns0:cSld>
  <ns0:clrMapOvr>
    <a:masterClrMapping/>
  </ns0:clrMapOvr>
</ns0:sld>
</file>

<file path=ppt/slides/slide71.xml><?xml version="1.0" encoding="utf-8"?>
<ns0:sld xmlns:a="http://schemas.openxmlformats.org/drawingml/2006/main" xmlns:ns0="http://schemas.openxmlformats.org/presentationml/2006/main">
  <ns0:cSld name="Slide 7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11480"/>
            <a:ext cx="8412480" cy="502920"/>
          </a:xfrm>
          <a:prstGeom prst="rect">
            <a:avLst/>
          </a:prstGeom>
          <a:noFill/>
          <a:ln/>
        </ns0:spPr>
        <ns0: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Simulación de IA: El Hogar García</a:t>
            </a:r>
            <a:endParaRPr lang="en-US" sz="20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Completar una consulta realista de 15 minutos con el bot IA del Hogar García</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Escanea el código QR o haz clic en el enlace de simulación para lanzar el bot de voz IA García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Preséntate e intenta ejecutar el marco de consulta completo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The AI is programmed to behave as both Mr. and Mrs. Garcia — realistic pushback included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Record your session audio and submit for manager review</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Your session will be scored against the 4-category Day 3 Evaluation Checklist</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15–20 MIN</a:t>
            </a:r>
            <a:endParaRPr lang="en-US" sz="1400" dirty="0"/>
          </a:p>
        </ns0:txBody>
      </ns0:sp>
    </ns0:spTree>
  </ns0:cSld>
  <ns0:clrMapOvr>
    <a:masterClrMapping/>
  </ns0:clrMapOvr>
</ns0:sld>
</file>

<file path=ppt/slides/slide72.xml><?xml version="1.0" encoding="utf-8"?>
<ns0:sld xmlns:a="http://schemas.openxmlformats.org/drawingml/2006/main" xmlns:ns0="http://schemas.openxmlformats.org/presentationml/2006/main">
  <ns0:cSld name="Slide 7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4592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57200"/>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3.10</a:t>
            </a:r>
            <a:endParaRPr lang="en-US" sz="1300" dirty="0"/>
          </a:p>
        </ns0:txBody>
      </ns0:sp>
      <ns0:sp>
        <ns0:nvSpPr>
          <ns0:cNvPr id="4" name="Text 2"/>
          <ns0:cNvSpPr/>
          <ns0:nvPr/>
        </ns0:nvSpPr>
        <ns0:spPr>
          <a:xfrm>
            <a:off x="365760" y="548640"/>
            <a:ext cx="8412480" cy="82296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Resumen del Día 3</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Conclusiones Clave y Vista Previa del Día 4</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73.xml><?xml version="1.0" encoding="utf-8"?>
<ns0:sld xmlns:a="http://schemas.openxmlformats.org/drawingml/2006/main" xmlns:ns0="http://schemas.openxmlformats.org/presentationml/2006/main">
  <ns0:cSld name="Slide 7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Día 3: Las 4 Leyes de la Maestría en Consulta</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91440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320040" y="960120"/>
            <a:ext cx="594360" cy="731520"/>
          </a:xfrm>
          <a:prstGeom prst="rect">
            <a:avLst/>
          </a:prstGeom>
          <a:noFill/>
          <a:ln/>
        </ns0:spPr>
        <ns0: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01</a:t>
            </a:r>
            <a:endParaRPr lang="en-US" sz="2600" dirty="0"/>
          </a:p>
        </ns0:txBody>
      </ns0:sp>
      <ns0:sp>
        <ns0:nvSpPr>
          <ns0:cNvPr id="7" name="Shape 5"/>
          <ns0:cNvSpPr/>
          <ns0:nvPr/>
        </ns0:nvSpPr>
        <ns0:spPr>
          <a:xfrm>
            <a:off x="960120" y="1005840"/>
            <a:ext cx="27432" cy="640080"/>
          </a:xfrm>
          <a:prstGeom prst="rect">
            <a:avLst/>
          </a:prstGeom>
          <a:solidFill>
            <a:srgbClr val="F4A61D"/>
          </a:solidFill>
          <a:ln w="12700">
            <a:solidFill>
              <a:srgbClr val="F4A61D"/>
            </a:solidFill>
            <a:prstDash val="solid"/>
          </a:ln>
        </ns0:spPr>
      </ns0:sp>
      <ns0:sp>
        <ns0:nvSpPr>
          <ns0:cNvPr id="8" name="Text 6"/>
          <ns0:cNvSpPr/>
          <ns0:nvPr/>
        </ns0:nvSpPr>
        <ns0:spPr>
          <a:xfrm>
            <a:off x="1051560" y="1005840"/>
            <a:ext cx="7589520" cy="685800"/>
          </a:xfrm>
          <a:prstGeom prst="rect">
            <a:avLst/>
          </a:prstGeom>
          <a:noFill/>
          <a:ln/>
        </ns0:spPr>
        <ns0: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Control the Room or Lose the Deal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El control del entorno no es negociable. Mesa de cocina, sin TV, ambos tomadores de decisiones sentados.</a:t>
            </a:r>
            <a:endParaRPr lang="en-US" sz="1300" dirty="0"/>
          </a:p>
        </ns0:txBody>
      </ns0:sp>
      <ns0:sp>
        <ns0:nvSpPr>
          <ns0:cNvPr id="9" name="Shape 7"/>
          <ns0:cNvSpPr/>
          <ns0:nvPr/>
        </ns0:nvSpPr>
        <ns0:spPr>
          <a:xfrm>
            <a:off x="274320" y="187452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10" name="Text 8"/>
          <ns0:cNvSpPr/>
          <ns0:nvPr/>
        </ns0:nvSpPr>
        <ns0:spPr>
          <a:xfrm>
            <a:off x="320040" y="1920240"/>
            <a:ext cx="594360" cy="731520"/>
          </a:xfrm>
          <a:prstGeom prst="rect">
            <a:avLst/>
          </a:prstGeom>
          <a:noFill/>
          <a:ln/>
        </ns0:spPr>
        <ns0: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02</a:t>
            </a:r>
            <a:endParaRPr lang="en-US" sz="2600" dirty="0"/>
          </a:p>
        </ns0:txBody>
      </ns0:sp>
      <ns0:sp>
        <ns0:nvSpPr>
          <ns0:cNvPr id="11" name="Shape 9"/>
          <ns0:cNvSpPr/>
          <ns0:nvPr/>
        </ns0:nvSpPr>
        <ns0:spPr>
          <a:xfrm>
            <a:off x="960120" y="1965960"/>
            <a:ext cx="27432" cy="640080"/>
          </a:xfrm>
          <a:prstGeom prst="rect">
            <a:avLst/>
          </a:prstGeom>
          <a:solidFill>
            <a:srgbClr val="0891B2"/>
          </a:solidFill>
          <a:ln w="12700">
            <a:solidFill>
              <a:srgbClr val="0891B2"/>
            </a:solidFill>
            <a:prstDash val="solid"/>
          </a:ln>
        </ns0:spPr>
      </ns0:sp>
      <ns0:sp>
        <ns0:nvSpPr>
          <ns0:cNvPr id="12" name="Text 10"/>
          <ns0:cNvSpPr/>
          <ns0:nvPr/>
        </ns0:nvSpPr>
        <ns0:spPr>
          <a:xfrm>
            <a:off x="1051560" y="1965960"/>
            <a:ext cx="7589520" cy="685800"/>
          </a:xfrm>
          <a:prstGeom prst="rect">
            <a:avLst/>
          </a:prstGeom>
          <a:noFill/>
          <a:ln/>
        </ns0:spPr>
        <ns0: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BOLT Determines Your Tone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You don't have a pitch — you have 4 pitches. One for each personality type.</a:t>
            </a:r>
            <a:endParaRPr lang="en-US" sz="1300" dirty="0"/>
          </a:p>
        </ns0:txBody>
      </ns0:sp>
      <ns0:sp>
        <ns0:nvSpPr>
          <ns0:cNvPr id="13" name="Shape 11"/>
          <ns0:cNvSpPr/>
          <ns0:nvPr/>
        </ns0:nvSpPr>
        <ns0:spPr>
          <a:xfrm>
            <a:off x="274320" y="283464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14" name="Text 12"/>
          <ns0:cNvSpPr/>
          <ns0:nvPr/>
        </ns0:nvSpPr>
        <ns0:spPr>
          <a:xfrm>
            <a:off x="320040" y="2880360"/>
            <a:ext cx="594360" cy="731520"/>
          </a:xfrm>
          <a:prstGeom prst="rect">
            <a:avLst/>
          </a:prstGeom>
          <a:noFill/>
          <a:ln/>
        </ns0:spPr>
        <ns0: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03</a:t>
            </a:r>
            <a:endParaRPr lang="en-US" sz="2600" dirty="0"/>
          </a:p>
        </ns0:txBody>
      </ns0:sp>
      <ns0:sp>
        <ns0:nvSpPr>
          <ns0:cNvPr id="15" name="Shape 13"/>
          <ns0:cNvSpPr/>
          <ns0:nvPr/>
        </ns0:nvSpPr>
        <ns0:spPr>
          <a:xfrm>
            <a:off x="960120" y="2926080"/>
            <a:ext cx="27432" cy="640080"/>
          </a:xfrm>
          <a:prstGeom prst="rect">
            <a:avLst/>
          </a:prstGeom>
          <a:solidFill>
            <a:srgbClr val="F4A61D"/>
          </a:solidFill>
          <a:ln w="12700">
            <a:solidFill>
              <a:srgbClr val="F4A61D"/>
            </a:solidFill>
            <a:prstDash val="solid"/>
          </a:ln>
        </ns0:spPr>
      </ns0:sp>
      <ns0:sp>
        <ns0:nvSpPr>
          <ns0:cNvPr id="16" name="Text 14"/>
          <ns0:cNvSpPr/>
          <ns0:nvPr/>
        </ns0:nvSpPr>
        <ns0:spPr>
          <a:xfrm>
            <a:off x="1051560" y="2926080"/>
            <a:ext cx="7589520" cy="685800"/>
          </a:xfrm>
          <a:prstGeom prst="rect">
            <a:avLst/>
          </a:prstGeom>
          <a:noFill/>
          <a:ln/>
        </ns0:spPr>
        <ns0: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Discovery is the Sale Before the Sale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The homeowner who builds their own case for solar will close themselves.</a:t>
            </a:r>
            <a:endParaRPr lang="en-US" sz="1300" dirty="0"/>
          </a:p>
        </ns0:txBody>
      </ns0:sp>
      <ns0:sp>
        <ns0:nvSpPr>
          <ns0:cNvPr id="17" name="Shape 15"/>
          <ns0:cNvSpPr/>
          <ns0:nvPr/>
        </ns0:nvSpPr>
        <ns0:spPr>
          <a:xfrm>
            <a:off x="274320" y="379476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18" name="Text 16"/>
          <ns0:cNvSpPr/>
          <ns0:nvPr/>
        </ns0:nvSpPr>
        <ns0:spPr>
          <a:xfrm>
            <a:off x="320040" y="3840480"/>
            <a:ext cx="594360" cy="731520"/>
          </a:xfrm>
          <a:prstGeom prst="rect">
            <a:avLst/>
          </a:prstGeom>
          <a:noFill/>
          <a:ln/>
        </ns0:spPr>
        <ns0: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04</a:t>
            </a:r>
            <a:endParaRPr lang="en-US" sz="2600" dirty="0"/>
          </a:p>
        </ns0:txBody>
      </ns0:sp>
      <ns0:sp>
        <ns0:nvSpPr>
          <ns0:cNvPr id="19" name="Shape 17"/>
          <ns0:cNvSpPr/>
          <ns0:nvPr/>
        </ns0:nvSpPr>
        <ns0:spPr>
          <a:xfrm>
            <a:off x="960120" y="3886200"/>
            <a:ext cx="27432" cy="640080"/>
          </a:xfrm>
          <a:prstGeom prst="rect">
            <a:avLst/>
          </a:prstGeom>
          <a:solidFill>
            <a:srgbClr val="0891B2"/>
          </a:solidFill>
          <a:ln w="12700">
            <a:solidFill>
              <a:srgbClr val="0891B2"/>
            </a:solidFill>
            <a:prstDash val="solid"/>
          </a:ln>
        </ns0:spPr>
      </ns0:sp>
      <ns0:sp>
        <ns0:nvSpPr>
          <ns0:cNvPr id="20" name="Text 18"/>
          <ns0:cNvSpPr/>
          <ns0:nvPr/>
        </ns0:nvSpPr>
        <ns0:spPr>
          <a:xfrm>
            <a:off x="1051560" y="3886200"/>
            <a:ext cx="7589520" cy="685800"/>
          </a:xfrm>
          <a:prstGeom prst="rect">
            <a:avLst/>
          </a:prstGeom>
          <a:noFill/>
          <a:ln/>
        </ns0:spPr>
        <ns0: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Disqualify Early to Close Late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Top closers protect their time. Saying 'not yet' is a power move, not a defeat.</a:t>
            </a:r>
            <a:endParaRPr lang="en-US" sz="1300" dirty="0"/>
          </a:p>
        </ns0:txBody>
      </ns0:sp>
    </ns0:spTree>
  </ns0:cSld>
  <ns0:clrMapOvr>
    <a:masterClrMapping/>
  </ns0:clrMapOvr>
</ns0:sld>
</file>

<file path=ppt/slides/slide74.xml><?xml version="1.0" encoding="utf-8"?>
<ns0:sld xmlns:a="http://schemas.openxmlformats.org/drawingml/2006/main" xmlns:ns0="http://schemas.openxmlformats.org/presentationml/2006/main">
  <ns0:cSld name="Slide 7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Tarea: Antes del Día 4</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1945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Memoriza las 12 Preguntas de Descubrimiento — sé capaz de recitar las 3 categorías sin notas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Escucha 2 llamadas grabadas: identifica el tipo BOLT de cada propietario y anota qué cambió tu lectura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Prepara tu Kit de Evaluación del Techo: teléfono con acceso LIDAR, lista de verificación, fotos del panel en el dispositivo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Realiza un descubrimiento simulado autograbado con un compañero — envíalo a tu gerente para revisión</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Consistency between training days is where reps separate. Day 4 moves into The Presentation, which is entirely dependent on the quality of the discovery questions asked in Day 3.</a:t>
            </a:r>
            <a:endParaRPr lang="en-US" sz="900" dirty="0"/>
          </a:p>
        </ns0:txBody>
      </ns0:sp>
    </ns0:spTree>
  </ns0:cSld>
  <ns0:clrMapOvr>
    <a:masterClrMapping/>
  </ns0:clrMapOvr>
</ns0:sld>
</file>

<file path=ppt/slides/slide75.xml><?xml version="1.0" encoding="utf-8"?>
<ns0:sld xmlns:a="http://schemas.openxmlformats.org/drawingml/2006/main" xmlns:ns0="http://schemas.openxmlformats.org/presentationml/2006/main">
  <ns0:cSld name="Slide 7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463040"/>
          </a:xfrm>
          <a:prstGeom prst="rect">
            <a:avLst/>
          </a:prstGeom>
          <a:solidFill>
            <a:srgbClr val="1A2840"/>
          </a:solidFill>
          <a:ln w="12700">
            <a:solidFill>
              <a:srgbClr val="1A2840"/>
            </a:solidFill>
            <a:prstDash val="solid"/>
          </a:ln>
        </ns0:spPr>
      </ns0:sp>
      <ns0:sp>
        <ns0:nvSpPr>
          <ns0:cNvPr id="3" name="Shape 1"/>
          <ns0:cNvSpPr/>
          <ns0:nvPr/>
        </ns0:nvSpPr>
        <ns0:spPr>
          <a:xfrm>
            <a:off x="0" y="0"/>
            <a:ext cx="320040" cy="1463040"/>
          </a:xfrm>
          <a:prstGeom prst="rect">
            <a:avLst/>
          </a:prstGeom>
          <a:solidFill>
            <a:srgbClr val="F4A61D"/>
          </a:solidFill>
          <a:ln w="12700">
            <a:solidFill>
              <a:srgbClr val="F4A61D"/>
            </a:solidFill>
            <a:prstDash val="solid"/>
          </a:ln>
        </ns0:spPr>
      </ns0:sp>
      <ns0:sp>
        <ns0:nvSpPr>
          <ns0:cNvPr id="4" name="Text 2"/>
          <ns0:cNvSpPr/>
          <ns0:nvPr/>
        </ns0:nvSpPr>
        <ns0:spPr>
          <a:xfrm>
            <a:off x="502920" y="182880"/>
            <a:ext cx="8229600" cy="457200"/>
          </a:xfrm>
          <a:prstGeom prst="rect">
            <a:avLst/>
          </a:prstGeom>
          <a:noFill/>
          <a:ln/>
        </ns0:spPr>
        <ns0: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PRÓXIMAMENTE: DÍA 4</a:t>
            </a:r>
            <a:endParaRPr lang="en-US" sz="1200" dirty="0"/>
          </a:p>
        </ns0:txBody>
      </ns0:sp>
      <ns0:sp>
        <ns0:nvSpPr>
          <ns0:cNvPr id="5" name="Text 3"/>
          <ns0:cNvSpPr/>
          <ns0:nvPr/>
        </ns0:nvSpPr>
        <ns0:spPr>
          <a:xfrm>
            <a:off x="502920" y="640080"/>
            <a:ext cx="8229600" cy="685800"/>
          </a:xfrm>
          <a:prstGeom prst="rect">
            <a:avLst/>
          </a:prstGeom>
          <a:noFill/>
          <a:ln/>
        </ns0:spPr>
        <ns0:txBody>
          <a:bodyPr wrap="square" lIns="0" tIns="0" rIns="0" bIns="0" rtlCol="0" anchor="ctr"/>
          <a:lstStyle/>
          <a:p>
            <a:pPr algn="l" indent="0" marL="0">
              <a:buNone/>
            </a:pPr>
            <a:r>
              <a:rPr lang="en-US" sz="2400" b="1" dirty="0">
                <a:solidFill>
                  <a:srgbClr val="FFFFFF"/>
                </a:solidFill>
                <a:latin typeface="Arial Black" pitchFamily="34" charset="0"/>
                <a:ea typeface="Arial Black" pitchFamily="34" charset="-122"/>
                <a:cs typeface="Arial Black" pitchFamily="34" charset="-120"/>
              </a:rPr>
              <a:t>Maestría en Presentación y El Cierre</a:t>
            </a:r>
            <a:endParaRPr lang="en-US" sz="2400" dirty="0"/>
          </a:p>
        </ns0:txBody>
      </ns0:sp>
      <ns0:sp>
        <ns0:nvSpPr>
          <ns0:cNvPr id="6" name="Shape 4"/>
          <ns0:cNvSpPr/>
          <ns0:nvPr/>
        </ns0:nvSpPr>
        <ns0:spPr>
          <a:xfrm>
            <a:off x="27432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7" name="Text 5"/>
          <ns0:cNvSpPr/>
          <ns0:nvPr/>
        </ns0:nvSpPr>
        <ns0:spPr>
          <a:xfrm>
            <a:off x="411480" y="187452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Maestría en Presentación</a:t>
            </a:r>
            <a:endParaRPr lang="en-US" sz="1400" dirty="0"/>
          </a:p>
        </ns0:txBody>
      </ns0:sp>
      <ns0:sp>
        <ns0:nvSpPr>
          <ns0:cNvPr id="8" name="Text 6"/>
          <ns0:cNvSpPr/>
          <ns0:nvPr/>
        </ns0:nvSpPr>
        <ns0:spPr>
          <a:xfrm>
            <a:off x="411480" y="233172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Construir y entregar los números que cierran el trato</a:t>
            </a:r>
            <a:endParaRPr lang="en-US" sz="1100" dirty="0"/>
          </a:p>
        </ns0:txBody>
      </ns0:sp>
      <ns0:sp>
        <ns0:nvSpPr>
          <ns0:cNvPr id="9" name="Shape 7"/>
          <ns0:cNvSpPr/>
          <ns0:nvPr/>
        </ns0:nvSpPr>
        <ns0:spPr>
          <a:xfrm>
            <a:off x="475488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Text 8"/>
          <ns0:cNvSpPr/>
          <ns0:nvPr/>
        </ns0:nvSpPr>
        <ns0:spPr>
          <a:xfrm>
            <a:off x="4892040" y="187452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Las Matemáticas del Solar</a:t>
            </a:r>
            <a:endParaRPr lang="en-US" sz="1400" dirty="0"/>
          </a:p>
        </ns0:txBody>
      </ns0:sp>
      <ns0:sp>
        <ns0:nvSpPr>
          <ns0:cNvPr id="11" name="Text 9"/>
          <ns0:cNvSpPr/>
          <ns0:nvPr/>
        </ns0:nvSpPr>
        <ns0:spPr>
          <a:xfrm>
            <a:off x="4892040" y="233172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Utility escalation, ROI, payback period — told simply</a:t>
            </a:r>
            <a:endParaRPr lang="en-US" sz="1100" dirty="0"/>
          </a:p>
        </ns0:txBody>
      </ns0:sp>
      <ns0:sp>
        <ns0:nvSpPr>
          <ns0:cNvPr id="12" name="Shape 10"/>
          <ns0:cNvSpPr/>
          <ns0:nvPr/>
        </ns0:nvSpPr>
        <ns0:spPr>
          <a:xfrm>
            <a:off x="27432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3" name="Text 11"/>
          <ns0:cNvSpPr/>
          <ns0:nvPr/>
        </ns0:nvSpPr>
        <ns0:spPr>
          <a:xfrm>
            <a:off x="411480" y="352044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Handling Big Objections</a:t>
            </a:r>
            <a:endParaRPr lang="en-US" sz="1400" dirty="0"/>
          </a:p>
        </ns0:txBody>
      </ns0:sp>
      <ns0:sp>
        <ns0:nvSpPr>
          <ns0:cNvPr id="14" name="Text 12"/>
          <ns0:cNvSpPr/>
          <ns0:nvPr/>
        </ns0:nvSpPr>
        <ns0:spPr>
          <a:xfrm>
            <a:off x="411480" y="397764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Price, financing, warranties, installer trust — all covered</a:t>
            </a:r>
            <a:endParaRPr lang="en-US" sz="1100" dirty="0"/>
          </a:p>
        </ns0:txBody>
      </ns0:sp>
      <ns0:sp>
        <ns0:nvSpPr>
          <ns0:cNvPr id="15" name="Shape 13"/>
          <ns0:cNvSpPr/>
          <ns0:nvPr/>
        </ns0:nvSpPr>
        <ns0:spPr>
          <a:xfrm>
            <a:off x="475488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6" name="Text 14"/>
          <ns0:cNvSpPr/>
          <ns0:nvPr/>
        </ns0:nvSpPr>
        <ns0:spPr>
          <a:xfrm>
            <a:off x="4892040" y="352044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The Close</a:t>
            </a:r>
            <a:endParaRPr lang="en-US" sz="1400" dirty="0"/>
          </a:p>
        </ns0:txBody>
      </ns0:sp>
      <ns0:sp>
        <ns0:nvSpPr>
          <ns0:cNvPr id="17" name="Text 15"/>
          <ns0:cNvSpPr/>
          <ns0:nvPr/>
        </ns0:nvSpPr>
        <ns0:spPr>
          <a:xfrm>
            <a:off x="4892040" y="397764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Asking for the signature with confidence and no pressure</a:t>
            </a:r>
            <a:endParaRPr lang="en-US" sz="1100" dirty="0"/>
          </a:p>
        </ns0:txBody>
      </ns0:sp>
      <ns0:sp>
        <ns0:nvSpPr>
          <ns0:cNvPr id="18" name="Shape 16"/>
          <ns0:cNvSpPr/>
          <ns0:nvPr/>
        </ns0:nvSpPr>
        <ns0:spPr>
          <a:xfrm>
            <a:off x="0" y="4709160"/>
            <a:ext cx="9144000" cy="434340"/>
          </a:xfrm>
          <a:prstGeom prst="rect">
            <a:avLst/>
          </a:prstGeom>
          <a:solidFill>
            <a:srgbClr val="F4A61D"/>
          </a:solidFill>
          <a:ln w="12700">
            <a:solidFill>
              <a:srgbClr val="F4A61D"/>
            </a:solidFill>
            <a:prstDash val="solid"/>
          </a:ln>
        </ns0:spPr>
      </ns0:sp>
      <ns0:sp>
        <ns0:nvSpPr>
          <ns0:cNvPr id="19" name="Text 17"/>
          <ns0:cNvSpPr/>
          <ns0:nvPr/>
        </ns0:nvSpPr>
        <ns0:spPr>
          <a:xfrm>
            <a:off x="457200" y="4736592"/>
            <a:ext cx="8229600" cy="402336"/>
          </a:xfrm>
          <a:prstGeom prst="rect">
            <a:avLst/>
          </a:prstGeom>
          <a:noFill/>
          <a:ln/>
        </ns0:spPr>
        <ns0: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3 Complete  ·  Come back tomorrow ready to close.</a:t>
            </a:r>
            <a:endParaRPr lang="en-US" sz="1300" dirty="0"/>
          </a:p>
        </ns0:txBody>
      </ns0:sp>
    </ns0:spTree>
  </ns0:cSld>
  <ns0:clrMapOvr>
    <a: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3</dc:title>
  <dc:subject>PptxGenJS Presentation</dc:subject>
  <dc:creator>Solar Accelerator Training</dc:creator>
  <cp:lastModifiedBy>Solar Accelerator Training</cp:lastModifiedBy>
  <cp:revision>1</cp:revision>
  <dcterms:created xsi:type="dcterms:W3CDTF">2026-03-09T02:37:17Z</dcterms:created>
  <dcterms:modified xsi:type="dcterms:W3CDTF">2026-03-09T02:37:17Z</dcterms:modified>
</cp:coreProperties>
</file>