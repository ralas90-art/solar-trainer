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ns0:sld xmlns:a="http://schemas.openxmlformats.org/drawingml/2006/main" xmlns:ns0="http://schemas.openxmlformats.org/presentationml/2006/main">
  <ns0:cSld name="Slide 1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1600200"/>
            <a:ext cx="9144000" cy="2011680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600200"/>
            <a:ext cx="320040" cy="2011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548640" y="384048"/>
            <a:ext cx="8229600" cy="51206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ACCELERATOR</a:t>
            </a:r>
            <a:endParaRPr lang="en-US" sz="13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548640" y="868680"/>
            <a:ext cx="822960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Sales Rep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Program</a:t>
            </a:r>
            <a:endParaRPr lang="en-US" sz="17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548640" y="1691640"/>
            <a:ext cx="2743200" cy="6400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DÍA 7</a:t>
            </a:r>
            <a:endParaRPr lang="en-US" sz="38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548640" y="2377440"/>
            <a:ext cx="822960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Deployment, First Deals &amp; Pro Rep Mindset</a:t>
            </a:r>
            <a:endParaRPr lang="en-US" sz="19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548640" y="2944368"/>
            <a:ext cx="82296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7.1–7.10  ·  Full Cycle Review · 7-7-7 Blueprint · Rejection Resilience · Pipeline · Referrals · Graduation</a:t>
            </a:r>
            <a:endParaRPr lang="en-US" sz="10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0" y="4498848"/>
            <a:ext cx="9144000" cy="6446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457200" y="4517136"/>
            <a:ext cx="8229600" cy="60807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Days of Classroom. A Career in the Field. Your First Deal in 72 Hours.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2.xml><?xml version="1.0" encoding="utf-8"?>
<ns0:sld xmlns:a="http://schemas.openxmlformats.org/drawingml/2006/main" xmlns:ns0="http://schemas.openxmlformats.org/presentationml/2006/main">
  <ns0:cSld name="Slide 2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7.1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Cycle Review: Connecting the Dots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of Classroom Becomes One Fluid Motion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7.1 — THE CRITICAL PATH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the First Knock to the Signed Agreement — in One Motion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Speed-to-Revenue Roadmap: the 4 pillars as a relay race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your personal Friction Points before you hit the field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One-Call Close Mentality: why momentum is the most valuable asset in solar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personalized Sales Process One-Sheet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ns0:sld xmlns:a="http://schemas.openxmlformats.org/drawingml/2006/main" xmlns:ns0="http://schemas.openxmlformats.org/presentationml/2006/main">
  <ns0:cSld name="Slide 4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164592"/>
            <a:ext cx="8503920" cy="5303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Speed-to-Revenue Roadmap: The Relay Race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274320" y="841248"/>
            <a:ext cx="2103120" cy="356616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274320" y="841248"/>
            <a:ext cx="21031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320040" y="859536"/>
            <a:ext cx="201168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10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320040" y="1298448"/>
            <a:ext cx="201168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320040" y="1901952"/>
            <a:ext cx="201168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PROSPECCIÓN</a:t>
            </a:r>
            <a:endParaRPr lang="en-US" sz="13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365760" y="2377440"/>
            <a:ext cx="192024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HANDOFF: 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Knock → Appointment Set</a:t>
            </a:r>
            <a:endParaRPr lang="en-US" sz="9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2386584" y="2468880"/>
            <a:ext cx="91440" cy="2560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12" name="Shape 10"/>
          <ns0:cNvSpPr/>
          <ns0:nvPr/>
        </ns0:nvSpPr>
        <ns0:spPr>
          <a:xfrm>
            <a:off x="2478024" y="2487168"/>
            <a:ext cx="0" cy="0"/>
          </a:xfrm>
          <a:prstGeom prst="rect">
            <a:avLst/>
          </a:prstGeom>
          <a:noFill/>
          <a:ln/>
        </ns0:spPr>
      </ns0:sp>
      <ns0:sp>
        <ns0:nvSpPr>
          <ns0:cNvPr id="13" name="Shape 11"/>
          <ns0:cNvSpPr/>
          <ns0:nvPr/>
        </ns0:nvSpPr>
        <ns0:spPr>
          <a:xfrm>
            <a:off x="2487168" y="841248"/>
            <a:ext cx="2103120" cy="356616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2487168" y="841248"/>
            <a:ext cx="2103120" cy="38404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2532888" y="859536"/>
            <a:ext cx="201168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</a:t>
            </a:r>
            <a:endParaRPr lang="en-US" sz="10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2532888" y="1298448"/>
            <a:ext cx="201168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2532888" y="1901952"/>
            <a:ext cx="201168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DESCUBRIMIENTO</a:t>
            </a:r>
            <a:endParaRPr lang="en-US" sz="13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2578608" y="2377440"/>
            <a:ext cx="192024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HANDOFF: 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Found → Presentation Earned</a:t>
            </a:r>
            <a:endParaRPr lang="en-US" sz="9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4599432" y="2468880"/>
            <a:ext cx="91440" cy="2560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20" name="Shape 18"/>
          <ns0:cNvSpPr/>
          <ns0:nvPr/>
        </ns0:nvSpPr>
        <ns0:spPr>
          <a:xfrm>
            <a:off x="4690872" y="2487168"/>
            <a:ext cx="0" cy="0"/>
          </a:xfrm>
          <a:prstGeom prst="rect">
            <a:avLst/>
          </a:prstGeom>
          <a:noFill/>
          <a:ln/>
        </ns0:spPr>
      </ns0:sp>
      <ns0:sp>
        <ns0:nvSpPr>
          <ns0:cNvPr id="21" name="Shape 19"/>
          <ns0:cNvSpPr/>
          <ns0:nvPr/>
        </ns0:nvSpPr>
        <ns0:spPr>
          <a:xfrm>
            <a:off x="4700016" y="841248"/>
            <a:ext cx="2103120" cy="3566160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22" name="Shape 20"/>
          <ns0:cNvSpPr/>
          <ns0:nvPr/>
        </ns0:nvSpPr>
        <ns0:spPr>
          <a:xfrm>
            <a:off x="4700016" y="841248"/>
            <a:ext cx="2103120" cy="384048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ns0:spPr>
      </ns0:sp>
      <ns0:sp>
        <ns0:nvSpPr>
          <ns0:cNvPr id="23" name="Text 21"/>
          <ns0:cNvSpPr/>
          <ns0:nvPr/>
        </ns0:nvSpPr>
        <ns0:spPr>
          <a:xfrm>
            <a:off x="4745736" y="859536"/>
            <a:ext cx="201168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10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4745736" y="1298448"/>
            <a:ext cx="201168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4745736" y="1901952"/>
            <a:ext cx="201168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PRESENTACIÓN</a:t>
            </a:r>
            <a:endParaRPr lang="en-US" sz="13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4791456" y="2377440"/>
            <a:ext cx="192024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HANDOFF: 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Swap Shown → Path to Close</a:t>
            </a:r>
            <a:endParaRPr lang="en-US" sz="900" dirty="0"/>
          </a:p>
        </ns0:txBody>
      </ns0:sp>
      <ns0:sp>
        <ns0:nvSpPr>
          <ns0:cNvPr id="27" name="Shape 25"/>
          <ns0:cNvSpPr/>
          <ns0:nvPr/>
        </ns0:nvSpPr>
        <ns0:spPr>
          <a:xfrm>
            <a:off x="6812280" y="2468880"/>
            <a:ext cx="91440" cy="2560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28" name="Shape 26"/>
          <ns0:cNvSpPr/>
          <ns0:nvPr/>
        </ns0:nvSpPr>
        <ns0:spPr>
          <a:xfrm>
            <a:off x="6903720" y="2487168"/>
            <a:ext cx="0" cy="0"/>
          </a:xfrm>
          <a:prstGeom prst="rect">
            <a:avLst/>
          </a:prstGeom>
          <a:noFill/>
          <a:ln/>
        </ns0:spPr>
      </ns0:sp>
      <ns0:sp>
        <ns0:nvSpPr>
          <ns0:cNvPr id="29" name="Shape 27"/>
          <ns0:cNvSpPr/>
          <ns0:nvPr/>
        </ns0:nvSpPr>
        <ns0:spPr>
          <a:xfrm>
            <a:off x="6912864" y="841248"/>
            <a:ext cx="2103120" cy="3566160"/>
          </a:xfrm>
          <a:prstGeom prst="rect">
            <a:avLst/>
          </a:prstGeom>
          <a:solidFill>
            <a:srgbClr val="1A28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30" name="Shape 28"/>
          <ns0:cNvSpPr/>
          <ns0:nvPr/>
        </ns0:nvSpPr>
        <ns0:spPr>
          <a:xfrm>
            <a:off x="6912864" y="841248"/>
            <a:ext cx="210312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6958584" y="859536"/>
            <a:ext cx="201168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5-6</a:t>
            </a:r>
            <a:endParaRPr lang="en-US" sz="100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6958584" y="1298448"/>
            <a:ext cx="201168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6958584" y="1901952"/>
            <a:ext cx="201168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CLOSING</a:t>
            </a:r>
            <a:endParaRPr lang="en-US" sz="1300" dirty="0"/>
          </a:p>
        </ns0:txBody>
      </ns0:sp>
      <ns0:sp>
        <ns0:nvSpPr>
          <ns0:cNvPr id="34" name="Text 32"/>
          <ns0:cNvSpPr/>
          <ns0:nvPr/>
        </ns0:nvSpPr>
        <ns0:spPr>
          <a:xfrm>
            <a:off x="7004304" y="2377440"/>
            <a:ext cx="192024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HANDOFF: 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+ Referral Ask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Your Personal Friction Point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 has one stage where their conversion drops — this is their Friction Point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 the door (Prospecting): fix the hook script and opener — Day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the kitchen table (Discovery): fix the transition and temperature check — Day 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past the proposal (Presenting): fix the simplicity — Grandmother Test — Day 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signature (Closing): fix the assumptive language and the ACAC sequence — Days 5–6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Have reps self-identify their Friction Point in writing before Day 7 ends. This becomes the focus of their first week of manager coaching. The rep who knows their Friction Point can improve deliberately. The one who doesn't will struggle mysteriously.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ns0:sld xmlns:a="http://schemas.openxmlformats.org/drawingml/2006/main" xmlns:ns0="http://schemas.openxmlformats.org/presentationml/2006/main">
  <ns0:cSld name="Slide 6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164592"/>
            <a:ext cx="8503920" cy="5943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One-Call Close Mentality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274320" y="914400"/>
            <a:ext cx="8503920" cy="226771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'Dejarlo respirar' es una estrategia de confort para representantes, no una estrategia de ventas para propietarios — las tasas de cierre de 72 horas son 50–70% menores que las del mismo día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is built inside the appointment — every pause, every delay resets the emotional state to zero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homeowner's most confident version of themselves is sitting across from you right now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deal needs to 'breathe,' it usually needs a better Discovery or a clearer Bridge — not time</a:t>
            </a:r>
            <a:endParaRPr lang="en-US" sz="13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274320" y="4690872"/>
            <a:ext cx="86868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This is not a pressure-to-close message — it is a preparation message. Reps who need to 'follow up' usually missed something during the appointment. Day 7 should re-emphasize that the best closer is the one who runs a better appointment, not a better callback.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7.xml><?xml version="1.0" encoding="utf-8"?>
<ns0:sld xmlns:a="http://schemas.openxmlformats.org/drawingml/2006/main" xmlns:ns0="http://schemas.openxmlformats.org/presentationml/2006/main">
  <ns0:cSld name="Slide 7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73152"/>
            <a:ext cx="3657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457200"/>
            <a:ext cx="8412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The Flow Chart Creation</a:t>
            </a:r>
            <a:endParaRPr lang="en-US" sz="17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411480" y="1170432"/>
            <a:ext cx="83210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Draw your personal sales process with transition scripts at every handoff point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1755648"/>
            <a:ext cx="6858000" cy="2834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 una pizarra o papel grande, dibuje las 4 etapas de la carrera de relevos con flechas entre cada una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 cada flecha, escriba la FRASE DE TRANSICIÓN exacta que usará para pasar de una etapa a la siguiente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Marque su Punto de Fricción con un círculo rojo — este es su objetivo de mejora personal del Día 1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Partner review: Does every transition sound natural and confident, or does it sound like you're asking permission?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laminated 'Sales Process One-Sheet' for the field clipboard — one page, all transitions, all stages</a:t>
            </a:r>
            <a:endParaRPr lang="en-US" sz="12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7150608" y="1773936"/>
            <a:ext cx="1691640" cy="8778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8.xml><?xml version="1.0" encoding="utf-8"?>
<ns0:sld xmlns:a="http://schemas.openxmlformats.org/drawingml/2006/main" xmlns:ns0="http://schemas.openxmlformats.org/presentationml/2006/main">
  <ns0:cSld name="Slide 8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7.2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First Week Blueprint: The 7-7-7 Strategy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Doors a Day. 7 Appointments. 7 Proposals. The Law of Large Numbers.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7.2 — THE 7-7-7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Activity That Guarantees Your First Deal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7-7-7 Targets: why these numbers make a deal mathematically inevitable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Hours schedule: time-blocking for maximum selling time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Saturation: Cloverleafing to build neighborhood authority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 1 Battle Plan — filled out before you leave today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ns0:sld xmlns:a="http://schemas.openxmlformats.org/drawingml/2006/main" xmlns:ns0="http://schemas.openxmlformats.org/presentationml/2006/main">
  <ns0:cSld name="Slide 10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164592"/>
            <a:ext cx="8503920" cy="5303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Law of Large Numbers: Why 7-7-7 Works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274320" y="841248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411480" y="868680"/>
            <a:ext cx="50292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Puertas tocadas por día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5943600" y="868680"/>
            <a:ext cx="265176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</a:t>
            </a:r>
            <a:endParaRPr lang="en-US" sz="13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274320" y="1280160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11480" y="1307592"/>
            <a:ext cx="50292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per week in the field</a:t>
            </a:r>
            <a:endParaRPr lang="en-US" sz="11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943600" y="1307592"/>
            <a:ext cx="265176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274320" y="1719072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411480" y="1746504"/>
            <a:ext cx="50292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weekly doors</a:t>
            </a:r>
            <a:endParaRPr lang="en-US" sz="11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5943600" y="1746504"/>
            <a:ext cx="265176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</a:t>
            </a:r>
            <a:endParaRPr lang="en-US" sz="13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274320" y="2157984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411480" y="2185416"/>
            <a:ext cx="50292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average: 1 appointment per 10 doors</a:t>
            </a:r>
            <a:endParaRPr lang="en-US" sz="11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5943600" y="2185416"/>
            <a:ext cx="265176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35 appts</a:t>
            </a:r>
            <a:endParaRPr lang="en-US" sz="13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274320" y="2596896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411480" y="2624328"/>
            <a:ext cx="50292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target (tighter area, better hook): 1 per 20</a:t>
            </a:r>
            <a:endParaRPr lang="en-US" sz="11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5943600" y="2624328"/>
            <a:ext cx="265176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17 appts</a:t>
            </a:r>
            <a:endParaRPr lang="en-US" sz="13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274320" y="3035808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ns0:spPr>
      </ns0:sp>
      <ns0:sp>
        <ns0:nvSpPr>
          <ns0:cNvPr id="21" name="Text 19"/>
          <ns0:cNvSpPr/>
          <ns0:nvPr/>
        </ns0:nvSpPr>
        <ns0:spPr>
          <a:xfrm>
            <a:off x="411480" y="3063240"/>
            <a:ext cx="50292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average: 1 proposal per 3 appointments</a:t>
            </a:r>
            <a:endParaRPr lang="en-US" sz="11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5943600" y="3063240"/>
            <a:ext cx="265176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5–6 props</a:t>
            </a:r>
            <a:endParaRPr lang="en-US" sz="13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274320" y="3474720"/>
            <a:ext cx="8503920" cy="393192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24" name="Text 22"/>
          <ns0:cNvSpPr/>
          <ns0:nvPr/>
        </ns0:nvSpPr>
        <ns0:spPr>
          <a:xfrm>
            <a:off x="411480" y="3502152"/>
            <a:ext cx="50292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 average: 1 deal per 3 proposals</a:t>
            </a:r>
            <a:endParaRPr lang="en-US" sz="130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5943600" y="3502152"/>
            <a:ext cx="265176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2 deals</a:t>
            </a:r>
            <a:endParaRPr lang="en-US" sz="160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274320" y="3968496"/>
            <a:ext cx="8503920" cy="56692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27" name="Text 25"/>
          <ns0:cNvSpPr/>
          <ns0:nvPr/>
        </ns0:nvSpPr>
        <ns0:spPr>
          <a:xfrm>
            <a:off x="365760" y="3995928"/>
            <a:ext cx="8321040" cy="51206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70 doors/day × 5 days, you mathematically generate 1–2 deals per week just from cold doors. Add referrals and follow-ups — and your pipeline triples.</a:t>
            </a:r>
            <a:endParaRPr lang="en-US" sz="140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274320" y="4690872"/>
            <a:ext cx="86868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70 DOORS → 7 APPTS → 7 PROPOSALS → YOUR FIRST DEAL IN WEEK 1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Power Hours: A Rep's Ideal 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554480" cy="64008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59536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7:00–9:00 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89611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Pre-Game &amp; Admin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updates, follow-up calls to yesterday's warm leads, territory map review, attire check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1554480" cy="640080"/>
          </a:xfrm>
          <a:prstGeom prst="rect">
            <a:avLst/>
          </a:prstGeom>
          <a:solidFill>
            <a:srgbClr val="2D9B4E">
              <a:alpha val="85000"/>
            </a:srgbClr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09344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9:00–11:00 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Warm Follow-Up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every Hot and Warm lead from the previous 48 hours — these are the most convertible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22576"/>
            <a:ext cx="1554480" cy="640080"/>
          </a:xfrm>
          <a:prstGeom prst="rect">
            <a:avLst/>
          </a:prstGeom>
          <a:solidFill>
            <a:srgbClr val="F4A61D">
              <a:alpha val="85000"/>
            </a:srgbClr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359152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11:00 AM–2:00 PM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39572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Area Prep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territory, note solar installs, identify ideal streets — 'warm' door approach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72384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72384"/>
            <a:ext cx="1554480" cy="640080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10896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2:00–8:00 PM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145536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GRIND 🔥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time for doors and appointments. Homeowners are home. Energy must be at 100%. No admin.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22192"/>
            <a:ext cx="1554480" cy="64008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858768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8:00–9:00 PM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895344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Nightly Audit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contacts in CRM. Count doors/sets. Identify today's Losing Objection. Set tomorrow's first task.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Grind window is sacred — no administrative tasks, no phone calls that aren't appointments or closes, no CRM during it. Admin that bleeds into prime time is the #1 activity killer in the first month.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Territory Saturation: The Cloverleaf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lead is generated, immediately knock the 5 houses adjacent: 2 left, 2 right, 1 across the street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Authority Script: 'I'm working with your neighbors at [number] to eliminate their electric bill — I wanted to see if I could do the same for you while my team is already in the area'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psychology: local social proof in real time — you are no longer a cold stranger, you are the neighborhood's solar rep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own 3 blocks before moving to the next grid — 'Saturation' closes 2–3× more deals per door knocked than scattered territory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487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75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(at next door):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— I'm actually already working with the Garcia family right up the street to bring their electric bill to basically zero. I wanted to pop over while I was in the area to see if your bill is anything like theirs. Is yours running pretty high too?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Cloverleafing is the single most effective territory tactic in solar door-to-door sales. Reps who don't use it leave 60% of their neighborhood's potential revenue on the table.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ns0:sld xmlns:a="http://schemas.openxmlformats.org/drawingml/2006/main" xmlns:ns0="http://schemas.openxmlformats.org/presentationml/2006/main">
  <ns0:cSld name="Slide 13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73152"/>
            <a:ext cx="3657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457200"/>
            <a:ext cx="8412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Calendar Deployment</a:t>
            </a:r>
            <a:endParaRPr lang="en-US" sz="17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411480" y="1170432"/>
            <a:ext cx="83210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Lock your first 7 days of activity into a real calendar before you leave this room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1755648"/>
            <a:ext cx="6858000" cy="2834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Abra su calendario físico o digital ahora mismo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Bloquee de 2:00–8:00 PM como 'TRABAJO DURO — SIN ADMIN' por 5 días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Bloquee de 8:00–9:00 PM como 'AUDITORÍA NOCTURNA' por 5 días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Asignar un territorio específico (nombres de calles o cuadrícula) a cada día — sin ambigüedad de territorio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completed 'Week 1 Battle Plan' with territories, time blocks, and a written 70-door daily target</a:t>
            </a:r>
            <a:endParaRPr lang="en-US" sz="12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7150608" y="1773936"/>
            <a:ext cx="1691640" cy="8778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14.xml><?xml version="1.0" encoding="utf-8"?>
<ns0:sld xmlns:a="http://schemas.openxmlformats.org/drawingml/2006/main" xmlns:ns0="http://schemas.openxmlformats.org/presentationml/2006/main">
  <ns0:cSld name="Slide 14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7.3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Daily Discipline: The Professional Routine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Procedures for a High-Performance Rep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7.3 — DAILY DISCIPLINE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Rep Who Controls Their Day Controls Their Income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Pre-Game Ritual: what happens before the first door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Mid-Day Slump: the 5-Minute Reset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Audit: self-coaching through data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Standards Contract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ns0:sld xmlns:a="http://schemas.openxmlformats.org/drawingml/2006/main" xmlns:ns0="http://schemas.openxmlformats.org/presentationml/2006/main">
  <ns0:cSld name="Slide 16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164592"/>
            <a:ext cx="850392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Professional Routine: Pre-Game vs. Nightly Audit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274320" y="749808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274320" y="868680"/>
            <a:ext cx="4023360" cy="3566160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274320" y="868680"/>
            <a:ext cx="40233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320040" y="886968"/>
            <a:ext cx="39319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🌅  PRE-GAME RITUAL (Every Morning)</a:t>
            </a:r>
            <a:endParaRPr lang="en-US" sz="11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384048" y="1325880"/>
            <a:ext cx="3840480" cy="30175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clean and professional — it's your office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fully charged, proposals pre-loaded for the territory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 inspection: clean branded polo, name badge, quality shoes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de gestión de estado intencional: audio de motivación, victorias de ayer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today's territory and first 5 doors on the map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Visualize: 'I will set 3 appointments today'</a:t>
            </a:r>
            <a:endParaRPr lang="en-US" sz="11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4846320" y="868680"/>
            <a:ext cx="4023360" cy="3566160"/>
          </a:xfrm>
          <a:prstGeom prst="rect">
            <a:avLst/>
          </a:prstGeom>
          <a:solidFill>
            <a:srgbClr val="1A2840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4846320" y="868680"/>
            <a:ext cx="4023360" cy="38404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4892040" y="886968"/>
            <a:ext cx="39319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🌙  NIGHTLY AUDIT (Every Evening)</a:t>
            </a:r>
            <a:endParaRPr lang="en-US" sz="11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4956048" y="1325880"/>
            <a:ext cx="3840480" cy="30175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door contact in CRM with active notes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How many doors? How many sets? How many runs?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today's Losing Objection — the one you struggled with most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specific thing to improve tomorrow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first CRM task for tomorrow's follow-ups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Resilience Script before sleeping</a:t>
            </a:r>
            <a:endParaRPr lang="en-US" sz="11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274320" y="4690872"/>
            <a:ext cx="86868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Elite reps have a ritual. Average reps wing it. The pre-game and nightly audit take 30 minutes combined — and they're the difference between a $60K year and a $180K year.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7.xml><?xml version="1.0" encoding="utf-8"?>
<ns0:sld xmlns:a="http://schemas.openxmlformats.org/drawingml/2006/main" xmlns:ns0="http://schemas.openxmlformats.org/presentationml/2006/main">
  <ns0:cSld name="Slide 17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164592"/>
            <a:ext cx="8503920" cy="5943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5-Minute Reset: Breaking the Slump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274320" y="914400"/>
            <a:ext cx="8503920" cy="226771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 hits a mid-day wall — 3–5 consecutive rejections, a no-show appointment, a long stretch of no-answers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Reset sequence: (1) Get back in your car. (2) Sit quietly for 60 seconds. (3) Do 10 deep breaths. (4) Listen to 3 minutes of motivational audio. (5) Step out — you are a new person.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movement is the fastest state-changer: walk briskly to the next block before knocking again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'La siguiente puerta nunca me ha visto. No tienen idea de que acabo de tener 5 rechazos. Solo ven a quien se acerca ahora mismo.'</a:t>
            </a:r>
            <a:endParaRPr lang="en-US" sz="13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274320" y="4690872"/>
            <a:ext cx="86868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5-Minute Reset is not a luxury — it is a professional protocol. The rep who resets consistently closes their 6th door at the same rate as their 1st. The rep who doesn't reset closes their 6th door at 20% of their 1st.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8.xml><?xml version="1.0" encoding="utf-8"?>
<ns0:sld xmlns:a="http://schemas.openxmlformats.org/drawingml/2006/main" xmlns:ns0="http://schemas.openxmlformats.org/presentationml/2006/main">
  <ns0:cSld name="Slide 18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73152"/>
            <a:ext cx="3657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457200"/>
            <a:ext cx="8412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Ritual Design</a:t>
            </a:r>
            <a:endParaRPr lang="en-US" sz="17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411480" y="1170432"/>
            <a:ext cx="83210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Write your morning and evening routines — then commit to them with a partner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1755648"/>
            <a:ext cx="6858000" cy="2834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Escriba su Ritual Pre-Juego específico (mínimo 6 pasos) — incluya el audio de gestión de estado que escuchará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Escriba su Auditoría Nocturna específica (mínimo 5 preguntas) — esto se convierte en su sesión de auto-entrenamiento nocturna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Comparta ambos con un compañero — ahora son su contacto de responsabilidad para la Semana 1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Intercambien números: acuerden enviarse por texto el conteo de puertas antes de las 9:00 PM cada día de campo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'Professional Standards' contract — signed by you, witnessed by your partner, kept by your manager</a:t>
            </a:r>
            <a:endParaRPr lang="en-US" sz="12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7150608" y="1773936"/>
            <a:ext cx="1691640" cy="8778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19.xml><?xml version="1.0" encoding="utf-8"?>
<ns0:sld xmlns:a="http://schemas.openxmlformats.org/drawingml/2006/main" xmlns:ns0="http://schemas.openxmlformats.org/presentationml/2006/main">
  <ns0:cSld name="Slide 19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7.4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Rejection Resilience: The 'No' as a Metric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 Worth Is Hidden Inside the 'No'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7.4 — REJECTION RESILIENCE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SW-SW-SW-WH: Some Will, Some Won't, So What? Who's Next?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SW-SW-SW-WH Rule: emotional detachment as a professional skill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'No' Commission: calculating the dollar value of every rejection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3-Door Rule: never letting a bad interaction poison the next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Resilience Script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Calculating Your 'No' Commission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3474720"/>
          </a:xfrm>
          <a:prstGeom prst="rect">
            <a:avLst/>
          </a:prstGeom>
          <a:solidFill>
            <a:srgbClr val="1A2840"/>
          </a:solidFill>
          <a:ln w="254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6187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Average Commission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signed deal in solar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3474720"/>
          </a:xfrm>
          <a:prstGeom prst="rect">
            <a:avLst/>
          </a:prstGeom>
          <a:solidFill>
            <a:srgbClr val="1A2840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26187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÷ 30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51460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Average Nos Per Deal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for new reps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2011680" cy="3474720"/>
          </a:xfrm>
          <a:prstGeom prst="rect">
            <a:avLst/>
          </a:prstGeom>
          <a:solidFill>
            <a:srgbClr val="1A2840"/>
          </a:solidFill>
          <a:ln w="2540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26187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=$100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 Door Slammed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literally pays you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2011680" cy="3474720"/>
          </a:xfrm>
          <a:prstGeom prst="rect">
            <a:avLst/>
          </a:prstGeom>
          <a:solidFill>
            <a:srgbClr val="1A2840"/>
          </a:solidFill>
          <a:ln w="254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26187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Goal: 30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81228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 the Nos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earn your first $3,000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Reframe this with reps: every time a door slams, they 'earned' another $100 toward their commission. When they have 30 slams, a deal is due. This makes rejection feel like progress — because mathematically, it is.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SW-SW-SW-WH Rule: Detachment as Professionalism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Will. Some Won't. So What? Who's Next?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'No' at the door is not a rejection of YOU — it is a mismatch in timing, bill size, mood, or life circumstance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rep treats each door like a blank canvas — no prior history, no expectation, full presence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amateur rep carries every 'No' to the next door — and the homeowner can feel it immediately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487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75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(internal, after a rude rejection):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person was having a hard day. It had nothing to do with solar or me. I just gave myself $100. Next door.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(external, 30 seconds later at the next door):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 — how are you doing? I'm actually in the neighborhood working with a few families on their electric bills...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fastest way to improve a rep's door rate is to improve their emotional reset speed. A rep who can go from slammed door to high-energy opener in 30 seconds closes 2–3× more than one who carries the rejection for 10 minutes.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3-Door Rule: Never Contaminate the Next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bad interaction, the next 3 doors are the most important doors of the 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you cannot let the bad door affect doors +1, +2, or +3 — or you lose 3 doors of potential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Flush Technique: before walking to the next driveway, stop. Exhale audibly. Roll your shoulders back. Reset your face. Walk.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anchor: some reps tap the back of their left hand twice — a self-programmed reset signal — before every door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Flush Technique sounds simple but must be practiced. Role-play it in the room: trainer delivers a rude rejection, rep physically flushes, and walks to the next 'door' with a genuine smile within 10 seconds. Timed.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ns0:sld xmlns:a="http://schemas.openxmlformats.org/drawingml/2006/main" xmlns:ns0="http://schemas.openxmlformats.org/presentationml/2006/main">
  <ns0:cSld name="Slide 24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73152"/>
            <a:ext cx="3657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457200"/>
            <a:ext cx="8412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Rejection Roleplay + Resilience Script</a:t>
            </a:r>
            <a:endParaRPr lang="en-US" sz="17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411480" y="1170432"/>
            <a:ext cx="83210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Demonstrate emotional resilience under increasing verbal pressure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1755648"/>
            <a:ext cx="6858000" cy="2834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 entrenador juega como propietario cada vez más grosero — de levemente despectivo a abiertamente hostil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El representante debe: recibir el rechazo con gracia, decir 'Gracias, que tenga un buen día,' alejarse y REINICIARSE en 10 segundos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El reinicio debe ser físico Y vocal — hombros hacia atrás, tono fresco, energía genuina en la siguiente puerta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 who breaks character (gets defensive, rushes, shows frustration) starts over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Each rep writes their personal 'Resilience Script' — what they say to themselves after a tough door — and reads it aloud</a:t>
            </a:r>
            <a:endParaRPr lang="en-US" sz="12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7150608" y="1773936"/>
            <a:ext cx="1691640" cy="8778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25.xml><?xml version="1.0" encoding="utf-8"?>
<ns0:sld xmlns:a="http://schemas.openxmlformats.org/drawingml/2006/main" xmlns:ns0="http://schemas.openxmlformats.org/presentationml/2006/main">
  <ns0:cSld name="Slide 25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7.5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Management: The Million Dollar Dashboard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in the CRM, It Doesn't Exist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7.5 — PIPELINE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CRM Is Your Business. Treat It Like One.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CRM notes that capture motivation, not just contact info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categorization: Hot, Warm, Cold — and what to do with each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Saturday Pipeline Clean-Up routine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your notes determines the quality of your follow-up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 Notes: Capturing Motivation, Not Just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note: 'Call back Tuesday' → tells you nothing about why they might buy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note: 'Maria — $310 bill, worried about rate hike before daughter starts college in 2 years. Husband hesitant but interested in ROI. Call back Tuesday at 6 PM when both are home.'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notes capture: pain (the bill), goal (protecting the family), objection (husband's hesitation), and timing (Tuesday 6 PM)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 can read the note and immediately know what to say on the call — it's a good note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487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75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(reading bad note on callback):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Maria, just following up...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(reading good note on callback):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Maria — I was thinking about your situation with the rate hike coming before Emma starts college. I found something I wanted to walk you through — do you have 5 minutes?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'Call back Tuesday' is a task. 'Maria — $310 bill, college fund worry, husband needs ROI math' is a sales roadmap. The rep who calls with context closes at 3× the rate of the rep who calls with none.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Categorization: Hot, Warm, Cold — and the Protocol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0233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32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🔥  HOT LEADS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given — had the numbers in front of them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on a specific, identified objection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within 24 hours every time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with: recap the last conversation + address the stall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04672"/>
            <a:ext cx="402336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32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🌤  WARM LEADS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was set but not yet run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was engaged but not ready for a sit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within 48 hours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with: value add (rate news, neighbor story)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4023360" cy="329184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❄️  COLD LEADS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03580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knock — no set, left card or pamphlet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engagement, no specific interest confirmed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within 7 days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with: neighborhood update or follow-up hook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51760"/>
            <a:ext cx="4023360" cy="32918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PIPELINE CLEAN-UP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03580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Saturday: review all active leads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every status — no limbo leads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specific tasks with due dates for Week 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leads that are 30+ days with no engagement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Hot leads are perishable. A Hot lead not followed up in 24 hours becomes a Warm lead. A Warm lead not followed up in 48 hours becomes Cold. A Cold lead not followed up in 7 days becomes a missed commission.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ns0:sld xmlns:a="http://schemas.openxmlformats.org/drawingml/2006/main" xmlns:ns0="http://schemas.openxmlformats.org/presentationml/2006/main">
  <ns0:cSld name="Slide 29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73152"/>
            <a:ext cx="3657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457200"/>
            <a:ext cx="8412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CRM Data Entry Drill</a:t>
            </a:r>
            <a:endParaRPr lang="en-US" sz="17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411480" y="1170432"/>
            <a:ext cx="83210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Convert 5 messy field notes into clean, active CRM entries with follow-up tasks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1755648"/>
            <a:ext cx="6858000" cy="2834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 entrenador distribuye 5 notas de propietario en 'papel sucio' (escritas a mano, incompletas, vagas)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Cada representante debe ingresar los 5 en el CRM con: información de contacto completa, nota de motivación activa, temperatura del prospecto y una tarea de seguimiento específica con fecha y hora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El gerente revisa la calidad de las notas en vivo — aprueba entradas que cumplen el estándar de Nota Activa, falla entradas que dicen 'devolver llamada'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Time pressure: 15 minutes for all 5 entries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certified-clean CRM profile with all Week 1 leads entered and Week 2 tasks scheduled</a:t>
            </a:r>
            <a:endParaRPr lang="en-US" sz="12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7150608" y="1773936"/>
            <a:ext cx="1691640" cy="8778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MIN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30.xml><?xml version="1.0" encoding="utf-8"?>
<ns0:sld xmlns:a="http://schemas.openxmlformats.org/drawingml/2006/main" xmlns:ns0="http://schemas.openxmlformats.org/presentationml/2006/main">
  <ns0:cSld name="Slide 30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7.6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Follow-Up System: Converting the 'Not Ready'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Now Is Often a Yes in 30 Days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7.6 — THE FOLLOW-UP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 of Solar Deals Are Won on the 5th–12th Touch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5-Touch Rule: the Day 1, 2, 4, 7, 14 cadence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follow-up: never 'just checking in'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Break-Up text: using the Take-Away to revive ghost leads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14-day Ghost Lead template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ns0:sld xmlns:a="http://schemas.openxmlformats.org/drawingml/2006/main" xmlns:ns0="http://schemas.openxmlformats.org/presentationml/2006/main">
  <ns0:cSld name="Slide 32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164592"/>
            <a:ext cx="8503920" cy="5303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14-Day Follow-Up Cadence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502920" y="1828800"/>
            <a:ext cx="8138160" cy="54864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ns0:spPr>
      </ns0:sp>
      <ns0:sp>
        <ns0:nvSpPr>
          <ns0:cNvPr id="6" name="Shape 4"/>
          <ns0:cNvSpPr/>
          <ns0:nvPr/>
        </ns0:nvSpPr>
        <ns0:spPr>
          <a:xfrm>
            <a:off x="320040" y="1645920"/>
            <a:ext cx="384048" cy="384048"/>
          </a:xfrm>
          <a:prstGeom prst="ellipse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7" name="Text 5"/>
          <ns0:cNvSpPr/>
          <ns0:nvPr/>
        </ns0:nvSpPr>
        <ns0:spPr>
          <a:xfrm>
            <a:off x="274320" y="1664208"/>
            <a:ext cx="475488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9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256032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256032" y="2148840"/>
            <a:ext cx="1755648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274320" y="2167128"/>
            <a:ext cx="171907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Recap Call</a:t>
            </a:r>
            <a:endParaRPr lang="en-US" sz="9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329184" y="2523744"/>
            <a:ext cx="1609344" cy="9601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recap of the proposal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'¿Algo le llamó la atención?'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if new objection surfaces</a:t>
            </a:r>
            <a:endParaRPr lang="en-US" sz="9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-137160" y="1115568"/>
            <a:ext cx="137160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 Call</a:t>
            </a:r>
            <a:endParaRPr lang="en-US" sz="10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2354580" y="164592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14" name="Text 12"/>
          <ns0:cNvSpPr/>
          <ns0:nvPr/>
        </ns0:nvSpPr>
        <ns0:spPr>
          <a:xfrm>
            <a:off x="2308860" y="1664208"/>
            <a:ext cx="475488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9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1659636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16" name="Shape 14"/>
          <ns0:cNvSpPr/>
          <ns0:nvPr/>
        </ns0:nvSpPr>
        <ns0:spPr>
          <a:xfrm>
            <a:off x="1659636" y="2148840"/>
            <a:ext cx="1755648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1677924" y="2167128"/>
            <a:ext cx="171907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 Add</a:t>
            </a:r>
            <a:endParaRPr lang="en-US" sz="9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1732788" y="2523744"/>
            <a:ext cx="1609344" cy="9601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clip: rate hike story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'Pensé que querrías ver esto'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ask — just value</a:t>
            </a:r>
            <a:endParaRPr lang="en-US" sz="9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1897380" y="1115568"/>
            <a:ext cx="137160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0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4389120" y="1645920"/>
            <a:ext cx="384048" cy="384048"/>
          </a:xfrm>
          <a:prstGeom prst="ellipse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21" name="Text 19"/>
          <ns0:cNvSpPr/>
          <ns0:nvPr/>
        </ns0:nvSpPr>
        <ns0:spPr>
          <a:xfrm>
            <a:off x="4343400" y="1664208"/>
            <a:ext cx="475488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900" dirty="0"/>
          </a:p>
        </ns0:txBody>
      </ns0:sp>
      <ns0:sp>
        <ns0:nvSpPr>
          <ns0:cNvPr id="22" name="Shape 20"/>
          <ns0:cNvSpPr/>
          <ns0:nvPr/>
        </ns0:nvSpPr>
        <ns0:spPr>
          <a:xfrm>
            <a:off x="3694176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23" name="Shape 21"/>
          <ns0:cNvSpPr/>
          <ns0:nvPr/>
        </ns0:nvSpPr>
        <ns0:spPr>
          <a:xfrm>
            <a:off x="3694176" y="2148840"/>
            <a:ext cx="1755648" cy="329184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ns0:spPr>
      </ns0:sp>
      <ns0:sp>
        <ns0:nvSpPr>
          <ns0:cNvPr id="24" name="Text 22"/>
          <ns0:cNvSpPr/>
          <ns0:nvPr/>
        </ns0:nvSpPr>
        <ns0:spPr>
          <a:xfrm>
            <a:off x="3712464" y="2167128"/>
            <a:ext cx="171907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Proof</a:t>
            </a:r>
            <a:endParaRPr lang="en-US" sz="90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3767328" y="2523744"/>
            <a:ext cx="1609344" cy="9601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neighbor's bill photo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'Los Smith acaban de activarse'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check-in only</a:t>
            </a:r>
            <a:endParaRPr lang="en-US" sz="9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3931920" y="1115568"/>
            <a:ext cx="137160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</a:t>
            </a:r>
            <a:endParaRPr lang="en-US" sz="1000" dirty="0"/>
          </a:p>
        </ns0:txBody>
      </ns0:sp>
      <ns0:sp>
        <ns0:nvSpPr>
          <ns0:cNvPr id="27" name="Shape 25"/>
          <ns0:cNvSpPr/>
          <ns0:nvPr/>
        </ns0:nvSpPr>
        <ns0:spPr>
          <a:xfrm>
            <a:off x="6423660" y="1645920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28" name="Text 26"/>
          <ns0:cNvSpPr/>
          <ns0:nvPr/>
        </ns0:nvSpPr>
        <ns0:spPr>
          <a:xfrm>
            <a:off x="6377940" y="1664208"/>
            <a:ext cx="475488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Día 7</a:t>
            </a:r>
            <a:endParaRPr lang="en-US" sz="900" dirty="0"/>
          </a:p>
        </ns0:txBody>
      </ns0:sp>
      <ns0:sp>
        <ns0:nvSpPr>
          <ns0:cNvPr id="29" name="Shape 27"/>
          <ns0:cNvSpPr/>
          <ns0:nvPr/>
        </ns0:nvSpPr>
        <ns0:spPr>
          <a:xfrm>
            <a:off x="5728716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30" name="Shape 28"/>
          <ns0:cNvSpPr/>
          <ns0:nvPr/>
        </ns0:nvSpPr>
        <ns0:spPr>
          <a:xfrm>
            <a:off x="5728716" y="2148840"/>
            <a:ext cx="1755648" cy="32918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5747004" y="2167128"/>
            <a:ext cx="171907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Urgency</a:t>
            </a:r>
            <a:endParaRPr lang="en-US" sz="90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5801868" y="2523744"/>
            <a:ext cx="1609344" cy="9601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queue update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change window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Be Frank?</a:t>
            </a:r>
            <a:endParaRPr lang="en-US" sz="9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5966460" y="1115568"/>
            <a:ext cx="137160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</a:t>
            </a:r>
            <a:endParaRPr lang="en-US" sz="1000" dirty="0"/>
          </a:p>
        </ns0:txBody>
      </ns0:sp>
      <ns0:sp>
        <ns0:nvSpPr>
          <ns0:cNvPr id="34" name="Shape 32"/>
          <ns0:cNvSpPr/>
          <ns0:nvPr/>
        </ns0:nvSpPr>
        <ns0:spPr>
          <a:xfrm>
            <a:off x="8458200" y="164592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35" name="Text 33"/>
          <ns0:cNvSpPr/>
          <ns0:nvPr/>
        </ns0:nvSpPr>
        <ns0:spPr>
          <a:xfrm>
            <a:off x="8412480" y="1664208"/>
            <a:ext cx="475488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14</a:t>
            </a:r>
            <a:endParaRPr lang="en-US" sz="900" dirty="0"/>
          </a:p>
        </ns0:txBody>
      </ns0:sp>
      <ns0:sp>
        <ns0:nvSpPr>
          <ns0:cNvPr id="36" name="Shape 34"/>
          <ns0:cNvSpPr/>
          <ns0:nvPr/>
        </ns0:nvSpPr>
        <ns0:spPr>
          <a:xfrm>
            <a:off x="7296912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37" name="Shape 35"/>
          <ns0:cNvSpPr/>
          <ns0:nvPr/>
        </ns0:nvSpPr>
        <ns0:spPr>
          <a:xfrm>
            <a:off x="7296912" y="2148840"/>
            <a:ext cx="1755648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38" name="Text 36"/>
          <ns0:cNvSpPr/>
          <ns0:nvPr/>
        </ns0:nvSpPr>
        <ns0:spPr>
          <a:xfrm>
            <a:off x="7315200" y="2167128"/>
            <a:ext cx="171907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Break-Up</a:t>
            </a:r>
            <a:endParaRPr lang="en-US" sz="900" dirty="0"/>
          </a:p>
        </ns0:txBody>
      </ns0:sp>
      <ns0:sp>
        <ns0:nvSpPr>
          <ns0:cNvPr id="39" name="Text 37"/>
          <ns0:cNvSpPr/>
          <ns0:nvPr/>
        </ns0:nvSpPr>
        <ns0:spPr>
          <a:xfrm>
            <a:off x="7370064" y="2523744"/>
            <a:ext cx="1609344" cy="9601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'Solar puede no ser una prioridad'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 elimino de la lista activa'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Loss trigger</a:t>
            </a:r>
            <a:endParaRPr lang="en-US" sz="900" dirty="0"/>
          </a:p>
        </ns0:txBody>
      </ns0:sp>
      <ns0:sp>
        <ns0:nvSpPr>
          <ns0:cNvPr id="40" name="Text 38"/>
          <ns0:cNvSpPr/>
          <ns0:nvPr/>
        </ns0:nvSpPr>
        <ns0:spPr>
          <a:xfrm>
            <a:off x="8001000" y="1115568"/>
            <a:ext cx="137160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000" dirty="0"/>
          </a:p>
        </ns0:txBody>
      </ns0:sp>
      <ns0:sp>
        <ns0:nvSpPr>
          <ns0:cNvPr id="41" name="Shape 39"/>
          <ns0:cNvSpPr/>
          <ns0:nvPr/>
        </ns0:nvSpPr>
        <ns0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ns0:spPr>
      </ns0:sp>
      <ns0:sp>
        <ns0:nvSpPr>
          <ns0:cNvPr id="42" name="Text 40"/>
          <ns0:cNvSpPr/>
          <ns0:nvPr/>
        </ns0:nvSpPr>
        <ns0:spPr>
          <a:xfrm>
            <a:off x="274320" y="4690872"/>
            <a:ext cx="86868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Day 14 Break-Up text has one of the highest response rates in the entire follow-up sequence. When leads have gone dark, the fear of losing access to information or the offer is often stronger than their inertia.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33.xml><?xml version="1.0" encoding="utf-8"?>
<ns0:sld xmlns:a="http://schemas.openxmlformats.org/drawingml/2006/main" xmlns:ns0="http://schemas.openxmlformats.org/presentationml/2006/main">
  <ns0:cSld name="Slide 33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164592"/>
            <a:ext cx="8503920" cy="5943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Value-Added Follow-Up: Never 'Just Checking In'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274320" y="914400"/>
            <a:ext cx="8503920" cy="144475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'Solo estoy haciendo seguimiento' es la frase de seguimiento más pasiva e ignorada en ventas — nunca la 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touch must deliver something of value: local utility news, a neighbor's install photo, a rate change alert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'Hey [Name] — I just saw that [Utility] got approval for a rate hike starting [Month]. Wanted to make sure you had this before it affects your bill. Let me know if you want to revisit the numbers.'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'Neighborhood Update' is the most powerful: it uses local social proof without pressure</a:t>
            </a:r>
            <a:endParaRPr lang="en-US" sz="13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7" name="Shape 5"/>
          <ns0:cNvSpPr/>
          <ns0:nvPr/>
        </ns0:nvSpPr>
        <ns0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292608" y="2487168"/>
            <a:ext cx="10515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411480" y="2926080"/>
            <a:ext cx="8275320" cy="13258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(Day 2 text):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 Maria — saw this just came out this morning: [Utility] got approval for another rate increase starting July. Wanted to make sure you had it before it affects your bill. Happy to run updated numbers if useful.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wow, I actually didn't know about that. Can we talk this week?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Break-Up Text: The Take-Away That Revives Ghost Leads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leads that go dark after Day 7: 'It seems like solar might not be a priority for you right now, and that's completely okay. I'll take you off my active list so I'm not clogging your inbox.'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soft hook: 'If anything changes with your bill situation or the incentives, feel free to reach out — I'll still be in the area'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psychology: removing the 'offer' triggers loss aversion — the same force that kills deal at the close can also revive a dead lead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to the Break-Up text from Day 7+ ghost leads: industry average 15–25% — every 4–6 Break-Up texts generates a re-engaged lead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Break-Up text must feel genuine — not like a tactic. If it reads as a manipulation, it backfires. Deliver it with actual warmth: 'I respect your time too much to keep following up if the timing isn't right.'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ns0:sld xmlns:a="http://schemas.openxmlformats.org/drawingml/2006/main" xmlns:ns0="http://schemas.openxmlformats.org/presentationml/2006/main">
  <ns0:cSld name="Slide 35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73152"/>
            <a:ext cx="3657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457200"/>
            <a:ext cx="8412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Follow-Up Scripting</a:t>
            </a:r>
            <a:endParaRPr lang="en-US" sz="17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411480" y="1170432"/>
            <a:ext cx="83210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Write a 3-part follow-up sequence for a ghost lead from start to Break-Up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1755648"/>
            <a:ext cx="6858000" cy="2834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Escenario: el propietario dijo 'necesitamos pensarlo' y no ha respondido a 2 llamadas en 10 días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Escriba: Texto de Valor Agregado del Día 11 (noticias de empresa eléctrica o instalación de vecino — sin presión)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Escriba: Correo de Seguimiento Suave del Día 12 (prueba social, pregunta fácil: '¿Tuvo oportunidad de hablarlo?')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Write: Day 14 Break-Up Text (Take-Away with genuine warmth + soft hook)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printed 14-day 'Ghost Lead' follow-up template for the field folder</a:t>
            </a:r>
            <a:endParaRPr lang="en-US" sz="12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7150608" y="1773936"/>
            <a:ext cx="1691640" cy="8778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36.xml><?xml version="1.0" encoding="utf-8"?>
<ns0:sld xmlns:a="http://schemas.openxmlformats.org/drawingml/2006/main" xmlns:ns0="http://schemas.openxmlformats.org/presentationml/2006/main">
  <ns0:cSld name="Slide 36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7.7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Referral Engine: Self-Generated Wealth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Sale Becomes Ten — If You Ask Right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7.7 — THE REFERRAL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Most Trusted Lead Source Is a Satisfied Neighbor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0 Referral: asking at the point of sale — before install day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Neighborhood Pod strategy: one signature unlocks 10 neighbors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Referral Partner Network: real estate agents, roofers, accountants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written Referral Ask script for the closing table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ns0:sld xmlns:a="http://schemas.openxmlformats.org/drawingml/2006/main" xmlns:ns0="http://schemas.openxmlformats.org/presentationml/2006/main">
  <ns0:cSld name="Slide 38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164592"/>
            <a:ext cx="8503920" cy="5943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Day 0 Referral: Ask While the Ink Is Wet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274320" y="914400"/>
            <a:ext cx="8503920" cy="144475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reps wait until after install to ask for referrals — this is 4–6 weeks of lost opportunity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'La mayoría espera hasta que los paneles están en el techo para decirle a sus vecinos — pero ¿por qué esperar para ayudarlos a ahorrar?'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Contact List Bridge: 'Can you think of 3 people in your neighborhood who complain about their bill the way you used to?'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referral has a 4–5× higher close rate than a cold door — and it costs nothing except the ask</a:t>
            </a:r>
            <a:endParaRPr lang="en-US" sz="13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7" name="Shape 5"/>
          <ns0:cNvSpPr/>
          <ns0:nvPr/>
        </ns0:nvSpPr>
        <ns0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292608" y="2487168"/>
            <a:ext cx="10515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411480" y="2926080"/>
            <a:ext cx="8275320" cy="13258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thing before I go — most people wait until the install is done to tell their neighbors about this. But here's the thing: the longer they wait, the more they pay. Can you think of 2 or 3 people on your street who complain about their electric bill the way you used to? I'd love to reach out and see if I can help them the same way.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yeah — the Garcia family next door is always talking about their bill being insane.</a:t>
            </a:r>
            <a:endParaRPr lang="en-US" sz="11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274320" y="4690872"/>
            <a:ext cx="86868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A rep who asks for 3 referrals at every single close and converts 1 of those 3 has doubled their effective volume from the same number of appointments. The referral ask is the highest-ROI activity in solar sales.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Neighborhood Pod: One Sale Unlocks the Block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a signed agreement, knock the 10 closest houses with the neighbor's name as social proof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'Hi — I'm actually working with the Johnson family right up at [address] to bring their electric bill to basically zero. I wanted to swing by while my engineers are already going to be in the area — is your bill running anything like theirs was?'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highest-converting door knock in solar — local name + real-time social proof = instant credibility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get 1 appointment from every 3 pod doors knocked — vs. 1 from every 10 cold doors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Neighborhood Pod converts 3× better than cold doors because the name changes everything. The homeowner is no longer evaluating a stranger — they're evaluating their neighbor's decision. And they don't want to be the only one left behind.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Referral Partner Network: Multiply Your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agents: every home sale is a potential solar sale — buyers want efficiency, sellers want curb appeal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Roofers: a new roof is the ideal time to add solar — the penetration is cleaner, the financing is fresher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 and financial advisors: they advise on energy costs and ITC credits — position yourself as the expert they refer 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'I help your clients reduce one of their largest recurring monthly expenses — and it increases home equity. Every referral you send me improves their financial picture.'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Build 3 referral partner relationships in the first 30 days. One real estate agent with 4 closings a month = 4 warm solar leads a month from a single relationship. This is the long-term pipeline strategy that separates a $150K year from a $300K year.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ns0:sld xmlns:a="http://schemas.openxmlformats.org/drawingml/2006/main" xmlns:ns0="http://schemas.openxmlformats.org/presentationml/2006/main">
  <ns0:cSld name="Slide 41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73152"/>
            <a:ext cx="3657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457200"/>
            <a:ext cx="8412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The Johnson Pitch Roleplay</a:t>
            </a:r>
            <a:endParaRPr lang="en-US" sz="17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411480" y="1170432"/>
            <a:ext cx="83210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Deliver the Neighborhood Pod door knock using a specific neighbor's name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1755648"/>
            <a:ext cx="6858000" cy="2834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 pareja juega como propietario en la misma calle que 'los Johnson' (un trato recién firmado)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El representante debe entregar el apertura de Pod — mencionar nombre, relevancia del área, pregunta de factura — en menos de 20 segundos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Prueba: ¿sabe el propietario quién dio permiso para usar su nombre? Aclarar la ética del enfoque.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Entregable: Un guión escrito de 'Solicitud de Referido' para la mesa de cierre — 3 versiones: en persona, texto, correo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Bonus round: pitch the Referral Partner concept to the trainer playing a skeptical real estate agent</a:t>
            </a:r>
            <a:endParaRPr lang="en-US" sz="12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7150608" y="1773936"/>
            <a:ext cx="1691640" cy="8778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42.xml><?xml version="1.0" encoding="utf-8"?>
<ns0:sld xmlns:a="http://schemas.openxmlformats.org/drawingml/2006/main" xmlns:ns0="http://schemas.openxmlformats.org/presentationml/2006/main">
  <ns0:cSld name="Slide 42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7.8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Brand: The Trusted Solar Advisor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the 'Solar Guy.' You Are the Expert.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7.8 — PERSONAL BRAND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Brand Is Visible Before You Say a Word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Aesthetic: non-verbal closing before the first word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Assets: your digital portfolio on the iPad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Language: 'We' and 'Us' vs. 'I' and 'You'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30-second Professional Introduction — recorded today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ns0:sld xmlns:a="http://schemas.openxmlformats.org/drawingml/2006/main" xmlns:ns0="http://schemas.openxmlformats.org/presentationml/2006/main">
  <ns0:cSld name="Slide 44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164592"/>
            <a:ext cx="850392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Expert Aesthetic: Non-Verbal Closing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274320" y="749808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274320" y="868680"/>
            <a:ext cx="4023360" cy="3566160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274320" y="868680"/>
            <a:ext cx="40233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320040" y="886968"/>
            <a:ext cx="39319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THE SOLAR GUY</a:t>
            </a:r>
            <a:endParaRPr lang="en-US" sz="11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384048" y="1325880"/>
            <a:ext cx="3840480" cy="30175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Wrinkled shirt, no name badge, generic backpack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phone, no iPad, printed paper proposals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car is dirty with fast food wrappers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phone mid-conversation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fast, knocks hard, speaks first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'Estoy vendiendo solar — ¿quiere escuchar sobre ello?'</a:t>
            </a:r>
            <a:endParaRPr lang="en-US" sz="11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4846320" y="868680"/>
            <a:ext cx="4023360" cy="3566160"/>
          </a:xfrm>
          <a:prstGeom prst="rect">
            <a:avLst/>
          </a:prstGeom>
          <a:solidFill>
            <a:srgbClr val="1A2840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4846320" y="868680"/>
            <a:ext cx="4023360" cy="38404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4892040" y="886968"/>
            <a:ext cx="39319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THE TRUSTED ADVISOR</a:t>
            </a:r>
            <a:endParaRPr lang="en-US" sz="11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4956048" y="1325880"/>
            <a:ext cx="3840480" cy="30175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branded polo, quality shoes, sharp appearance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in rugged case, crisp proposals, business card ready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vehicle parked respectfully — it signals professionalism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presence — phone away for the duration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walk, confident knock, pauses before speaking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'Estoy auditando perfiles de energía en su vecindario — ¿le importa si le tomo 2 minutos?'</a:t>
            </a:r>
            <a:endParaRPr lang="en-US" sz="11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274320" y="4690872"/>
            <a:ext cx="86868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Homeowners decide in 7 seconds whether to trust you. Before you say a word about solar, your attire, equipment, and body language have already cast a vote. Make sure that vote is 'trustworthy expert.'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Proof Assets: Your Digital Portfolio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iPad folder: before/after utility bills, neighbor install photos, Google reviews, BBB rating, local press coverage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this folder early in the appointment: 'Let me show you a few families in your neighborhood who made this same call last quarter'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selfies with their installer on install day — the most powerful proof asset you have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folder weekly: local relevance decays — a photo from 3 years ago is weaker than one from last Tuesday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Digital Portfolio converts skeptics faster than any verbal argument. Seeing a familiar street name in an install photo is worth 10 minutes of technical explanation. Build it, protect it, and use it in the first 5 minutes of every appointment.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Advisor Language: Words That Shift the Frame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'I' with 'We': 'We've installed over 400 systems in this zip code' vs. 'I sell solar here'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'you' with 'your family': 'What this means for your family is...' vs. 'What this means for you is...'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'sell' with 'audit/design/structure': 'I'm going to audit your energy situation' vs. 'I'm going to sell you solar'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'sign' with 'authorize/confirm/initiate': 'I just need you to authorize the utility application' vs. 'Sign here'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Language is the invisible architecture of the sale. Every word is either building a wall or opening a door. The Advisor Frame is built one word at a time, across every sentence of the consultation.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ns0:sld xmlns:a="http://schemas.openxmlformats.org/drawingml/2006/main" xmlns:ns0="http://schemas.openxmlformats.org/presentationml/2006/main">
  <ns0:cSld name="Slide 47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73152"/>
            <a:ext cx="3657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457200"/>
            <a:ext cx="8412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Digital Portfolio Audit + Professional Introduction</a:t>
            </a:r>
            <a:endParaRPr lang="en-US" sz="17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411480" y="1170432"/>
            <a:ext cx="83210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Set up your Social Proof folder and record your 30-second Professional Introduction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1755648"/>
            <a:ext cx="6858000" cy="2834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 su iPad, cree una carpeta de 'Prueba Social' con al mínimo: 3 fotos de instalaciones locales, 5 reseñas de Google, captura de pantalla de calificación BBB, 1 comparación de factura antes/después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Revisar con el gerente — ¿cada activo se siente local, actual y creíble?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Escriba su Introducción Profesional de 30 segundos: nombre, rol, propósito, señal de credibilidad — todo en 30 segundos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Record it on your phone. Watch it back. Does it sound like a trusted expert or a script?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polished 30-second video introduction — submitted for manager review and kept as a personal benchmark</a:t>
            </a:r>
            <a:endParaRPr lang="en-US" sz="12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7150608" y="1773936"/>
            <a:ext cx="1691640" cy="8778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48.xml><?xml version="1.0" encoding="utf-8"?>
<ns0:sld xmlns:a="http://schemas.openxmlformats.org/drawingml/2006/main" xmlns:ns0="http://schemas.openxmlformats.org/presentationml/2006/main">
  <ns0:cSld name="Slide 48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7.9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Field Certification: The Full-Cycle Gauntlet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Knock to Signed Agreement — End-to-End Mastery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7.9 — FINAL CERTIFICATION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Stages. One Simulation. Your Career Starts Here.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The Door Knock — handle 'Not Interested' and set the appointment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The Discovery — BOLT-based, find the emotional motivation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The Presentation — clear Bill Swap math, Grandmother Test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 &amp; 5: The Objection + The Close — signature and referral ask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Full-Cycle Gauntlet: 5 Stages, 1 Homeowner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0233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32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🚪  STAGE 1: THE DOOR KNOCK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delivery — 15 seconds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'Not Interested' or 'I'm busy'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appointment for same day or next morning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Rep earns entry to the kitchen table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04672"/>
            <a:ext cx="402336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32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STAGE 2: THE DISCOVERY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BOLT type within first 5 minutes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emotional motivation (pain + goal)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bill, the constraint, the future vision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Clear motivation identified and confirmed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4023360" cy="329184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STAGE 3: THE PRESENTATION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03580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Discovery to Proposal correctly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Bill Swap math — Grandmother Test standard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5-Step Closing Ladder opening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Homeowner expresses interest in moving forward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51760"/>
            <a:ext cx="4023360" cy="32918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✍️  STAGES 4+5: CLOSE + REFERRAL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03580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'Think About It' using ACAC + Isolation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Paperwork Pivot to agreement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Post-sign Reassurance — Step 5 with genuine warmth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3 referrals at the table — get at least 1 name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Full-Cycle Gauntlet is the culminating event of 7 days of training. A rep who passes this simulation is prepared for a real appointment on Day 1 in the field. The Senior Manager plays a realistic, not theatrical, homeowner — genuine objections, real hesitation, no artificial ease.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7-Day Final Certification Scorecard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463040" cy="685800"/>
          </a:xfrm>
          <a:prstGeom prst="rect">
            <a:avLst/>
          </a:prstGeom>
          <a:solidFill>
            <a:srgbClr val="F4A61D">
              <a:alpha val="80000"/>
            </a:srgbClr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59536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89611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Door Knock &amp; Hook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opener earn entry? Was 'Not Interested' handled without arguing?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27632"/>
            <a:ext cx="1463040" cy="68580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64208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74520" y="170078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Depth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BOLT type identified? Was the emotional motivation surfaced and confirmed?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32304"/>
            <a:ext cx="1463040" cy="685800"/>
          </a:xfrm>
          <a:prstGeom prst="rect">
            <a:avLst/>
          </a:prstGeom>
          <a:solidFill>
            <a:srgbClr val="2D9B4E">
              <a:alpha val="80000"/>
            </a:srgbClr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468880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250545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Clarity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Bill Swap presented at Grandmother Test standard? Was the Bridge delivered cleanly?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36976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36976"/>
            <a:ext cx="1463040" cy="685800"/>
          </a:xfrm>
          <a:prstGeom prst="rect">
            <a:avLst/>
          </a:prstGeom>
          <a:solidFill>
            <a:srgbClr val="E07B39">
              <a:alpha val="80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273552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74520" y="331012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Objection Mastery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ACAC visible? Was the real objection isolated before being addressed?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41648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41648"/>
            <a:ext cx="1463040" cy="685800"/>
          </a:xfrm>
          <a:prstGeom prst="rect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4078224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74520" y="41148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 + Referral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Paperwork Pivot natural? Was Step 5 genuine? Was the referral ask delivered?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ns0:sld xmlns:a="http://schemas.openxmlformats.org/drawingml/2006/main" xmlns:ns0="http://schemas.openxmlformats.org/presentationml/2006/main">
  <ns0:cSld name="Slide 52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73152"/>
            <a:ext cx="3657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457200"/>
            <a:ext cx="8412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Full-Cycle Gauntlet: One-on-One Certification</a:t>
            </a:r>
            <a:endParaRPr lang="en-US" sz="17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411480" y="1170432"/>
            <a:ext cx="83210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Demonstrate end-to-end mastery in a live simulation with a Senior Manager</a:t>
            </a:r>
            <a:endParaRPr lang="en-US" sz="11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1755648"/>
            <a:ext cx="6858000" cy="2834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 representante entra a la sala — el Gerente Senior juega como propietario del mundo real (factura alta, dinámica de cónyuge escéptico, 'Necesito Pensarlo' en la línea de firma)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El representante debe completar las 5 etapas en secuencia — cada etapa debe superarse antes de abrir la siguiente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Sin entrenamiento, sin descansos, sin notas — esta es la simulación del mundo real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El evaluador puntúa cada etapa en el Marcador Final de 25 puntos — mínimo 20/25 para aprobar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Certified Solar Sales Closer Certificate + Field Deployment Kit (territory, leads, manager contact)</a:t>
            </a:r>
            <a:endParaRPr lang="en-US" sz="12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7150608" y="1773936"/>
            <a:ext cx="1691640" cy="8778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MIN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73168"/>
          </a:xfrm>
          <a:prstGeom prst="rect">
            <a:avLst/>
          </a:prstGeom>
          <a:solidFill>
            <a:srgbClr val="0D1B2A"/>
          </a:solidFill>
          <a:ln w="381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84048" y="329184"/>
            <a:ext cx="8375904" cy="4480560"/>
          </a:xfrm>
          <a:prstGeom prst="rect">
            <a:avLst/>
          </a:prstGeom>
          <a:solidFill>
            <a:srgbClr val="1A2840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29184"/>
            <a:ext cx="8375904" cy="80467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ACCELERATOR  ·  7-DAY CERTIFICATION PROGRAM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Achievement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167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certifies that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642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______________________________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successfully completed all 7 days of the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Accelerator Sales Rep Certification Program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9992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 hereby designated as 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  CERTIFIED SOLAR SALES CLOSER  ☀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950208"/>
            <a:ext cx="2926080" cy="1828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3950208"/>
            <a:ext cx="2926080" cy="1828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05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Director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4005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Completion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ns0:sld xmlns:a="http://schemas.openxmlformats.org/drawingml/2006/main" xmlns:ns0="http://schemas.openxmlformats.org/presentationml/2006/main">
  <ns0:cSld name="Slide 54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365760" y="137160"/>
            <a:ext cx="841248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7.10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365760" y="530352"/>
            <a:ext cx="841248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Graduation &amp; Field Launch</a:t>
            </a:r>
            <a:endParaRPr lang="en-US" sz="25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365760" y="1920240"/>
            <a:ext cx="84124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Sales Force. Your First Deal in 72 Hours.</a:t>
            </a:r>
            <a:endParaRPr lang="en-US" sz="15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7.10 — GRADUATION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Mission Starts Now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Contract: signing your activity commitments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Deal Bounty: setting the 72-hour goal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to Your Future Self — opened in 90 days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words on mission-driven selling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Performance Contract: Own Your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is not a formality — it is a personal commitment to a professional standard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commitments: 70 doors/day, 7 appointments/week, 7 proposals/week, daily Nightly Audit, weekly Pipeline Clean-Up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the rep. Witnessed by the manager. The copy lives on the rep's clipboard.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you cannot blame territory, weather, or timing for results — you can only audit your activity numbers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Performance Contract gives reps a standard to return to on their worst days. When everything feels wrong, the contract answers the question: 'Am I doing the activity?' If the activity is there, the results will follow. If it isn't, they know what to fix.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First Deal Bounty: 72 Hours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signed contract within 72 hours of leaving this room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Deal Bounty: specific celebration and recognition when the first contract comes 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available: Manager shadowing for first 3 appointments, AI simulation for objection review, peer accountability group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who gets their first deal within 72 hours has permanent momentum — the rep who waits 2 weeks almost always quits in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72-hour goal is psychological as much as practical. The first deal proves to the rep that the classroom was real — that everything they learned actually works in someone's kitchen. Nothing builds a career faster than the first signature.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ns0:sld xmlns:a="http://schemas.openxmlformats.org/drawingml/2006/main" xmlns:ns0="http://schemas.openxmlformats.org/presentationml/2006/main">
  <ns0:cSld name="Slide 58">
    <ns0:bg>
      <ns0:bgPr>
        <a:solidFill>
          <a:srgbClr val="0D1B2A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365760" y="228600"/>
            <a:ext cx="8412480" cy="4663440"/>
          </a:xfrm>
          <a:prstGeom prst="rect">
            <a:avLst/>
          </a:prstGeom>
          <a:solidFill>
            <a:srgbClr val="1A2840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3" name="Shape 1"/>
          <ns0:cNvSpPr/>
          <ns0:nvPr/>
        </ns0:nvSpPr>
        <ns0:spPr>
          <a:xfrm>
            <a:off x="365760" y="228600"/>
            <a:ext cx="8412480" cy="5852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457200" y="256032"/>
            <a:ext cx="8229600" cy="5303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✉  THE LETTER TO MY FUTURE SELF</a:t>
            </a:r>
            <a:endParaRPr lang="en-US" sz="14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822960"/>
            <a:ext cx="82296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(Sellado hoy. Abierto en 90 días.)</a:t>
            </a:r>
            <a:endParaRPr lang="en-US" sz="1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548640" y="1280160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658368" y="1335024"/>
            <a:ext cx="7863840" cy="40233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¿Cuál es la UNA cosa que más me asusta al salir al campo?</a:t>
            </a:r>
            <a:endParaRPr lang="en-US" sz="11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548640" y="1901952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658368" y="1956816"/>
            <a:ext cx="7863840" cy="40233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¿Cuál es mi meta financiera para mis primeros 90 días? (Escriba el número exacto.)</a:t>
            </a:r>
            <a:endParaRPr lang="en-US" sz="11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548640" y="2523744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58368" y="2578608"/>
            <a:ext cx="7863840" cy="40233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¿Qué haré diferente a la versión de mí que entró el Día 1?</a:t>
            </a:r>
            <a:endParaRPr lang="en-US" sz="11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548640" y="3145536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658368" y="3200400"/>
            <a:ext cx="7863840" cy="40233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does my life look like if I execute everything I learned in this room?</a:t>
            </a:r>
            <a:endParaRPr lang="en-US" sz="11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548640" y="3767328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658368" y="3822192"/>
            <a:ext cx="7863840" cy="40233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What do I want my manager to say about me at the Day 91 review?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7 Laws of the Solar Accelerator Graduate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0120" y="960120"/>
            <a:ext cx="27432" cy="64008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9601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 Beats Talent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who knocks 70 doors every day will out-earn the natural talent who knocks 30. Volume is the foundation of everything.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87452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1920240"/>
            <a:ext cx="2743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920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Is the Close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who finds the deepest 'Why' in Discovery never has to force the close. The signature follows the motivation.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83464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60120" y="2880360"/>
            <a:ext cx="27432" cy="64008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880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Is the Currency of Yes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No's. Each one is worth $100 toward your next commission. Rejection is not a setback — it is the 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79476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60120" y="3840480"/>
            <a:ext cx="2743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840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CRM Is Your Business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that aren't logged are commissions that aren't earned. If it isn't in the CRM, it doesn't exist.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70916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47548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60120" y="4800600"/>
            <a:ext cx="27432" cy="64008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8006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the Advisor, Not the Salesperson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homeowner who trusts you will buy from you. Trust is built by transparency, preparation, and showing up as an expert every single time.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566928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571500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60120" y="5760720"/>
            <a:ext cx="2743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7607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Urgency Is Information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 not to pressure homeowners — it is to inform them of the real cost of waiting. When they know, they decide. That's ethical urgency.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548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☀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a Certified Solar Sales Closer.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231136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7 days you learned to read a room, bridge to a close,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 every objection, rescue every deal, and earn your freedom.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family you sit with deserves the version of you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 walked out of this room.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7673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get your first deal.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33425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ACCELERATOR  ·  7-DAY CERTIFICATION  ·  MISSION: YOUR FIRST DEAL IN 72 HOURS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Accelerator – Day 7</dc:title>
  <dc:subject>PptxGenJS Presentation</dc:subject>
  <dc:creator>PptxGenJS</dc:creator>
  <cp:lastModifiedBy>PptxGenJS</cp:lastModifiedBy>
  <cp:revision>1</cp:revision>
  <dcterms:created xsi:type="dcterms:W3CDTF">2026-03-09T19:41:46Z</dcterms:created>
  <dcterms:modified xsi:type="dcterms:W3CDTF">2026-03-09T19:41:46Z</dcterms:modified>
</cp:coreProperties>
</file>