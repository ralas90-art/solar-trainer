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Income</c:v>
                </c:pt>
              </c:strCache>
            </c:strRef>
          </c:tx>
          <c:spPr>
            <a:solidFill>
              <a:srgbClr val="76B8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Mo 1</c:v>
                  </c:pt>
                  <c:pt idx="1">
                    <c:v>Mo 2</c:v>
                  </c:pt>
                  <c:pt idx="2">
                    <c:v>Mo 3</c:v>
                  </c:pt>
                  <c:pt idx="3">
                    <c:v>Mo 4</c:v>
                  </c:pt>
                  <c:pt idx="4">
                    <c:v>Mo 5</c:v>
                  </c:pt>
                  <c:pt idx="5">
                    <c:v>Mo 6</c:v>
                  </c:pt>
                  <c:pt idx="6">
                    <c:v>Mo 9</c:v>
                  </c:pt>
                  <c:pt idx="7">
                    <c:v>Mo 12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2000</c:v>
                </c:pt>
                <c:pt idx="1">
                  <c:v>4500</c:v>
                </c:pt>
                <c:pt idx="2">
                  <c:v>6000</c:v>
                </c:pt>
                <c:pt idx="3">
                  <c:v>8500</c:v>
                </c:pt>
                <c:pt idx="4">
                  <c:v>11000</c:v>
                </c:pt>
                <c:pt idx="5">
                  <c:v>14000</c:v>
                </c:pt>
                <c:pt idx="6">
                  <c:v>22000</c:v>
                </c:pt>
                <c:pt idx="7">
                  <c:v>35000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You aren't just here to learn a job; you're here to join a movement. Today is about building the foundation of your new career in renewable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5 PM today, you will understand exactly why this industry is booming and what your path to mastery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just sell panels; we sell financial freedom and environmental stewardship. If you believe in that, you will succeed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 is one of the few industries where your income is directly tied to your effort. There is no ceiling here.
COMPLIANCE: Always state: 'Earnings are not guaranteed and depend on individual performance and territory.'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could be you in six months. [Name] started exactly where you are sitting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next 72 hours, you will hit Stage 2. It will feel overwhelming. That is a sign of growth. Don't quit in the pit!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move fast. To get the most out of today, we need 100% of your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your laptops. We are going to go through these one by one to ensure no one is left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tools are your best friends. If it isn't in the CRM, it didn't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reward results. Here is exactly how the money moves from the customer's signature to your bank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Amateurs wait for the phone to ring. Professionals follow a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focus on the 'Yes.' Focus on the activity that leads to the 'Yes.'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reputation is more valuable than your commission. One bad apple ruins the territory for everyone.
COMPLIANCE NOTE: Reference the company's Code of Conduct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6217920" y="-1097280"/>
            <a:ext cx="3474720" cy="3474720"/>
          </a:xfrm>
          <a:prstGeom prst="ellipse">
            <a:avLst/>
          </a:prstGeom>
          <a:solidFill>
            <a:srgbClr val="76B82A">
              <a:alpha val="20000"/>
            </a:srgbClr>
          </a:solidFill>
          <a:ln w="6350">
            <a:solidFill>
              <a:srgbClr val="76B82A">
                <a:alpha val="30000"/>
              </a:srgbClr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6858000" y="-548640"/>
            <a:ext cx="2194560" cy="2194560"/>
          </a:xfrm>
          <a:prstGeom prst="ellipse">
            <a:avLst/>
          </a:prstGeom>
          <a:solidFill>
            <a:srgbClr val="76B82A">
              <a:alpha val="40000"/>
            </a:srgbClr>
          </a:solidFill>
          <a:ln w="6350">
            <a:solidFill>
              <a:srgbClr val="76B82A">
                <a:alpha val="50000"/>
              </a:srgbClr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7406640" y="-45720"/>
            <a:ext cx="1097280" cy="1097280"/>
          </a:xfrm>
          <a:prstGeom prst="ellipse">
            <a:avLst/>
          </a:prstGeom>
          <a:solidFill>
            <a:srgbClr val="76B82A">
              <a:alpha val="70000"/>
            </a:srgbClr>
          </a:solidFill>
          <a:ln w="12700">
            <a:solidFill>
              <a:srgbClr val="76B82A">
                <a:alpha val="80000"/>
              </a:srgbClr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0" y="0"/>
            <a:ext cx="411480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640080" y="640080"/>
            <a:ext cx="4114800" cy="41148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640080" y="640080"/>
            <a:ext cx="41148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ACELERADOR DE VENTAS SOLAR  ·  DÍA 1</a:t>
            </a:r>
            <a:endParaRPr lang="en-US" sz="1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640080" y="1188720"/>
            <a:ext cx="6583680" cy="192024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Fundación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Excelencia</a:t>
            </a:r>
            <a:endParaRPr lang="en-US" sz="52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640080" y="3218688"/>
            <a:ext cx="457200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 de Ventas Solar</a:t>
            </a:r>
            <a:endParaRPr lang="en-US" sz="16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640080" y="3639312"/>
            <a:ext cx="45720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Entrenador / Instructor Principal]</a:t>
            </a:r>
            <a:endParaRPr lang="en-US" sz="1300" dirty="0"/>
          </a:p>
        </ns0:txBody>
      </ns0:sp>
      <ns0:pic>
        <ns0:nvPicPr>
          <ns0:cNvPr id="11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6583680" y="2560320"/>
            <a:ext cx="2286000" cy="1691640"/>
          </a:xfrm>
          <a:prstGeom prst="rect">
            <a:avLst/>
          </a:prstGeom>
        </ns0:spPr>
      </ns0:pic>
      <ns0:sp>
        <ns0:nvSpPr>
          <ns0:cNvPr id="13" name="Shape 9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4" name="Shape 10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Text 11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  |  Acelerador de Ventas Solar - Día 1 - Confidencial</a:t>
            </a:r>
            <a:endParaRPr lang="en-US" sz="750" dirty="0"/>
          </a:p>
        </ns0:txBody>
      </ns0:sp>
      <ns0:sp>
        <ns0:nvSpPr>
          <ns0:cNvPr id="16" name="Shape 12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7" name="Text 13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2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APRENDIZAJE</a:t>
            </a:r>
            <a:endParaRPr lang="en-US" sz="24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2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65760" y="987552"/>
            <a:ext cx="195224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365760" y="987552"/>
            <a:ext cx="1952244" cy="73152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12" name="Shape 10"/>
          <ns0:cNvSpPr/>
          <ns0:nvPr/>
        </ns0:nvSpPr>
        <ns0:spPr>
          <a:xfrm>
            <a:off x="921258" y="1188720"/>
            <a:ext cx="841248" cy="841248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13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067562" y="1280160"/>
            <a:ext cx="548640" cy="548640"/>
          </a:xfrm>
          <a:prstGeom prst="rect">
            <a:avLst/>
          </a:prstGeom>
        </ns0:spPr>
      </ns0:pic>
      <ns0:sp>
        <ns0:nvSpPr>
          <ns0:cNvPr id="14" name="Text 11"/>
          <ns0:cNvSpPr/>
          <ns0:nvPr/>
        </ns0:nvSpPr>
        <ns0:spPr>
          <a:xfrm>
            <a:off x="457200" y="2130552"/>
            <a:ext cx="1769364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Misión</a:t>
            </a:r>
            <a:endParaRPr lang="en-US" sz="14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493776" y="2926080"/>
            <a:ext cx="1696212" cy="112471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misión y visión de [COMPANY_NAME]</a:t>
            </a:r>
            <a:endParaRPr lang="en-US" sz="100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2519172" y="987552"/>
            <a:ext cx="195224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7" name="Shape 14"/>
          <ns0:cNvSpPr/>
          <ns0:nvPr/>
        </ns0:nvSpPr>
        <ns0:spPr>
          <a:xfrm>
            <a:off x="2519172" y="987552"/>
            <a:ext cx="1952244" cy="7315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8" name="Shape 15"/>
          <ns0:cNvSpPr/>
          <ns0:nvPr/>
        </ns0:nvSpPr>
        <ns0:spPr>
          <a:xfrm>
            <a:off x="3074670" y="1188720"/>
            <a:ext cx="841248" cy="841248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19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3220974" y="1280160"/>
            <a:ext cx="548640" cy="548640"/>
          </a:xfrm>
          <a:prstGeom prst="rect">
            <a:avLst/>
          </a:prstGeom>
        </ns0:spPr>
      </ns0:pic>
      <ns0:sp>
        <ns0:nvSpPr>
          <ns0:cNvPr id="20" name="Text 16"/>
          <ns0:cNvSpPr/>
          <ns0:nvPr/>
        </ns0:nvSpPr>
        <ns0:spPr>
          <a:xfrm>
            <a:off x="2610612" y="2130552"/>
            <a:ext cx="1769364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Potencial de Ingresos</a:t>
            </a:r>
            <a:endParaRPr lang="en-US" sz="1400" dirty="0"/>
          </a:p>
        </ns0:txBody>
      </ns0:sp>
      <ns0:sp>
        <ns0:nvSpPr>
          <ns0:cNvPr id="21" name="Text 17"/>
          <ns0:cNvSpPr/>
          <ns0:nvPr/>
        </ns0:nvSpPr>
        <ns0:spPr>
          <a:xfrm>
            <a:off x="2647188" y="2926080"/>
            <a:ext cx="1696212" cy="112471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la oportunidad de ingresos en solar</a:t>
            </a:r>
            <a:endParaRPr lang="en-US" sz="1000" dirty="0"/>
          </a:p>
        </ns0:txBody>
      </ns0:sp>
      <ns0:sp>
        <ns0:nvSpPr>
          <ns0:cNvPr id="22" name="Shape 18"/>
          <ns0:cNvSpPr/>
          <ns0:nvPr/>
        </ns0:nvSpPr>
        <ns0:spPr>
          <a:xfrm>
            <a:off x="4672584" y="987552"/>
            <a:ext cx="195224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23" name="Shape 19"/>
          <ns0:cNvSpPr/>
          <ns0:nvPr/>
        </ns0:nvSpPr>
        <ns0:spPr>
          <a:xfrm>
            <a:off x="4672584" y="987552"/>
            <a:ext cx="1952244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4" name="Shape 20"/>
          <ns0:cNvSpPr/>
          <ns0:nvPr/>
        </ns0:nvSpPr>
        <ns0:spPr>
          <a:xfrm>
            <a:off x="5228082" y="1188720"/>
            <a:ext cx="841248" cy="8412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25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5374386" y="1280160"/>
            <a:ext cx="548640" cy="548640"/>
          </a:xfrm>
          <a:prstGeom prst="rect">
            <a:avLst/>
          </a:prstGeom>
        </ns0:spPr>
      </ns0:pic>
      <ns0:sp>
        <ns0:nvSpPr>
          <ns0:cNvPr id="26" name="Text 21"/>
          <ns0:cNvSpPr/>
          <ns0:nvPr/>
        </ns0:nvSpPr>
        <ns0:spPr>
          <a:xfrm>
            <a:off x="4764024" y="2130552"/>
            <a:ext cx="1769364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Etapas</a:t>
            </a:r>
            <a:endParaRPr lang="en-US" sz="1400" dirty="0"/>
          </a:p>
        </ns0:txBody>
      </ns0:sp>
      <ns0:sp>
        <ns0:nvSpPr>
          <ns0:cNvPr id="27" name="Text 22"/>
          <ns0:cNvSpPr/>
          <ns0:nvPr/>
        </ns0:nvSpPr>
        <ns0:spPr>
          <a:xfrm>
            <a:off x="4800600" y="2926080"/>
            <a:ext cx="1696212" cy="112471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4 Etapas de Competencia</a:t>
            </a:r>
            <a:endParaRPr lang="en-US" sz="1000" dirty="0"/>
          </a:p>
        </ns0:txBody>
      </ns0:sp>
      <ns0:sp>
        <ns0:nvSpPr>
          <ns0:cNvPr id="28" name="Shape 23"/>
          <ns0:cNvSpPr/>
          <ns0:nvPr/>
        </ns0:nvSpPr>
        <ns0:spPr>
          <a:xfrm>
            <a:off x="6825996" y="987552"/>
            <a:ext cx="195224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29" name="Shape 24"/>
          <ns0:cNvSpPr/>
          <ns0:nvPr/>
        </ns0:nvSpPr>
        <ns0:spPr>
          <a:xfrm>
            <a:off x="6825996" y="987552"/>
            <a:ext cx="1952244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ns0:spPr>
      </ns0:sp>
      <ns0:sp>
        <ns0:nvSpPr>
          <ns0:cNvPr id="30" name="Shape 25"/>
          <ns0:cNvSpPr/>
          <ns0:nvPr/>
        </ns0:nvSpPr>
        <ns0:spPr>
          <a:xfrm>
            <a:off x="7381494" y="1188720"/>
            <a:ext cx="841248" cy="8412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ns0:spPr>
      </ns0:sp>
      <ns0:pic>
        <ns0:nvPicPr>
          <ns0:cNvPr id="31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527798" y="1280160"/>
            <a:ext cx="548640" cy="548640"/>
          </a:xfrm>
          <a:prstGeom prst="rect">
            <a:avLst/>
          </a:prstGeom>
        </ns0:spPr>
      </ns0:pic>
      <ns0:sp>
        <ns0:nvSpPr>
          <ns0:cNvPr id="32" name="Text 26"/>
          <ns0:cNvSpPr/>
          <ns0:nvPr/>
        </ns0:nvSpPr>
        <ns0:spPr>
          <a:xfrm>
            <a:off x="6917436" y="2130552"/>
            <a:ext cx="1769364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Reglas Básicas</a:t>
            </a:r>
            <a:endParaRPr lang="en-US" sz="1400" dirty="0"/>
          </a:p>
        </ns0:txBody>
      </ns0:sp>
      <ns0:sp>
        <ns0:nvSpPr>
          <ns0:cNvPr id="33" name="Text 27"/>
          <ns0:cNvSpPr/>
          <ns0:nvPr/>
        </ns0:nvSpPr>
        <ns0:spPr>
          <a:xfrm>
            <a:off x="6954012" y="2926080"/>
            <a:ext cx="1696212" cy="112471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expectativas del salón</a:t>
            </a:r>
            <a:endParaRPr lang="en-US" sz="1000" dirty="0"/>
          </a:p>
        </ns0:txBody>
      </ns0:sp>
      <ns0:sp>
        <ns0:nvSpPr>
          <ns0:cNvPr id="34" name="Text 28"/>
          <ns0:cNvSpPr/>
          <ns0:nvPr/>
        </ns0:nvSpPr>
        <ns0:spPr>
          <a:xfrm>
            <a:off x="365760" y="4393692"/>
            <a:ext cx="841248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las 5 PM de hoy, entenderá exactamente por qué esta industria está en auge y cómo se ve su camino hacia la maestría.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3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347472" y="0"/>
            <a:ext cx="8796528" cy="804672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347472" y="804672"/>
            <a:ext cx="8796528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548640" y="0"/>
            <a:ext cx="731520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'PORQUÉ' DE [COMPANY_NAME]</a:t>
            </a:r>
            <a:endParaRPr lang="en-US" sz="2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960120"/>
            <a:ext cx="2606040" cy="320040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502920" y="960120"/>
            <a:ext cx="2606040" cy="822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376172" y="1161288"/>
            <a:ext cx="859536" cy="859536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9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522476" y="1261872"/>
            <a:ext cx="566928" cy="566928"/>
          </a:xfrm>
          <a:prstGeom prst="rect">
            <a:avLst/>
          </a:prstGeom>
        </ns0:spPr>
      </ns0:pic>
      <ns0:sp>
        <ns0:nvSpPr>
          <ns0:cNvPr id="10" name="Text 7"/>
          <ns0:cNvSpPr/>
          <ns0:nvPr/>
        </ns0:nvSpPr>
        <ns0:spPr>
          <a:xfrm>
            <a:off x="594360" y="2130552"/>
            <a:ext cx="242316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MISIÓN</a:t>
            </a:r>
            <a:endParaRPr lang="en-US" sz="15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640080" y="2624328"/>
            <a:ext cx="2331720" cy="1417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Declaración de Misión]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Existimos para transformar cómo las familias abastecen sus hogares.</a:t>
            </a:r>
            <a:endParaRPr lang="en-US" sz="11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3291840" y="960120"/>
            <a:ext cx="2606040" cy="320040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3" name="Shape 10"/>
          <ns0:cNvSpPr/>
          <ns0:nvPr/>
        </ns0:nvSpPr>
        <ns0:spPr>
          <a:xfrm>
            <a:off x="3291840" y="960120"/>
            <a:ext cx="2606040" cy="82296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4165092" y="1161288"/>
            <a:ext cx="859536" cy="859536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15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4311396" y="1261872"/>
            <a:ext cx="566928" cy="566928"/>
          </a:xfrm>
          <a:prstGeom prst="rect">
            <a:avLst/>
          </a:prstGeom>
        </ns0:spPr>
      </ns0:pic>
      <ns0:sp>
        <ns0:nvSpPr>
          <ns0:cNvPr id="16" name="Text 12"/>
          <ns0:cNvSpPr/>
          <ns0:nvPr/>
        </ns0:nvSpPr>
        <ns0:spPr>
          <a:xfrm>
            <a:off x="3383280" y="2130552"/>
            <a:ext cx="242316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VISIÓN</a:t>
            </a:r>
            <a:endParaRPr lang="en-US" sz="15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3429000" y="2624328"/>
            <a:ext cx="2331720" cy="1417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Alimentando [STATE_NAME] con energía solar limpia y asequible para cada hogar.</a:t>
            </a:r>
            <a:endParaRPr lang="en-US" sz="1100" dirty="0"/>
          </a:p>
        </ns0:txBody>
      </ns0:sp>
      <ns0:sp>
        <ns0:nvSpPr>
          <ns0:cNvPr id="18" name="Shape 14"/>
          <ns0:cNvSpPr/>
          <ns0:nvPr/>
        </ns0:nvSpPr>
        <ns0:spPr>
          <a:xfrm>
            <a:off x="6080760" y="960120"/>
            <a:ext cx="2606040" cy="320040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9" name="Shape 15"/>
          <ns0:cNvSpPr/>
          <ns0:nvPr/>
        </ns0:nvSpPr>
        <ns0:spPr>
          <a:xfrm>
            <a:off x="6080760" y="960120"/>
            <a:ext cx="260604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0" name="Shape 16"/>
          <ns0:cNvSpPr/>
          <ns0:nvPr/>
        </ns0:nvSpPr>
        <ns0:spPr>
          <a:xfrm>
            <a:off x="6954012" y="1161288"/>
            <a:ext cx="859536" cy="8595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21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100316" y="1261872"/>
            <a:ext cx="566928" cy="566928"/>
          </a:xfrm>
          <a:prstGeom prst="rect">
            <a:avLst/>
          </a:prstGeom>
        </ns0:spPr>
      </ns0:pic>
      <ns0:sp>
        <ns0:nvSpPr>
          <ns0:cNvPr id="22" name="Text 17"/>
          <ns0:cNvSpPr/>
          <ns0:nvPr/>
        </ns0:nvSpPr>
        <ns0:spPr>
          <a:xfrm>
            <a:off x="6172200" y="2130552"/>
            <a:ext cx="242316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VALORES</a:t>
            </a:r>
            <a:endParaRPr lang="en-US" sz="1500" dirty="0"/>
          </a:p>
        </ns0:txBody>
      </ns0:sp>
      <ns0:sp>
        <ns0:nvSpPr>
          <ns0:cNvPr id="23" name="Text 18"/>
          <ns0:cNvSpPr/>
          <ns0:nvPr/>
        </ns0:nvSpPr>
        <ns0:spPr>
          <a:xfrm>
            <a:off x="6217920" y="2624328"/>
            <a:ext cx="2331720" cy="14173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· Energía · Experiencia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no son afiches en una pared — así es como operamos.</a:t>
            </a:r>
            <a:endParaRPr lang="en-US" sz="1100" dirty="0"/>
          </a:p>
        </ns0:txBody>
      </ns0:sp>
      <ns0:sp>
        <ns0:nvSpPr>
          <ns0:cNvPr id="25" name="Shape 19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26" name="Shape 20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7" name="Text 21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3  |  Acelerador de Ventas Solar - Día 1 - Confidencial</a:t>
            </a:r>
            <a:endParaRPr lang="en-US" sz="750" dirty="0"/>
          </a:p>
        </ns0:txBody>
      </ns0:sp>
      <ns0:sp>
        <ns0:nvSpPr>
          <ns0:cNvPr id="28" name="Shape 22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9" name="Text 23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 xmlns:ns2="http://schemas.openxmlformats.org/officeDocument/2006/relationships" xmlns:ns3="http://schemas.openxmlformats.org/drawingml/2006/chart">
  <ns0:cSld name="Slide 4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PROYECCIONES DE INGRESOS: LA OPORTUNIDAD</a:t>
            </a:r>
            <a:endParaRPr lang="en-US" sz="24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4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65760" y="9601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365760" y="960120"/>
            <a:ext cx="2606040" cy="82296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12" name="Shape 10"/>
          <ns0:cNvSpPr/>
          <ns0:nvPr/>
        </ns0:nvSpPr>
        <ns0:spPr>
          <a:xfrm>
            <a:off x="1321308" y="1143000"/>
            <a:ext cx="694944" cy="694944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13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440180" y="1234440"/>
            <a:ext cx="457200" cy="457200"/>
          </a:xfrm>
          <a:prstGeom prst="rect">
            <a:avLst/>
          </a:prstGeom>
        </ns0:spPr>
      </ns0:pic>
      <ns0:sp>
        <ns0:nvSpPr>
          <ns0:cNvPr id="14" name="Text 11"/>
          <ns0:cNvSpPr/>
          <ns0:nvPr/>
        </ns0:nvSpPr>
        <ns0:spPr>
          <a:xfrm>
            <a:off x="457200" y="1929384"/>
            <a:ext cx="2423160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Representante Promedio</a:t>
            </a:r>
            <a:endParaRPr lang="en-US" sz="11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457200" y="2276856"/>
            <a:ext cx="24231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D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$[Monto]</a:t>
            </a:r>
            <a:endParaRPr lang="en-US" sz="2000" dirty="0"/>
          </a:p>
        </ns0:txBody>
      </ns0:sp>
      <ns0:sp>
        <ns0:nvSpPr>
          <ns0:cNvPr id="16" name="Text 13"/>
          <ns0:cNvSpPr/>
          <ns0:nvPr/>
        </ns0:nvSpPr>
        <ns0:spPr>
          <a:xfrm>
            <a:off x="457200" y="2679192"/>
            <a:ext cx="242316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ventas/mes</a:t>
            </a:r>
            <a:endParaRPr lang="en-US" sz="1000" dirty="0"/>
          </a:p>
        </ns0:txBody>
      </ns0:sp>
      <ns0:sp>
        <ns0:nvSpPr>
          <ns0:cNvPr id="17" name="Shape 14"/>
          <ns0:cNvSpPr/>
          <ns0:nvPr/>
        </ns0:nvSpPr>
        <ns0:spPr>
          <a:xfrm>
            <a:off x="3154680" y="9601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8" name="Shape 15"/>
          <ns0:cNvSpPr/>
          <ns0:nvPr/>
        </ns0:nvSpPr>
        <ns0:spPr>
          <a:xfrm>
            <a:off x="3154680" y="960120"/>
            <a:ext cx="2606040" cy="822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9" name="Shape 16"/>
          <ns0:cNvSpPr/>
          <ns0:nvPr/>
        </ns0:nvSpPr>
        <ns0:spPr>
          <a:xfrm>
            <a:off x="4110228" y="1143000"/>
            <a:ext cx="694944" cy="694944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20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4229100" y="1234440"/>
            <a:ext cx="457200" cy="457200"/>
          </a:xfrm>
          <a:prstGeom prst="rect">
            <a:avLst/>
          </a:prstGeom>
        </ns0:spPr>
      </ns0:pic>
      <ns0:sp>
        <ns0:nvSpPr>
          <ns0:cNvPr id="21" name="Text 17"/>
          <ns0:cNvSpPr/>
          <ns0:nvPr/>
        </ns0:nvSpPr>
        <ns0:spPr>
          <a:xfrm>
            <a:off x="3246120" y="1929384"/>
            <a:ext cx="2423160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Productor</a:t>
            </a:r>
            <a:endParaRPr lang="en-US" sz="1100" dirty="0"/>
          </a:p>
        </ns0:txBody>
      </ns0:sp>
      <ns0:sp>
        <ns0:nvSpPr>
          <ns0:cNvPr id="22" name="Text 18"/>
          <ns0:cNvSpPr/>
          <ns0:nvPr/>
        </ns0:nvSpPr>
        <ns0:spPr>
          <a:xfrm>
            <a:off x="3246120" y="2276856"/>
            <a:ext cx="24231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$[Monto]</a:t>
            </a:r>
            <a:endParaRPr lang="en-US" sz="2000" dirty="0"/>
          </a:p>
        </ns0:txBody>
      </ns0:sp>
      <ns0:sp>
        <ns0:nvSpPr>
          <ns0:cNvPr id="23" name="Text 19"/>
          <ns0:cNvSpPr/>
          <ns0:nvPr/>
        </ns0:nvSpPr>
        <ns0:spPr>
          <a:xfrm>
            <a:off x="3246120" y="2679192"/>
            <a:ext cx="242316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ventas/mes</a:t>
            </a:r>
            <a:endParaRPr lang="en-US" sz="1000" dirty="0"/>
          </a:p>
        </ns0:txBody>
      </ns0:sp>
      <ns0:sp>
        <ns0:nvSpPr>
          <ns0:cNvPr id="24" name="Shape 20"/>
          <ns0:cNvSpPr/>
          <ns0:nvPr/>
        </ns0:nvSpPr>
        <ns0:spPr>
          <a:xfrm>
            <a:off x="5943600" y="96012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25" name="Shape 21"/>
          <ns0:cNvSpPr/>
          <ns0:nvPr/>
        </ns0:nvSpPr>
        <ns0:spPr>
          <a:xfrm>
            <a:off x="5943600" y="960120"/>
            <a:ext cx="260604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6" name="Shape 22"/>
          <ns0:cNvSpPr/>
          <ns0:nvPr/>
        </ns0:nvSpPr>
        <ns0:spPr>
          <a:xfrm>
            <a:off x="6899148" y="1143000"/>
            <a:ext cx="694944" cy="69494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27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018020" y="1234440"/>
            <a:ext cx="457200" cy="457200"/>
          </a:xfrm>
          <a:prstGeom prst="rect">
            <a:avLst/>
          </a:prstGeom>
        </ns0:spPr>
      </ns0:pic>
      <ns0:sp>
        <ns0:nvSpPr>
          <ns0:cNvPr id="28" name="Text 23"/>
          <ns0:cNvSpPr/>
          <ns0:nvPr/>
        </ns0:nvSpPr>
        <ns0:spPr>
          <a:xfrm>
            <a:off x="6035040" y="1929384"/>
            <a:ext cx="2423160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1%</a:t>
            </a:r>
            <a:endParaRPr lang="en-US" sz="1100" dirty="0"/>
          </a:p>
        </ns0:txBody>
      </ns0:sp>
      <ns0:sp>
        <ns0:nvSpPr>
          <ns0:cNvPr id="29" name="Text 24"/>
          <ns0:cNvSpPr/>
          <ns0:nvPr/>
        </ns0:nvSpPr>
        <ns0:spPr>
          <a:xfrm>
            <a:off x="6035040" y="2276856"/>
            <a:ext cx="24231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$[Monto]+/año</a:t>
            </a:r>
            <a:endParaRPr lang="en-US" sz="2000" dirty="0"/>
          </a:p>
        </ns0:txBody>
      </ns0:sp>
      <ns0:sp>
        <ns0:nvSpPr>
          <ns0:cNvPr id="30" name="Text 25"/>
          <ns0:cNvSpPr/>
          <ns0:nvPr/>
        </ns0:nvSpPr>
        <ns0:spPr>
          <a:xfrm>
            <a:off x="6035040" y="2679192"/>
            <a:ext cx="2423160" cy="2560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Ejecutante de élite</a:t>
            </a:r>
            <a:endParaRPr lang="en-US" sz="1000" dirty="0"/>
          </a:p>
        </ns0:txBody>
      </ns0:sp>
      <ns0:graphicFrame>
        <ns0:nvGraphicFramePr>
          <ns0:cNvPr id="31" name="Chart 0" descr=""/>
          <ns0:cNvGraphicFramePr/>
          <ns0:nvPr/>
        </ns0:nvGraphicFramePr>
        <ns0:xfrm>
          <a:off x="365760" y="3127248"/>
          <a:ext cx="8412480" cy="1554480"/>
        </ns0:xfrm>
        <a:graphic>
          <a:graphicData uri="http://schemas.openxmlformats.org/drawingml/2006/chart">
            <ns3:chart ns2:id="rId4"/>
          </a:graphicData>
        </a:graphic>
      </ns0:graphicFrame>
      <ns0:sp>
        <ns0:nvSpPr>
          <ns0:cNvPr id="32" name="Text 26"/>
          <ns0:cNvSpPr/>
          <ns0:nvPr/>
        </ns0:nvSpPr>
        <ns0:spPr>
          <a:xfrm>
            <a:off x="365760" y="4640580"/>
            <a:ext cx="7315200" cy="2286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Las ganancias no están garantizadas y dependen del rendimiento individual y el territorio.</a:t>
            </a:r>
            <a:endParaRPr lang="en-US" sz="750" dirty="0"/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>
  <ns0:cSld name="Slide 5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347472" y="0"/>
            <a:ext cx="8796528" cy="804672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347472" y="804672"/>
            <a:ext cx="8796528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548640" y="0"/>
            <a:ext cx="731520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RECONOCIMIENTO AL MEJOR EJECUTANTE</a:t>
            </a:r>
            <a:endParaRPr lang="en-US" sz="2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640080" y="1051560"/>
            <a:ext cx="2926080" cy="2926080"/>
          </a:xfrm>
          <a:prstGeom prst="ellipse">
            <a:avLst/>
          </a:prstGeom>
          <a:solidFill>
            <a:srgbClr val="2E4A66"/>
          </a:solidFill>
          <a:ln w="381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640080" y="1051560"/>
            <a:ext cx="2926080" cy="29260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4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3840480" y="896112"/>
            <a:ext cx="731520" cy="8229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6B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3931920" y="1572768"/>
            <a:ext cx="4892040" cy="128016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sobre intensidad.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Preséntese cada día y los resultados seguirán.</a:t>
            </a:r>
            <a:endParaRPr lang="en-US" sz="20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931920" y="3017520"/>
            <a:ext cx="4892040" cy="420624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1" name="Shape 9"/>
          <ns0:cNvSpPr/>
          <ns0:nvPr/>
        </ns0:nvSpPr>
        <ns0:spPr>
          <a:xfrm>
            <a:off x="3931920" y="3017520"/>
            <a:ext cx="64008" cy="42062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4096512" y="3017520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</a:t>
            </a:r>
            <a:endParaRPr lang="en-US" sz="10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394960" y="3017520"/>
            <a:ext cx="32918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Mejor Representante]</a:t>
            </a:r>
            <a:endParaRPr lang="en-US" sz="11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3931920" y="3511296"/>
            <a:ext cx="4892040" cy="420624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5" name="Shape 13"/>
          <ns0:cNvSpPr/>
          <ns0:nvPr/>
        </ns0:nvSpPr>
        <ns0:spPr>
          <a:xfrm>
            <a:off x="3931920" y="3511296"/>
            <a:ext cx="64008" cy="42062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6" name="Text 14"/>
          <ns0:cNvSpPr/>
          <ns0:nvPr/>
        </ns0:nvSpPr>
        <ns0:spPr>
          <a:xfrm>
            <a:off x="4096512" y="3511296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en Solar:</a:t>
            </a:r>
            <a:endParaRPr lang="en-US" sz="10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5394960" y="3511296"/>
            <a:ext cx="32918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Años</a:t>
            </a:r>
            <a:endParaRPr lang="en-US" sz="1100" dirty="0"/>
          </a:p>
        </ns0:txBody>
      </ns0:sp>
      <ns0:sp>
        <ns0:nvSpPr>
          <ns0:cNvPr id="18" name="Shape 16"/>
          <ns0:cNvSpPr/>
          <ns0:nvPr/>
        </ns0:nvSpPr>
        <ns0:spPr>
          <a:xfrm>
            <a:off x="3931920" y="4005072"/>
            <a:ext cx="4892040" cy="420624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9" name="Shape 17"/>
          <ns0:cNvSpPr/>
          <ns0:nvPr/>
        </ns0:nvSpPr>
        <ns0:spPr>
          <a:xfrm>
            <a:off x="3931920" y="4005072"/>
            <a:ext cx="64008" cy="42062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4096512" y="4005072"/>
            <a:ext cx="137160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del Éxito:</a:t>
            </a:r>
            <a:endParaRPr lang="en-US" sz="10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5394960" y="4005072"/>
            <a:ext cx="329184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sobre intensidad</a:t>
            </a:r>
            <a:endParaRPr lang="en-US" sz="1100" dirty="0"/>
          </a:p>
        </ns0:txBody>
      </ns0:sp>
      <ns0:sp>
        <ns0:nvSpPr>
          <ns0:cNvPr id="23" name="Shape 20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24" name="Shape 21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5" name="Text 22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5  |  Acelerador de Ventas Solar - Día 1 - Confidencial</a:t>
            </a:r>
            <a:endParaRPr lang="en-US" sz="750" dirty="0"/>
          </a:p>
        </ns0:txBody>
      </ns0:sp>
      <ns0:sp>
        <ns0:nvSpPr>
          <ns0:cNvPr id="26" name="Shape 23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7" name="Text 24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6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4 ETAPAS DE COMPETENCIA</a:t>
            </a:r>
            <a:endParaRPr lang="en-US" sz="24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6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65760" y="960120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365760" y="960120"/>
            <a:ext cx="192024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12" name="Shape 10"/>
          <ns0:cNvSpPr/>
          <ns0:nvPr/>
        </ns0:nvSpPr>
        <ns0:spPr>
          <a:xfrm>
            <a:off x="941832" y="1161288"/>
            <a:ext cx="768096" cy="7680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941832" y="1161288"/>
            <a:ext cx="768096" cy="7680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ns0:txBody>
      </ns0:sp>
      <ns0:pic>
        <ns0:nvPicPr>
          <ns0:cNvPr id="14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847088" y="1188720"/>
            <a:ext cx="347472" cy="347472"/>
          </a:xfrm>
          <a:prstGeom prst="rect">
            <a:avLst/>
          </a:prstGeom>
        </ns0:spPr>
      </ns0:pic>
      <ns0:sp>
        <ns0:nvSpPr>
          <ns0:cNvPr id="15" name="Text 12"/>
          <ns0:cNvSpPr/>
          <ns0:nvPr/>
        </ns0:nvSpPr>
        <ns0:spPr>
          <a:xfrm>
            <a:off x="438912" y="2075688"/>
            <a:ext cx="1773936" cy="6858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Inconsciente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Incompetencia</a:t>
            </a:r>
            <a:endParaRPr lang="en-US" sz="1200" dirty="0"/>
          </a:p>
        </ns0:txBody>
      </ns0:sp>
      <ns0:sp>
        <ns0:nvSpPr>
          <ns0:cNvPr id="16" name="Text 13"/>
          <ns0:cNvSpPr/>
          <ns0:nvPr/>
        </ns0:nvSpPr>
        <ns0:spPr>
          <a:xfrm>
            <a:off x="457200" y="2834640"/>
            <a:ext cx="1737360" cy="11704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lo 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</a:t>
            </a:r>
            <a:endParaRPr lang="en-US" sz="1000" dirty="0"/>
          </a:p>
        </ns0:txBody>
      </ns0:sp>
      <ns0:sp>
        <ns0:nvSpPr>
          <ns0:cNvPr id="17" name="Shape 14"/>
          <ns0:cNvSpPr/>
          <ns0:nvPr/>
        </ns0:nvSpPr>
        <ns0:spPr>
          <a:xfrm>
            <a:off x="2450592" y="960120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8" name="Shape 15"/>
          <ns0:cNvSpPr/>
          <ns0:nvPr/>
        </ns0:nvSpPr>
        <ns0:spPr>
          <a:xfrm>
            <a:off x="2450592" y="960120"/>
            <a:ext cx="1920240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19" name="Shape 16"/>
          <ns0:cNvSpPr/>
          <ns0:nvPr/>
        </ns0:nvSpPr>
        <ns0:spPr>
          <a:xfrm>
            <a:off x="3026664" y="1161288"/>
            <a:ext cx="768096" cy="76809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0" name="Text 17"/>
          <ns0:cNvSpPr/>
          <ns0:nvPr/>
        </ns0:nvSpPr>
        <ns0:spPr>
          <a:xfrm>
            <a:off x="3026664" y="1161288"/>
            <a:ext cx="768096" cy="7680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ns0:txBody>
      </ns0:sp>
      <ns0:pic>
        <ns0:nvPicPr>
          <ns0:cNvPr id="21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3931920" y="1188720"/>
            <a:ext cx="347472" cy="347472"/>
          </a:xfrm>
          <a:prstGeom prst="rect">
            <a:avLst/>
          </a:prstGeom>
        </ns0:spPr>
      </ns0:pic>
      <ns0:sp>
        <ns0:nvSpPr>
          <ns0:cNvPr id="22" name="Text 18"/>
          <ns0:cNvSpPr/>
          <ns0:nvPr/>
        </ns0:nvSpPr>
        <ns0:spPr>
          <a:xfrm>
            <a:off x="2523744" y="2075688"/>
            <a:ext cx="1773936" cy="6858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Consciente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Incompetencia</a:t>
            </a:r>
            <a:endParaRPr lang="en-US" sz="1200" dirty="0"/>
          </a:p>
        </ns0:txBody>
      </ns0:sp>
      <ns0:sp>
        <ns0:nvSpPr>
          <ns0:cNvPr id="23" name="Text 19"/>
          <ns0:cNvSpPr/>
          <ns0:nvPr/>
        </ns0:nvSpPr>
        <ns0:spPr>
          <a:xfrm>
            <a:off x="2542032" y="2834640"/>
            <a:ext cx="1737360" cy="11704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'Pozo de la Desesperación'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 crecimiento comienza aquí</a:t>
            </a:r>
            <a:endParaRPr lang="en-US" sz="1000" dirty="0"/>
          </a:p>
        </ns0:txBody>
      </ns0:sp>
      <ns0:sp>
        <ns0:nvSpPr>
          <ns0:cNvPr id="24" name="Shape 20"/>
          <ns0:cNvSpPr/>
          <ns0:nvPr/>
        </ns0:nvSpPr>
        <ns0:spPr>
          <a:xfrm>
            <a:off x="4535424" y="960120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25" name="Shape 21"/>
          <ns0:cNvSpPr/>
          <ns0:nvPr/>
        </ns0:nvSpPr>
        <ns0:spPr>
          <a:xfrm>
            <a:off x="4535424" y="960120"/>
            <a:ext cx="1920240" cy="256032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26" name="Shape 22"/>
          <ns0:cNvSpPr/>
          <ns0:nvPr/>
        </ns0:nvSpPr>
        <ns0:spPr>
          <a:xfrm>
            <a:off x="5111496" y="1161288"/>
            <a:ext cx="768096" cy="768096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27" name="Text 23"/>
          <ns0:cNvSpPr/>
          <ns0:nvPr/>
        </ns0:nvSpPr>
        <ns0:spPr>
          <a:xfrm>
            <a:off x="5111496" y="1161288"/>
            <a:ext cx="768096" cy="7680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ns0:txBody>
      </ns0:sp>
      <ns0:pic>
        <ns0:nvPicPr>
          <ns0:cNvPr id="28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6016752" y="1188720"/>
            <a:ext cx="347472" cy="347472"/>
          </a:xfrm>
          <a:prstGeom prst="rect">
            <a:avLst/>
          </a:prstGeom>
        </ns0:spPr>
      </ns0:pic>
      <ns0:sp>
        <ns0:nvSpPr>
          <ns0:cNvPr id="29" name="Text 24"/>
          <ns0:cNvSpPr/>
          <ns0:nvPr/>
        </ns0:nvSpPr>
        <ns0:spPr>
          <a:xfrm>
            <a:off x="4608576" y="2075688"/>
            <a:ext cx="1773936" cy="6858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Consciente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Competencia</a:t>
            </a:r>
            <a:endParaRPr lang="en-US" sz="1200" dirty="0"/>
          </a:p>
        </ns0:txBody>
      </ns0:sp>
      <ns0:sp>
        <ns0:nvSpPr>
          <ns0:cNvPr id="30" name="Text 25"/>
          <ns0:cNvSpPr/>
          <ns0:nvPr/>
        </ns0:nvSpPr>
        <ns0:spPr>
          <a:xfrm>
            <a:off x="4626864" y="2834640"/>
            <a:ext cx="1737360" cy="11704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Pensando a través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</a:t>
            </a:r>
            <a:endParaRPr lang="en-US" sz="1000" dirty="0"/>
          </a:p>
        </ns0:txBody>
      </ns0:sp>
      <ns0:sp>
        <ns0:nvSpPr>
          <ns0:cNvPr id="31" name="Shape 26"/>
          <ns0:cNvSpPr/>
          <ns0:nvPr/>
        </ns0:nvSpPr>
        <ns0:spPr>
          <a:xfrm>
            <a:off x="6620256" y="960120"/>
            <a:ext cx="1920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32" name="Shape 27"/>
          <ns0:cNvSpPr/>
          <ns0:nvPr/>
        </ns0:nvSpPr>
        <ns0:spPr>
          <a:xfrm>
            <a:off x="6620256" y="960120"/>
            <a:ext cx="1920240" cy="32918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3" name="Shape 28"/>
          <ns0:cNvSpPr/>
          <ns0:nvPr/>
        </ns0:nvSpPr>
        <ns0:spPr>
          <a:xfrm>
            <a:off x="7196328" y="1161288"/>
            <a:ext cx="768096" cy="768096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4" name="Text 29"/>
          <ns0:cNvSpPr/>
          <ns0:nvPr/>
        </ns0:nvSpPr>
        <ns0:spPr>
          <a:xfrm>
            <a:off x="7196328" y="1161288"/>
            <a:ext cx="768096" cy="7680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ns0:txBody>
      </ns0:sp>
      <ns0:pic>
        <ns0:nvPicPr>
          <ns0:cNvPr id="35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8101584" y="1188720"/>
            <a:ext cx="347472" cy="347472"/>
          </a:xfrm>
          <a:prstGeom prst="rect">
            <a:avLst/>
          </a:prstGeom>
        </ns0:spPr>
      </ns0:pic>
      <ns0:sp>
        <ns0:nvSpPr>
          <ns0:cNvPr id="36" name="Text 30"/>
          <ns0:cNvSpPr/>
          <ns0:nvPr/>
        </ns0:nvSpPr>
        <ns0:spPr>
          <a:xfrm>
            <a:off x="6693408" y="2075688"/>
            <a:ext cx="1773936" cy="68580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Inconsciente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Competencia</a:t>
            </a:r>
            <a:endParaRPr lang="en-US" sz="1200" dirty="0"/>
          </a:p>
        </ns0:txBody>
      </ns0:sp>
      <ns0:sp>
        <ns0:nvSpPr>
          <ns0:cNvPr id="37" name="Text 31"/>
          <ns0:cNvSpPr/>
          <ns0:nvPr/>
        </ns0:nvSpPr>
        <ns0:spPr>
          <a:xfrm>
            <a:off x="6711696" y="2834640"/>
            <a:ext cx="1737360" cy="1170432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flujo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</a:t>
            </a:r>
            <a:endParaRPr lang="en-US" sz="1000" dirty="0"/>
          </a:p>
        </ns0:txBody>
      </ns0:sp>
      <ns0:sp>
        <ns0:nvSpPr>
          <ns0:cNvPr id="38" name="Text 32"/>
          <ns0:cNvSpPr/>
          <ns0:nvPr/>
        </ns0:nvSpPr>
        <ns0:spPr>
          <a:xfrm>
            <a:off x="2185416" y="2446020"/>
            <a:ext cx="2743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ns0:txBody>
      </ns0:sp>
      <ns0:sp>
        <ns0:nvSpPr>
          <ns0:cNvPr id="39" name="Text 33"/>
          <ns0:cNvSpPr/>
          <ns0:nvPr/>
        </ns0:nvSpPr>
        <ns0:spPr>
          <a:xfrm>
            <a:off x="4270248" y="2446020"/>
            <a:ext cx="2743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ns0:txBody>
      </ns0:sp>
      <ns0:sp>
        <ns0:nvSpPr>
          <ns0:cNvPr id="40" name="Text 34"/>
          <ns0:cNvSpPr/>
          <ns0:nvPr/>
        </ns0:nvSpPr>
        <ns0:spPr>
          <a:xfrm>
            <a:off x="6355080" y="2446020"/>
            <a:ext cx="2743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ns0:txBody>
      </ns0:sp>
      <ns0:sp>
        <ns0:nvSpPr>
          <ns0:cNvPr id="41" name="Shape 35"/>
          <ns0:cNvSpPr/>
          <ns0:nvPr/>
        </ns0:nvSpPr>
        <ns0:spPr>
          <a:xfrm>
            <a:off x="365760" y="4366260"/>
            <a:ext cx="8412480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ns0:spPr>
      </ns0:sp>
      <ns0:sp>
        <ns0:nvSpPr>
          <ns0:cNvPr id="42" name="Text 36"/>
          <ns0:cNvSpPr/>
          <ns0:nvPr/>
        </ns0:nvSpPr>
        <ns0:spPr>
          <a:xfrm>
            <a:off x="365760" y="4366260"/>
            <a:ext cx="8412480" cy="347472"/>
          </a:xfrm>
          <a:prstGeom prst="rect">
            <a:avLst/>
          </a:prstGeom>
          <a:noFill/>
          <a:ln/>
        </ns0:spPr>
        <ns0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 Etapa 2 viene en las próximas 72 horas. No abandone en el pozo — esa incomodidad ES crecimiento.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7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347472" y="0"/>
            <a:ext cx="8796528" cy="804672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347472" y="804672"/>
            <a:ext cx="8796528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548640" y="0"/>
            <a:ext cx="731520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REGLAS DEL SALÓN DE CLASES</a:t>
            </a:r>
            <a:endParaRPr lang="en-US" sz="2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960120"/>
            <a:ext cx="1920240" cy="329184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502920" y="960120"/>
            <a:ext cx="192024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42416" y="1161288"/>
            <a:ext cx="841248" cy="8412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pic>
        <ns0:nvPicPr>
          <ns0:cNvPr id="9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188720" y="1261872"/>
            <a:ext cx="548640" cy="548640"/>
          </a:xfrm>
          <a:prstGeom prst="rect">
            <a:avLst/>
          </a:prstGeom>
        </ns0:spPr>
      </ns0:pic>
      <ns0:sp>
        <ns0:nvSpPr>
          <ns0:cNvPr id="10" name="Text 7"/>
          <ns0:cNvSpPr/>
          <ns0:nvPr/>
        </ns0:nvSpPr>
        <ns0:spPr>
          <a:xfrm>
            <a:off x="594360" y="2130552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Teléfonos en el 'Hotel'</a:t>
            </a:r>
            <a:endParaRPr lang="en-US" sz="12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612648" y="2752344"/>
            <a:ext cx="1700784" cy="138988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en silencio en la estación de carga. Su enfoque = su futuro.</a:t>
            </a:r>
            <a:endParaRPr lang="en-US" sz="10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2587752" y="960120"/>
            <a:ext cx="1920240" cy="329184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3" name="Shape 10"/>
          <ns0:cNvSpPr/>
          <ns0:nvPr/>
        </ns0:nvSpPr>
        <ns0:spPr>
          <a:xfrm>
            <a:off x="2587752" y="960120"/>
            <a:ext cx="192024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3127248" y="1161288"/>
            <a:ext cx="841248" cy="8412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15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3273552" y="1261872"/>
            <a:ext cx="548640" cy="548640"/>
          </a:xfrm>
          <a:prstGeom prst="rect">
            <a:avLst/>
          </a:prstGeom>
        </ns0:spPr>
      </ns0:pic>
      <ns0:sp>
        <ns0:nvSpPr>
          <ns0:cNvPr id="16" name="Text 12"/>
          <ns0:cNvSpPr/>
          <ns0:nvPr/>
        </ns0:nvSpPr>
        <ns0:spPr>
          <a:xfrm>
            <a:off x="2679192" y="2130552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 Puntual en los Descansos</a:t>
            </a:r>
            <a:endParaRPr lang="en-US" sz="12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2697480" y="2752344"/>
            <a:ext cx="1700784" cy="138988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descansos son de 10 minutos. Al minuto 11 ya llegó tarde. Trátelo como una reunión con un cliente.</a:t>
            </a:r>
            <a:endParaRPr lang="en-US" sz="1000" dirty="0"/>
          </a:p>
        </ns0:txBody>
      </ns0:sp>
      <ns0:sp>
        <ns0:nvSpPr>
          <ns0:cNvPr id="18" name="Shape 14"/>
          <ns0:cNvSpPr/>
          <ns0:nvPr/>
        </ns0:nvSpPr>
        <ns0:spPr>
          <a:xfrm>
            <a:off x="4672584" y="960120"/>
            <a:ext cx="1920240" cy="329184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9" name="Shape 15"/>
          <ns0:cNvSpPr/>
          <ns0:nvPr/>
        </ns0:nvSpPr>
        <ns0:spPr>
          <a:xfrm>
            <a:off x="4672584" y="960120"/>
            <a:ext cx="1920240" cy="82296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20" name="Shape 16"/>
          <ns0:cNvSpPr/>
          <ns0:nvPr/>
        </ns0:nvSpPr>
        <ns0:spPr>
          <a:xfrm>
            <a:off x="5212080" y="1161288"/>
            <a:ext cx="841248" cy="841248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21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5358384" y="1261872"/>
            <a:ext cx="548640" cy="548640"/>
          </a:xfrm>
          <a:prstGeom prst="rect">
            <a:avLst/>
          </a:prstGeom>
        </ns0:spPr>
      </ns0:pic>
      <ns0:sp>
        <ns0:nvSpPr>
          <ns0:cNvPr id="22" name="Text 17"/>
          <ns0:cNvSpPr/>
          <ns0:nvPr/>
        </ns0:nvSpPr>
        <ns0:spPr>
          <a:xfrm>
            <a:off x="4764024" y="2130552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 a 3 Antes de Mí</a:t>
            </a:r>
            <a:endParaRPr lang="en-US" sz="1200" dirty="0"/>
          </a:p>
        </ns0:txBody>
      </ns0:sp>
      <ns0:sp>
        <ns0:nvSpPr>
          <ns0:cNvPr id="23" name="Text 18"/>
          <ns0:cNvSpPr/>
          <ns0:nvPr/>
        </ns0:nvSpPr>
        <ns0:spPr>
          <a:xfrm>
            <a:off x="4782312" y="2752344"/>
            <a:ext cx="1700784" cy="138988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sus notas, su compañero, sus recursos — luego pregunte al entrenador.</a:t>
            </a:r>
            <a:endParaRPr lang="en-US" sz="1000" dirty="0"/>
          </a:p>
        </ns0:txBody>
      </ns0:sp>
      <ns0:sp>
        <ns0:nvSpPr>
          <ns0:cNvPr id="24" name="Shape 19"/>
          <ns0:cNvSpPr/>
          <ns0:nvPr/>
        </ns0:nvSpPr>
        <ns0:spPr>
          <a:xfrm>
            <a:off x="6757416" y="960120"/>
            <a:ext cx="1920240" cy="3291840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25" name="Shape 20"/>
          <ns0:cNvSpPr/>
          <ns0:nvPr/>
        </ns0:nvSpPr>
        <ns0:spPr>
          <a:xfrm>
            <a:off x="6757416" y="960120"/>
            <a:ext cx="1920240" cy="822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6" name="Shape 21"/>
          <ns0:cNvSpPr/>
          <ns0:nvPr/>
        </ns0:nvSpPr>
        <ns0:spPr>
          <a:xfrm>
            <a:off x="7296912" y="1161288"/>
            <a:ext cx="841248" cy="841248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27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443216" y="1261872"/>
            <a:ext cx="548640" cy="548640"/>
          </a:xfrm>
          <a:prstGeom prst="rect">
            <a:avLst/>
          </a:prstGeom>
        </ns0:spPr>
      </ns0:pic>
      <ns0:sp>
        <ns0:nvSpPr>
          <ns0:cNvPr id="28" name="Text 22"/>
          <ns0:cNvSpPr/>
          <ns0:nvPr/>
        </ns0:nvSpPr>
        <ns0:spPr>
          <a:xfrm>
            <a:off x="6848856" y="2130552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Compromiso Total</a:t>
            </a:r>
            <a:endParaRPr lang="en-US" sz="1200" dirty="0"/>
          </a:p>
        </ns0:txBody>
      </ns0:sp>
      <ns0:sp>
        <ns0:nvSpPr>
          <ns0:cNvPr id="29" name="Text 23"/>
          <ns0:cNvSpPr/>
          <ns0:nvPr/>
        </ns0:nvSpPr>
        <ns0:spPr>
          <a:xfrm>
            <a:off x="6867144" y="2752344"/>
            <a:ext cx="1700784" cy="138988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Cuadernos abiertos. Pluma en mano. Todo aquí es una herramienta para su ingreso.</a:t>
            </a:r>
            <a:endParaRPr lang="en-US" sz="1000" dirty="0"/>
          </a:p>
        </ns0:txBody>
      </ns0:sp>
      <ns0:sp>
        <ns0:nvSpPr>
          <ns0:cNvPr id="31" name="Shape 24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2" name="Shape 25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3" name="Text 26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7  |  Acelerador de Ventas Solar - Día 1 - Confidencial</a:t>
            </a:r>
            <a:endParaRPr lang="en-US" sz="750" dirty="0"/>
          </a:p>
        </ns0:txBody>
      </ns0:sp>
      <ns0:sp>
        <ns0:nvSpPr>
          <ns0:cNvPr id="34" name="Shape 2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5" name="Text 28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8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4846320" cy="5143500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502920" y="457200"/>
            <a:ext cx="41148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COMPLETO</a:t>
            </a:r>
            <a:endParaRPr lang="en-US" sz="10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02920" y="914400"/>
            <a:ext cx="4160520" cy="11887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 'Porqué' impulsa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 'Cómo'</a:t>
            </a:r>
            <a:endParaRPr lang="en-US" sz="3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2212848"/>
            <a:ext cx="4114800" cy="36576"/>
          </a:xfrm>
          <a:prstGeom prst="rect">
            <a:avLst/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502920" y="2331720"/>
            <a:ext cx="4114800" cy="3200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CUBRIMOS:</a:t>
            </a:r>
            <a:endParaRPr lang="en-US" sz="1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02920" y="2697480"/>
            <a:ext cx="4160520" cy="2061972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visión y valores de la empresa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ingresos y niveles de ganancias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Etapas de Competencia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salón de clases</a:t>
            </a:r>
            <a:endParaRPr lang="en-US" sz="12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5074920" y="960120"/>
            <a:ext cx="384048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SIGUIENTE</a:t>
            </a:r>
            <a:endParaRPr lang="en-US" sz="10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074920" y="1417320"/>
            <a:ext cx="3840480" cy="11887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Administrativo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Incorporación</a:t>
            </a:r>
            <a:endParaRPr lang="en-US" sz="3000" dirty="0"/>
          </a:p>
        </ns0:txBody>
      </ns0:sp>
      <ns0:pic>
        <ns0:nvPicPr>
          <ns0:cNvPr id="11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5303520" y="2834640"/>
            <a:ext cx="1188720" cy="960120"/>
          </a:xfrm>
          <a:prstGeom prst="rect">
            <a:avLst/>
          </a:prstGeom>
        </ns0:spPr>
      </ns0:pic>
      <ns0:sp>
        <ns0:nvSpPr>
          <ns0:cNvPr id="12" name="Text 9"/>
          <ns0:cNvSpPr/>
          <ns0:nvPr/>
        </ns0:nvSpPr>
        <ns0:spPr>
          <a:xfrm>
            <a:off x="6629400" y="3063240"/>
            <a:ext cx="219456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Desbloquee el siguiente nivel →</a:t>
            </a:r>
            <a:endParaRPr lang="en-US" sz="110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Text 12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8  |  Acelerador de Ventas Solar - Día 1 - Confidencial</a:t>
            </a:r>
            <a:endParaRPr lang="en-US" sz="75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7" name="Text 14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9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9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594360" y="822960"/>
            <a:ext cx="2926080" cy="38404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594360" y="822960"/>
            <a:ext cx="292608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1.2</a:t>
            </a:r>
            <a:endParaRPr lang="en-US" sz="12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94360" y="1325880"/>
            <a:ext cx="5394960" cy="15544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Administrativo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Incorporación</a:t>
            </a:r>
            <a:endParaRPr lang="en-US" sz="40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594360" y="2971800"/>
            <a:ext cx="50292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Configurando su 'Oficina Solar'</a:t>
            </a:r>
            <a:endParaRPr lang="en-US" sz="15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94360" y="3383280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Sistemas, Herramientas y Papeleo</a:t>
            </a:r>
            <a:endParaRPr lang="en-US" sz="13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63640" y="438912"/>
            <a:ext cx="2697480" cy="4023360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pic>
        <ns0:nvPicPr>
          <ns0:cNvPr id="9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6537960" y="960120"/>
            <a:ext cx="2148840" cy="1554480"/>
          </a:xfrm>
          <a:prstGeom prst="rect">
            <a:avLst/>
          </a:prstGeom>
        </ns0:spPr>
      </ns0:pic>
      <ns0:pic>
        <ns0:nvPicPr>
          <ns0:cNvPr id="10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6858000" y="2697480"/>
            <a:ext cx="1508760" cy="1097280"/>
          </a:xfrm>
          <a:prstGeom prst="rect">
            <a:avLst/>
          </a:prstGeom>
        </ns0:spPr>
      </ns0:pic>
      <ns0:sp>
        <ns0:nvSpPr>
          <ns0:cNvPr id="11" name="Shape 7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2" name="Shape 8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3" name="Text 9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9  |  Acelerador de Ventas Solar - Día 1 - Confidencial</a:t>
            </a:r>
            <a:endParaRPr lang="en-US" sz="750" dirty="0"/>
          </a:p>
        </ns0:txBody>
      </ns0:sp>
      <ns0:sp>
        <ns0:nvSpPr>
          <ns0:cNvPr id="14" name="Shape 10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Text 11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>
  <ns0:cSld name="Slide 10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DE VERIFICACIÓN DE INCORPORACIÓN</a:t>
            </a:r>
            <a:endParaRPr lang="en-US" sz="24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10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65760" y="98755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6B82A"/>
            </a:solidFill>
            <a:prstDash val="solid"/>
          </a:ln>
          <a:effectLst>
            <a:outerShdw sx="100000" sy="100000" kx="0" ky="0" algn="bl" rotWithShape="0" blurRad="38100" dist="12700" dir="8100000">
              <a:srgbClr val="AABBCC">
                <a:alpha val="9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365760" y="987552"/>
            <a:ext cx="64008" cy="51206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2" name="Shape 10"/>
          <ns0:cNvSpPr/>
          <ns0:nvPr/>
        </ns0:nvSpPr>
        <ns0:spPr>
          <a:xfrm>
            <a:off x="548640" y="1088136"/>
            <a:ext cx="310896" cy="3108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548640" y="1088136"/>
            <a:ext cx="310896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1024128" y="987552"/>
            <a:ext cx="758952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Contratista Independiente Firmado</a:t>
            </a:r>
            <a:endParaRPr lang="en-US" sz="14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365760" y="158191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6B82A"/>
            </a:solidFill>
            <a:prstDash val="solid"/>
          </a:ln>
          <a:effectLst>
            <a:outerShdw sx="100000" sy="100000" kx="0" ky="0" algn="bl" rotWithShape="0" blurRad="38100" dist="12700" dir="8100000">
              <a:srgbClr val="AABBCC">
                <a:alpha val="9000"/>
              </a:srgbClr>
            </a:outerShdw>
          </a:effectLst>
        </ns0:spPr>
      </ns0:sp>
      <ns0:sp>
        <ns0:nvSpPr>
          <ns0:cNvPr id="16" name="Shape 14"/>
          <ns0:cNvSpPr/>
          <ns0:nvPr/>
        </ns0:nvSpPr>
        <ns0:spPr>
          <a:xfrm>
            <a:off x="365760" y="1581912"/>
            <a:ext cx="64008" cy="51206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548640" y="1682496"/>
            <a:ext cx="310896" cy="3108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548640" y="1682496"/>
            <a:ext cx="310896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1024128" y="1581912"/>
            <a:ext cx="758952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Depósito Directo / W9</a:t>
            </a:r>
            <a:endParaRPr lang="en-US" sz="14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365760" y="217627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76B82A"/>
            </a:solidFill>
            <a:prstDash val="solid"/>
          </a:ln>
          <a:effectLst>
            <a:outerShdw sx="100000" sy="100000" kx="0" ky="0" algn="bl" rotWithShape="0" blurRad="38100" dist="12700" dir="8100000">
              <a:srgbClr val="AABBCC">
                <a:alpha val="9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365760" y="2176272"/>
            <a:ext cx="64008" cy="51206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2" name="Shape 20"/>
          <ns0:cNvSpPr/>
          <ns0:nvPr/>
        </ns0:nvSpPr>
        <ns0:spPr>
          <a:xfrm>
            <a:off x="548640" y="2276856"/>
            <a:ext cx="310896" cy="3108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3" name="Text 21"/>
          <ns0:cNvSpPr/>
          <ns0:nvPr/>
        </ns0:nvSpPr>
        <ns0:spPr>
          <a:xfrm>
            <a:off x="548640" y="2276856"/>
            <a:ext cx="310896" cy="31089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1024128" y="2176272"/>
            <a:ext cx="758952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en CRM (Salesforce / HubSpot)</a:t>
            </a:r>
            <a:endParaRPr lang="en-US" sz="140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365760" y="277063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AABBCC">
                <a:alpha val="9000"/>
              </a:srgbClr>
            </a:outerShdw>
          </a:effectLst>
        </ns0:spPr>
      </ns0:sp>
      <ns0:sp>
        <ns0:nvSpPr>
          <ns0:cNvPr id="26" name="Shape 24"/>
          <ns0:cNvSpPr/>
          <ns0:nvPr/>
        </ns0:nvSpPr>
        <ns0:spPr>
          <a:xfrm>
            <a:off x="548640" y="2871216"/>
            <a:ext cx="310896" cy="310896"/>
          </a:xfrm>
          <a:prstGeom prst="rect">
            <a:avLst/>
          </a:prstGeom>
          <a:solidFill>
            <a:srgbClr val="C5D5E5"/>
          </a:solidFill>
          <a:ln w="12700">
            <a:solidFill>
              <a:srgbClr val="C5D5E5"/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1024128" y="2770632"/>
            <a:ext cx="758952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Herramienta de Propuestas (Aurora / Solo)</a:t>
            </a:r>
            <a:endParaRPr lang="en-US" sz="14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365760" y="336499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AABBCC">
                <a:alpha val="9000"/>
              </a:srgbClr>
            </a:outerShdw>
          </a:effectLst>
        </ns0:spPr>
      </ns0:sp>
      <ns0:sp>
        <ns0:nvSpPr>
          <ns0:cNvPr id="29" name="Shape 27"/>
          <ns0:cNvSpPr/>
          <ns0:nvPr/>
        </ns0:nvSpPr>
        <ns0:spPr>
          <a:xfrm>
            <a:off x="548640" y="3465576"/>
            <a:ext cx="310896" cy="310896"/>
          </a:xfrm>
          <a:prstGeom prst="rect">
            <a:avLst/>
          </a:prstGeom>
          <a:solidFill>
            <a:srgbClr val="C5D5E5"/>
          </a:solidFill>
          <a:ln w="12700">
            <a:solidFill>
              <a:srgbClr val="C5D5E5"/>
            </a:solidFill>
            <a:prstDash val="solid"/>
          </a:ln>
        </ns0:spPr>
      </ns0:sp>
      <ns0:sp>
        <ns0:nvSpPr>
          <ns0:cNvPr id="30" name="Text 28"/>
          <ns0:cNvSpPr/>
          <ns0:nvPr/>
        </ns0:nvSpPr>
        <ns0:spPr>
          <a:xfrm>
            <a:off x="1024128" y="3364992"/>
            <a:ext cx="7589520" cy="51206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Comunicación (Slack / Discord)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1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347472" y="0"/>
            <a:ext cx="8796528" cy="804672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347472" y="804672"/>
            <a:ext cx="8796528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548640" y="0"/>
            <a:ext cx="786384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STACK TECNOLÓGICO: SUS HERRAMIENTAS DIARIAS</a:t>
            </a:r>
            <a:endParaRPr lang="en-US" sz="2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960120"/>
            <a:ext cx="26060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502920" y="960120"/>
            <a:ext cx="2606040" cy="82296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385316" y="1161288"/>
            <a:ext cx="841248" cy="841248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9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531620" y="1252728"/>
            <a:ext cx="548640" cy="548640"/>
          </a:xfrm>
          <a:prstGeom prst="rect">
            <a:avLst/>
          </a:prstGeom>
        </ns0:spPr>
      </ns0:pic>
      <ns0:sp>
        <ns0:nvSpPr>
          <ns0:cNvPr id="10" name="Text 7"/>
          <ns0:cNvSpPr/>
          <ns0:nvPr/>
        </ns0:nvSpPr>
        <ns0:spPr>
          <a:xfrm>
            <a:off x="594360" y="2130552"/>
            <a:ext cx="242316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CRM</a:t>
            </a:r>
            <a:endParaRPr lang="en-US" sz="17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612648" y="2606040"/>
            <a:ext cx="2386584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viven sus prospectos</a:t>
            </a:r>
            <a:endParaRPr lang="en-US" sz="1100" dirty="0"/>
          </a:p>
        </ns0:txBody>
      </ns0:sp>
      <ns0:sp>
        <ns0:nvSpPr>
          <ns0:cNvPr id="12" name="Text 9"/>
          <ns0:cNvSpPr/>
          <ns0:nvPr/>
        </ns0:nvSpPr>
        <ns0:spPr>
          <a:xfrm>
            <a:off x="640080" y="2971800"/>
            <a:ext cx="2331720" cy="10972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contacto, cada nota, cada seguimiento. Si no está en el CRM, no sucedió.</a:t>
            </a:r>
            <a:endParaRPr lang="en-US" sz="100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3310128" y="960120"/>
            <a:ext cx="26060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3310128" y="960120"/>
            <a:ext cx="2606040" cy="822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Shape 12"/>
          <ns0:cNvSpPr/>
          <ns0:nvPr/>
        </ns0:nvSpPr>
        <ns0:spPr>
          <a:xfrm>
            <a:off x="4192524" y="1161288"/>
            <a:ext cx="841248" cy="841248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16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4338828" y="1252728"/>
            <a:ext cx="548640" cy="548640"/>
          </a:xfrm>
          <a:prstGeom prst="rect">
            <a:avLst/>
          </a:prstGeom>
        </ns0:spPr>
      </ns0:pic>
      <ns0:sp>
        <ns0:nvSpPr>
          <ns0:cNvPr id="17" name="Text 13"/>
          <ns0:cNvSpPr/>
          <ns0:nvPr/>
        </ns0:nvSpPr>
        <ns0:spPr>
          <a:xfrm>
            <a:off x="3401568" y="2130552"/>
            <a:ext cx="242316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 de Propuestas</a:t>
            </a:r>
            <a:endParaRPr lang="en-US" sz="1700" dirty="0"/>
          </a:p>
        </ns0:txBody>
      </ns0:sp>
      <ns0:sp>
        <ns0:nvSpPr>
          <ns0:cNvPr id="18" name="Text 14"/>
          <ns0:cNvSpPr/>
          <ns0:nvPr/>
        </ns0:nvSpPr>
        <ns0:spPr>
          <a:xfrm>
            <a:off x="3419856" y="2606040"/>
            <a:ext cx="2386584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construye el 'Proyecto'</a:t>
            </a:r>
            <a:endParaRPr lang="en-US" sz="1100" dirty="0"/>
          </a:p>
        </ns0:txBody>
      </ns0:sp>
      <ns0:sp>
        <ns0:nvSpPr>
          <ns0:cNvPr id="19" name="Text 15"/>
          <ns0:cNvSpPr/>
          <ns0:nvPr/>
        </ns0:nvSpPr>
        <ns0:spPr>
          <a:xfrm>
            <a:off x="3447288" y="2971800"/>
            <a:ext cx="2331720" cy="10972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propuestas solares profesionales con Aurora o Solo en minutos.</a:t>
            </a:r>
            <a:endParaRPr lang="en-US" sz="1000" dirty="0"/>
          </a:p>
        </ns0:txBody>
      </ns0:sp>
      <ns0:sp>
        <ns0:nvSpPr>
          <ns0:cNvPr id="20" name="Shape 16"/>
          <ns0:cNvSpPr/>
          <ns0:nvPr/>
        </ns0:nvSpPr>
        <ns0:spPr>
          <a:xfrm>
            <a:off x="6117336" y="960120"/>
            <a:ext cx="26060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21" name="Shape 17"/>
          <ns0:cNvSpPr/>
          <ns0:nvPr/>
        </ns0:nvSpPr>
        <ns0:spPr>
          <a:xfrm>
            <a:off x="6117336" y="960120"/>
            <a:ext cx="260604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2" name="Shape 18"/>
          <ns0:cNvSpPr/>
          <ns0:nvPr/>
        </ns0:nvSpPr>
        <ns0:spPr>
          <a:xfrm>
            <a:off x="6999732" y="1161288"/>
            <a:ext cx="841248" cy="8412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23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146036" y="1252728"/>
            <a:ext cx="548640" cy="548640"/>
          </a:xfrm>
          <a:prstGeom prst="rect">
            <a:avLst/>
          </a:prstGeom>
        </ns0:spPr>
      </ns0:pic>
      <ns0:sp>
        <ns0:nvSpPr>
          <ns0:cNvPr id="24" name="Text 19"/>
          <ns0:cNvSpPr/>
          <ns0:nvPr/>
        </ns0:nvSpPr>
        <ns0:spPr>
          <a:xfrm>
            <a:off x="6208776" y="2130552"/>
            <a:ext cx="2423160" cy="41148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de Canvassing</a:t>
            </a:r>
            <a:endParaRPr lang="en-US" sz="1700" dirty="0"/>
          </a:p>
        </ns0:txBody>
      </ns0:sp>
      <ns0:sp>
        <ns0:nvSpPr>
          <ns0:cNvPr id="25" name="Text 20"/>
          <ns0:cNvSpPr/>
          <ns0:nvPr/>
        </ns0:nvSpPr>
        <ns0:spPr>
          <a:xfrm>
            <a:off x="6227064" y="2606040"/>
            <a:ext cx="2386584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Mapeando su territorio</a:t>
            </a:r>
            <a:endParaRPr lang="en-US" sz="1100" dirty="0"/>
          </a:p>
        </ns0:txBody>
      </ns0:sp>
      <ns0:sp>
        <ns0:nvSpPr>
          <ns0:cNvPr id="26" name="Text 21"/>
          <ns0:cNvSpPr/>
          <ns0:nvPr/>
        </ns0:nvSpPr>
        <ns0:spPr>
          <a:xfrm>
            <a:off x="6254496" y="2971800"/>
            <a:ext cx="2331720" cy="10972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sus puertas, gestione sus rutas y domine su territorio.</a:t>
            </a:r>
            <a:endParaRPr lang="en-US" sz="1000" dirty="0"/>
          </a:p>
        </ns0:txBody>
      </ns0:sp>
      <ns0:sp>
        <ns0:nvSpPr>
          <ns0:cNvPr id="27" name="Text 22"/>
          <ns0:cNvSpPr/>
          <ns0:nvPr/>
        </ns0:nvSpPr>
        <ns0:spPr>
          <a:xfrm rot="16200000">
            <a:off x="8339328" y="1097280"/>
            <a:ext cx="658368" cy="2560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no está en el CRM, no sucedió."</a:t>
            </a:r>
            <a:endParaRPr lang="en-US" sz="850" dirty="0"/>
          </a:p>
        </ns0:txBody>
      </ns0:sp>
      <ns0:sp>
        <ns0:nvSpPr>
          <ns0:cNvPr id="29" name="Shape 2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0" name="Shape 2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1" name="Text 2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11  |  Acelerador de Ventas Solar - Día 1 - Confidencial</a:t>
            </a:r>
            <a:endParaRPr lang="en-US" sz="750" dirty="0"/>
          </a:p>
        </ns0:txBody>
      </ns0:sp>
      <ns0:sp>
        <ns0:nvSpPr>
          <ns0:cNvPr id="32" name="Shape 2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3" name="Text 2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2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2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 COMPENSACIÓN</a:t>
            </a:r>
            <a:endParaRPr lang="en-US" sz="24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12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65760" y="960120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50800" dist="12700" dir="8100000">
              <a:srgbClr val="AABBCC">
                <a:alpha val="10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365760" y="960120"/>
            <a:ext cx="64008" cy="1024128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12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548640" y="1069848"/>
            <a:ext cx="530352" cy="530352"/>
          </a:xfrm>
          <a:prstGeom prst="rect">
            <a:avLst/>
          </a:prstGeom>
        </ns0:spPr>
      </ns0:pic>
      <ns0:sp>
        <ns0:nvSpPr>
          <ns0:cNvPr id="13" name="Text 10"/>
          <ns0:cNvSpPr/>
          <ns0:nvPr/>
        </ns0:nvSpPr>
        <ns0:spPr>
          <a:xfrm>
            <a:off x="1207008" y="960120"/>
            <a:ext cx="3154680" cy="438912"/>
          </a:xfrm>
          <a:prstGeom prst="rect">
            <a:avLst/>
          </a:prstGeom>
          <a:noFill/>
          <a:ln/>
        </ns0:spPr>
        <ns0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Comisión</a:t>
            </a:r>
            <a:endParaRPr lang="en-US" sz="11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1207008" y="1417320"/>
            <a:ext cx="31546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[Insertar Fórmula]</a:t>
            </a:r>
            <a:endParaRPr lang="en-US" sz="1500" dirty="0"/>
          </a:p>
        </ns0:txBody>
      </ns0:sp>
      <ns0:sp>
        <ns0:nvSpPr>
          <ns0:cNvPr id="15" name="Shape 12"/>
          <ns0:cNvSpPr/>
          <ns0:nvPr/>
        </ns0:nvSpPr>
        <ns0:spPr>
          <a:xfrm>
            <a:off x="4983480" y="960120"/>
            <a:ext cx="41605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50800" dist="12700" dir="8100000">
              <a:srgbClr val="AABBCC">
                <a:alpha val="10000"/>
              </a:srgbClr>
            </a:outerShdw>
          </a:effectLst>
        </ns0:spPr>
      </ns0:sp>
      <ns0:sp>
        <ns0:nvSpPr>
          <ns0:cNvPr id="16" name="Shape 13"/>
          <ns0:cNvSpPr/>
          <ns0:nvPr/>
        </ns0:nvSpPr>
        <ns0:spPr>
          <a:xfrm>
            <a:off x="4983480" y="960120"/>
            <a:ext cx="64008" cy="102412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17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5166360" y="1069848"/>
            <a:ext cx="530352" cy="530352"/>
          </a:xfrm>
          <a:prstGeom prst="rect">
            <a:avLst/>
          </a:prstGeom>
        </ns0:spPr>
      </ns0:pic>
      <ns0:sp>
        <ns0:nvSpPr>
          <ns0:cNvPr id="18" name="Text 14"/>
          <ns0:cNvSpPr/>
          <ns0:nvPr/>
        </ns0:nvSpPr>
        <ns0:spPr>
          <a:xfrm>
            <a:off x="5824728" y="960120"/>
            <a:ext cx="3154680" cy="438912"/>
          </a:xfrm>
          <a:prstGeom prst="rect">
            <a:avLst/>
          </a:prstGeom>
          <a:noFill/>
          <a:ln/>
        </ns0:spPr>
        <ns0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Pago</a:t>
            </a:r>
            <a:endParaRPr lang="en-US" sz="1100" dirty="0"/>
          </a:p>
        </ns0:txBody>
      </ns0:sp>
      <ns0:sp>
        <ns0:nvSpPr>
          <ns0:cNvPr id="19" name="Text 15"/>
          <ns0:cNvSpPr/>
          <ns0:nvPr/>
        </ns0:nvSpPr>
        <ns0:spPr>
          <a:xfrm>
            <a:off x="5824728" y="1417320"/>
            <a:ext cx="3154680" cy="45720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[Semanal / Quincenal]</a:t>
            </a:r>
            <a:endParaRPr lang="en-US" sz="1500" dirty="0"/>
          </a:p>
        </ns0:txBody>
      </ns0:sp>
      <ns0:sp>
        <ns0:nvSpPr>
          <ns0:cNvPr id="20" name="Text 16"/>
          <ns0:cNvSpPr/>
          <ns0:nvPr/>
        </ns0:nvSpPr>
        <ns0:spPr>
          <a:xfrm>
            <a:off x="365760" y="2148840"/>
            <a:ext cx="841248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HITOS DE PAGO</a:t>
            </a:r>
            <a:endParaRPr lang="en-US" sz="1200" dirty="0"/>
          </a:p>
        </ns0:txBody>
      </ns0:sp>
      <ns0:sp>
        <ns0:nvSpPr>
          <ns0:cNvPr id="21" name="Shape 17"/>
          <ns0:cNvSpPr/>
          <ns0:nvPr/>
        </ns0:nvSpPr>
        <ns0:spPr>
          <a:xfrm>
            <a:off x="932688" y="2633472"/>
            <a:ext cx="804672" cy="804672"/>
          </a:xfrm>
          <a:prstGeom prst="ellipse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22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1069848" y="2724912"/>
            <a:ext cx="530352" cy="530352"/>
          </a:xfrm>
          <a:prstGeom prst="rect">
            <a:avLst/>
          </a:prstGeom>
        </ns0:spPr>
      </ns0:pic>
      <ns0:sp>
        <ns0:nvSpPr>
          <ns0:cNvPr id="23" name="Text 18"/>
          <ns0:cNvSpPr/>
          <ns0:nvPr/>
        </ns0:nvSpPr>
        <ns0:spPr>
          <a:xfrm>
            <a:off x="365760" y="3511296"/>
            <a:ext cx="1938528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VENTA</a:t>
            </a:r>
            <a:endParaRPr lang="en-US" sz="1100" dirty="0"/>
          </a:p>
        </ns0:txBody>
      </ns0:sp>
      <ns0:sp>
        <ns0:nvSpPr>
          <ns0:cNvPr id="24" name="Text 19"/>
          <ns0:cNvSpPr/>
          <ns0:nvPr/>
        </ns0:nvSpPr>
        <ns0:spPr>
          <a:xfrm>
            <a:off x="365760" y="3822192"/>
            <a:ext cx="1938528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Firma</a:t>
            </a:r>
            <a:endParaRPr lang="en-US" sz="900" dirty="0"/>
          </a:p>
        </ns0:txBody>
      </ns0:sp>
      <ns0:sp>
        <ns0:nvSpPr>
          <ns0:cNvPr id="25" name="Shape 20"/>
          <ns0:cNvSpPr/>
          <ns0:nvPr/>
        </ns0:nvSpPr>
        <ns0:spPr>
          <a:xfrm>
            <a:off x="2258568" y="3035808"/>
            <a:ext cx="329184" cy="0"/>
          </a:xfrm>
          <a:prstGeom prst="line">
            <a:avLst/>
          </a:prstGeom>
          <a:noFill/>
          <a:ln w="25400">
            <a:solidFill>
              <a:srgbClr val="B0C8D8"/>
            </a:solidFill>
            <a:prstDash val="dash"/>
          </a:ln>
        </ns0:spPr>
      </ns0:sp>
      <ns0:sp>
        <ns0:nvSpPr>
          <ns0:cNvPr id="26" name="Text 21"/>
          <ns0:cNvSpPr/>
          <ns0:nvPr/>
        </ns0:nvSpPr>
        <ns0:spPr>
          <a:xfrm>
            <a:off x="2404872" y="2889504"/>
            <a:ext cx="2743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ns0:txBody>
      </ns0:sp>
      <ns0:sp>
        <ns0:nvSpPr>
          <ns0:cNvPr id="27" name="Shape 22"/>
          <ns0:cNvSpPr/>
          <ns0:nvPr/>
        </ns0:nvSpPr>
        <ns0:spPr>
          <a:xfrm>
            <a:off x="3072384" y="2633472"/>
            <a:ext cx="804672" cy="804672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28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3209544" y="2724912"/>
            <a:ext cx="530352" cy="530352"/>
          </a:xfrm>
          <a:prstGeom prst="rect">
            <a:avLst/>
          </a:prstGeom>
        </ns0:spPr>
      </ns0:pic>
      <ns0:sp>
        <ns0:nvSpPr>
          <ns0:cNvPr id="29" name="Text 23"/>
          <ns0:cNvSpPr/>
          <ns0:nvPr/>
        </ns0:nvSpPr>
        <ns0:spPr>
          <a:xfrm>
            <a:off x="2505456" y="3511296"/>
            <a:ext cx="1938528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 INSTALACIÓN</a:t>
            </a:r>
            <a:endParaRPr lang="en-US" sz="1100" dirty="0"/>
          </a:p>
        </ns0:txBody>
      </ns0:sp>
      <ns0:sp>
        <ns0:nvSpPr>
          <ns0:cNvPr id="30" name="Text 24"/>
          <ns0:cNvSpPr/>
          <ns0:nvPr/>
        </ns0:nvSpPr>
        <ns0:spPr>
          <a:xfrm>
            <a:off x="2505456" y="3822192"/>
            <a:ext cx="1938528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Instalado</a:t>
            </a:r>
            <a:endParaRPr lang="en-US" sz="900" dirty="0"/>
          </a:p>
        </ns0:txBody>
      </ns0:sp>
      <ns0:sp>
        <ns0:nvSpPr>
          <ns0:cNvPr id="31" name="Shape 25"/>
          <ns0:cNvSpPr/>
          <ns0:nvPr/>
        </ns0:nvSpPr>
        <ns0:spPr>
          <a:xfrm>
            <a:off x="4398264" y="3035808"/>
            <a:ext cx="329184" cy="0"/>
          </a:xfrm>
          <a:prstGeom prst="line">
            <a:avLst/>
          </a:prstGeom>
          <a:noFill/>
          <a:ln w="25400">
            <a:solidFill>
              <a:srgbClr val="B0C8D8"/>
            </a:solidFill>
            <a:prstDash val="dash"/>
          </a:ln>
        </ns0:spPr>
      </ns0:sp>
      <ns0:sp>
        <ns0:nvSpPr>
          <ns0:cNvPr id="32" name="Text 26"/>
          <ns0:cNvSpPr/>
          <ns0:nvPr/>
        </ns0:nvSpPr>
        <ns0:spPr>
          <a:xfrm>
            <a:off x="4544568" y="2889504"/>
            <a:ext cx="2743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ns0:txBody>
      </ns0:sp>
      <ns0:sp>
        <ns0:nvSpPr>
          <ns0:cNvPr id="33" name="Shape 27"/>
          <ns0:cNvSpPr/>
          <ns0:nvPr/>
        </ns0:nvSpPr>
        <ns0:spPr>
          <a:xfrm>
            <a:off x="5212080" y="2633472"/>
            <a:ext cx="804672" cy="8046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34" name="Image 4" descr="preencoded.png">    </ns0:cNvPr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5349240" y="2724912"/>
            <a:ext cx="530352" cy="530352"/>
          </a:xfrm>
          <a:prstGeom prst="rect">
            <a:avLst/>
          </a:prstGeom>
        </ns0:spPr>
      </ns0:pic>
      <ns0:sp>
        <ns0:nvSpPr>
          <ns0:cNvPr id="35" name="Text 28"/>
          <ns0:cNvSpPr/>
          <ns0:nvPr/>
        </ns0:nvSpPr>
        <ns0:spPr>
          <a:xfrm>
            <a:off x="4645152" y="3511296"/>
            <a:ext cx="1938528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 PERMISO</a:t>
            </a:r>
            <a:endParaRPr lang="en-US" sz="1100" dirty="0"/>
          </a:p>
        </ns0:txBody>
      </ns0:sp>
      <ns0:sp>
        <ns0:nvSpPr>
          <ns0:cNvPr id="36" name="Text 29"/>
          <ns0:cNvSpPr/>
          <ns0:nvPr/>
        </ns0:nvSpPr>
        <ns0:spPr>
          <a:xfrm>
            <a:off x="4645152" y="3822192"/>
            <a:ext cx="1938528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para Operar</a:t>
            </a:r>
            <a:endParaRPr lang="en-US" sz="900" dirty="0"/>
          </a:p>
        </ns0:txBody>
      </ns0:sp>
      <ns0:sp>
        <ns0:nvSpPr>
          <ns0:cNvPr id="37" name="Shape 30"/>
          <ns0:cNvSpPr/>
          <ns0:nvPr/>
        </ns0:nvSpPr>
        <ns0:spPr>
          <a:xfrm>
            <a:off x="6537960" y="3035808"/>
            <a:ext cx="329184" cy="0"/>
          </a:xfrm>
          <a:prstGeom prst="line">
            <a:avLst/>
          </a:prstGeom>
          <a:noFill/>
          <a:ln w="25400">
            <a:solidFill>
              <a:srgbClr val="B0C8D8"/>
            </a:solidFill>
            <a:prstDash val="dash"/>
          </a:ln>
        </ns0:spPr>
      </ns0:sp>
      <ns0:sp>
        <ns0:nvSpPr>
          <ns0:cNvPr id="38" name="Text 31"/>
          <ns0:cNvSpPr/>
          <ns0:nvPr/>
        </ns0:nvSpPr>
        <ns0:spPr>
          <a:xfrm>
            <a:off x="6684264" y="2889504"/>
            <a:ext cx="274320" cy="27432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ns0:txBody>
      </ns0:sp>
      <ns0:sp>
        <ns0:nvSpPr>
          <ns0:cNvPr id="39" name="Shape 32"/>
          <ns0:cNvSpPr/>
          <ns0:nvPr/>
        </ns0:nvSpPr>
        <ns0:spPr>
          <a:xfrm>
            <a:off x="7351776" y="2633472"/>
            <a:ext cx="804672" cy="804672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pic>
        <ns0:nvPicPr>
          <ns0:cNvPr id="40" name="Image 5" descr="preencoded.png">    </ns0:cNvPr>
          <ns0:cNvPicPr>
            <a:picLocks noChangeAspect="1"/>
          </ns0:cNvPicPr>
          <ns0:nvPr/>
        </ns0:nvPicPr>
        <ns0:blipFill>
          <a:blip ns2:embed="rId6"/>
          <a:stretch>
            <a:fillRect/>
          </a:stretch>
        </ns0:blipFill>
        <ns0:spPr>
          <a:xfrm>
            <a:off x="7488936" y="2724912"/>
            <a:ext cx="530352" cy="530352"/>
          </a:xfrm>
          <a:prstGeom prst="rect">
            <a:avLst/>
          </a:prstGeom>
        </ns0:spPr>
      </ns0:pic>
      <ns0:sp>
        <ns0:nvSpPr>
          <ns0:cNvPr id="41" name="Text 33"/>
          <ns0:cNvSpPr/>
          <ns0:nvPr/>
        </ns0:nvSpPr>
        <ns0:spPr>
          <a:xfrm>
            <a:off x="6784848" y="3511296"/>
            <a:ext cx="1938528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CHEQUE DE PAGO</a:t>
            </a:r>
            <a:endParaRPr lang="en-US" sz="1100" dirty="0"/>
          </a:p>
        </ns0:txBody>
      </ns0:sp>
      <ns0:sp>
        <ns0:nvSpPr>
          <ns0:cNvPr id="42" name="Text 34"/>
          <ns0:cNvSpPr/>
          <ns0:nvPr/>
        </ns0:nvSpPr>
        <ns0:spPr>
          <a:xfrm>
            <a:off x="6784848" y="3822192"/>
            <a:ext cx="1938528" cy="29260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Pagada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3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4846320" cy="5143500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502920" y="457200"/>
            <a:ext cx="41148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COMPLETO</a:t>
            </a:r>
            <a:endParaRPr lang="en-US" sz="10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02920" y="914400"/>
            <a:ext cx="4160520" cy="11887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 Usted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'Sistema Listo'</a:t>
            </a:r>
            <a:endParaRPr lang="en-US" sz="3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2212848"/>
            <a:ext cx="4114800" cy="36576"/>
          </a:xfrm>
          <a:prstGeom prst="rect">
            <a:avLst/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502920" y="2331720"/>
            <a:ext cx="4114800" cy="3200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CUBRIMOS:</a:t>
            </a:r>
            <a:endParaRPr lang="en-US" sz="1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02920" y="2697480"/>
            <a:ext cx="4160520" cy="2061972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contratista y papeleo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herramienta de propuestas y app de canvassing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compensación e hitos</a:t>
            </a:r>
            <a:endParaRPr lang="en-US" sz="12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5074920" y="960120"/>
            <a:ext cx="384048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SIGUIENTE</a:t>
            </a:r>
            <a:endParaRPr lang="en-US" sz="10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074920" y="1417320"/>
            <a:ext cx="3840480" cy="11887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 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Expectativas</a:t>
            </a:r>
            <a:endParaRPr lang="en-US" sz="3000" dirty="0"/>
          </a:p>
        </ns0:txBody>
      </ns0:sp>
      <ns0:pic>
        <ns0:nvPicPr>
          <ns0:cNvPr id="11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5303520" y="2834640"/>
            <a:ext cx="1188720" cy="960120"/>
          </a:xfrm>
          <a:prstGeom prst="rect">
            <a:avLst/>
          </a:prstGeom>
        </ns0:spPr>
      </ns0:pic>
      <ns0:sp>
        <ns0:nvSpPr>
          <ns0:cNvPr id="12" name="Text 9"/>
          <ns0:cNvSpPr/>
          <ns0:nvPr/>
        </ns0:nvSpPr>
        <ns0:spPr>
          <a:xfrm>
            <a:off x="6629400" y="3063240"/>
            <a:ext cx="219456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Desbloquee el siguiente nivel →</a:t>
            </a:r>
            <a:endParaRPr lang="en-US" sz="110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Text 12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13  |  Acelerador de Ventas Solar - Día 1 - Confidencial</a:t>
            </a:r>
            <a:endParaRPr lang="en-US" sz="75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7" name="Text 14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4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594360" y="822960"/>
            <a:ext cx="2926080" cy="38404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594360" y="822960"/>
            <a:ext cx="292608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1.3</a:t>
            </a:r>
            <a:endParaRPr lang="en-US" sz="12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94360" y="1325880"/>
            <a:ext cx="5394960" cy="155448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 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Expectativas</a:t>
            </a:r>
            <a:endParaRPr lang="en-US" sz="40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594360" y="2971800"/>
            <a:ext cx="50292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necesita para triunfar en [COMPANY_NAME]</a:t>
            </a:r>
            <a:endParaRPr lang="en-US" sz="15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94360" y="3383280"/>
            <a:ext cx="502920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· Horario · Apoyo</a:t>
            </a:r>
            <a:endParaRPr lang="en-US" sz="13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63640" y="438912"/>
            <a:ext cx="2697480" cy="4023360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pic>
        <ns0:nvPicPr>
          <ns0:cNvPr id="9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6537960" y="960120"/>
            <a:ext cx="2148840" cy="1554480"/>
          </a:xfrm>
          <a:prstGeom prst="rect">
            <a:avLst/>
          </a:prstGeom>
        </ns0:spPr>
      </ns0:pic>
      <ns0:pic>
        <ns0:nvPicPr>
          <ns0:cNvPr id="10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6858000" y="2697480"/>
            <a:ext cx="1508760" cy="1097280"/>
          </a:xfrm>
          <a:prstGeom prst="rect">
            <a:avLst/>
          </a:prstGeom>
        </ns0:spPr>
      </ns0:pic>
      <ns0:sp>
        <ns0:nvSpPr>
          <ns0:cNvPr id="11" name="Shape 7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2" name="Shape 8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3" name="Text 9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14  |  Acelerador de Ventas Solar - Día 1 - Confidencial</a:t>
            </a:r>
            <a:endParaRPr lang="en-US" sz="750" dirty="0"/>
          </a:p>
        </ns0:txBody>
      </ns0:sp>
      <ns0:sp>
        <ns0:nvSpPr>
          <ns0:cNvPr id="14" name="Shape 10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Text 11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5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5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347472" y="0"/>
            <a:ext cx="8796528" cy="804672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347472" y="804672"/>
            <a:ext cx="8796528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548640" y="0"/>
            <a:ext cx="786384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HORARIO DIARIO DE UN PRO</a:t>
            </a:r>
            <a:endParaRPr lang="en-US" sz="2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960120"/>
            <a:ext cx="19202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502920" y="960120"/>
            <a:ext cx="1920240" cy="82296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594360" y="1143000"/>
            <a:ext cx="1737360" cy="420624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594360" y="1143000"/>
            <a:ext cx="17373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09:00</a:t>
            </a:r>
            <a:endParaRPr lang="en-US" sz="1800" dirty="0"/>
          </a:p>
        </ns0:txBody>
      </ns0:sp>
      <ns0:pic>
        <ns0:nvPicPr>
          <ns0:cNvPr id="10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207008" y="1728216"/>
            <a:ext cx="512064" cy="512064"/>
          </a:xfrm>
          <a:prstGeom prst="rect">
            <a:avLst/>
          </a:prstGeom>
        </ns0:spPr>
      </ns0:pic>
      <ns0:sp>
        <ns0:nvSpPr>
          <ns0:cNvPr id="11" name="Text 8"/>
          <ns0:cNvSpPr/>
          <ns0:nvPr/>
        </ns0:nvSpPr>
        <ns0:spPr>
          <a:xfrm>
            <a:off x="594360" y="2331720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Reunión de Equipo / Juego de Roles</a:t>
            </a:r>
            <a:endParaRPr lang="en-US" sz="1150" dirty="0"/>
          </a:p>
        </ns0:txBody>
      </ns0:sp>
      <ns0:sp>
        <ns0:nvSpPr>
          <ns0:cNvPr id="12" name="Text 9"/>
          <ns0:cNvSpPr/>
          <ns0:nvPr/>
        </ns0:nvSpPr>
        <ns0:spPr>
          <a:xfrm>
            <a:off x="612648" y="2953512"/>
            <a:ext cx="1700784" cy="11155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Comience agudo. Practique objeciones. Póngase en modo trabajo.</a:t>
            </a:r>
            <a:endParaRPr lang="en-US" sz="100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2587752" y="960120"/>
            <a:ext cx="19202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2587752" y="960120"/>
            <a:ext cx="1920240" cy="8229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Shape 12"/>
          <ns0:cNvSpPr/>
          <ns0:nvPr/>
        </ns0:nvSpPr>
        <ns0:spPr>
          <a:xfrm>
            <a:off x="2679192" y="1143000"/>
            <a:ext cx="1737360" cy="420624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6" name="Text 13"/>
          <ns0:cNvSpPr/>
          <ns0:nvPr/>
        </ns0:nvSpPr>
        <ns0:spPr>
          <a:xfrm>
            <a:off x="2679192" y="1143000"/>
            <a:ext cx="17373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11:00</a:t>
            </a:r>
            <a:endParaRPr lang="en-US" sz="1800" dirty="0"/>
          </a:p>
        </ns0:txBody>
      </ns0:sp>
      <ns0:pic>
        <ns0:nvPicPr>
          <ns0:cNvPr id="17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3291840" y="1728216"/>
            <a:ext cx="512064" cy="512064"/>
          </a:xfrm>
          <a:prstGeom prst="rect">
            <a:avLst/>
          </a:prstGeom>
        </ns0:spPr>
      </ns0:pic>
      <ns0:sp>
        <ns0:nvSpPr>
          <ns0:cNvPr id="18" name="Text 14"/>
          <ns0:cNvSpPr/>
          <ns0:nvPr/>
        </ns0:nvSpPr>
        <ns0:spPr>
          <a:xfrm>
            <a:off x="2679192" y="2331720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Área / Pre-vuelo</a:t>
            </a:r>
            <a:endParaRPr lang="en-US" sz="1150" dirty="0"/>
          </a:p>
        </ns0:txBody>
      </ns0:sp>
      <ns0:sp>
        <ns0:nvSpPr>
          <ns0:cNvPr id="19" name="Text 15"/>
          <ns0:cNvSpPr/>
          <ns0:nvPr/>
        </ns0:nvSpPr>
        <ns0:spPr>
          <a:xfrm>
            <a:off x="2697480" y="2953512"/>
            <a:ext cx="1700784" cy="11155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Planifique su territorio. Conozca su ruta antes de salir de casa.</a:t>
            </a:r>
            <a:endParaRPr lang="en-US" sz="1000" dirty="0"/>
          </a:p>
        </ns0:txBody>
      </ns0:sp>
      <ns0:sp>
        <ns0:nvSpPr>
          <ns0:cNvPr id="20" name="Shape 16"/>
          <ns0:cNvSpPr/>
          <ns0:nvPr/>
        </ns0:nvSpPr>
        <ns0:spPr>
          <a:xfrm>
            <a:off x="4672584" y="960120"/>
            <a:ext cx="19202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21" name="Shape 17"/>
          <ns0:cNvSpPr/>
          <ns0:nvPr/>
        </ns0:nvSpPr>
        <ns0:spPr>
          <a:xfrm>
            <a:off x="4672584" y="960120"/>
            <a:ext cx="192024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2" name="Shape 18"/>
          <ns0:cNvSpPr/>
          <ns0:nvPr/>
        </ns0:nvSpPr>
        <ns0:spPr>
          <a:xfrm>
            <a:off x="4764024" y="1143000"/>
            <a:ext cx="1737360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3" name="Text 19"/>
          <ns0:cNvSpPr/>
          <ns0:nvPr/>
        </ns0:nvSpPr>
        <ns0:spPr>
          <a:xfrm>
            <a:off x="4764024" y="1143000"/>
            <a:ext cx="17373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13:00</a:t>
            </a:r>
            <a:endParaRPr lang="en-US" sz="1800" dirty="0"/>
          </a:p>
        </ns0:txBody>
      </ns0:sp>
      <ns0:pic>
        <ns0:nvPicPr>
          <ns0:cNvPr id="24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5376672" y="1728216"/>
            <a:ext cx="512064" cy="512064"/>
          </a:xfrm>
          <a:prstGeom prst="rect">
            <a:avLst/>
          </a:prstGeom>
        </ns0:spPr>
      </ns0:pic>
      <ns0:sp>
        <ns0:nvSpPr>
          <ns0:cNvPr id="25" name="Text 20"/>
          <ns0:cNvSpPr/>
          <ns0:nvPr/>
        </ns0:nvSpPr>
        <ns0:spPr>
          <a:xfrm>
            <a:off x="4764024" y="2331720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Puertas / Generación de Prospectos</a:t>
            </a:r>
            <a:endParaRPr lang="en-US" sz="1150" dirty="0"/>
          </a:p>
        </ns0:txBody>
      </ns0:sp>
      <ns0:sp>
        <ns0:nvSpPr>
          <ns0:cNvPr id="26" name="Text 21"/>
          <ns0:cNvSpPr/>
          <ns0:nvPr/>
        </ns0:nvSpPr>
        <ns0:spPr>
          <a:xfrm>
            <a:off x="4782312" y="2953512"/>
            <a:ext cx="1700784" cy="11155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 en la calle. Aquí es donde se genera el ingreso.</a:t>
            </a:r>
            <a:endParaRPr lang="en-US" sz="1000" dirty="0"/>
          </a:p>
        </ns0:txBody>
      </ns0:sp>
      <ns0:sp>
        <ns0:nvSpPr>
          <ns0:cNvPr id="27" name="Shape 22"/>
          <ns0:cNvSpPr/>
          <ns0:nvPr/>
        </ns0:nvSpPr>
        <ns0:spPr>
          <a:xfrm>
            <a:off x="6757416" y="960120"/>
            <a:ext cx="1920240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28" name="Shape 23"/>
          <ns0:cNvSpPr/>
          <ns0:nvPr/>
        </ns0:nvSpPr>
        <ns0:spPr>
          <a:xfrm>
            <a:off x="6757416" y="960120"/>
            <a:ext cx="1920240" cy="8229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ns0:spPr>
      </ns0:sp>
      <ns0:sp>
        <ns0:nvSpPr>
          <ns0:cNvPr id="29" name="Shape 24"/>
          <ns0:cNvSpPr/>
          <ns0:nvPr/>
        </ns0:nvSpPr>
        <ns0:spPr>
          <a:xfrm>
            <a:off x="6848856" y="1143000"/>
            <a:ext cx="1737360" cy="42062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ns0:spPr>
      </ns0:sp>
      <ns0:sp>
        <ns0:nvSpPr>
          <ns0:cNvPr id="30" name="Text 25"/>
          <ns0:cNvSpPr/>
          <ns0:nvPr/>
        </ns0:nvSpPr>
        <ns0:spPr>
          <a:xfrm>
            <a:off x="6848856" y="1143000"/>
            <a:ext cx="1737360" cy="420624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19:00</a:t>
            </a:r>
            <a:endParaRPr lang="en-US" sz="1800" dirty="0"/>
          </a:p>
        </ns0:txBody>
      </ns0:sp>
      <ns0:pic>
        <ns0:nvPicPr>
          <ns0:cNvPr id="31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461504" y="1728216"/>
            <a:ext cx="512064" cy="512064"/>
          </a:xfrm>
          <a:prstGeom prst="rect">
            <a:avLst/>
          </a:prstGeom>
        </ns0:spPr>
      </ns0:pic>
      <ns0:sp>
        <ns0:nvSpPr>
          <ns0:cNvPr id="32" name="Text 26"/>
          <ns0:cNvSpPr/>
          <ns0:nvPr/>
        </ns0:nvSpPr>
        <ns0:spPr>
          <a:xfrm>
            <a:off x="6848856" y="2331720"/>
            <a:ext cx="1737360" cy="56692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Nocturno</a:t>
            </a:r>
            <a:endParaRPr lang="en-US" sz="1150" dirty="0"/>
          </a:p>
        </ns0:txBody>
      </ns0:sp>
      <ns0:sp>
        <ns0:nvSpPr>
          <ns0:cNvPr id="33" name="Text 27"/>
          <ns0:cNvSpPr/>
          <ns0:nvPr/>
        </ns0:nvSpPr>
        <ns0:spPr>
          <a:xfrm>
            <a:off x="6867144" y="2953512"/>
            <a:ext cx="1700784" cy="1115568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todo en el CRM. Establezca las tareas de mañana. Cierre con fuerza.</a:t>
            </a:r>
            <a:endParaRPr lang="en-US" sz="1000" dirty="0"/>
          </a:p>
        </ns0:txBody>
      </ns0:sp>
      <ns0:sp>
        <ns0:nvSpPr>
          <ns0:cNvPr id="35" name="Shape 28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6" name="Shape 29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7" name="Text 30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15  |  Acelerador de Ventas Solar - Día 1 - Confidencial</a:t>
            </a:r>
            <a:endParaRPr lang="en-US" sz="750" dirty="0"/>
          </a:p>
        </ns0:txBody>
      </ns0:sp>
      <ns0:sp>
        <ns0:nvSpPr>
          <ns0:cNvPr id="38" name="Shape 31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9" name="Text 32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6.xml><?xml version="1.0" encoding="utf-8"?>
<ns0:sld xmlns:a="http://schemas.openxmlformats.org/drawingml/2006/main" xmlns:ns0="http://schemas.openxmlformats.org/presentationml/2006/main">
  <ns0:cSld name="Slide 16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SEMANALES — INDICADORES CLAVE DE RENDIMIENTO</a:t>
            </a:r>
            <a:endParaRPr lang="en-US" sz="19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16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594360" y="987552"/>
            <a:ext cx="5029200" cy="65836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704088" y="987552"/>
            <a:ext cx="326898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TOQUES DE PUERTA</a:t>
            </a:r>
            <a:endParaRPr lang="en-US" sz="11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3863340" y="987552"/>
            <a:ext cx="1760220" cy="658368"/>
          </a:xfrm>
          <a:prstGeom prst="rect">
            <a:avLst/>
          </a:prstGeom>
          <a:noFill/>
          <a:ln/>
        </ns0:spPr>
        <ns0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16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1280160" y="1755648"/>
            <a:ext cx="3657600" cy="658368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1389888" y="1755648"/>
            <a:ext cx="2377440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PROSPECTOS GENERADOS</a:t>
            </a:r>
            <a:endParaRPr lang="en-US" sz="11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3657600" y="1755648"/>
            <a:ext cx="1280160" cy="658368"/>
          </a:xfrm>
          <a:prstGeom prst="rect">
            <a:avLst/>
          </a:prstGeom>
          <a:noFill/>
          <a:ln/>
        </ns0:spPr>
        <ns0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1828800" y="2523744"/>
            <a:ext cx="2560320" cy="65836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1938528" y="2523744"/>
            <a:ext cx="1664208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(PRESENTACIONES)</a:t>
            </a:r>
            <a:endParaRPr lang="en-US" sz="11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3493008" y="2523744"/>
            <a:ext cx="896112" cy="658368"/>
          </a:xfrm>
          <a:prstGeom prst="rect">
            <a:avLst/>
          </a:prstGeom>
          <a:noFill/>
          <a:ln/>
        </ns0:spPr>
        <ns0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ns0:txBody>
      </ns0:sp>
      <ns0:sp>
        <ns0:nvSpPr>
          <ns0:cNvPr id="19" name="Shape 17"/>
          <ns0:cNvSpPr/>
          <ns0:nvPr/>
        </ns0:nvSpPr>
        <ns0:spPr>
          <a:xfrm>
            <a:off x="2377440" y="3291840"/>
            <a:ext cx="146304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sp>
        <ns0:nvSpPr>
          <ns0:cNvPr id="20" name="Text 18"/>
          <ns0:cNvSpPr/>
          <ns0:nvPr/>
        </ns0:nvSpPr>
        <ns0:spPr>
          <a:xfrm>
            <a:off x="2487168" y="3291840"/>
            <a:ext cx="950976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1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3328416" y="3291840"/>
            <a:ext cx="512064" cy="658368"/>
          </a:xfrm>
          <a:prstGeom prst="rect">
            <a:avLst/>
          </a:prstGeom>
          <a:noFill/>
          <a:ln/>
        </ns0:spPr>
        <ns0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1–2</a:t>
            </a:r>
            <a:endParaRPr lang="en-US" sz="1600" dirty="0"/>
          </a:p>
        </ns0:txBody>
      </ns0:sp>
      <ns0:sp>
        <ns0:nvSpPr>
          <ns0:cNvPr id="22" name="Shape 20"/>
          <ns0:cNvSpPr/>
          <ns0:nvPr/>
        </ns0:nvSpPr>
        <ns0:spPr>
          <a:xfrm>
            <a:off x="6400800" y="960120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50800" dist="12700" dir="8100000">
              <a:srgbClr val="AABBCC">
                <a:alpha val="10000"/>
              </a:srgbClr>
            </a:outerShdw>
          </a:effectLst>
        </ns0:spPr>
      </ns0:sp>
      <ns0:sp>
        <ns0:nvSpPr>
          <ns0:cNvPr id="23" name="Shape 21"/>
          <ns0:cNvSpPr/>
          <ns0:nvPr/>
        </ns0:nvSpPr>
        <ns0:spPr>
          <a:xfrm>
            <a:off x="6400800" y="960120"/>
            <a:ext cx="64008" cy="74980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6565392" y="960120"/>
            <a:ext cx="1024128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20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7635240" y="960120"/>
            <a:ext cx="1051560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Toques de Puerta/Semana</a:t>
            </a:r>
            <a:endParaRPr lang="en-US" sz="110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6400800" y="1837944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50800" dist="12700" dir="8100000">
              <a:srgbClr val="AABBCC">
                <a:alpha val="10000"/>
              </a:srgbClr>
            </a:outerShdw>
          </a:effectLst>
        </ns0:spPr>
      </ns0:sp>
      <ns0:sp>
        <ns0:nvSpPr>
          <ns0:cNvPr id="27" name="Shape 25"/>
          <ns0:cNvSpPr/>
          <ns0:nvPr/>
        </ns0:nvSpPr>
        <ns0:spPr>
          <a:xfrm>
            <a:off x="6400800" y="1837944"/>
            <a:ext cx="64008" cy="74980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28" name="Text 26"/>
          <ns0:cNvSpPr/>
          <ns0:nvPr/>
        </ns0:nvSpPr>
        <ns0:spPr>
          <a:xfrm>
            <a:off x="6565392" y="1837944"/>
            <a:ext cx="1024128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000" dirty="0"/>
          </a:p>
        </ns0:txBody>
      </ns0:sp>
      <ns0:sp>
        <ns0:nvSpPr>
          <ns0:cNvPr id="29" name="Text 27"/>
          <ns0:cNvSpPr/>
          <ns0:nvPr/>
        </ns0:nvSpPr>
        <ns0:spPr>
          <a:xfrm>
            <a:off x="7635240" y="1837944"/>
            <a:ext cx="1051560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Prospectos Generados</a:t>
            </a:r>
            <a:endParaRPr lang="en-US" sz="110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6400800" y="2715768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50800" dist="12700" dir="8100000">
              <a:srgbClr val="AABBCC">
                <a:alpha val="10000"/>
              </a:srgbClr>
            </a:outerShdw>
          </a:effectLst>
        </ns0:spPr>
      </ns0:sp>
      <ns0:sp>
        <ns0:nvSpPr>
          <ns0:cNvPr id="31" name="Shape 29"/>
          <ns0:cNvSpPr/>
          <ns0:nvPr/>
        </ns0:nvSpPr>
        <ns0:spPr>
          <a:xfrm>
            <a:off x="6400800" y="2715768"/>
            <a:ext cx="64008" cy="74980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2" name="Text 30"/>
          <ns0:cNvSpPr/>
          <ns0:nvPr/>
        </ns0:nvSpPr>
        <ns0:spPr>
          <a:xfrm>
            <a:off x="6565392" y="2715768"/>
            <a:ext cx="1024128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7635240" y="2715768"/>
            <a:ext cx="1051560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 (Visitas)</a:t>
            </a:r>
            <a:endParaRPr lang="en-US" sz="1100" dirty="0"/>
          </a:p>
        </ns0:txBody>
      </ns0:sp>
      <ns0:sp>
        <ns0:nvSpPr>
          <ns0:cNvPr id="34" name="Shape 32"/>
          <ns0:cNvSpPr/>
          <ns0:nvPr/>
        </ns0:nvSpPr>
        <ns0:spPr>
          <a:xfrm>
            <a:off x="6400800" y="3593592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sx="100000" sy="100000" kx="0" ky="0" algn="bl" rotWithShape="0" blurRad="50800" dist="12700" dir="8100000">
              <a:srgbClr val="AABBCC">
                <a:alpha val="10000"/>
              </a:srgbClr>
            </a:outerShdw>
          </a:effectLst>
        </ns0:spPr>
      </ns0:sp>
      <ns0:sp>
        <ns0:nvSpPr>
          <ns0:cNvPr id="35" name="Shape 33"/>
          <ns0:cNvSpPr/>
          <ns0:nvPr/>
        </ns0:nvSpPr>
        <ns0:spPr>
          <a:xfrm>
            <a:off x="6400800" y="3593592"/>
            <a:ext cx="64008" cy="749808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6" name="Text 34"/>
          <ns0:cNvSpPr/>
          <ns0:nvPr/>
        </ns0:nvSpPr>
        <ns0:spPr>
          <a:xfrm>
            <a:off x="6565392" y="3593592"/>
            <a:ext cx="1024128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1–2</a:t>
            </a:r>
            <a:endParaRPr lang="en-US" sz="2000" dirty="0"/>
          </a:p>
        </ns0:txBody>
      </ns0:sp>
      <ns0:sp>
        <ns0:nvSpPr>
          <ns0:cNvPr id="37" name="Text 35"/>
          <ns0:cNvSpPr/>
          <ns0:nvPr/>
        </ns0:nvSpPr>
        <ns0:spPr>
          <a:xfrm>
            <a:off x="7635240" y="3593592"/>
            <a:ext cx="1051560" cy="74980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Cerradas</a:t>
            </a:r>
            <a:endParaRPr lang="en-US" sz="1100" dirty="0"/>
          </a:p>
        </ns0:txBody>
      </ns0:sp>
      <ns0:sp>
        <ns0:nvSpPr>
          <ns0:cNvPr id="38" name="Shape 36"/>
          <ns0:cNvSpPr/>
          <ns0:nvPr/>
        </ns0:nvSpPr>
        <ns0:spPr>
          <a:xfrm>
            <a:off x="365760" y="4366260"/>
            <a:ext cx="8412480" cy="347472"/>
          </a:xfrm>
          <a:prstGeom prst="rect">
            <a:avLst/>
          </a:prstGeom>
          <a:solidFill>
            <a:srgbClr val="E8F5D0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9" name="Text 37"/>
          <ns0:cNvSpPr/>
          <ns0:nvPr/>
        </ns0:nvSpPr>
        <ns0:spPr>
          <a:xfrm>
            <a:off x="365760" y="4366260"/>
            <a:ext cx="8412480" cy="347472"/>
          </a:xfrm>
          <a:prstGeom prst="rect">
            <a:avLst/>
          </a:prstGeom>
          <a:noFill/>
          <a:ln/>
        </ns0:spPr>
        <ns0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4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Enfóquese en la actividad, no en el resultado. Controle su esfuerzo — los resultados seguirán.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7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7">
    <ns0:bg>
      <ns0:bgPr>
        <a:solidFill>
          <a:srgbClr val="F5F8FB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9144000" cy="80467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804672"/>
            <a:ext cx="9144000" cy="5029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347472" y="0"/>
            <a:ext cx="749808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 ESTRUCTURA DE APOYO</a:t>
            </a:r>
            <a:endParaRPr lang="en-US" sz="24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6" name="Shape 4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17  |  Acelerador de Ventas Solar - Día 1 - Confidencial</a:t>
            </a:r>
            <a:endParaRPr lang="en-US" sz="75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429000" y="1417320"/>
            <a:ext cx="2286000" cy="2286000"/>
          </a:xfrm>
          <a:prstGeom prst="ellipse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pic>
        <ns0:nvPicPr>
          <ns0:cNvPr id="11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3840480" y="1691640"/>
            <a:ext cx="1463040" cy="1463040"/>
          </a:xfrm>
          <a:prstGeom prst="rect">
            <a:avLst/>
          </a:prstGeom>
        </ns0:spPr>
      </ns0:pic>
      <ns0:sp>
        <ns0:nvSpPr>
          <ns0:cNvPr id="12" name="Text 9"/>
          <ns0:cNvSpPr/>
          <ns0:nvPr/>
        </ns0:nvSpPr>
        <ns0:spPr>
          <a:xfrm>
            <a:off x="3429000" y="3310128"/>
            <a:ext cx="228600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USTED</a:t>
            </a:r>
            <a:endParaRPr lang="en-US" sz="130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411480" y="1828800"/>
            <a:ext cx="17830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DC2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14" name="Shape 11"/>
          <ns0:cNvSpPr/>
          <ns0:nvPr/>
        </ns0:nvSpPr>
        <ns0:spPr>
          <a:xfrm>
            <a:off x="411480" y="1828800"/>
            <a:ext cx="1783080" cy="82296"/>
          </a:xfrm>
          <a:prstGeom prst="rect">
            <a:avLst/>
          </a:prstGeom>
          <a:solidFill>
            <a:srgbClr val="0E7DC2"/>
          </a:solidFill>
          <a:ln w="12700">
            <a:solidFill>
              <a:srgbClr val="0E7DC2"/>
            </a:solidFill>
            <a:prstDash val="solid"/>
          </a:ln>
        </ns0:spPr>
      </ns0:sp>
      <ns0:pic>
        <ns0:nvPicPr>
          <ns0:cNvPr id="15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1046988" y="1993392"/>
            <a:ext cx="512064" cy="512064"/>
          </a:xfrm>
          <a:prstGeom prst="rect">
            <a:avLst/>
          </a:prstGeom>
        </ns0:spPr>
      </ns0:pic>
      <ns0:sp>
        <ns0:nvSpPr>
          <ns0:cNvPr id="16" name="Text 12"/>
          <ns0:cNvSpPr/>
          <ns0:nvPr/>
        </ns0:nvSpPr>
        <ns0:spPr>
          <a:xfrm>
            <a:off x="484632" y="2596896"/>
            <a:ext cx="1636776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Gerente</a:t>
            </a:r>
            <a:endParaRPr lang="en-US" sz="12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484632" y="2907792"/>
            <a:ext cx="1636776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Cierre</a:t>
            </a:r>
            <a:endParaRPr lang="en-US" sz="950" dirty="0"/>
          </a:p>
        </ns0:txBody>
      </ns0:sp>
      <ns0:sp>
        <ns0:nvSpPr>
          <ns0:cNvPr id="18" name="Shape 14"/>
          <ns0:cNvSpPr/>
          <ns0:nvPr/>
        </ns0:nvSpPr>
        <ns0:spPr>
          <a:xfrm>
            <a:off x="1303020" y="2560320"/>
            <a:ext cx="3268980" cy="0"/>
          </a:xfrm>
          <a:prstGeom prst="line">
            <a:avLst/>
          </a:prstGeom>
          <a:noFill/>
          <a:ln w="19050">
            <a:solidFill>
              <a:srgbClr val="D0DCE8"/>
            </a:solidFill>
            <a:prstDash val="dash"/>
          </a:ln>
        </ns0:spPr>
      </ns0:sp>
      <ns0:sp>
        <ns0:nvSpPr>
          <ns0:cNvPr id="19" name="Shape 15"/>
          <ns0:cNvSpPr/>
          <ns0:nvPr/>
        </ns0:nvSpPr>
        <ns0:spPr>
          <a:xfrm>
            <a:off x="6675120" y="1828800"/>
            <a:ext cx="17830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20" name="Shape 16"/>
          <ns0:cNvSpPr/>
          <ns0:nvPr/>
        </ns0:nvSpPr>
        <ns0:spPr>
          <a:xfrm>
            <a:off x="6675120" y="1828800"/>
            <a:ext cx="1783080" cy="822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ns0:spPr>
      </ns0:sp>
      <ns0:pic>
        <ns0:nvPicPr>
          <ns0:cNvPr id="21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310628" y="1993392"/>
            <a:ext cx="512064" cy="512064"/>
          </a:xfrm>
          <a:prstGeom prst="rect">
            <a:avLst/>
          </a:prstGeom>
        </ns0:spPr>
      </ns0:pic>
      <ns0:sp>
        <ns0:nvSpPr>
          <ns0:cNvPr id="22" name="Text 17"/>
          <ns0:cNvSpPr/>
          <ns0:nvPr/>
        </ns0:nvSpPr>
        <ns0:spPr>
          <a:xfrm>
            <a:off x="6748272" y="2596896"/>
            <a:ext cx="1636776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/ Operaciones</a:t>
            </a:r>
            <a:endParaRPr lang="en-US" sz="1200" dirty="0"/>
          </a:p>
        </ns0:txBody>
      </ns0:sp>
      <ns0:sp>
        <ns0:nvSpPr>
          <ns0:cNvPr id="23" name="Text 18"/>
          <ns0:cNvSpPr/>
          <ns0:nvPr/>
        </ns0:nvSpPr>
        <ns0:spPr>
          <a:xfrm>
            <a:off x="6748272" y="2907792"/>
            <a:ext cx="1636776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e Instalación</a:t>
            </a:r>
            <a:endParaRPr lang="en-US" sz="950" dirty="0"/>
          </a:p>
        </ns0:txBody>
      </ns0:sp>
      <ns0:sp>
        <ns0:nvSpPr>
          <ns0:cNvPr id="24" name="Shape 19"/>
          <ns0:cNvSpPr/>
          <ns0:nvPr/>
        </ns0:nvSpPr>
        <ns0:spPr>
          <a:xfrm>
            <a:off x="4572000" y="2560320"/>
            <a:ext cx="2994660" cy="0"/>
          </a:xfrm>
          <a:prstGeom prst="line">
            <a:avLst/>
          </a:prstGeom>
          <a:noFill/>
          <a:ln w="19050">
            <a:solidFill>
              <a:srgbClr val="D0DCE8"/>
            </a:solidFill>
            <a:prstDash val="dash"/>
          </a:ln>
        </ns0:spPr>
      </ns0:sp>
      <ns0:sp>
        <ns0:nvSpPr>
          <ns0:cNvPr id="25" name="Shape 20"/>
          <ns0:cNvSpPr/>
          <ns0:nvPr/>
        </ns0:nvSpPr>
        <ns0:spPr>
          <a:xfrm>
            <a:off x="3474720" y="960120"/>
            <a:ext cx="17830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63500" dist="25400" dir="8100000">
              <a:srgbClr val="AABBCC">
                <a:alpha val="12000"/>
              </a:srgbClr>
            </a:outerShdw>
          </a:effectLst>
        </ns0:spPr>
      </ns0:sp>
      <ns0:sp>
        <ns0:nvSpPr>
          <ns0:cNvPr id="26" name="Shape 21"/>
          <ns0:cNvSpPr/>
          <ns0:nvPr/>
        </ns0:nvSpPr>
        <ns0:spPr>
          <a:xfrm>
            <a:off x="3474720" y="960120"/>
            <a:ext cx="1783080" cy="8229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ns0:spPr>
      </ns0:sp>
      <ns0:pic>
        <ns0:nvPicPr>
          <ns0:cNvPr id="27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4110228" y="1124712"/>
            <a:ext cx="512064" cy="512064"/>
          </a:xfrm>
          <a:prstGeom prst="rect">
            <a:avLst/>
          </a:prstGeom>
        </ns0:spPr>
      </ns0:pic>
      <ns0:sp>
        <ns0:nvSpPr>
          <ns0:cNvPr id="28" name="Text 22"/>
          <ns0:cNvSpPr/>
          <ns0:nvPr/>
        </ns0:nvSpPr>
        <ns0:spPr>
          <a:xfrm>
            <a:off x="3547872" y="1728216"/>
            <a:ext cx="1636776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Entrenamiento</a:t>
            </a:r>
            <a:endParaRPr lang="en-US" sz="1200" dirty="0"/>
          </a:p>
        </ns0:txBody>
      </ns0:sp>
      <ns0:sp>
        <ns0:nvSpPr>
          <ns0:cNvPr id="29" name="Text 23"/>
          <ns0:cNvSpPr/>
          <ns0:nvPr/>
        </ns0:nvSpPr>
        <ns0:spPr>
          <a:xfrm>
            <a:off x="3547872" y="2039112"/>
            <a:ext cx="1636776" cy="3291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Habilidades Continuo</a:t>
            </a:r>
            <a:endParaRPr lang="en-US" sz="950" dirty="0"/>
          </a:p>
        </ns0:txBody>
      </ns0:sp>
      <ns0:sp>
        <ns0:nvSpPr>
          <ns0:cNvPr id="30" name="Shape 24"/>
          <ns0:cNvSpPr/>
          <ns0:nvPr/>
        </ns0:nvSpPr>
        <ns0:spPr>
          <a:xfrm>
            <a:off x="4366260" y="1691640"/>
            <a:ext cx="205740" cy="868680"/>
          </a:xfrm>
          <a:prstGeom prst="line">
            <a:avLst/>
          </a:prstGeom>
          <a:noFill/>
          <a:ln w="19050">
            <a:solidFill>
              <a:srgbClr val="D0DCE8"/>
            </a:solidFill>
            <a:prstDash val="dash"/>
          </a:ln>
        </ns0:spPr>
      </ns0:sp>
    </ns0:spTree>
  </ns0:cSld>
  <ns0:clrMapOvr>
    <a:masterClrMapping/>
  </ns0:clrMapOvr>
</ns0:sld>
</file>

<file path=ppt/slides/slide18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8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347472" y="0"/>
            <a:ext cx="8796528" cy="804672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4" name="Shape 2"/>
          <ns0:cNvSpPr/>
          <ns0:nvPr/>
        </ns0:nvSpPr>
        <ns0:spPr>
          <a:xfrm>
            <a:off x="347472" y="804672"/>
            <a:ext cx="8796528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5" name="Text 3"/>
          <ns0:cNvSpPr/>
          <ns0:nvPr/>
        </ns0:nvSpPr>
        <ns0:spPr>
          <a:xfrm>
            <a:off x="548640" y="0"/>
            <a:ext cx="7863840" cy="8046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ÉTICA Y LA LISTA DE "NO HACER"</a:t>
            </a:r>
            <a:endParaRPr lang="en-US" sz="2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960120"/>
            <a:ext cx="1901952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7" name="Shape 5"/>
          <ns0:cNvSpPr/>
          <ns0:nvPr/>
        </ns0:nvSpPr>
        <ns0:spPr>
          <a:xfrm>
            <a:off x="502920" y="960120"/>
            <a:ext cx="1901952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042416" y="1161288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pic>
        <ns0:nvPicPr>
          <ns0:cNvPr id="9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1188720" y="1261872"/>
            <a:ext cx="530352" cy="530352"/>
          </a:xfrm>
          <a:prstGeom prst="rect">
            <a:avLst/>
          </a:prstGeom>
        </ns0:spPr>
      </ns0:pic>
      <ns0:sp>
        <ns0:nvSpPr>
          <ns0:cNvPr id="10" name="Text 7"/>
          <ns0:cNvSpPr/>
          <ns0:nvPr/>
        </ns0:nvSpPr>
        <ns0:spPr>
          <a:xfrm>
            <a:off x="594360" y="2112264"/>
            <a:ext cx="1719072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Robar Prospectos</a:t>
            </a:r>
            <a:endParaRPr lang="en-US" sz="12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612648" y="2825496"/>
            <a:ext cx="1682496" cy="12435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prospectos de otros representantes están prohibidos. Punto.</a:t>
            </a:r>
            <a:endParaRPr lang="en-US" sz="10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2569464" y="960120"/>
            <a:ext cx="1901952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13" name="Shape 10"/>
          <ns0:cNvSpPr/>
          <ns0:nvPr/>
        </ns0:nvSpPr>
        <ns0:spPr>
          <a:xfrm>
            <a:off x="2569464" y="960120"/>
            <a:ext cx="1901952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3108960" y="1161288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pic>
        <ns0:nvPicPr>
          <ns0:cNvPr id="15" name="Image 1" descr="preencoded.png">    </ns0:cNvPr>
          <ns0:cNvPicPr>
            <a:picLocks noChangeAspect="1"/>
          </ns0:cNvPicPr>
          <ns0:nvPr/>
        </ns0:nvPicPr>
        <ns0:blipFill>
          <a:blip ns2:embed="rId2"/>
          <a:stretch>
            <a:fillRect/>
          </a:stretch>
        </ns0:blipFill>
        <ns0:spPr>
          <a:xfrm>
            <a:off x="3255264" y="1261872"/>
            <a:ext cx="530352" cy="530352"/>
          </a:xfrm>
          <a:prstGeom prst="rect">
            <a:avLst/>
          </a:prstGeom>
        </ns0:spPr>
      </ns0:pic>
      <ns0:sp>
        <ns0:nvSpPr>
          <ns0:cNvPr id="16" name="Text 12"/>
          <ns0:cNvSpPr/>
          <ns0:nvPr/>
        </ns0:nvSpPr>
        <ns0:spPr>
          <a:xfrm>
            <a:off x="2660904" y="2112264"/>
            <a:ext cx="1719072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Malrepresentar Créditos Fiscales</a:t>
            </a:r>
            <a:endParaRPr lang="en-US" sz="12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2679192" y="2825496"/>
            <a:ext cx="1682496" cy="12435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los hechos con precisión. Nunca garantice ahorros que no puede garantizar.</a:t>
            </a:r>
            <a:endParaRPr lang="en-US" sz="1000" dirty="0"/>
          </a:p>
        </ns0:txBody>
      </ns0:sp>
      <ns0:sp>
        <ns0:nvSpPr>
          <ns0:cNvPr id="18" name="Shape 14"/>
          <ns0:cNvSpPr/>
          <ns0:nvPr/>
        </ns0:nvSpPr>
        <ns0:spPr>
          <a:xfrm>
            <a:off x="4636008" y="960120"/>
            <a:ext cx="1901952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19" name="Shape 15"/>
          <ns0:cNvSpPr/>
          <ns0:nvPr/>
        </ns0:nvSpPr>
        <ns0:spPr>
          <a:xfrm>
            <a:off x="4636008" y="960120"/>
            <a:ext cx="1901952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20" name="Shape 16"/>
          <ns0:cNvSpPr/>
          <ns0:nvPr/>
        </ns0:nvSpPr>
        <ns0:spPr>
          <a:xfrm>
            <a:off x="5175504" y="1161288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pic>
        <ns0:nvPicPr>
          <ns0:cNvPr id="21" name="Image 2" descr="preencoded.png">    </ns0:cNvPr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5321808" y="1261872"/>
            <a:ext cx="530352" cy="530352"/>
          </a:xfrm>
          <a:prstGeom prst="rect">
            <a:avLst/>
          </a:prstGeom>
        </ns0:spPr>
      </ns0:pic>
      <ns0:sp>
        <ns0:nvSpPr>
          <ns0:cNvPr id="22" name="Text 17"/>
          <ns0:cNvSpPr/>
          <ns0:nvPr/>
        </ns0:nvSpPr>
        <ns0:spPr>
          <a:xfrm>
            <a:off x="4727448" y="2112264"/>
            <a:ext cx="1719072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Tácticas de Alta Presión / Abuso de Ancianos</a:t>
            </a:r>
            <a:endParaRPr lang="en-US" sz="1200" dirty="0"/>
          </a:p>
        </ns0:txBody>
      </ns0:sp>
      <ns0:sp>
        <ns0:nvSpPr>
          <ns0:cNvPr id="23" name="Text 18"/>
          <ns0:cNvSpPr/>
          <ns0:nvPr/>
        </ns0:nvSpPr>
        <ns0:spPr>
          <a:xfrm>
            <a:off x="4745736" y="2825496"/>
            <a:ext cx="1682496" cy="12435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tolerancia. Proteja a los clientes vulnerables en todo momento.</a:t>
            </a:r>
            <a:endParaRPr lang="en-US" sz="1000" dirty="0"/>
          </a:p>
        </ns0:txBody>
      </ns0:sp>
      <ns0:sp>
        <ns0:nvSpPr>
          <ns0:cNvPr id="24" name="Shape 19"/>
          <ns0:cNvSpPr/>
          <ns0:nvPr/>
        </ns0:nvSpPr>
        <ns0:spPr>
          <a:xfrm>
            <a:off x="6702552" y="960120"/>
            <a:ext cx="1901952" cy="3218688"/>
          </a:xfrm>
          <a:prstGeom prst="rect">
            <a:avLst/>
          </a:prstGeom>
          <a:solidFill>
            <a:srgbClr val="243549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25" name="Shape 20"/>
          <ns0:cNvSpPr/>
          <ns0:nvPr/>
        </ns0:nvSpPr>
        <ns0:spPr>
          <a:xfrm>
            <a:off x="6702552" y="960120"/>
            <a:ext cx="1901952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26" name="Shape 21"/>
          <ns0:cNvSpPr/>
          <ns0:nvPr/>
        </ns0:nvSpPr>
        <ns0:spPr>
          <a:xfrm>
            <a:off x="7242048" y="1161288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ns0:spPr>
      </ns0:sp>
      <ns0:pic>
        <ns0:nvPicPr>
          <ns0:cNvPr id="27" name="Image 3" descr="preencoded.png">    </ns0:cNvPr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388352" y="1261872"/>
            <a:ext cx="530352" cy="530352"/>
          </a:xfrm>
          <a:prstGeom prst="rect">
            <a:avLst/>
          </a:prstGeom>
        </ns0:spPr>
      </ns0:pic>
      <ns0:sp>
        <ns0:nvSpPr>
          <ns0:cNvPr id="28" name="Text 22"/>
          <ns0:cNvSpPr/>
          <ns0:nvPr/>
        </ns0:nvSpPr>
        <ns0:spPr>
          <a:xfrm>
            <a:off x="6793992" y="2112264"/>
            <a:ext cx="1719072" cy="6583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Cero Tolerancia a la Deshonestidad</a:t>
            </a:r>
            <a:endParaRPr lang="en-US" sz="1200" dirty="0"/>
          </a:p>
        </ns0:txBody>
      </ns0:sp>
      <ns0:sp>
        <ns0:nvSpPr>
          <ns0:cNvPr id="29" name="Text 23"/>
          <ns0:cNvSpPr/>
          <ns0:nvPr/>
        </ns0:nvSpPr>
        <ns0:spPr>
          <a:xfrm>
            <a:off x="6812280" y="2825496"/>
            <a:ext cx="1682496" cy="1243584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mentira termina su permanencia aquí. Nuestra reputación lo es todo.</a:t>
            </a:r>
            <a:endParaRPr lang="en-US" sz="1000" dirty="0"/>
          </a:p>
        </ns0:txBody>
      </ns0:sp>
      <ns0:sp>
        <ns0:nvSpPr>
          <ns0:cNvPr id="30" name="Shape 24"/>
          <ns0:cNvSpPr/>
          <ns0:nvPr/>
        </ns0:nvSpPr>
        <ns0:spPr>
          <a:xfrm>
            <a:off x="502920" y="4393692"/>
            <a:ext cx="8138160" cy="347472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ns0:spPr>
      </ns0:sp>
      <ns0:sp>
        <ns0:nvSpPr>
          <ns0:cNvPr id="31" name="Text 25"/>
          <ns0:cNvSpPr/>
          <ns0:nvPr/>
        </ns0:nvSpPr>
        <ns0:spPr>
          <a:xfrm>
            <a:off x="502920" y="4393692"/>
            <a:ext cx="8138160" cy="347472"/>
          </a:xfrm>
          <a:prstGeom prst="rect">
            <a:avLst/>
          </a:prstGeom>
          <a:noFill/>
          <a:ln/>
        </ns0:spPr>
        <ns0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Nuestra reputación vale más que cualquier comisión. Referencia: Código de Conducta de la Empresa.</a:t>
            </a:r>
            <a:endParaRPr lang="en-US" sz="1100" dirty="0"/>
          </a:p>
        </ns0:txBody>
      </ns0:sp>
      <ns0:sp>
        <ns0:nvSpPr>
          <ns0:cNvPr id="33" name="Shape 26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34" name="Shape 27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5" name="Text 28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18  |  Acelerador de Ventas Solar - Día 1 - Confidencial</a:t>
            </a:r>
            <a:endParaRPr lang="en-US" sz="750" dirty="0"/>
          </a:p>
        </ns0:txBody>
      </ns0:sp>
      <ns0:sp>
        <ns0:nvSpPr>
          <ns0:cNvPr id="36" name="Shape 29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37" name="Text 30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slides/slide19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9">
    <ns0:bg>
      <ns0:bgPr>
        <a:solidFill>
          <a:srgbClr val="1A2B3C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4846320" cy="5143500"/>
          </a:xfrm>
          <a:prstGeom prst="rect">
            <a:avLst/>
          </a:prstGeom>
          <a:solidFill>
            <a:srgbClr val="243549"/>
          </a:solidFill>
          <a:ln w="12700">
            <a:solidFill>
              <a:srgbClr val="243549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0"/>
            <a:ext cx="347472" cy="5143500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502920" y="457200"/>
            <a:ext cx="411480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COMPLETO</a:t>
            </a:r>
            <a:endParaRPr lang="en-US" sz="10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502920" y="914400"/>
            <a:ext cx="4160520" cy="11887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Proteger la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</a:t>
            </a:r>
            <a:endParaRPr lang="en-US" sz="32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502920" y="2212848"/>
            <a:ext cx="4114800" cy="36576"/>
          </a:xfrm>
          <a:prstGeom prst="rect">
            <a:avLst/>
          </a:prstGeom>
          <a:solidFill>
            <a:srgbClr val="2E4A66"/>
          </a:solidFill>
          <a:ln w="12700">
            <a:solidFill>
              <a:srgbClr val="2E4A66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502920" y="2331720"/>
            <a:ext cx="4114800" cy="32004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CUBRIMOS:</a:t>
            </a:r>
            <a:endParaRPr lang="en-US" sz="1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02920" y="2697480"/>
            <a:ext cx="4160520" cy="2061972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profesional diario y rutina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semanales de KPI y actividad del embudo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apoyo: gerente, operaciones, entrenamiento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Ética, cumplimiento y lista de No Hacer</a:t>
            </a:r>
            <a:endParaRPr lang="en-US" sz="12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5074920" y="960120"/>
            <a:ext cx="3840480" cy="365760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6B8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SIGUIENTE</a:t>
            </a:r>
            <a:endParaRPr lang="en-US" sz="10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074920" y="1417320"/>
            <a:ext cx="3840480" cy="1188720"/>
          </a:xfrm>
          <a:prstGeom prst="rect">
            <a:avLst/>
          </a:prstGeom>
          <a:noFill/>
          <a:ln/>
        </ns0:spPr>
        <ns0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 Solar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</a:t>
            </a:r>
            <a:endParaRPr lang="en-US" sz="3000" dirty="0"/>
          </a:p>
        </ns0:txBody>
      </ns0:sp>
      <ns0:pic>
        <ns0:nvPicPr>
          <ns0:cNvPr id="11" name="Image 0" descr="preencoded.png">    </ns0:cNvPr>
          <ns0:cNvPicPr>
            <a:picLocks noChangeAspect="1"/>
          </ns0:cNvPicPr>
          <ns0:nvPr/>
        </ns0:nvPicPr>
        <ns0:blipFill>
          <a:blip ns2:embed="rId1"/>
          <a:stretch>
            <a:fillRect/>
          </a:stretch>
        </ns0:blipFill>
        <ns0:spPr>
          <a:xfrm>
            <a:off x="5303520" y="2834640"/>
            <a:ext cx="1188720" cy="960120"/>
          </a:xfrm>
          <a:prstGeom prst="rect">
            <a:avLst/>
          </a:prstGeom>
        </ns0:spPr>
      </ns0:pic>
      <ns0:sp>
        <ns0:nvSpPr>
          <ns0:cNvPr id="12" name="Text 9"/>
          <ns0:cNvSpPr/>
          <ns0:nvPr/>
        </ns0:nvSpPr>
        <ns0:spPr>
          <a:xfrm>
            <a:off x="6629400" y="3063240"/>
            <a:ext cx="2194560" cy="38404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Desbloquee el siguiente nivel →</a:t>
            </a:r>
            <a:endParaRPr lang="en-US" sz="1100" dirty="0"/>
          </a:p>
        </ns0:txBody>
      </ns0:sp>
      <ns0:sp>
        <ns0:nvSpPr>
          <ns0:cNvPr id="13" name="Shape 10"/>
          <ns0:cNvSpPr/>
          <ns0:nvPr/>
        </ns0:nvSpPr>
        <ns0:spPr>
          <a:xfrm>
            <a:off x="0" y="4841748"/>
            <a:ext cx="9144000" cy="30175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ns0:spPr>
      </ns0:sp>
      <ns0:sp>
        <ns0:nvSpPr>
          <ns0:cNvPr id="14" name="Shape 11"/>
          <ns0:cNvSpPr/>
          <ns0:nvPr/>
        </ns0:nvSpPr>
        <ns0:spPr>
          <a:xfrm>
            <a:off x="0" y="4805172"/>
            <a:ext cx="9144000" cy="36576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5" name="Text 12"/>
          <ns0:cNvSpPr/>
          <ns0:nvPr/>
        </ns0:nvSpPr>
        <ns0:spPr>
          <a:xfrm>
            <a:off x="182880" y="4841748"/>
            <a:ext cx="6858000" cy="30175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19  |  Acelerador de Ventas Solar - Día 1 - Confidencial</a:t>
            </a:r>
            <a:endParaRPr lang="en-US" sz="75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solidFill>
            <a:srgbClr val="76B82A"/>
          </a:solidFill>
          <a:ln w="12700">
            <a:solidFill>
              <a:srgbClr val="76B82A"/>
            </a:solidFill>
            <a:prstDash val="solid"/>
          </a:ln>
        </ns0:spPr>
      </ns0:sp>
      <ns0:sp>
        <ns0:nvSpPr>
          <ns0:cNvPr id="17" name="Text 14"/>
          <ns0:cNvSpPr/>
          <ns0:nvPr/>
        </ns0:nvSpPr>
        <ns0:spPr>
          <a:xfrm>
            <a:off x="8028432" y="73152"/>
            <a:ext cx="960120" cy="347472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900" dirty="0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Sales Accelerator – Day 1</dc:title>
  <dc:subject>PptxGenJS Presentation</dc:subject>
  <dc:creator>PptxGenJS</dc:creator>
  <cp:lastModifiedBy>PptxGenJS</cp:lastModifiedBy>
  <cp:revision>1</cp:revision>
  <dcterms:created xsi:type="dcterms:W3CDTF">2026-02-23T23:40:04Z</dcterms:created>
  <dcterms:modified xsi:type="dcterms:W3CDTF">2026-02-23T23:40:04Z</dcterms:modified>
</cp:coreProperties>
</file>