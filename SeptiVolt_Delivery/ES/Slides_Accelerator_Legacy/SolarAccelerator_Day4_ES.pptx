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2.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Lst>
  <p:notesMasterIdLst>
    <p:notesMasterId r:id="rId9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FFFFFF"/>
                </a:solidFill>
                <a:latin typeface="Arial"/>
              </a:defRPr>
            </a:pPr>
            <a:r>
              <a:rPr sz="1300" b="0" i="0" u="none" strike="noStrike">
                <a:solidFill>
                  <a:srgbClr val="FFFFFF"/>
                </a:solidFill>
                <a:latin typeface="Arial"/>
              </a:rPr>
              <a:t>The Gap Between Doing Nothing and Going Solar</a:t>
            </a:r>
          </a:p>
        </c:rich>
      </c:tx>
      <c:layout/>
      <c:overlay val="0"/>
    </c:title>
    <c:autoTitleDeleted val="0"/>
    <c:plotArea>
      <c:layout/>
      <c:lineChart>
        <c:varyColors val="0"/>
        <c:ser>
          <c:idx val="0"/>
          <c:order val="0"/>
          <c:tx>
            <c:strRef>
              <c:f>Sheet1!$B$1</c:f>
              <c:strCache>
                <c:ptCount val="1"/>
                <c:pt idx="0">
                  <c:v>Utility Cost (5% inflation)</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Sheet1!$A$2:$A$9</c:f>
              <c:multiLvlStrCache>
                <c:ptCount val="8"/>
                <c:lvl>
                  <c:pt idx="0">
                    <c:v>Yr 1</c:v>
                  </c:pt>
                  <c:pt idx="1">
                    <c:v>Yr 3</c:v>
                  </c:pt>
                  <c:pt idx="2">
                    <c:v>Yr 5</c:v>
                  </c:pt>
                  <c:pt idx="3">
                    <c:v>Yr 7</c:v>
                  </c:pt>
                  <c:pt idx="4">
                    <c:v>Yr 10</c:v>
                  </c:pt>
                  <c:pt idx="5">
                    <c:v>Yr 15</c:v>
                  </c:pt>
                  <c:pt idx="6">
                    <c:v>Yr 20</c:v>
                  </c:pt>
                  <c:pt idx="7">
                    <c:v>Yr 25</c:v>
                  </c:pt>
                </c:lvl>
              </c:multiLvlStrCache>
            </c:multiLvlStrRef>
          </c:cat>
          <c:val>
            <c:numRef>
              <c:f>Sheet1!$B$2:$B$9</c:f>
              <c:numCache>
                <c:formatCode>General</c:formatCode>
                <c:ptCount val="8"/>
                <c:pt idx="0">
                  <c:v>2880</c:v>
                </c:pt>
                <c:pt idx="1">
                  <c:v>3153</c:v>
                </c:pt>
                <c:pt idx="2">
                  <c:v>3681</c:v>
                </c:pt>
                <c:pt idx="3">
                  <c:v>4056</c:v>
                </c:pt>
                <c:pt idx="4">
                  <c:v>4697</c:v>
                </c:pt>
                <c:pt idx="5">
                  <c:v>5997</c:v>
                </c:pt>
                <c:pt idx="6">
                  <c:v>7660</c:v>
                </c:pt>
                <c:pt idx="7">
                  <c:v>9786</c:v>
                </c:pt>
              </c:numCache>
            </c:numRef>
          </c:val>
          <c:smooth val="0"/>
        </c:ser>
        <c:ser>
          <c:idx val="1"/>
          <c:order val="1"/>
          <c:tx>
            <c:strRef>
              <c:f>Sheet1!$C$1</c:f>
              <c:strCache>
                <c:ptCount val="1"/>
                <c:pt idx="0">
                  <c:v>Solar Payment (Fixed)</c:v>
                </c:pt>
              </c:strCache>
            </c:strRef>
          </c:tx>
          <c:spPr>
            <a:solidFill>
              <a:srgbClr val="0891B2"/>
            </a:solidFill>
            <a:ln w="38100" cap="flat">
              <a:solidFill>
                <a:srgbClr val="0891B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891B2"/>
              </a:solidFill>
              <a:ln w="9525" cap="flat">
                <a:solidFill>
                  <a:srgbClr val="0891B2"/>
                </a:solidFill>
                <a:prstDash val="solid"/>
                <a:round/>
              </a:ln>
              <a:effectLst/>
            </c:spPr>
          </c:marker>
          <c:cat>
            <c:multiLvlStrRef>
              <c:f>Sheet1!$A$2:$A$9</c:f>
              <c:multiLvlStrCache>
                <c:ptCount val="8"/>
                <c:lvl>
                  <c:pt idx="0">
                    <c:v>Yr 1</c:v>
                  </c:pt>
                  <c:pt idx="1">
                    <c:v>Yr 3</c:v>
                  </c:pt>
                  <c:pt idx="2">
                    <c:v>Yr 5</c:v>
                  </c:pt>
                  <c:pt idx="3">
                    <c:v>Yr 7</c:v>
                  </c:pt>
                  <c:pt idx="4">
                    <c:v>Yr 10</c:v>
                  </c:pt>
                  <c:pt idx="5">
                    <c:v>Yr 15</c:v>
                  </c:pt>
                  <c:pt idx="6">
                    <c:v>Yr 20</c:v>
                  </c:pt>
                  <c:pt idx="7">
                    <c:v>Yr 25</c:v>
                  </c:pt>
                </c:lvl>
              </c:multiLvlStrCache>
            </c:multiLvlStrRef>
          </c:cat>
          <c:val>
            <c:numRef>
              <c:f>Sheet1!$C$2:$C$9</c:f>
              <c:numCache>
                <c:formatCode>General</c:formatCode>
                <c:ptCount val="8"/>
                <c:pt idx="0">
                  <c:v>1800</c:v>
                </c:pt>
                <c:pt idx="1">
                  <c:v>1800</c:v>
                </c:pt>
                <c:pt idx="2">
                  <c:v>1800</c:v>
                </c:pt>
                <c:pt idx="3">
                  <c:v>1800</c:v>
                </c:pt>
                <c:pt idx="4">
                  <c:v>1800</c:v>
                </c:pt>
                <c:pt idx="5">
                  <c:v>0</c:v>
                </c:pt>
                <c:pt idx="6">
                  <c:v>0</c:v>
                </c:pt>
                <c:pt idx="7">
                  <c:v>0</c:v>
                </c:pt>
              </c:numCache>
            </c:numRef>
          </c:val>
          <c:smooth val="0"/>
        </c:ser>
        <c:ser>
          <c:idx val="2"/>
          <c:order val="2"/>
          <c:tx>
            <c:strRef>
              <c:f>Sheet1!$D$1</c:f>
              <c:strCache>
                <c:ptCount val="1"/>
                <c:pt idx="0">
                  <c:v>Solar After Payoff</c:v>
                </c:pt>
              </c:strCache>
            </c:strRef>
          </c:tx>
          <c:spPr>
            <a:solidFill>
              <a:srgbClr val="2D9B4E"/>
            </a:solidFill>
            <a:ln w="38100" cap="flat">
              <a:solidFill>
                <a:srgbClr val="2D9B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D9B4E"/>
              </a:solidFill>
              <a:ln w="9525" cap="flat">
                <a:solidFill>
                  <a:srgbClr val="2D9B4E"/>
                </a:solidFill>
                <a:prstDash val="solid"/>
                <a:round/>
              </a:ln>
              <a:effectLst/>
            </c:spPr>
          </c:marker>
          <c:cat>
            <c:multiLvlStrRef>
              <c:f>Sheet1!$A$2:$A$9</c:f>
              <c:multiLvlStrCache>
                <c:ptCount val="8"/>
                <c:lvl>
                  <c:pt idx="0">
                    <c:v>Yr 1</c:v>
                  </c:pt>
                  <c:pt idx="1">
                    <c:v>Yr 3</c:v>
                  </c:pt>
                  <c:pt idx="2">
                    <c:v>Yr 5</c:v>
                  </c:pt>
                  <c:pt idx="3">
                    <c:v>Yr 7</c:v>
                  </c:pt>
                  <c:pt idx="4">
                    <c:v>Yr 10</c:v>
                  </c:pt>
                  <c:pt idx="5">
                    <c:v>Yr 15</c:v>
                  </c:pt>
                  <c:pt idx="6">
                    <c:v>Yr 20</c:v>
                  </c:pt>
                  <c:pt idx="7">
                    <c:v>Yr 25</c:v>
                  </c:pt>
                </c:lvl>
              </c:multiLvlStrCache>
            </c:multiLvlStrRef>
          </c:cat>
          <c:val>
            <c:numRef>
              <c:f>Sheet1!$D$2:$D$9</c:f>
              <c:numCache>
                <c:formatCode>General</c:formatCode>
                <c:ptCount val="8"/>
                <c:pt idx="0">
                  <c:v>1800</c:v>
                </c:pt>
                <c:pt idx="1">
                  <c:v>1800</c:v>
                </c:pt>
                <c:pt idx="2">
                  <c:v>1800</c:v>
                </c:pt>
                <c:pt idx="3">
                  <c:v>1800</c:v>
                </c:pt>
                <c:pt idx="4">
                  <c:v>1800</c:v>
                </c:pt>
                <c:pt idx="5">
                  <c:v>200</c:v>
                </c:pt>
                <c:pt idx="6">
                  <c:v>200</c:v>
                </c:pt>
                <c:pt idx="7">
                  <c:v>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F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4"/>
        <c:crosses val="autoZero"/>
        <c:crossBetween val="between"/>
      </c:valAx>
      <c:spPr>
        <a:solidFill>
          <a:srgbClr val="1A2840"/>
        </a:solidFill>
        <a:ln>
          <a:noFill/>
        </a:ln>
        <a:effectLst/>
      </c:spPr>
    </c:plotArea>
    <c:legend>
      <c:legendPos val="b"/>
      <c:overlay val="0"/>
      <c:txPr>
        <a:bodyPr/>
        <a:lstStyle/>
        <a:p>
          <a:pPr>
            <a:defRPr>
              <a:solidFill>
                <a:srgbClr val="FFFFFF"/>
              </a:solidFill>
            </a:defRPr>
          </a:pPr>
          <a:endParaRPr lang="en-US"/>
        </a:p>
      </c:txPr>
    </c:legend>
    <c:plotVisOnly val="1"/>
    <c:dispBlanksAs val="span"/>
  </c:chart>
  <c:spPr>
    <a:solidFill>
      <a:srgbClr val="1A284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FFFFFF"/>
                </a:solidFill>
                <a:latin typeface="Arial"/>
              </a:defRPr>
            </a:pPr>
            <a:r>
              <a:rPr sz="1300" b="0" i="0" u="none" strike="noStrike">
                <a:solidFill>
                  <a:srgbClr val="FFFFFF"/>
                </a:solidFill>
                <a:latin typeface="Arial"/>
              </a:rPr>
              <a:t>Total Additional Utility Cost by Year of Delay (Starting from $250/mo at 6% inflation)</a:t>
            </a:r>
          </a:p>
        </c:rich>
      </c:tx>
      <c:layout/>
      <c:overlay val="0"/>
    </c:title>
    <c:autoTitleDeleted val="0"/>
    <c:plotArea>
      <c:layout/>
      <c:lineChart>
        <c:varyColors val="0"/>
        <c:ser>
          <c:idx val="0"/>
          <c:order val="0"/>
          <c:tx>
            <c:strRef>
              <c:f>Sheet1!$B$1</c:f>
              <c:strCache>
                <c:ptCount val="1"/>
                <c:pt idx="0">
                  <c:v>Total Cumulative Lost Savings ($)</c:v>
                </c:pt>
              </c:strCache>
            </c:strRef>
          </c:tx>
          <c:spPr>
            <a:solidFill>
              <a:srgbClr val="C0392B"/>
            </a:solidFill>
            <a:ln w="38100" cap="flat">
              <a:solidFill>
                <a:srgbClr val="C039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392B"/>
              </a:solidFill>
              <a:ln w="9525" cap="flat">
                <a:solidFill>
                  <a:srgbClr val="C0392B"/>
                </a:solidFill>
                <a:prstDash val="solid"/>
                <a:round/>
              </a:ln>
              <a:effectLst/>
            </c:spPr>
          </c:marker>
          <c:cat>
            <c:multiLvlStrRef>
              <c:f>Sheet1!$A$2:$A$5</c:f>
              <c:multiLvlStrCache>
                <c:ptCount val="4"/>
                <c:lvl>
                  <c:pt idx="0">
                    <c:v>Now</c:v>
                  </c:pt>
                  <c:pt idx="1">
                    <c:v>1 Year</c:v>
                  </c:pt>
                  <c:pt idx="2">
                    <c:v>3 Years</c:v>
                  </c:pt>
                  <c:pt idx="3">
                    <c:v>5 Years</c:v>
                  </c:pt>
                </c:lvl>
              </c:multiLvlStrCache>
            </c:multiLvlStrRef>
          </c:cat>
          <c:val>
            <c:numRef>
              <c:f>Sheet1!$B$2:$B$5</c:f>
              <c:numCache>
                <c:formatCode>General</c:formatCode>
                <c:ptCount val="4"/>
                <c:pt idx="0">
                  <c:v>0</c:v>
                </c:pt>
                <c:pt idx="1">
                  <c:v>3180</c:v>
                </c:pt>
                <c:pt idx="2">
                  <c:v>10170</c:v>
                </c:pt>
                <c:pt idx="3">
                  <c:v>18120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3F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3B1"/>
                </a:solidFill>
                <a:latin typeface="Arial"/>
              </a:defRPr>
            </a:pPr>
            <a:endParaRPr lang="en-US"/>
          </a:p>
        </c:txPr>
        <c:crossAx val="2094734554"/>
        <c:crosses val="autoZero"/>
        <c:crossBetween val="between"/>
      </c:valAx>
      <c:spPr>
        <a:solidFill>
          <a:srgbClr val="1A2840"/>
        </a:solidFill>
        <a:ln>
          <a:noFill/>
        </a:ln>
        <a:effectLst/>
      </c:spPr>
    </c:plotArea>
    <c:legend>
      <c:legendPos val="b"/>
      <c:overlay val="0"/>
      <c:txPr>
        <a:bodyPr/>
        <a:lstStyle/>
        <a:p>
          <a:pPr>
            <a:defRPr>
              <a:solidFill>
                <a:srgbClr val="FFFFFF"/>
              </a:solidFill>
            </a:defRPr>
          </a:pPr>
          <a:endParaRPr lang="en-US"/>
        </a:p>
      </c:txPr>
    </c:legend>
    <c:plotVisOnly val="1"/>
    <c:dispBlanksAs val="span"/>
  </c:chart>
  <c:spPr>
    <a:solidFill>
      <a:srgbClr val="1A284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slide1.xml><?xml version="1.0" encoding="utf-8"?>
<ns0:sld xmlns:a="http://schemas.openxmlformats.org/drawingml/2006/main" xmlns:ns0="http://schemas.openxmlformats.org/presentationml/2006/main">
  <ns0:cSld name="Slide 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1645920"/>
            <a:ext cx="9144000" cy="2011680"/>
          </a:xfrm>
          <a:prstGeom prst="rect">
            <a:avLst/>
          </a:prstGeom>
          <a:solidFill>
            <a:srgbClr val="1A2840"/>
          </a:solidFill>
          <a:ln w="12700">
            <a:solidFill>
              <a:srgbClr val="1A2840"/>
            </a:solidFill>
            <a:prstDash val="solid"/>
          </a:ln>
        </ns0:spPr>
      </ns0:sp>
      <ns0:sp>
        <ns0:nvSpPr>
          <ns0:cNvPr id="3" name="Shape 1"/>
          <ns0:cNvSpPr/>
          <ns0:nvPr/>
        </ns0:nvSpPr>
        <ns0:spPr>
          <a:xfrm>
            <a:off x="0" y="1645920"/>
            <a:ext cx="320040" cy="2011680"/>
          </a:xfrm>
          <a:prstGeom prst="rect">
            <a:avLst/>
          </a:prstGeom>
          <a:solidFill>
            <a:srgbClr val="F4A61D"/>
          </a:solidFill>
          <a:ln w="12700">
            <a:solidFill>
              <a:srgbClr val="F4A61D"/>
            </a:solidFill>
            <a:prstDash val="solid"/>
          </a:ln>
        </ns0:spPr>
      </ns0:sp>
      <ns0:sp>
        <ns0:nvSpPr>
          <ns0:cNvPr id="4" name="Text 2"/>
          <ns0:cNvSpPr/>
          <ns0:nvPr/>
        </ns0:nvSpPr>
        <ns0:spPr>
          <a:xfrm>
            <a:off x="548640" y="411480"/>
            <a:ext cx="8229600" cy="548640"/>
          </a:xfrm>
          <a:prstGeom prst="rect">
            <a:avLst/>
          </a:prstGeom>
          <a:noFill/>
          <a:ln/>
        </ns0:spPr>
        <ns0: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ns0:txBody>
      </ns0:sp>
      <ns0:sp>
        <ns0:nvSpPr>
          <ns0:cNvPr id="5" name="Text 3"/>
          <ns0:cNvSpPr/>
          <ns0:nvPr/>
        </ns0:nvSpPr>
        <ns0:spPr>
          <a:xfrm>
            <a:off x="548640" y="868680"/>
            <a:ext cx="8229600" cy="822960"/>
          </a:xfrm>
          <a:prstGeom prst="rect">
            <a:avLst/>
          </a:prstGeom>
          <a:noFill/>
          <a:ln/>
        </ns0:spPr>
        <ns0:txBody>
          <a:bodyPr wrap="square" lIns="0" tIns="0" rIns="0" bIns="0" rtlCol="0" anchor="ctr"/>
          <a:lstStyle/>
          <a:p>
            <a:pPr algn="l" indent="0" marL="0">
              <a:buNone/>
            </a:pPr>
            <a:r>
              <a:rPr lang="en-US" sz="1800" dirty="0">
                <a:solidFill>
                  <a:srgbClr val="8FA3B1"/>
                </a:solidFill>
                <a:latin typeface="Calibri" pitchFamily="34" charset="0"/>
                <a:ea typeface="Calibri" pitchFamily="34" charset="-122"/>
                <a:cs typeface="Calibri" pitchFamily="34" charset="-120"/>
              </a:rPr>
              <a:t>Programa de 7 Días para Representantes</a:t>
            </a:r>
            <a:endParaRPr lang="en-US" sz="1800" dirty="0"/>
          </a:p>
          <a:p>
            <a:pPr algn="l" indent="0" marL="0">
              <a:buNone/>
            </a:pPr>
            <a:r>
              <a:rPr lang="en-US" sz="1800" dirty="0">
                <a:solidFill>
                  <a:srgbClr val="8FA3B1"/>
                </a:solidFill>
                <a:latin typeface="Calibri" pitchFamily="34" charset="0"/>
                <a:ea typeface="Calibri" pitchFamily="34" charset="-122"/>
                <a:cs typeface="Calibri" pitchFamily="34" charset="-120"/>
              </a:rPr>
              <a:t>Programa de Certificación</a:t>
            </a:r>
            <a:endParaRPr lang="en-US" sz="1800" dirty="0"/>
          </a:p>
        </ns0:txBody>
      </ns0:sp>
      <ns0:sp>
        <ns0:nvSpPr>
          <ns0:cNvPr id="6" name="Text 4"/>
          <ns0:cNvSpPr/>
          <ns0:nvPr/>
        </ns0:nvSpPr>
        <ns0:spPr>
          <a:xfrm>
            <a:off x="548640" y="1737360"/>
            <a:ext cx="2743200" cy="640080"/>
          </a:xfrm>
          <a:prstGeom prst="rect">
            <a:avLst/>
          </a:prstGeom>
          <a:noFill/>
          <a:ln/>
        </ns0:spPr>
        <ns0: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DÍA 4</a:t>
            </a:r>
            <a:endParaRPr lang="en-US" sz="3800" dirty="0"/>
          </a:p>
        </ns0:txBody>
      </ns0:sp>
      <ns0:sp>
        <ns0:nvSpPr>
          <ns0:cNvPr id="7" name="Text 5"/>
          <ns0:cNvSpPr/>
          <ns0:nvPr/>
        </ns0:nvSpPr>
        <ns0:spPr>
          <a:xfrm>
            <a:off x="548640" y="2423160"/>
            <a:ext cx="8229600" cy="502920"/>
          </a:xfrm>
          <a:prstGeom prst="rect">
            <a:avLst/>
          </a:prstGeom>
          <a:noFill/>
          <a:ln/>
        </ns0:spPr>
        <ns0:txBody>
          <a:bodyPr wrap="square" lIns="0" tIns="0" rIns="0" bIns="0" rtlCol="0" anchor="ctr"/>
          <a:lstStyle/>
          <a:p>
            <a:pPr algn="l" indent="0" marL="0">
              <a:buNone/>
            </a:pPr>
            <a:r>
              <a:rPr lang="en-US" sz="2200" i="1" dirty="0">
                <a:solidFill>
                  <a:srgbClr val="F4A61D"/>
                </a:solidFill>
                <a:latin typeface="Calibri" pitchFamily="34" charset="0"/>
                <a:ea typeface="Calibri" pitchFamily="34" charset="-122"/>
                <a:cs typeface="Calibri" pitchFamily="34" charset="-120"/>
              </a:rPr>
              <a:t>La Presentación y El Cierre</a:t>
            </a:r>
            <a:endParaRPr lang="en-US" sz="2200" dirty="0"/>
          </a:p>
        </ns0:txBody>
      </ns0:sp>
      <ns0:sp>
        <ns0:nvSpPr>
          <ns0:cNvPr id="8" name="Text 6"/>
          <ns0:cNvSpPr/>
          <ns0:nvPr/>
        </ns0:nvSpPr>
        <ns0:spPr>
          <a:xfrm>
            <a:off x="548640" y="2971800"/>
            <a:ext cx="8229600" cy="365760"/>
          </a:xfrm>
          <a:prstGeom prst="rect">
            <a:avLst/>
          </a:prstGeom>
          <a:noFill/>
          <a:ln/>
        </ns0:spPr>
        <ns0: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Módulos 4.1 – 4.10  |  El Puente · Simplicidad Técnica · Rentar vs. Tener · Intercambio de Factura · COI · El Camino al Cierre</a:t>
            </a:r>
            <a:endParaRPr lang="en-US" sz="1000" dirty="0"/>
          </a:p>
        </ns0:txBody>
      </ns0:sp>
      <ns0:sp>
        <ns0:nvSpPr>
          <ns0:cNvPr id="9" name="Shape 7"/>
          <ns0:cNvSpPr/>
          <ns0:nvPr/>
        </ns0:nvSpPr>
        <ns0:spPr>
          <a:xfrm>
            <a:off x="0" y="4526280"/>
            <a:ext cx="9144000" cy="617220"/>
          </a:xfrm>
          <a:prstGeom prst="rect">
            <a:avLst/>
          </a:prstGeom>
          <a:solidFill>
            <a:srgbClr val="F4A61D"/>
          </a:solidFill>
          <a:ln w="12700">
            <a:solidFill>
              <a:srgbClr val="F4A61D"/>
            </a:solidFill>
            <a:prstDash val="solid"/>
          </a:ln>
        </ns0:spPr>
      </ns0:sp>
      <ns0:sp>
        <ns0:nvSpPr>
          <ns0:cNvPr id="10" name="Text 8"/>
          <ns0:cNvSpPr/>
          <ns0:nvPr/>
        </ns0:nvSpPr>
        <ns0:spPr>
          <a:xfrm>
            <a:off x="457200" y="4544568"/>
            <a:ext cx="8229600" cy="58064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Recapitula para Generar Confianza. Simplifica para Dar Claridad. Compara con Lógica. Cierra con la Firma.</a:t>
            </a:r>
            <a:endParaRPr lang="en-US" sz="1400" dirty="0"/>
          </a:p>
        </ns0:txBody>
      </ns0:sp>
    </ns0:spTree>
  </ns0:cSld>
  <ns0:clrMapOvr>
    <a:masterClrMapping/>
  </ns0:clrMapOvr>
</ns0:sld>
</file>

<file path=ppt/slides/slide2.xml><?xml version="1.0" encoding="utf-8"?>
<ns0:sld xmlns:a="http://schemas.openxmlformats.org/drawingml/2006/main" xmlns:ns0="http://schemas.openxmlformats.org/presentationml/2006/main">
  <ns0:cSld name="Slide 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4.1</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El Puente: Transición con 'El Resumen'</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Pivoting from Discovery to Proposal</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xml><?xml version="1.0" encoding="utf-8"?>
<ns0:sld xmlns:a="http://schemas.openxmlformats.org/drawingml/2006/main" xmlns:ns0="http://schemas.openxmlformats.org/presentationml/2006/main">
  <ns0:cSld name="Slide 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4.1 — EL PUENTE</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Los 2 Minutos Más Importantes de la Presentación</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skipping The Bridge turns you into a 'pitcher' not a consultant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secure the 'That's Right' before a single number appears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Recap Checklist: what to echo back and why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Setting the presentation agenda and earning permission to proceed</a:t>
            </a:r>
            <a:endParaRPr lang="en-US" sz="1400" dirty="0"/>
          </a:p>
        </ns0:txBody>
      </ns0:sp>
    </ns0:spTree>
  </ns0:cSld>
  <ns0:clrMapOvr>
    <a:masterClrMapping/>
  </ns0:clrMapOvr>
</ns0: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We 'Bridge': The Anti-Pitch-Slap</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'Pitch-Slap' is presenting before connecting the solution to the homeowner's specific pain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Bridge proves you listened — it's the difference between a consultant and a salesperson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lowers sales resistance by validating their frustration before offering a fix</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Reps who skip The Bridge close at roughly half the rate of reps who use it consistently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Day 3 was all about listening. Day 4 starts by proving it. The Bridge is the glue between what they told you and what you're about to show them.</a:t>
            </a:r>
            <a:endParaRPr lang="en-US" sz="900" dirty="0"/>
          </a:p>
        </p:txBody>
      </p:sp>
    </p:spTree>
  </p:cSld>
  <p:clrMapOvr>
    <a:masterClrMapping/>
  </p:clrMapOvr>
</p:sld>
</file>

<file path=ppt/slides/slide5.xml><?xml version="1.0" encoding="utf-8"?>
<ns0:sld xmlns:a="http://schemas.openxmlformats.org/drawingml/2006/main" xmlns:ns0="http://schemas.openxmlformats.org/presentationml/2006/main">
  <ns0:cSld name="Slide 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'That's Right' Moment</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Goal: get them to say 'That's right' — not 'You're right'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'You're right' = they want you to stop talking (social deflection)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'That's right' = deep alignment — they feel genuinely understood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Based on Chris Voss's labeling and mirroring research: felt understanding = lowest resistance state</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if I've got this right — you're paying around $280 a month, that went up twice last year, and your goal is to protect your retirement income from those increases. Is that right?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that's exactly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Based on that, here's what I put together specifically for your situation.</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Drill the difference with reps. 'You're right' is a brush-off. 'That's right' is a green light. The Recap is engineered to get the second phrase.</a:t>
            </a:r>
            <a:endParaRPr lang="en-US" sz="900" dirty="0"/>
          </a:p>
        </ns0:txBody>
      </ns0:sp>
    </ns0:spTree>
  </ns0:cSld>
  <ns0:clrMapOvr>
    <a:masterClrMapping/>
  </ns0:clrMapOvr>
</ns0: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Recap Checklist: 4 Things to Mirror Back</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1. Their current bill (the number) — 'You're paying around $X a month'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2. Their emotional pain — 'You mentioned feeling frustrated / worried / stuck'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3. Their future goal — 'Your main priority was protecting retirement / the kids' college fund / your budget'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4. Any technical constraints — 'You've got the older roof, shade on the west side' — acknowledge, don't hide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why taking notes in discovery matters. If you didn't write it down, you can't recap it. Use the homeowner's exact words — mirroring, not paraphrasing.</a:t>
            </a:r>
            <a:endParaRPr lang="en-US" sz="900" dirty="0"/>
          </a:p>
        </p:txBody>
      </p:sp>
    </p:spTree>
  </p:cSld>
  <p:clrMapOvr>
    <a:masterClrMapping/>
  </p:clrMapOvr>
</p:sld>
</file>

<file path=ppt/slides/slide7.xml><?xml version="1.0" encoding="utf-8"?>
<ns0:sld xmlns:a="http://schemas.openxmlformats.org/drawingml/2006/main" xmlns:ns0="http://schemas.openxmlformats.org/presentationml/2006/main">
  <ns0:cSld name="Slide 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Transition Script: 4 Phrases That Open the Door</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'Before we look at the numbers, let me make sure I've got this right...'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'Based on what you told me, here's what I designed for your home specifically...'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 put this together with your situation in mind, not a generic quote...'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'Does that cover everything before we dive in?'</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John, Mary — before I show you anything, let me make sure I've captured everything correctly. You're tired of the 10% hikes from [Utility], you want to protect your retirement budget, and you want to OWN your power rather than rent it forever. Is that right?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John: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right. That's exactly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Perfect. Everything I'm about to show you was built around those three things.</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These four phrases signal: 'I was paying attention.' That's worth more than any feature or spec. Use them in order — they create a rhythm that moves naturally into the proposal.</a:t>
            </a:r>
            <a:endParaRPr lang="en-US" sz="900" dirty="0"/>
          </a:p>
        </ns0:txBody>
      </ns0:sp>
    </ns0:spTree>
  </ns0:cSld>
  <ns0:clrMapOvr>
    <a:masterClrMapping/>
  </ns0:clrMapOvr>
</ns0: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Setting the Presentation Agenda</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Tell them what the next 20 minutes will look like — eliminate the mystery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'I'll show you the design, walk through the math, and explain exactly what happens after you decide'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Ask for permission: 'Does that sound like a fair way to spend the next 20 minutes?'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creates a psychological 'contract' — they've agreed to hear the full story before reacting</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Homeowners resist when they feel ambushed. The Agenda turns the presentation into a mutual agreement. They know the exit — so they stop looking for it and actually listen.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The Discovery-to-Proposal Funnel</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347472" y="960120"/>
            <a:ext cx="2718816" cy="292608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347472" y="960120"/>
            <a:ext cx="2718816" cy="384048"/>
          </a:xfrm>
          <a:prstGeom prst="rect">
            <a:avLst/>
          </a:prstGeom>
          <a:solidFill>
            <a:srgbClr val="0891B2"/>
          </a:solidFill>
          <a:ln w="12700">
            <a:solidFill>
              <a:srgbClr val="0891B2"/>
            </a:solidFill>
            <a:prstDash val="solid"/>
          </a:ln>
        </p:spPr>
      </p:sp>
      <p:sp>
        <p:nvSpPr>
          <p:cNvPr id="7" name="Text 5"/>
          <p:cNvSpPr/>
          <p:nvPr/>
        </p:nvSpPr>
        <p:spPr>
          <a:xfrm>
            <a:off x="365760" y="996696"/>
            <a:ext cx="2682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12 Questions</a:t>
            </a:r>
            <a:endParaRPr lang="en-US" sz="1200" dirty="0"/>
          </a:p>
        </p:txBody>
      </p:sp>
      <p:sp>
        <p:nvSpPr>
          <p:cNvPr id="8" name="Text 6"/>
          <p:cNvSpPr/>
          <p:nvPr/>
        </p:nvSpPr>
        <p:spPr>
          <a:xfrm>
            <a:off x="384048" y="1463040"/>
            <a:ext cx="2645664" cy="233172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Pain · Goals · Decisions · Red Flags</a:t>
            </a:r>
            <a:endParaRPr lang="en-US" sz="1100" dirty="0"/>
          </a:p>
        </p:txBody>
      </p:sp>
      <p:sp>
        <p:nvSpPr>
          <p:cNvPr id="9" name="Shape 7"/>
          <p:cNvSpPr/>
          <p:nvPr/>
        </p:nvSpPr>
        <p:spPr>
          <a:xfrm>
            <a:off x="3066288" y="2368296"/>
            <a:ext cx="146304" cy="109728"/>
          </a:xfrm>
          <a:prstGeom prst="rect">
            <a:avLst/>
          </a:prstGeom>
          <a:solidFill>
            <a:srgbClr val="F4A61D"/>
          </a:solidFill>
          <a:ln w="12700">
            <a:solidFill>
              <a:srgbClr val="F4A61D"/>
            </a:solidFill>
            <a:prstDash val="solid"/>
          </a:ln>
        </p:spPr>
      </p:sp>
      <p:sp>
        <p:nvSpPr>
          <p:cNvPr id="10" name="Shape 8"/>
          <p:cNvSpPr/>
          <p:nvPr/>
        </p:nvSpPr>
        <p:spPr>
          <a:xfrm>
            <a:off x="3212592" y="1033272"/>
            <a:ext cx="2718816" cy="27889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11" name="Shape 9"/>
          <p:cNvSpPr/>
          <p:nvPr/>
        </p:nvSpPr>
        <p:spPr>
          <a:xfrm>
            <a:off x="3212592" y="1033272"/>
            <a:ext cx="2718816" cy="384048"/>
          </a:xfrm>
          <a:prstGeom prst="rect">
            <a:avLst/>
          </a:prstGeom>
          <a:solidFill>
            <a:srgbClr val="F4A61D"/>
          </a:solidFill>
          <a:ln w="12700">
            <a:solidFill>
              <a:srgbClr val="F4A61D"/>
            </a:solidFill>
            <a:prstDash val="solid"/>
          </a:ln>
        </p:spPr>
      </p:sp>
      <p:sp>
        <p:nvSpPr>
          <p:cNvPr id="12" name="Text 10"/>
          <p:cNvSpPr/>
          <p:nvPr/>
        </p:nvSpPr>
        <p:spPr>
          <a:xfrm>
            <a:off x="3230880" y="1069848"/>
            <a:ext cx="2682240" cy="310896"/>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The Recap</a:t>
            </a:r>
            <a:endParaRPr lang="en-US" sz="1200" dirty="0"/>
          </a:p>
        </p:txBody>
      </p:sp>
      <p:sp>
        <p:nvSpPr>
          <p:cNvPr id="13" name="Text 11"/>
          <p:cNvSpPr/>
          <p:nvPr/>
        </p:nvSpPr>
        <p:spPr>
          <a:xfrm>
            <a:off x="3249168" y="1536192"/>
            <a:ext cx="2645664" cy="219456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Mirror it back. Earn the 'That's right.'</a:t>
            </a:r>
            <a:endParaRPr lang="en-US" sz="1100" dirty="0"/>
          </a:p>
        </p:txBody>
      </p:sp>
      <p:sp>
        <p:nvSpPr>
          <p:cNvPr id="14" name="Shape 12"/>
          <p:cNvSpPr/>
          <p:nvPr/>
        </p:nvSpPr>
        <p:spPr>
          <a:xfrm>
            <a:off x="5931408" y="2372868"/>
            <a:ext cx="146304" cy="109728"/>
          </a:xfrm>
          <a:prstGeom prst="rect">
            <a:avLst/>
          </a:prstGeom>
          <a:solidFill>
            <a:srgbClr val="F4A61D"/>
          </a:solidFill>
          <a:ln w="12700">
            <a:solidFill>
              <a:srgbClr val="F4A61D"/>
            </a:solidFill>
            <a:prstDash val="solid"/>
          </a:ln>
        </p:spPr>
      </p:sp>
      <p:sp>
        <p:nvSpPr>
          <p:cNvPr id="15" name="Shape 13"/>
          <p:cNvSpPr/>
          <p:nvPr/>
        </p:nvSpPr>
        <p:spPr>
          <a:xfrm>
            <a:off x="6077712" y="1106424"/>
            <a:ext cx="2718816" cy="265176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6" name="Shape 14"/>
          <p:cNvSpPr/>
          <p:nvPr/>
        </p:nvSpPr>
        <p:spPr>
          <a:xfrm>
            <a:off x="6077712" y="1106424"/>
            <a:ext cx="2718816" cy="384048"/>
          </a:xfrm>
          <a:prstGeom prst="rect">
            <a:avLst/>
          </a:prstGeom>
          <a:solidFill>
            <a:srgbClr val="2D9B4E"/>
          </a:solidFill>
          <a:ln w="12700">
            <a:solidFill>
              <a:srgbClr val="2D9B4E"/>
            </a:solidFill>
            <a:prstDash val="solid"/>
          </a:ln>
        </p:spPr>
      </p:sp>
      <p:sp>
        <p:nvSpPr>
          <p:cNvPr id="17" name="Text 15"/>
          <p:cNvSpPr/>
          <p:nvPr/>
        </p:nvSpPr>
        <p:spPr>
          <a:xfrm>
            <a:off x="6096000" y="1143000"/>
            <a:ext cx="268224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The Solution</a:t>
            </a:r>
            <a:endParaRPr lang="en-US" sz="1200" dirty="0"/>
          </a:p>
        </p:txBody>
      </p:sp>
      <p:sp>
        <p:nvSpPr>
          <p:cNvPr id="18" name="Text 16"/>
          <p:cNvSpPr/>
          <p:nvPr/>
        </p:nvSpPr>
        <p:spPr>
          <a:xfrm>
            <a:off x="6114288" y="1609344"/>
            <a:ext cx="2645664" cy="205740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Custom design built for their exact situation</a:t>
            </a:r>
            <a:endParaRPr lang="en-US" sz="1100" dirty="0"/>
          </a:p>
        </p:txBody>
      </p:sp>
      <p:sp>
        <p:nvSpPr>
          <p:cNvPr id="19" name="Shape 17"/>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0" name="Text 18"/>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proposal is just the filtered output of discovery. Show reps that they've already done the hard work — the presentation is just revealing what the homeowner already asked for.</a:t>
            </a:r>
            <a:endParaRPr lang="en-US" sz="900" dirty="0"/>
          </a:p>
        </p:txBody>
      </p:sp>
    </p:spTree>
  </p:cSld>
  <p:clrMapOvr>
    <a:masterClrMapping/>
  </p:clrMapOvr>
</p:sld>
</file>

<file path=ppt/slides/slide10.xml><?xml version="1.0" encoding="utf-8"?>
<ns0:sld xmlns:a="http://schemas.openxmlformats.org/drawingml/2006/main" xmlns:ns0="http://schemas.openxmlformats.org/presentationml/2006/main">
  <ns0:cSld name="Slide 1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Errores Comunes del Puente a Evitar</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402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Abrir el iPad antes del Resumen — pareces otro representante de ventas que no escucha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Resumir con TUS palabras, no las de ELLOS — se siente como un resumen, no como un espejo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Saltarse la agenda — los propietarios que no saben qué viene se mantienen a la defensiva todo el tiempo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Avanzar antes de obtener el 'Exactamente' — una respuesta neutral no es luz verde</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Repasa cada error con un ejemplo real de cómo se descarrila la consulta. Deja que los representantes reconozcan errores que ya han cometido en el campo.</a:t>
            </a:r>
            <a:endParaRPr lang="en-US" sz="900" dirty="0"/>
          </a:p>
        </ns0:txBody>
      </ns0:sp>
    </ns0:spTree>
  </ns0:cSld>
  <ns0:clrMapOvr>
    <a:masterClrMapping/>
  </ns0:clrMapOvr>
</ns0:sld>
</file>

<file path=ppt/slides/slide11.xml><?xml version="1.0" encoding="utf-8"?>
<ns0:sld xmlns:a="http://schemas.openxmlformats.org/drawingml/2006/main" xmlns:ns0="http://schemas.openxmlformats.org/presentationml/2006/main">
  <ns0:cSld name="Slide 1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Actividad: El Reto del Resumen</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OBJETIVO: Entregar un Puente de 90 segundos usando las notas del Hogar García — ganar un 'Exactamente'</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Trabaja en parejas — un representante juega al Hogar García (consulta las notas del escenario del Día 3)</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El representante de ventas entrega el Resumen completo usando los 4 elementos de la lista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El 'propietario' evalúa: ¿Usaron MIS palabras? ¿Me sentí escuchado?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Solo un genuino 'Exactamente' cuenta — 'Sí, claro' o 'Mm-hmm' no pasa</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Debriefing: ¿Qué palabra o frase desencadenó el momento 'Exactamente'?</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12.xml><?xml version="1.0" encoding="utf-8"?>
<ns0:sld xmlns:a="http://schemas.openxmlformats.org/drawingml/2006/main" xmlns:ns0="http://schemas.openxmlformats.org/presentationml/2006/main">
  <ns0:cSld name="Slide 1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4.2</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Simplicidad Técnica: La Prueba de la Abuela</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Explicando el Hardware Solar Sin Perder la Audiencia</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13.xml><?xml version="1.0" encoding="utf-8"?>
<ns0:sld xmlns:a="http://schemas.openxmlformats.org/drawingml/2006/main" xmlns:ns0="http://schemas.openxmlformats.org/presentationml/2006/main">
  <ns0:cSld name="Slide 1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4.2 — SIMPLICIDAD TÉCNICA</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Pasar la Prueba de la Abuela</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Por qué la jerga técnica mata la confianza y aumenta la resistencia a las ventas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Las Tres Analogías Principales que todo representante debe memorizar</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Cómo explicar producción, garantías y medición neta en lenguaje sencillo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Vender resultados y beneficios — no especificaciones y características</a:t>
            </a:r>
            <a:endParaRPr lang="en-US" sz="1400" dirty="0"/>
          </a:p>
        </ns0:txBody>
      </ns0:sp>
    </ns0:spTree>
  </ns0:cSld>
  <ns0:clrMapOvr>
    <a:masterClrMapping/>
  </ns0:clrMapOvr>
</ns0:sld>
</file>

<file path=ppt/slides/slide14.xml><?xml version="1.0" encoding="utf-8"?>
<ns0:sld xmlns:a="http://schemas.openxmlformats.org/drawingml/2006/main" xmlns:ns0="http://schemas.openxmlformats.org/presentationml/2006/main">
  <ns0:cSld name="Slide 1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 Prueba de la Abuela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402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Regla: Si un niño de 10 años o tu abuela no lo entendería, no lo digas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Cada término técnico que el propietario no conoce aumenta su 'Carga Cognitiva' y su resistencia a las ventas simultáneamente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simplicidad señala confianza — los expertos explican las cosas de forma sencilla, los novatos se esconden detrás de la jerga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Prueba cada oración: '¿Tendría sentido esto para alguien que nunca ha oído hablar del solar?'</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Pide a los representantes que se expliquen la medición neta entre sí — primero en lenguaje técnico, luego usando solo la analogía de una cuenta bancaria. La diferencia en la cara del oyente lo dice todo.</a:t>
            </a:r>
            <a:endParaRPr lang="en-US" sz="900" dirty="0"/>
          </a:p>
        </ns0:txBody>
      </ns0:sp>
    </ns0:spTree>
  </ns0:cSld>
  <ns0:clrMapOvr>
    <a:masterClrMapping/>
  </ns0:clrMapOvr>
</ns0:sld>
</file>

<file path=ppt/slides/slide15.xml><?xml version="1.0" encoding="utf-8"?>
<ns0:sld xmlns:a="http://schemas.openxmlformats.org/drawingml/2006/main" xmlns:ns0="http://schemas.openxmlformats.org/presentationml/2006/main">
  <ns0:cSld name="Slide 1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Las Tres Principales: 3 Analogías para Memorizar</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402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Los Paneles = 'El Motor' — captura el sol y lo convierte en electricidad utilizable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El Inversor = 'El Cerebro' — traduce la energía bruta de los paneles en lo que tu hogar realmente usa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La Estructura = 'Los Huesos' — el sistema de montaje que mantiene todo seguro en el techo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Estas tres analogías hacen que el sistema se sienta VIVO — los propietarios recuerdan 'motor, cerebro, huesos' para siempre</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Estas tres palabras — motor, cerebro, huesos — forman una historia memorable. Cuando los propietarios pueden visualizar el sistema como algo vivo, su ansiedad sobre la tecnología baja de inmediato.</a:t>
            </a:r>
            <a:endParaRPr lang="en-US" sz="900" dirty="0"/>
          </a:p>
        </ns0:txBody>
      </ns0:sp>
    </ns0:spTree>
  </ns0:cSld>
  <ns0:clrMapOvr>
    <a:masterClrMapping/>
  </ns0:clrMapOvr>
</ns0:sld>
</file>

<file path=ppt/slides/slide16.xml><?xml version="1.0" encoding="utf-8"?>
<ns0:sld xmlns:a="http://schemas.openxmlformats.org/drawingml/2006/main" xmlns:ns0="http://schemas.openxmlformats.org/presentationml/2006/main">
  <ns0:cSld name="Slide 1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Explicando la Producción: La Analogía del Tanque de Gas</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kWh = Galones de Gas (la unidad de energía que usa tu casa)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 Sol = La Gasolinera (alimenta tu sistema todos los días — de forma gratuita)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Casa = El Carro (consume el combustible para hacer funcionar todo adentro)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 Empresa Eléctrica = La Compañía de Gas (actualmente te cobra por cada galón — el solar elimina esa factura)</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Piensa en tu casa como un carro que necesita combustible para funcionar. Ahora mismo, [Empresa Eléctrica] es la gasolinera y te cobra por cada galón. El solar simplemente pone una gasolinera en tu techo — así que el combustible es gratuito, todos los días, por 25+ años.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Bien, eso tiene sentido.</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Esta analogía hace que el kWh sea concreto y comprensible. Nunca digas 'kilovatio-hora' sin el seguimiento del tanque de gas. La gente entiende los precios del gas — usa esa memoria emocional.</a:t>
            </a:r>
            <a:endParaRPr lang="en-US" sz="900" dirty="0"/>
          </a:p>
        </ns0:txBody>
      </ns0:sp>
    </ns0:spTree>
  </ns0:cSld>
  <ns0:clrMapOvr>
    <a:masterClrMapping/>
  </ns0:clrMapOvr>
</ns0:sld>
</file>

<file path=ppt/slides/slide17.xml><?xml version="1.0" encoding="utf-8"?>
<ns0:sld xmlns:a="http://schemas.openxmlformats.org/drawingml/2006/main" xmlns:ns0="http://schemas.openxmlformats.org/presentationml/2006/main">
  <ns0:cSld name="Slide 1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64592"/>
            <a:ext cx="8503920" cy="54864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Características vs. Beneficios: Siempre Lidera con el '¿Y Qué?'</a:t>
            </a:r>
            <a:endParaRPr lang="en-US" sz="2200" dirty="0"/>
          </a:p>
        </ns0:txBody>
      </ns0:sp>
      <ns0:sp>
        <ns0:nvSpPr>
          <ns0:cNvPr id="4" name="Shape 2"/>
          <ns0:cNvSpPr/>
          <ns0:nvPr/>
        </ns0:nvSpPr>
        <ns0:spPr>
          <a:xfrm>
            <a:off x="274320" y="731520"/>
            <a:ext cx="8503920" cy="27432"/>
          </a:xfrm>
          <a:prstGeom prst="rect">
            <a:avLst/>
          </a:prstGeom>
          <a:solidFill>
            <a:srgbClr val="F4A61D">
              <a:alpha val="40000"/>
            </a:srgbClr>
          </a:solidFill>
          <a:ln w="12700">
            <a:solidFill>
              <a:srgbClr val="F4A61D">
                <a:alpha val="40000"/>
              </a:srgbClr>
            </a:solidFill>
            <a:prstDash val="solid"/>
          </a:ln>
        </ns0:spPr>
      </ns0:sp>
      <ns0:sp>
        <ns0:nvSpPr>
          <ns0:cNvPr id="5" name="Shape 3"/>
          <ns0:cNvSpPr/>
          <ns0:nvPr/>
        </ns0:nvSpPr>
        <ns0:spPr>
          <a:xfrm>
            <a:off x="274320" y="868680"/>
            <a:ext cx="4160520" cy="365760"/>
          </a:xfrm>
          <a:prstGeom prst="rect">
            <a:avLst/>
          </a:prstGeom>
          <a:solidFill>
            <a:srgbClr val="0891B2"/>
          </a:solidFill>
          <a:ln w="12700">
            <a:solidFill>
              <a:srgbClr val="0891B2"/>
            </a:solidFill>
            <a:prstDash val="solid"/>
          </a:ln>
        </ns0:spPr>
      </ns0:sp>
      <ns0:sp>
        <ns0:nvSpPr>
          <ns0:cNvPr id="6" name="Shape 4"/>
          <ns0:cNvSpPr/>
          <ns0:nvPr/>
        </ns0:nvSpPr>
        <ns0:spPr>
          <a:xfrm>
            <a:off x="4572000" y="868680"/>
            <a:ext cx="4206240" cy="365760"/>
          </a:xfrm>
          <a:prstGeom prst="rect">
            <a:avLst/>
          </a:prstGeom>
          <a:solidFill>
            <a:srgbClr val="F4A61D"/>
          </a:solidFill>
          <a:ln w="12700">
            <a:solidFill>
              <a:srgbClr val="F4A61D"/>
            </a:solidFill>
            <a:prstDash val="solid"/>
          </a:ln>
        </ns0:spPr>
      </ns0:sp>
      <ns0:sp>
        <ns0:nvSpPr>
          <ns0:cNvPr id="7" name="Text 5"/>
          <ns0:cNvSpPr/>
          <ns0:nvPr/>
        </ns0:nvSpPr>
        <ns0:spPr>
          <a:xfrm>
            <a:off x="320040" y="886968"/>
            <a:ext cx="4069080" cy="329184"/>
          </a:xfrm>
          <a:prstGeom prst="rect">
            <a:avLst/>
          </a:prstGeom>
          <a:noFill/>
          <a:ln/>
        </ns0:spPr>
        <ns0: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CARACTERÍSTICA / ESPECIFICACIÓN</a:t>
            </a:r>
            <a:endParaRPr lang="en-US" sz="1200" dirty="0"/>
          </a:p>
        </ns0:txBody>
      </ns0:sp>
      <ns0:sp>
        <ns0:nvSpPr>
          <ns0:cNvPr id="8" name="Text 6"/>
          <ns0:cNvSpPr/>
          <ns0:nvPr/>
        </ns0:nvSpPr>
        <ns0:spPr>
          <a:xfrm>
            <a:off x="4617720" y="886968"/>
            <a:ext cx="4114800" cy="329184"/>
          </a:xfrm>
          <a:prstGeom prst="rect">
            <a:avLst/>
          </a:prstGeom>
          <a:noFill/>
          <a:ln/>
        </ns0:spPr>
        <ns0: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LO QUE SIGNIFICA PARA TI</a:t>
            </a:r>
            <a:endParaRPr lang="en-US" sz="1200" dirty="0"/>
          </a:p>
        </ns0:txBody>
      </ns0:sp>
      <ns0:sp>
        <ns0:nvSpPr>
          <ns0:cNvPr id="9" name="Shape 7"/>
          <ns0:cNvSpPr/>
          <ns0:nvPr/>
        </ns0:nvSpPr>
        <ns0:spPr>
          <a:xfrm>
            <a:off x="274320" y="1325880"/>
            <a:ext cx="4160520" cy="566928"/>
          </a:xfrm>
          <a:prstGeom prst="rect">
            <a:avLst/>
          </a:prstGeom>
          <a:solidFill>
            <a:srgbClr val="1A2840"/>
          </a:solidFill>
          <a:ln w="6350">
            <a:solidFill>
              <a:srgbClr val="4A5568"/>
            </a:solidFill>
            <a:prstDash val="solid"/>
          </a:ln>
        </ns0:spPr>
      </ns0:sp>
      <ns0:sp>
        <ns0:nvSpPr>
          <ns0:cNvPr id="10" name="Shape 8"/>
          <ns0:cNvSpPr/>
          <ns0:nvPr/>
        </ns0:nvSpPr>
        <ns0:spPr>
          <a:xfrm>
            <a:off x="4572000" y="1325880"/>
            <a:ext cx="4206240" cy="566928"/>
          </a:xfrm>
          <a:prstGeom prst="rect">
            <a:avLst/>
          </a:prstGeom>
          <a:solidFill>
            <a:srgbClr val="1A2840"/>
          </a:solidFill>
          <a:ln w="6350">
            <a:solidFill>
              <a:srgbClr val="4A5568"/>
            </a:solidFill>
            <a:prstDash val="solid"/>
          </a:ln>
        </ns0:spPr>
      </ns0:sp>
      <ns0:sp>
        <ns0:nvSpPr>
          <ns0:cNvPr id="11" name="Text 9"/>
          <ns0:cNvSpPr/>
          <ns0:nvPr/>
        </ns0:nvSpPr>
        <ns0:spPr>
          <a:xfrm>
            <a:off x="365760" y="1371600"/>
            <a:ext cx="3977640" cy="475488"/>
          </a:xfrm>
          <a:prstGeom prst="rect">
            <a:avLst/>
          </a:prstGeom>
          <a:noFill/>
          <a:ln/>
        </ns0:spPr>
        <ns0: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Celdas Monocristalinas Tipo N</a:t>
            </a:r>
            <a:endParaRPr lang="en-US" sz="1200" dirty="0"/>
          </a:p>
        </ns0:txBody>
      </ns0:sp>
      <ns0:sp>
        <ns0:nvSpPr>
          <ns0:cNvPr id="12" name="Text 10"/>
          <ns0:cNvSpPr/>
          <ns0:nvPr/>
        </ns0:nvSpPr>
        <ns0:spPr>
          <a:xfrm>
            <a:off x="4663440" y="1371600"/>
            <a:ext cx="4023360" cy="475488"/>
          </a:xfrm>
          <a:prstGeom prst="rect">
            <a:avLst/>
          </a:prstGeom>
          <a:noFill/>
          <a:ln/>
        </ns0:spPr>
        <ns0: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Más energía con menos espacio en el techo — perfecto para tu distribución</a:t>
            </a:r>
            <a:endParaRPr lang="en-US" sz="1200" dirty="0"/>
          </a:p>
        </ns0:txBody>
      </ns0:sp>
      <ns0:sp>
        <ns0:nvSpPr>
          <ns0:cNvPr id="13" name="Shape 11"/>
          <ns0:cNvSpPr/>
          <ns0:nvPr/>
        </ns0:nvSpPr>
        <ns0:spPr>
          <a:xfrm>
            <a:off x="274320" y="1984248"/>
            <a:ext cx="4160520" cy="566928"/>
          </a:xfrm>
          <a:prstGeom prst="rect">
            <a:avLst/>
          </a:prstGeom>
          <a:solidFill>
            <a:srgbClr val="0D1B2A"/>
          </a:solidFill>
          <a:ln w="6350">
            <a:solidFill>
              <a:srgbClr val="4A5568"/>
            </a:solidFill>
            <a:prstDash val="solid"/>
          </a:ln>
        </ns0:spPr>
      </ns0:sp>
      <ns0:sp>
        <ns0:nvSpPr>
          <ns0:cNvPr id="14" name="Shape 12"/>
          <ns0:cNvSpPr/>
          <ns0:nvPr/>
        </ns0:nvSpPr>
        <ns0:spPr>
          <a:xfrm>
            <a:off x="4572000" y="1984248"/>
            <a:ext cx="4206240" cy="566928"/>
          </a:xfrm>
          <a:prstGeom prst="rect">
            <a:avLst/>
          </a:prstGeom>
          <a:solidFill>
            <a:srgbClr val="0D1B2A"/>
          </a:solidFill>
          <a:ln w="6350">
            <a:solidFill>
              <a:srgbClr val="4A5568"/>
            </a:solidFill>
            <a:prstDash val="solid"/>
          </a:ln>
        </ns0:spPr>
      </ns0:sp>
      <ns0:sp>
        <ns0:nvSpPr>
          <ns0:cNvPr id="15" name="Text 13"/>
          <ns0:cNvSpPr/>
          <ns0:nvPr/>
        </ns0:nvSpPr>
        <ns0:spPr>
          <a:xfrm>
            <a:off x="365760" y="2029968"/>
            <a:ext cx="3977640" cy="475488"/>
          </a:xfrm>
          <a:prstGeom prst="rect">
            <a:avLst/>
          </a:prstGeom>
          <a:noFill/>
          <a:ln/>
        </ns0:spPr>
        <ns0: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Cumplimiento de Apagado Rápido</a:t>
            </a:r>
            <a:endParaRPr lang="en-US" sz="1200" dirty="0"/>
          </a:p>
        </ns0:txBody>
      </ns0:sp>
      <ns0:sp>
        <ns0:nvSpPr>
          <ns0:cNvPr id="16" name="Text 14"/>
          <ns0:cNvSpPr/>
          <ns0:nvPr/>
        </ns0:nvSpPr>
        <ns0:spPr>
          <a:xfrm>
            <a:off x="4663440" y="2029968"/>
            <a:ext cx="4023360" cy="475488"/>
          </a:xfrm>
          <a:prstGeom prst="rect">
            <a:avLst/>
          </a:prstGeom>
          <a:noFill/>
          <a:ln/>
        </ns0:spPr>
        <ns0: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Tu familia está más segura en una emergencia — los bomberos pueden apagar el sistema al instante</a:t>
            </a:r>
            <a:endParaRPr lang="en-US" sz="1200" dirty="0"/>
          </a:p>
        </ns0:txBody>
      </ns0:sp>
      <ns0:sp>
        <ns0:nvSpPr>
          <ns0:cNvPr id="17" name="Shape 15"/>
          <ns0:cNvSpPr/>
          <ns0:nvPr/>
        </ns0:nvSpPr>
        <ns0:spPr>
          <a:xfrm>
            <a:off x="274320" y="2642616"/>
            <a:ext cx="4160520" cy="566928"/>
          </a:xfrm>
          <a:prstGeom prst="rect">
            <a:avLst/>
          </a:prstGeom>
          <a:solidFill>
            <a:srgbClr val="1A2840"/>
          </a:solidFill>
          <a:ln w="6350">
            <a:solidFill>
              <a:srgbClr val="4A5568"/>
            </a:solidFill>
            <a:prstDash val="solid"/>
          </a:ln>
        </ns0:spPr>
      </ns0:sp>
      <ns0:sp>
        <ns0:nvSpPr>
          <ns0:cNvPr id="18" name="Shape 16"/>
          <ns0:cNvSpPr/>
          <ns0:nvPr/>
        </ns0:nvSpPr>
        <ns0:spPr>
          <a:xfrm>
            <a:off x="4572000" y="2642616"/>
            <a:ext cx="4206240" cy="566928"/>
          </a:xfrm>
          <a:prstGeom prst="rect">
            <a:avLst/>
          </a:prstGeom>
          <a:solidFill>
            <a:srgbClr val="1A2840"/>
          </a:solidFill>
          <a:ln w="6350">
            <a:solidFill>
              <a:srgbClr val="4A5568"/>
            </a:solidFill>
            <a:prstDash val="solid"/>
          </a:ln>
        </ns0:spPr>
      </ns0:sp>
      <ns0:sp>
        <ns0:nvSpPr>
          <ns0:cNvPr id="19" name="Text 17"/>
          <ns0:cNvSpPr/>
          <ns0:nvPr/>
        </ns0:nvSpPr>
        <ns0:spPr>
          <a:xfrm>
            <a:off x="365760" y="2688336"/>
            <a:ext cx="3977640" cy="475488"/>
          </a:xfrm>
          <a:prstGeom prst="rect">
            <a:avLst/>
          </a:prstGeom>
          <a:noFill/>
          <a:ln/>
        </ns0:spPr>
        <ns0: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Garantía de Rendimiento de 25 Años</a:t>
            </a:r>
            <a:endParaRPr lang="en-US" sz="1200" dirty="0"/>
          </a:p>
        </ns0:txBody>
      </ns0:sp>
      <ns0:sp>
        <ns0:nvSpPr>
          <ns0:cNvPr id="20" name="Text 18"/>
          <ns0:cNvSpPr/>
          <ns0:nvPr/>
        </ns0:nvSpPr>
        <ns0:spPr>
          <a:xfrm>
            <a:off x="4663440" y="2688336"/>
            <a:ext cx="4023360" cy="475488"/>
          </a:xfrm>
          <a:prstGeom prst="rect">
            <a:avLst/>
          </a:prstGeom>
          <a:noFill/>
          <a:ln/>
        </ns0:spPr>
        <ns0: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Protección fija para tu inversión — la empresa respalda los números</a:t>
            </a:r>
            <a:endParaRPr lang="en-US" sz="1200" dirty="0"/>
          </a:p>
        </ns0:txBody>
      </ns0:sp>
      <ns0:sp>
        <ns0:nvSpPr>
          <ns0:cNvPr id="21" name="Shape 19"/>
          <ns0:cNvSpPr/>
          <ns0:nvPr/>
        </ns0:nvSpPr>
        <ns0:spPr>
          <a:xfrm>
            <a:off x="274320" y="3300984"/>
            <a:ext cx="4160520" cy="566928"/>
          </a:xfrm>
          <a:prstGeom prst="rect">
            <a:avLst/>
          </a:prstGeom>
          <a:solidFill>
            <a:srgbClr val="0D1B2A"/>
          </a:solidFill>
          <a:ln w="6350">
            <a:solidFill>
              <a:srgbClr val="4A5568"/>
            </a:solidFill>
            <a:prstDash val="solid"/>
          </a:ln>
        </ns0:spPr>
      </ns0:sp>
      <ns0:sp>
        <ns0:nvSpPr>
          <ns0:cNvPr id="22" name="Shape 20"/>
          <ns0:cNvSpPr/>
          <ns0:nvPr/>
        </ns0:nvSpPr>
        <ns0:spPr>
          <a:xfrm>
            <a:off x="4572000" y="3300984"/>
            <a:ext cx="4206240" cy="566928"/>
          </a:xfrm>
          <a:prstGeom prst="rect">
            <a:avLst/>
          </a:prstGeom>
          <a:solidFill>
            <a:srgbClr val="0D1B2A"/>
          </a:solidFill>
          <a:ln w="6350">
            <a:solidFill>
              <a:srgbClr val="4A5568"/>
            </a:solidFill>
            <a:prstDash val="solid"/>
          </a:ln>
        </ns0:spPr>
      </ns0:sp>
      <ns0:sp>
        <ns0:nvSpPr>
          <ns0:cNvPr id="23" name="Text 21"/>
          <ns0:cNvSpPr/>
          <ns0:nvPr/>
        </ns0:nvSpPr>
        <ns0:spPr>
          <a:xfrm>
            <a:off x="365760" y="3346704"/>
            <a:ext cx="3977640" cy="475488"/>
          </a:xfrm>
          <a:prstGeom prst="rect">
            <a:avLst/>
          </a:prstGeom>
          <a:noFill/>
          <a:ln/>
        </ns0:spPr>
        <ns0: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Arquitectura de Microinversores</a:t>
            </a:r>
            <a:endParaRPr lang="en-US" sz="1200" dirty="0"/>
          </a:p>
        </ns0:txBody>
      </ns0:sp>
      <ns0:sp>
        <ns0:nvSpPr>
          <ns0:cNvPr id="24" name="Text 22"/>
          <ns0:cNvSpPr/>
          <ns0:nvPr/>
        </ns0:nvSpPr>
        <ns0:spPr>
          <a:xfrm>
            <a:off x="4663440" y="3346704"/>
            <a:ext cx="4023360" cy="475488"/>
          </a:xfrm>
          <a:prstGeom prst="rect">
            <a:avLst/>
          </a:prstGeom>
          <a:noFill/>
          <a:ln/>
        </ns0:spPr>
        <ns0: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Un panel sombreado no dañará el resto — tu sistema sigue produciendo</a:t>
            </a:r>
            <a:endParaRPr lang="en-US" sz="1200" dirty="0"/>
          </a:p>
        </ns0:txBody>
      </ns0:sp>
      <ns0:sp>
        <ns0:nvSpPr>
          <ns0:cNvPr id="25" name="Shape 23"/>
          <ns0:cNvSpPr/>
          <ns0:nvPr/>
        </ns0:nvSpPr>
        <ns0:spPr>
          <a:xfrm>
            <a:off x="274320" y="3959352"/>
            <a:ext cx="4160520" cy="566928"/>
          </a:xfrm>
          <a:prstGeom prst="rect">
            <a:avLst/>
          </a:prstGeom>
          <a:solidFill>
            <a:srgbClr val="1A2840"/>
          </a:solidFill>
          <a:ln w="6350">
            <a:solidFill>
              <a:srgbClr val="4A5568"/>
            </a:solidFill>
            <a:prstDash val="solid"/>
          </a:ln>
        </ns0:spPr>
      </ns0:sp>
      <ns0:sp>
        <ns0:nvSpPr>
          <ns0:cNvPr id="26" name="Shape 24"/>
          <ns0:cNvSpPr/>
          <ns0:nvPr/>
        </ns0:nvSpPr>
        <ns0:spPr>
          <a:xfrm>
            <a:off x="4572000" y="3959352"/>
            <a:ext cx="4206240" cy="566928"/>
          </a:xfrm>
          <a:prstGeom prst="rect">
            <a:avLst/>
          </a:prstGeom>
          <a:solidFill>
            <a:srgbClr val="1A2840"/>
          </a:solidFill>
          <a:ln w="6350">
            <a:solidFill>
              <a:srgbClr val="4A5568"/>
            </a:solidFill>
            <a:prstDash val="solid"/>
          </a:ln>
        </ns0:spPr>
      </ns0:sp>
      <ns0:sp>
        <ns0:nvSpPr>
          <ns0:cNvPr id="27" name="Text 25"/>
          <ns0:cNvSpPr/>
          <ns0:nvPr/>
        </ns0:nvSpPr>
        <ns0:spPr>
          <a:xfrm>
            <a:off x="365760" y="4005072"/>
            <a:ext cx="3977640" cy="475488"/>
          </a:xfrm>
          <a:prstGeom prst="rect">
            <a:avLst/>
          </a:prstGeom>
          <a:noFill/>
          <a:ln/>
        </ns0:spPr>
        <ns0:txBody>
          <a:bodyPr wrap="square" lIns="0" tIns="0" rIns="0" bIns="0" rtlCol="0" anchor="ctr"/>
          <a:lstStyle/>
          <a:p>
            <a:pPr algn="l" indent="0" marL="0">
              <a:buNone/>
            </a:pPr>
            <a:r>
              <a:rPr lang="en-US" sz="1200" dirty="0">
                <a:solidFill>
                  <a:srgbClr val="8FA3B1"/>
                </a:solidFill>
                <a:latin typeface="Calibri" pitchFamily="34" charset="0"/>
                <a:ea typeface="Calibri" pitchFamily="34" charset="-122"/>
                <a:cs typeface="Calibri" pitchFamily="34" charset="-120"/>
              </a:rPr>
              <a:t>Inversor de Cadena + Optimizador</a:t>
            </a:r>
            <a:endParaRPr lang="en-US" sz="1200" dirty="0"/>
          </a:p>
        </ns0:txBody>
      </ns0:sp>
      <ns0:sp>
        <ns0:nvSpPr>
          <ns0:cNvPr id="28" name="Text 26"/>
          <ns0:cNvSpPr/>
          <ns0:nvPr/>
        </ns0:nvSpPr>
        <ns0:spPr>
          <a:xfrm>
            <a:off x="4663440" y="4005072"/>
            <a:ext cx="4023360" cy="475488"/>
          </a:xfrm>
          <a:prstGeom prst="rect">
            <a:avLst/>
          </a:prstGeom>
          <a:noFill/>
          <a:ln/>
        </ns0:spPr>
        <ns0: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Tecnología probada en la que confían millones de hogares — confiable y rentable</a:t>
            </a:r>
            <a:endParaRPr lang="en-US" sz="1200" dirty="0"/>
          </a:p>
        </ns0:txBody>
      </ns0:sp>
      <ns0:sp>
        <ns0:nvSpPr>
          <ns0:cNvPr id="29" name="Shape 27"/>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30" name="Text 28"/>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Siempre usa la frase puente: '...lo que significa para ti...' — Característica: [especificación]. Lo que significa para ti: [resultado en la vida real]. Practica esta frase hasta que sea automática.</a:t>
            </a:r>
            <a:endParaRPr lang="en-US" sz="900" dirty="0"/>
          </a:p>
        </ns0:txBody>
      </ns0:sp>
    </ns0:spTree>
  </ns0:cSld>
  <ns0:clrMapOvr>
    <a:masterClrMapping/>
  </ns0:clrMapOvr>
</ns0:sld>
</file>

<file path=ppt/slides/slide18.xml><?xml version="1.0" encoding="utf-8"?>
<ns0:sld xmlns:a="http://schemas.openxmlformats.org/drawingml/2006/main" xmlns:ns0="http://schemas.openxmlformats.org/presentationml/2006/main">
  <ns0:cSld name="Slide 1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Explicando la Medición Neta: La Analogía de la Cuenta Bancaria</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Medición Neta = una cuenta bancaria para tu electricidad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Cuando tus paneles producen más de lo que usas, depositas el extra en el 'banco' (la red)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Por la noche o en días nublados, 'retiras' ese crédito de vuelta — sin costo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Tu factura eléctrica se convierte en tu estado de cuenta: depósitos vs. retiros, no un cargo directo</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Aquí está lo interesante. Cuando tus paneles están produciendo más energía de la que usa tu casa — como en un sábado soleado — la electricidad extra va a una especie de cuenta bancaria. Luego por la noche, recuperas ese crédito. Es como que te paguen por el tiempo libre de tu techo.</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¿Entonces básicamente estamos vendiendo energía de vuelta?</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Exactamente — y a la misma tarifa que pagarías para comprarla.</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NOTA DEL CAPACITADOR: Evita la frase 'medición neta' por completo hasta que el propietario pregunte. Lidera con la historia de la cuenta bancaria. Ya entienden depósitos y retiros — mapea su sistema solar a ese modelo mental.</a:t>
            </a:r>
            <a:endParaRPr lang="en-US" sz="900" dirty="0"/>
          </a:p>
        </ns0:txBody>
      </ns0:sp>
    </ns0:spTree>
  </ns0:cSld>
  <ns0:clrMapOvr>
    <a:masterClrMapping/>
  </ns0:clrMapOvr>
</ns0:sld>
</file>

<file path=ppt/slides/slide19.xml><?xml version="1.0" encoding="utf-8"?>
<ns0:sld xmlns:a="http://schemas.openxmlformats.org/drawingml/2006/main" xmlns:ns0="http://schemas.openxmlformats.org/presentationml/2006/main">
  <ns0:cSld name="Slide 1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 Marco del 'Activo Oculto': Garantías y Confiabilidad</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224028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No vendas una garantía — vende protección para su decisión financiera</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Encuádralo como: 'Por eso las matemáticas son seguras, no solo los paneles'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25-year performance guarantee = the savings are contractually protected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Manufacturer vs. workmanship warranty: explain both as a 'double safety net'</a:t>
            </a:r>
            <a:endParaRPr lang="en-US" sz="1400" dirty="0"/>
          </a:p>
        </ns0:txBody>
      </ns0:sp>
      <ns0:sp>
        <ns0:nvSpPr>
          <ns0:cNvPr id="6" name="Shape 4"/>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7" name="Text 5"/>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Warranties matter to Owls and Turtles especially. For a Bull, say: 'The system is backed to perform at X% output for 25 years — if it doesn't, they replace it.' For a Turtle: 'You'll never be alone with this — there are three layers of protection.'</a:t>
            </a:r>
            <a:endParaRPr lang="en-US" sz="900" dirty="0"/>
          </a:p>
        </ns0:txBody>
      </ns0:sp>
    </ns0:spTree>
  </ns0:cSld>
  <ns0:clrMapOvr>
    <a:masterClrMapping/>
  </ns0:clrMapOvr>
</ns0: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Hardware Brand Doesn't Close Deals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All Tier-1 panels are 'good' — the differentiator is the installer, not the product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'iPhone vs. Samsung' trap: homeowners get lost in brand wars when the real question is installation quality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Redirect brand questions to: 'Here's what matters more — who puts it on and who backs it up'</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they fixate on brand: 'You're thinking like an Owl — let me show you the spec sheet and we can compare'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Panel brand obsession is a stall tactic — conscious or not. The rep who pivots to company track record, local installs, and warranty support closes the conversation. The rep who debates panel brands loses the room.</a:t>
            </a:r>
            <a:endParaRPr lang="en-US" sz="900" dirty="0"/>
          </a:p>
        </p:txBody>
      </p:sp>
    </p:spTree>
  </p:cSld>
  <p:clrMapOvr>
    <a:masterClrMapping/>
  </p:clrMapOvr>
</p:sld>
</file>

<file path=ppt/slides/slide21.xml><?xml version="1.0" encoding="utf-8"?>
<ns0:sld xmlns:a="http://schemas.openxmlformats.org/drawingml/2006/main" xmlns:ns0="http://schemas.openxmlformats.org/presentationml/2006/main">
  <ns0:cSld name="Slide 2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Analogy Speed-Dating</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Explain complex solar concepts using only pre-approved analogies — no technical terms allowed</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Round 1 (2 min): Explain Net Metering using ONLY a 'bank account' analogy — no 'net metering,' no 'kilowatt'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Round 2 (2 min): Explain how an inverter works using ONLY a 'language translator' analogy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Round 3 (2 min): Explain production variability using ONLY a 'sunshine savings account'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gives a score 1–5: Could a non-technical person follow this?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Where did technical language sneak back in?</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22.xml><?xml version="1.0" encoding="utf-8"?>
<ns0:sld xmlns:a="http://schemas.openxmlformats.org/drawingml/2006/main" xmlns:ns0="http://schemas.openxmlformats.org/presentationml/2006/main">
  <ns0:cSld name="Slide 2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4.3</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El Cambio de Paradigma Rentar vs. Tener</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Changing How Homeowners See Their Utility Bill</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23.xml><?xml version="1.0" encoding="utf-8"?>
<ns0:sld xmlns:a="http://schemas.openxmlformats.org/drawingml/2006/main" xmlns:ns0="http://schemas.openxmlformats.org/presentationml/2006/main">
  <ns0:cSld name="Slide 2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4.3 — RENTAR VS. TENER</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El Momento 'Eureka' de Toda la Consulta</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Reframing the utility bill as a perpetual lease with zero equity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Landlord Analogy: why paying the utility is the same as throwing money away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0% ROI math: what 25 years of utility payments actually costs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Positioning solar as a redirect — not a new expense</a:t>
            </a:r>
            <a:endParaRPr lang="en-US" sz="1400" dirty="0"/>
          </a:p>
        </ns0:txBody>
      </ns0:sp>
    </ns0:spTree>
  </ns0:cSld>
  <ns0:clrMapOvr>
    <a:masterClrMapping/>
  </ns0:clrMapOvr>
</ns0: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Utility Monopoly: A Life Sentence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homeowner is currently in a 100% interest contract — every payment builds zero equity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have 0% control over the rate, the terms, or when it ends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have no exit strategy — it is effectively a 'life sentence' of payments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word 'monopoly' is psychologically powerful — use it deliberately and watch the reaction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homeowners have never framed their utility relationship this way. When you say 'You're locked into a monopoly with no exit,' you often see a visible shift in their posture. That's the paradigm cracking.</a:t>
            </a:r>
            <a:endParaRPr lang="en-US" sz="900" dirty="0"/>
          </a:p>
        </p:txBody>
      </p:sp>
    </p:spTree>
  </p:cSld>
  <p:clrMapOvr>
    <a:masterClrMapping/>
  </p:clrMapOvr>
</p:sld>
</file>

<file path=ppt/slides/slide25.xml><?xml version="1.0" encoding="utf-8"?>
<ns0:sld xmlns:a="http://schemas.openxmlformats.org/drawingml/2006/main" xmlns:ns0="http://schemas.openxmlformats.org/presentationml/2006/main">
  <ns0:cSld name="Slide 2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Landlord Analogy: The Most Powerful Frame in Solar</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Renting an apartment = paying forever, building no equity, no control over rent increases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Buying a home = paying a fixed mortgage, building equity, owning the asset at the end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Paying the utility = renting your power forever at rising rates with nothing to show for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Solar = buying your power at a fixed rate, owning the asset, eliminating the 'rent' entirely</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ask — did you rent before you bought this house?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for about 5 years.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And if your landlord had said 'You can keep renting forever, or pay the same amount for 7 years and then OWN the house outright' — what would you have chosen?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Obviously I'd buy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Right. That's exactly what we're talking about with your electric bill.</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analogy works because every homeowner already made the 'buy vs. rent' decision on their house. They already understand this logic — you're just applying it to their energy.</a:t>
            </a:r>
            <a:endParaRPr lang="en-US" sz="900" dirty="0"/>
          </a:p>
        </ns0:txBody>
      </ns0:sp>
    </ns0:spTree>
  </ns0:cSld>
  <ns0:clrMapOvr>
    <a:masterClrMapping/>
  </ns0:clrMapOvr>
</ns0: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0% ROI: What You're Actually Paying the Utility</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1005840"/>
            <a:ext cx="2727960" cy="34747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65760" y="1280160"/>
            <a:ext cx="2545080" cy="1280160"/>
          </a:xfrm>
          <a:prstGeom prst="rect">
            <a:avLst/>
          </a:prstGeom>
          <a:noFill/>
          <a:ln/>
        </p:spPr>
        <p:txBody>
          <a:bodyPr wrap="square" lIns="0" tIns="0" rIns="0" bIns="0" rtlCol="0" anchor="ctr"/>
          <a:lstStyle/>
          <a:p>
            <a:pPr algn="ctr" indent="0" marL="0">
              <a:buNone/>
            </a:pPr>
            <a:r>
              <a:rPr lang="en-US" sz="4400" b="1" dirty="0">
                <a:solidFill>
                  <a:srgbClr val="F4A61D"/>
                </a:solidFill>
                <a:latin typeface="Arial Black" pitchFamily="34" charset="0"/>
                <a:ea typeface="Arial Black" pitchFamily="34" charset="-122"/>
                <a:cs typeface="Arial Black" pitchFamily="34" charset="-120"/>
              </a:rPr>
              <a:t>$72K</a:t>
            </a:r>
            <a:endParaRPr lang="en-US" sz="4400" dirty="0"/>
          </a:p>
        </p:txBody>
      </p:sp>
      <p:sp>
        <p:nvSpPr>
          <p:cNvPr id="7" name="Text 5"/>
          <p:cNvSpPr/>
          <p:nvPr/>
        </p:nvSpPr>
        <p:spPr>
          <a:xfrm>
            <a:off x="36576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25-Year Cost</a:t>
            </a:r>
            <a:endParaRPr lang="en-US" sz="1400" dirty="0"/>
          </a:p>
        </p:txBody>
      </p:sp>
      <p:sp>
        <p:nvSpPr>
          <p:cNvPr id="8" name="Text 6"/>
          <p:cNvSpPr/>
          <p:nvPr/>
        </p:nvSpPr>
        <p:spPr>
          <a:xfrm>
            <a:off x="36576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$240/mo × 12 × 25 (no inflation)</a:t>
            </a:r>
            <a:endParaRPr lang="en-US" sz="1000" dirty="0"/>
          </a:p>
        </p:txBody>
      </p:sp>
      <p:sp>
        <p:nvSpPr>
          <p:cNvPr id="9" name="Shape 7"/>
          <p:cNvSpPr/>
          <p:nvPr/>
        </p:nvSpPr>
        <p:spPr>
          <a:xfrm>
            <a:off x="3139440" y="1005840"/>
            <a:ext cx="2727960" cy="347472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30880" y="1280160"/>
            <a:ext cx="2545080" cy="1280160"/>
          </a:xfrm>
          <a:prstGeom prst="rect">
            <a:avLst/>
          </a:prstGeom>
          <a:noFill/>
          <a:ln/>
        </p:spPr>
        <p:txBody>
          <a:bodyPr wrap="square" lIns="0" tIns="0" rIns="0" bIns="0" rtlCol="0" anchor="ctr"/>
          <a:lstStyle/>
          <a:p>
            <a:pPr algn="ctr" indent="0" marL="0">
              <a:buNone/>
            </a:pPr>
            <a:r>
              <a:rPr lang="en-US" sz="4400" b="1" dirty="0">
                <a:solidFill>
                  <a:srgbClr val="0891B2"/>
                </a:solidFill>
                <a:latin typeface="Arial Black" pitchFamily="34" charset="0"/>
                <a:ea typeface="Arial Black" pitchFamily="34" charset="-122"/>
                <a:cs typeface="Arial Black" pitchFamily="34" charset="-120"/>
              </a:rPr>
              <a:t>$120K+</a:t>
            </a:r>
            <a:endParaRPr lang="en-US" sz="4400" dirty="0"/>
          </a:p>
        </p:txBody>
      </p:sp>
      <p:sp>
        <p:nvSpPr>
          <p:cNvPr id="11" name="Text 9"/>
          <p:cNvSpPr/>
          <p:nvPr/>
        </p:nvSpPr>
        <p:spPr>
          <a:xfrm>
            <a:off x="323088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With 5% Inflation</a:t>
            </a:r>
            <a:endParaRPr lang="en-US" sz="1400" dirty="0"/>
          </a:p>
        </p:txBody>
      </p:sp>
      <p:sp>
        <p:nvSpPr>
          <p:cNvPr id="12" name="Text 10"/>
          <p:cNvSpPr/>
          <p:nvPr/>
        </p:nvSpPr>
        <p:spPr>
          <a:xfrm>
            <a:off x="323088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Real cost with compounding rate hikes</a:t>
            </a:r>
            <a:endParaRPr lang="en-US" sz="1000" dirty="0"/>
          </a:p>
        </p:txBody>
      </p:sp>
      <p:sp>
        <p:nvSpPr>
          <p:cNvPr id="13" name="Shape 11"/>
          <p:cNvSpPr/>
          <p:nvPr/>
        </p:nvSpPr>
        <p:spPr>
          <a:xfrm>
            <a:off x="6004560" y="1005840"/>
            <a:ext cx="2727960" cy="347472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6096000" y="1280160"/>
            <a:ext cx="2545080" cy="1280160"/>
          </a:xfrm>
          <a:prstGeom prst="rect">
            <a:avLst/>
          </a:prstGeom>
          <a:noFill/>
          <a:ln/>
        </p:spPr>
        <p:txBody>
          <a:bodyPr wrap="square" lIns="0" tIns="0" rIns="0" bIns="0" rtlCol="0" anchor="ctr"/>
          <a:lstStyle/>
          <a:p>
            <a:pPr algn="ctr" indent="0" marL="0">
              <a:buNone/>
            </a:pPr>
            <a:r>
              <a:rPr lang="en-US" sz="4400" b="1" dirty="0">
                <a:solidFill>
                  <a:srgbClr val="2D9B4E"/>
                </a:solidFill>
                <a:latin typeface="Arial Black" pitchFamily="34" charset="0"/>
                <a:ea typeface="Arial Black" pitchFamily="34" charset="-122"/>
                <a:cs typeface="Arial Black" pitchFamily="34" charset="-120"/>
              </a:rPr>
              <a:t>$0</a:t>
            </a:r>
            <a:endParaRPr lang="en-US" sz="4400" dirty="0"/>
          </a:p>
        </p:txBody>
      </p:sp>
      <p:sp>
        <p:nvSpPr>
          <p:cNvPr id="15" name="Text 13"/>
          <p:cNvSpPr/>
          <p:nvPr/>
        </p:nvSpPr>
        <p:spPr>
          <a:xfrm>
            <a:off x="609600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Equity at Year 25</a:t>
            </a:r>
            <a:endParaRPr lang="en-US" sz="1400" dirty="0"/>
          </a:p>
        </p:txBody>
      </p:sp>
      <p:sp>
        <p:nvSpPr>
          <p:cNvPr id="16" name="Text 14"/>
          <p:cNvSpPr/>
          <p:nvPr/>
        </p:nvSpPr>
        <p:spPr>
          <a:xfrm>
            <a:off x="609600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Return on 25 years of utility payments</a:t>
            </a:r>
            <a:endParaRPr lang="en-US" sz="1000" dirty="0"/>
          </a:p>
        </p:txBody>
      </p:sp>
      <p:sp>
        <p:nvSpPr>
          <p:cNvPr id="17" name="Shape 15"/>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8" name="Text 16"/>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Make the homeowner do this math themselves. Ask: 'What's your average bill?' Then: '$240 times 12 is $2,880 a year. Times 25 years is $72,000. And at the end of 25 years, what do you own?' The silence that follows this question is the sale.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Defining 'The Switch': From Expense to Asset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Solar is not a 'purchase' — it is a redirect of money already being spent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Moving money from the 'Expense' column (utility bill) to the 'Asset' column (owned system with equity)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homeowner isn't adding a new bill — they are changing WHERE their existing money goes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reframe eliminates 'I can't afford it' — they are already affording the equivalent amount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the most important conceptual shift in the entire Day 4 curriculum. When a homeowner says 'I can't afford it,' your response is: 'You're already paying $X a month — we're just redirecting that to something you'll own.'</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The Utility Lease vs. The Solar Investment</a:t>
            </a:r>
            <a:endParaRPr lang="en-US" sz="22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14400"/>
            <a:ext cx="4023360" cy="34747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914400"/>
            <a:ext cx="4023360" cy="384048"/>
          </a:xfrm>
          <a:prstGeom prst="rect">
            <a:avLst/>
          </a:prstGeom>
          <a:solidFill>
            <a:srgbClr val="0891B2"/>
          </a:solidFill>
          <a:ln w="12700">
            <a:solidFill>
              <a:srgbClr val="0891B2"/>
            </a:solidFill>
            <a:prstDash val="solid"/>
          </a:ln>
        </p:spPr>
      </p:sp>
      <p:sp>
        <p:nvSpPr>
          <p:cNvPr id="7" name="Text 5"/>
          <p:cNvSpPr/>
          <p:nvPr/>
        </p:nvSpPr>
        <p:spPr>
          <a:xfrm>
            <a:off x="320040" y="932688"/>
            <a:ext cx="3931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THE UTILITY LEASE (Status Quo)</a:t>
            </a:r>
            <a:endParaRPr lang="en-US" sz="1200" dirty="0"/>
          </a:p>
        </p:txBody>
      </p:sp>
      <p:sp>
        <p:nvSpPr>
          <p:cNvPr id="8" name="Text 6"/>
          <p:cNvSpPr/>
          <p:nvPr/>
        </p:nvSpPr>
        <p:spPr>
          <a:xfrm>
            <a:off x="384048" y="1371600"/>
            <a:ext cx="384048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Rates rise every year — no cap, no ceiling</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pay forever — there is no end date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build zero equity from 25 years of payments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utility company profits from your dependency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are a 'price taker' with zero negotiating power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Total 25-yr cost: $72,000–$120,000+</a:t>
            </a:r>
            <a:endParaRPr lang="en-US" sz="1200" dirty="0"/>
          </a:p>
        </p:txBody>
      </p:sp>
      <p:sp>
        <p:nvSpPr>
          <p:cNvPr id="9" name="Shape 7"/>
          <p:cNvSpPr/>
          <p:nvPr/>
        </p:nvSpPr>
        <p:spPr>
          <a:xfrm>
            <a:off x="4846320" y="914400"/>
            <a:ext cx="4023360" cy="347472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914400"/>
            <a:ext cx="4023360" cy="384048"/>
          </a:xfrm>
          <a:prstGeom prst="rect">
            <a:avLst/>
          </a:prstGeom>
          <a:solidFill>
            <a:srgbClr val="F4A61D"/>
          </a:solidFill>
          <a:ln w="12700">
            <a:solidFill>
              <a:srgbClr val="F4A61D"/>
            </a:solidFill>
            <a:prstDash val="solid"/>
          </a:ln>
        </p:spPr>
      </p:sp>
      <p:sp>
        <p:nvSpPr>
          <p:cNvPr id="11" name="Text 9"/>
          <p:cNvSpPr/>
          <p:nvPr/>
        </p:nvSpPr>
        <p:spPr>
          <a:xfrm>
            <a:off x="4892040" y="932688"/>
            <a:ext cx="3931920"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THE SOLAR INVESTMENT</a:t>
            </a:r>
            <a:endParaRPr lang="en-US" sz="1200" dirty="0"/>
          </a:p>
        </p:txBody>
      </p:sp>
      <p:sp>
        <p:nvSpPr>
          <p:cNvPr id="12" name="Text 10"/>
          <p:cNvSpPr/>
          <p:nvPr/>
        </p:nvSpPr>
        <p:spPr>
          <a:xfrm>
            <a:off x="4956048" y="1371600"/>
            <a:ext cx="3840480" cy="29260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Fixed payment for a defined term — predictable and locked</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System is PAID OFF — bill drops to near-zero</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own an asset that adds home resale value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become energy independent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are a 'price maker' — you set your own energy cost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Net 25-yr cost after savings: near zero or positive ROI</a:t>
            </a:r>
            <a:endParaRPr lang="en-US" sz="1200" dirty="0"/>
          </a:p>
        </p:txBody>
      </p:sp>
      <p:sp>
        <p:nvSpPr>
          <p:cNvPr id="13" name="Shape 1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4" name="Text 1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visual should be the most impactful slide in the deck. Use it as a pause point — show it, let them look, and say nothing for 4 seconds. Let the contrast do the persuading.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Inflation Tax: Why the Status Quo Gets Worse Every Year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Utility rates must rise: aging infrastructure, regulatory costs, fuel price volatility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Average utility rate inflation: 3–8% annually depending on region and utility provider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$200 bill today becomes $400+ in 12–15 years at 5% compounding inflation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Being a 'Price Taker' = the utility sets your energy cost for life. Solar makes you a 'Price Maker.'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Pull up a real news headline showing your local utility's most recent rate hike request or approval. Nothing is more persuasive than the homeowner reading their own utility's rate filing with their own eyes.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Utility Cost vs. Solar Cost Over 25 Years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graphicFrame>
        <p:nvGraphicFramePr>
          <p:cNvPr id="5" name="Chart 0" descr=""/>
          <p:cNvGraphicFramePr/>
          <p:nvPr/>
        </p:nvGraphicFramePr>
        <p:xfrm>
          <a:off x="274320" y="868680"/>
          <a:ext cx="850392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chart is worth 10 minutes of verbal explanation. Point to the widening gap and say: 'Everything above that solar line is money going straight to the utility.' The visual gap IS the urgency.</a:t>
            </a:r>
            <a:endParaRPr lang="en-US" sz="900" dirty="0"/>
          </a:p>
        </p:txBody>
      </p:sp>
    </p:spTree>
  </p:cSld>
  <p:clrMapOvr>
    <a:masterClrMapping/>
  </p:clrMapOvr>
</p:sld>
</file>

<file path=ppt/slides/slide31.xml><?xml version="1.0" encoding="utf-8"?>
<ns0:sld xmlns:a="http://schemas.openxmlformats.org/drawingml/2006/main" xmlns:ns0="http://schemas.openxmlformats.org/presentationml/2006/main">
  <ns0:cSld name="Slide 3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Rent vs. Own 2-Minute Pitch</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Deliver the full Rent vs. Own paradigm shift using only the Landlord analogy</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Stand up — this is a standing delivery, it builds energy and conviction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Deliver a 2-minute 'Rent vs. Own' speech to a partner without using a prop</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Required elements: the landlord question, the 0% ROI math, and 'Price Taker vs. Price Maker'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listens for: Did I feel like I was escaping a trap? Did the math land clearly?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line or phrase created the most visible shift in the 'homeowner'?</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32.xml><?xml version="1.0" encoding="utf-8"?>
<ns0:sld xmlns:a="http://schemas.openxmlformats.org/drawingml/2006/main" xmlns:ns0="http://schemas.openxmlformats.org/presentationml/2006/main">
  <ns0:cSld name="Slide 3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4.4</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Presentación Financiera: El Método de Intercambio de Factura</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Making the Numbers Feel Safe, Logical, and Inevitable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33.xml><?xml version="1.0" encoding="utf-8"?>
<ns0:sld xmlns:a="http://schemas.openxmlformats.org/drawingml/2006/main" xmlns:ns0="http://schemas.openxmlformats.org/presentationml/2006/main">
  <ns0:cSld name="Slide 3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4.4 — EL INTERCAMBIO DE FACTURA</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Presentando Números con Confianza</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Leading with Day 1 savings vs. price protection — choosing the right opening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Net cost vs. gross cost: the ITC explained without confusion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Bill Swap script: redirecting, not spending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Handling sticker shock with a poker face and the monthly payment reframe</a:t>
            </a:r>
            <a:endParaRPr lang="en-US" sz="1400" dirty="0"/>
          </a:p>
        </ns0:txBody>
      </ns0:sp>
    </ns0:spTree>
  </ns0:cSld>
  <ns0:clrMapOvr>
    <a:masterClrMapping/>
  </ns0:clrMapOvr>
</ns0:sld>
</file>

<file path=ppt/slides/slide34.xml><?xml version="1.0" encoding="utf-8"?>
<ns0:sld xmlns:a="http://schemas.openxmlformats.org/drawingml/2006/main" xmlns:ns0="http://schemas.openxmlformats.org/presentationml/2006/main">
  <ns0:cSld name="Slide 3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1 Savings: Leading with the Instant Win</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 solar payment is lower than their current bill — lead with Day 1 savings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Visual contrast: Old Bill ($250) → New Solar Payment ($180) = '$70 Instant Raise for your household'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 payment is slightly higher — lead with 'Price Protection': 'Your bill is locked. Theirs will keep climbing.'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open with the system price — always open with the monthly comparison</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before I show you anything else, here's the headline: your bill is currently $250 a month and going up. Your solar payment would be $178 a month and fixed for 25 years. That's a $72-a-month raise for your household starting the day we flip the switch.</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Wait — so we'd actually pay less?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Correct. And unlike your current bill, that number never goes up.</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first number the homeowner hears sets the anchor. If the first number is $38,000 they're already calculating escape. If the first number is 'You'd save $70 a month starting Day 1' — they're calculating gain.</a:t>
            </a:r>
            <a:endParaRPr lang="en-US" sz="900" dirty="0"/>
          </a:p>
        </ns0:txBody>
      </ns0:sp>
    </ns0:spTree>
  </ns0:cSld>
  <ns0:clrMapOvr>
    <a:masterClrMapping/>
  </ns0:clrMapOvr>
</ns0: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Net Cost vs. Gross Cost: Framing the Tax Credit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Gross cost: the full system price before incentives (what's on the proposal)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Net cost: after the Federal Investment Tax Credit (ITC) — currently 30% of system cost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say 'You get a check for $X' — say 'You are eligible for a $X credit applied to your federal tax liability'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Always include the ITC disclaimer: 'I recommend confirming your eligibility with your tax advisor — most of our customers qualify'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oversell the tax credit create chargebacks and angry customers. Reps who frame it correctly create trust. The ITC is the government's contribution — position it as a co-investor, not a guaranteed windfall.</a:t>
            </a:r>
            <a:endParaRPr lang="en-US" sz="900" dirty="0"/>
          </a:p>
        </p:txBody>
      </p:sp>
    </p:spTree>
  </p:cSld>
  <p:clrMapOvr>
    <a:masterClrMapping/>
  </p:clrMapOvr>
</p:sld>
</file>

<file path=ppt/slides/slide36.xml><?xml version="1.0" encoding="utf-8"?>
<ns0:sld xmlns:a="http://schemas.openxmlformats.org/drawingml/2006/main" xmlns:ns0="http://schemas.openxmlformats.org/presentationml/2006/main">
  <ns0:cSld name="Slide 36">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Bill Swap Script</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 aren't spending $38,000 today — that number is almost irrelevant to how this works'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you're doing is taking the money you're ALREADY losing to [Utility] every month...'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'...and redirecting it to your own roof instead'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best part: you aren't adding a new bill. We're just swapping a rising, unpredictable one for a lower, fixed one.'</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best way to think about this — you're not spending $38,000 today. You're just taking the $250 a month you're already handing the utility, and redirecting it to your own system instead. At the end of 25 years, you own the asset. With the utility, you own nothing.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Huh. When you put it that way...</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word 'swap' is intentional and powerful. A swap feels fair and logical. A purchase feels like a risk. Drill this language until reps deliver it without hesitation or apology.</a:t>
            </a:r>
            <a:endParaRPr lang="en-US" sz="900" dirty="0"/>
          </a:p>
        </ns0:txBody>
      </ns0:sp>
    </ns0:spTree>
  </ns0:cSld>
  <ns0:clrMapOvr>
    <a:masterClrMapping/>
  </ns0:clrMapOvr>
</ns0: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Total Cost Reframing: The Monthly Payment Move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$38,000 activates 'sticker shock' — the brain compares it to a car, a vacation, a risk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$142/month activates 'budget thinking' — the brain compares it to a phone bill or gym membership</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Humans buy houses, cars, and boats based on monthly payments — solar is no different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Anchor on the payment: 'For less than $5 a day, you'll own your power for the next 25 years'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presenting the price, always move from gross cost → ITC → net cost → monthly payment in one fluid sentence. Rehearse this sequence until there is zero hesitation: 'Total investment is $38k, the tax credit brings that to $26k, which is a monthly payment of $142.'</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Handling Sticker Shock: The Poker Face Protocol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you say the price — pause. Do not flinch. Do not apologize. Silence is power here.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they react: 'That seems like a lot' — say nothing for 3 seconds, then: 'Compared to what?'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Redirect immediately to the 25-year utility spend: 'That's actually less than you'll pay [Utility] over the same period'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you apologize for the price, the homeowner hears: 'This is too expensive.' If you say it proudly, it sounds like a bargain.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Practice delivering '$38,000' in front of a mirror or a partner without any vocal hesitation, pitch drop, or visible anxiety. The homeowner takes all of their pricing cues from the rep's reaction. If you own it, they accept it.</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Lifetime Savings: Presenting the 'Retirement Fund'</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Total lifetime savings: $50,000–$100,000+ depending on system and local utility rates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For Owls/Analyticals: show the spreadsheet projection, year by year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For Lions/Expressives: describe it as a 'vacation fund' or 'retirement contribution you didn't know you were making'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visual: 'In 20 years, you'll look back and realize this was the best financial decision you made this decade'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Match the savings framing to the homeowner's BOLT type. The number is the same — but the emotional packaging changes everything. A Bull wants the ROI percentage. A Turtle wants the safety net.</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When Day 1 Savings Don't Exist: The Price Protection Close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Not every system saves money on Day 1 — financing costs or low bills may create a slight premium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alternative close: 'You're paying $8 more per month right now — in 18 months that inverts permanently'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Lock-in framing: 'Your neighbors will be paying $350 by the time you're paying $0'</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Price protection IS the value: 'You're buying certainty in an uncertain world'</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Day 1 savings don't exist, reps panic. Coach them to pivot to the certainty narrative: inflation will make this look like the smartest decision they ever made. Use the 25-year chart here.</a:t>
            </a:r>
            <a:endParaRPr lang="en-US" sz="900" dirty="0"/>
          </a:p>
        </p:txBody>
      </p:sp>
    </p:spTree>
  </p:cSld>
  <p:clrMapOvr>
    <a:masterClrMapping/>
  </p:clrMapOvr>
</p:sld>
</file>

<file path=ppt/slides/slide41.xml><?xml version="1.0" encoding="utf-8"?>
<ns0:sld xmlns:a="http://schemas.openxmlformats.org/drawingml/2006/main" xmlns:ns0="http://schemas.openxmlformats.org/presentationml/2006/main">
  <ns0:cSld name="Slide 4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Price Drop Drill</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Deliver the full financial sequence until the price sounds proud, not apologetic</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delivers: 'The total investment is $38,000, which after your 30% federal tax credit brings you to $26,600, which is a monthly payment of $142.'</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Repeat this sentence 5 times aloud — each time faster and more confident than the last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Partner watches for: flinch, hesitation, apology, vocal drop — any sign of price anxiety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Then: deliver the full Bill Swap script that follows the price reveal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Goal: zero hesitation between the gross price and the monthly payment reframe</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42.xml><?xml version="1.0" encoding="utf-8"?>
<ns0:sld xmlns:a="http://schemas.openxmlformats.org/drawingml/2006/main" xmlns:ns0="http://schemas.openxmlformats.org/presentationml/2006/main">
  <ns0:cSld name="Slide 4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4.5</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Narrativa Visual y Herramientas de Propuesta</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Using the iPad as a Weapon of Persuasion</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43.xml><?xml version="1.0" encoding="utf-8"?>
<ns0:sld xmlns:a="http://schemas.openxmlformats.org/drawingml/2006/main" xmlns:ns0="http://schemas.openxmlformats.org/presentationml/2006/main">
  <ns0:cSld name="Slide 4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4.5 — NARRATIVA VISUAL</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Haciendo lo Invisible, Visible</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the iPad is the most powerful persuasion tool in the consultation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Heat Map: using satellite imagery to build technical authority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Proof Stack: social proof that closes deals mid-presentation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Controlling the scroll — you are the pilot, they are the passenger</a:t>
            </a:r>
            <a:endParaRPr lang="en-US" sz="1400" dirty="0"/>
          </a:p>
        </ns0:txBody>
      </ns0:sp>
    </ns0:spTree>
  </ns0:cSld>
  <ns0:clrMapOvr>
    <a:masterClrMapping/>
  </ns0:clrMapOvr>
</ns0: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iPad Is the Cockpit — You Are the Pilot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hand the iPad to the homeowner — you lose the story, the pacing, and the close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the screen to control what they are thinking about: engaged eyes = no objection room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visual is a chapter in the story — the rep narrates, the iPad illustrates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they reach for it: 'Let me walk you through this — there's a specific order that makes it click'</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hand over the iPad become passengers. The homeowner skips to the price, gets confused, and the close evaporates. Own the iPad until you are ready to show them the specific section you want.</a:t>
            </a:r>
            <a:endParaRPr lang="en-US" sz="900" dirty="0"/>
          </a:p>
        </p:txBody>
      </p:sp>
    </p:spTree>
  </p:cSld>
  <p:clrMapOvr>
    <a:masterClrMapping/>
  </p:clrMapOvr>
</p:sld>
</file>

<file path=ppt/slides/slide45.xml><?xml version="1.0" encoding="utf-8"?>
<ns0:sld xmlns:a="http://schemas.openxmlformats.org/drawingml/2006/main" xmlns:ns0="http://schemas.openxmlformats.org/presentationml/2006/main">
  <ns0:cSld name="Slide 45">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Heat Map: Turning Your Roof into Proof</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Show the LIDAR satellite data of their actual roof — color-coded by solar production potential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Yellow and orange zones = high production areas; explain why the north side is 'dead space'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builds 'Technical Authority' — the homeowner sees their home has been professionally analyzed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Script: 'This is your roof specifically — not a generic estimate. The yellow and orange zones are where we'll put the panels.'</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Here's your actual roof — this is satellite LIDAR data, not a guess. See these orange and yellow zones? That's where the sun hits hardest. The system I designed is sitting exactly on those spots.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Wow, that's actually really cool. I can see our backyard.</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a homeowner sees their own roof from satellite with heat zones, the system becomes real and specific. It's no longer abstract — it's their house. This moment often triggers genuine excitement even in skeptics.</a:t>
            </a:r>
            <a:endParaRPr lang="en-US" sz="900" dirty="0"/>
          </a:p>
        </ns0:txBody>
      </ns0:sp>
    </ns0:spTree>
  </ns0:cSld>
  <ns0:clrMapOvr>
    <a:masterClrMapping/>
  </ns0:clrMapOvr>
</ns0: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Whiteboarding on the iPad: Live Drawing Closes Deals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the iPad's drawing tool to sketch the 'Flow of Power' in real time as you explain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Arrow sequence: Sun → Panels → Inverter → Home → Grid (Net Metering)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Live drawing keeps the homeowner's eyes on the screen — engaged eyes = no objection room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Make it collaborative: 'Can you see where the meter sits on this sketch?' — they become part of the story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moment a rep draws something by hand, the homeowner's brain activates differently — it's no longer a sales presentation, it's an explanation. Anything drawn in the moment feels authentic, not rehearsed.</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Proof Stack: Show, Don't Tell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Layer 3 forms of social proof mid-presentation, not at the end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Local installs: 'I just completed a house three blocks over — here's the photo'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Google Reviews (live): pull them up in real time, don't just reference them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Neighbor's bill: a screenshot of a comparable homeowner's bill after solar is worth more than any brochure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 just did the house three blocks down' is one of the most powerful deal-closing lines in solar. Local proof beats global proof every time. Build a local Proof Stack — 10 photos and 10 bills from homes in their ZIP code.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3 Validation Tabs: Always Be Ready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Tab 1 — Google Reviews: sorted by most recent, local customers visible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Tab 2 — Local Utility Rate History: showing the year-over-year rate increases from their own provider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Tab 3 — NREL or SEIA Data: third-party production data that validates your system estimates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These tabs are ALWAYS open before you walk in the door — never search for proof mid-presentation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Nothing kills credibility faster than a rep fumbling to find proof while the homeowner watches. Pre-load all three tabs. Know where each one is. Being ready to prove anything instantly signals confidence.</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Energy Flow Diagram: Net Metering Made Visual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Draw or display a simple 1-2-3 flow: ☀️ Sun → ⚡ Panels → 🏠 Home → 🔋 Meter → 🌐 Grid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Narrate each step: 'Sun hits panels → inverter converts → house uses what it needs → extra goes to the grid bank'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Show the reverse flow at night: 'Now the grid sends that banked energy back — no charge'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Label the 'bank' on the diagram — the visual metaphor reinforces the bank account analogy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diagram removes 90% of homeowner confusion about net metering. Draw it slowly and narrate as you go. Pause at the meter and ask: 'Make sense so far?' — this keeps them engaged and signals comprehension.</a:t>
            </a:r>
            <a:endParaRPr lang="en-US" sz="900" dirty="0"/>
          </a:p>
        </p:txBody>
      </p:sp>
    </p:spTree>
  </p:cSld>
  <p:clrMapOvr>
    <a:masterClrMapping/>
  </p:clrMapOvr>
</p:sld>
</file>

<file path=ppt/slides/slide50.xml><?xml version="1.0" encoding="utf-8"?>
<ns0:sld xmlns:a="http://schemas.openxmlformats.org/drawingml/2006/main" xmlns:ns0="http://schemas.openxmlformats.org/presentationml/2006/main">
  <ns0:cSld name="Slide 5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iPad Whiteboard Challenge</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Draw the complete value of solar on a blank digital canvas in under 2 minutes</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Open a blank note on the iPad (or use paper/whiteboard)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Must include: a rising utility cost line, a flat solar payment line, and the 'Savings Gap' between them</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Must include: a simple energy flow diagram (Sun → Panels → Home → Grid)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No more than 2 minutes — clarity and simplicity beat detail every time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Partner scores: Is this clean enough to show a homeowner? Does it tell the story instantly?</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51.xml><?xml version="1.0" encoding="utf-8"?>
<ns0:sld xmlns:a="http://schemas.openxmlformats.org/drawingml/2006/main" xmlns:ns0="http://schemas.openxmlformats.org/presentationml/2006/main">
  <ns0:cSld name="Slide 5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4.6</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Enmarcando el Costo de la Inacción</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Logical Urgency Without High-Pressure Tactics</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52.xml><?xml version="1.0" encoding="utf-8"?>
<ns0:sld xmlns:a="http://schemas.openxmlformats.org/drawingml/2006/main" xmlns:ns0="http://schemas.openxmlformats.org/presentationml/2006/main">
  <ns0:cSld name="Slide 5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4.6 — COSTO DE LA INACCIÓN</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El Precio de Esperar</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solar is the only product where waiting literally costs thousands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'Thinking About It' Tax: quantifying the cost of delay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Utility inflation math and the compounding effect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Lost incentives: grandfathering urgency without manufactured pressure</a:t>
            </a:r>
            <a:endParaRPr lang="en-US" sz="1400" dirty="0"/>
          </a:p>
        </ns0:txBody>
      </ns0:sp>
    </ns0:spTree>
  </ns0:cSld>
  <ns0:clrMapOvr>
    <a:masterClrMapping/>
  </ns0:clrMapOvr>
</ns0:sld>
</file>

<file path=ppt/slides/slide53.xml><?xml version="1.0" encoding="utf-8"?>
<ns0:sld xmlns:a="http://schemas.openxmlformats.org/drawingml/2006/main" xmlns:ns0="http://schemas.openxmlformats.org/presentationml/2006/main">
  <ns0:cSld name="Slide 5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'Thinking About It' Tax</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 month a homeowner waits = 1 more utility bill paid with zero return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$200/month: waiting 1 year to 'think about it' costs $2,400 — gone forever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This isn't pressure — it's math: 'I'm not creating urgency. Your utility bill is.'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'thinking about it' period is not free — it has a real, calculable price</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upfront about something. I'm not going to pressure you — that's not how I work. But I do want to make sure you see something: if you spend the next 12 months thinking about it, you'll send $2,400 to [Utility] that you'll never see again. That's a nice vacation just to think it over.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Hmm. I hadn't thought about it like that.</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key is framing this as the homeowner's reality, not a sales tactic. You're not creating urgency — the utility company already did. You're just making the cost of delay visible.</a:t>
            </a:r>
            <a:endParaRPr lang="en-US" sz="900" dirty="0"/>
          </a:p>
        </ns0:txBody>
      </ns0:sp>
    </ns0:spTree>
  </ns0:cSld>
  <ns0:clrMapOvr>
    <a:masterClrMapping/>
  </ns0:clrMapOvr>
</ns0: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Inflation Calculator: Why Waiting Gets Exponentially Worse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5% annual utility rate inflation: a $200 bill becomes $325 in 10 years, $524 in 20 years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At 8% (high-growth markets): your bill doubles every 9 years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compounding effect means each year you wait, the ROI on solar gets smaller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real data: pull up your local utility's rate filings from the past 5 years as proof</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inflation calculator slide works best when the rep can fill in the homeowner's actual bill amount in real time. 'Your bill is $280 — let me show you what that looks like in 10 years at the rate [Utility] has been raising rates.'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Visual: The Cost of Waiting 1, 3, and 5 Years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graphicFrame>
        <p:nvGraphicFramePr>
          <p:cNvPr id="5" name="Chart 0" descr=""/>
          <p:cNvGraphicFramePr/>
          <p:nvPr/>
        </p:nvGraphicFramePr>
        <p:xfrm>
          <a:off x="274320" y="868680"/>
          <a:ext cx="8503920" cy="3657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Point to each bar and say: 'This is the price tag of waiting.' Make it physical — use your finger on the screen to trace the rising cost. The bigger the bar, the more visceral the loss.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Lost Incentives: The Grandfathering Urgency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Federal ITC has already stepped down once — it can change again with new legislation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Net Metering 3.0 in California: homeowners who waited lost 75% of their bill credit value overnight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Local utility rebates come from 'buckets' — once they're claimed, they're gone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Frame it as: 'I want to make sure you're grandfathered in before the rules change — because they always do'</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Grandfathering urgency is real and legitimate — do NOT manufacture it. But if there are real incentive changes coming (and there almost always are), it is the rep's ethical obligation to inform the homeowner. This is protection, not pressure.</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Monopoly Catch-22: You're Already Paying for Solar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utility is building its own solar farms — funded by your monthly bill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you don't go solar, you're still paying for solar — just someone else's, with none of the benefit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homeowner is financing the utility's energy transition without sharing in the savings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question isn't 'Can you afford solar?' — it's 'Can you afford to keep funding the utility's solar instead of your own?'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a philosophical gut-punch. Deliver it calmly and then pause for 4 seconds. The homeowner is processing a genuinely new and uncomfortable truth. Give it room to land.</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COI Without High Pressure: The Ethical Framework</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COI is NOT manufactured scarcity ('Only 3 spots left this month!')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COI IS transparent math: 'Here are the real financial consequences of waiting'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test: could you show this calculation to a journalist and feel comfortable? If yes, it's ethical urgency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 job is not to make them feel panic — it's to make sure they are 'informed, not surprised' in 5 years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Top reps use COI to protect homeowners from regret, not to manipulate decisions. Homeowners who feel informed and respected close at higher rates and refer more aggressively than those who feel pressured.</a:t>
            </a:r>
            <a:endParaRPr lang="en-US" sz="900" dirty="0"/>
          </a:p>
        </p:txBody>
      </p:sp>
    </p:spTree>
  </p:cSld>
  <p:clrMapOvr>
    <a:masterClrMapping/>
  </p:clrMapOvr>
</p:sld>
</file>

<file path=ppt/slides/slide59.xml><?xml version="1.0" encoding="utf-8"?>
<ns0:sld xmlns:a="http://schemas.openxmlformats.org/drawingml/2006/main" xmlns:ns0="http://schemas.openxmlformats.org/presentationml/2006/main">
  <ns0:cSld name="Slide 5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COI Scripting Challenge</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Write and deliver a 3-sentence urgency close that uses math, not pressure</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Scenario: $300 monthly bill, 7% annual rate increase, net metering changes expected in 18 months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Write 3 sentences that communicate the cost of waiting without saying 'you need to decide today'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Deliver to a partner — partner identifies: Did this feel like pressure or information?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Test: Could you say this to a skeptical journalist? If yes, it passes the ethical COI standard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sentence hit hardest? Why?</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60.xml><?xml version="1.0" encoding="utf-8"?>
<ns0:sld xmlns:a="http://schemas.openxmlformats.org/drawingml/2006/main" xmlns:ns0="http://schemas.openxmlformats.org/presentationml/2006/main">
  <ns0:cSld name="Slide 6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4.7</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Manejando el Escepticismo: La Técnica de Aterrizaje Seguro</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Welcoming the Doubt. Neutralizing the Resistance.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61.xml><?xml version="1.0" encoding="utf-8"?>
<ns0:sld xmlns:a="http://schemas.openxmlformats.org/drawingml/2006/main" xmlns:ns0="http://schemas.openxmlformats.org/presentationml/2006/main">
  <ns0:cSld name="Slide 61">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4.7 — MANEJANDO EL ESCEPTICISMO</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El Escepticismo es una Señal de Compra Disfrazada</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skeptical homeowners are closer to buying than passive ones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Labeling Response: neutralizing doubt without debating it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Distinguishing real skepticism from deal-breaker objections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'Is That It?' flush and third-party validation techniques</a:t>
            </a:r>
            <a:endParaRPr lang="en-US" sz="1400" dirty="0"/>
          </a:p>
        </ns0:txBody>
      </ns0:sp>
    </ns0:spTree>
  </ns0:cSld>
  <ns0:clrMapOvr>
    <a:masterClrMapping/>
  </ns0:clrMapOvr>
</ns0: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Skepticism Is a Green Light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homeowner who is skeptical is actively engaging with the decision — they're not checked out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Skepticism = 'I'm interested but not yet convinced' — it's an invitation to provide evidence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Passive agreement ('Sure, sounds great') is the real warning sign — they've already mentally left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Welcome every concern. 'That's a really fair question — let me show you how we address that.'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Flip the frame for reps: skepticism means you still have a chance. Silence and passive agreement mean you've lost them. The rep who gets nervous when challenged will always close less than the rep who gets curious.</a:t>
            </a:r>
            <a:endParaRPr lang="en-US" sz="900" dirty="0"/>
          </a:p>
        </p:txBody>
      </p:sp>
    </p:spTree>
  </p:cSld>
  <p:clrMapOvr>
    <a:masterClrMapping/>
  </p:clrMapOvr>
</p:sld>
</file>

<file path=ppt/slides/slide63.xml><?xml version="1.0" encoding="utf-8"?>
<ns0:sld xmlns:a="http://schemas.openxmlformats.org/drawingml/2006/main" xmlns:ns0="http://schemas.openxmlformats.org/presentationml/2006/main">
  <ns0:cSld name="Slide 6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Labeling Response: Neutralize Before You Educate</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seems like you're worried this is too good to be true...' (then pause)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sounds like you've heard some stories about installers that didn't deliver...' (then pause)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feels like the long-term math is the thing you want to pressure-test...' (then pause)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Label first — always — before offering any data or rebuttal. The label drops the defense.</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Propietario: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I've just heard so many things about solar companies not delivering what they promise.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 sounds like you've seen some real horror stories about installers who didn't follow through. [pause] That's a completely legitimate concern. Can I show you how we're different — and let you decide if you believe it?</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sequence is: Label → Pause → Confirm → Data. Most reps skip the label and go straight to data. The data hits a wall of skepticism and bounces off. The label opens the gate.</a:t>
            </a:r>
            <a:endParaRPr lang="en-US" sz="900" dirty="0"/>
          </a:p>
        </ns0:txBody>
      </ns0:sp>
    </ns0:spTree>
  </ns0:cSld>
  <ns0:clrMapOvr>
    <a:masterClrMapping/>
  </ns0:clrMapOvr>
</ns0: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Skepticism vs. Deal-Breakers: Know the Difference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Skepticism (solvable): 'Will the savings actually be what you say?' → needs data and evidence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Skepticism (solvable): 'Are you going to disappear after I sign?' → needs proof of post-install support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Deal-Breaker (unsolvable): 'We're moving in 6 months' → disqualify gracefully, ask for referrals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Deal-Breaker (unsolvable): 'My credit was denied and I have no co-signer' → disqualify and exit cleanly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Wasting 40 minutes trying to overcome a deal-breaker is one of the most common and costly rep mistakes. Identify the difference early — you solve skepticism, you exit deal-breakers.</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'Is That It?' Flush: Isolating the Real Objection</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822960"/>
            <a:ext cx="8503920" cy="347472"/>
          </a:xfrm>
          <a:prstGeom prst="rect">
            <a:avLst/>
          </a:prstGeom>
          <a:noFill/>
          <a:ln/>
        </p:spPr>
        <p: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After a concern surfaces, always check for hidden objections beneath it.</a:t>
            </a:r>
            <a:endParaRPr lang="en-US" sz="1100" dirty="0"/>
          </a:p>
        </p:txBody>
      </p:sp>
      <p:sp>
        <p:nvSpPr>
          <p:cNvPr id="6" name="Shape 4"/>
          <p:cNvSpPr/>
          <p:nvPr/>
        </p:nvSpPr>
        <p:spPr>
          <a:xfrm>
            <a:off x="274320" y="1261872"/>
            <a:ext cx="8321040" cy="530352"/>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316736"/>
            <a:ext cx="8138160" cy="420624"/>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I'm just not sure about the tax credit part — I don't know if I'd even qualify.</a:t>
            </a:r>
            <a:endParaRPr lang="en-US" sz="1100" dirty="0"/>
          </a:p>
        </p:txBody>
      </p:sp>
      <p:sp>
        <p:nvSpPr>
          <p:cNvPr id="8" name="Shape 6"/>
          <p:cNvSpPr/>
          <p:nvPr/>
        </p:nvSpPr>
        <p:spPr>
          <a:xfrm>
            <a:off x="274320" y="1892808"/>
            <a:ext cx="8321040" cy="1024128"/>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384048" y="1947672"/>
            <a:ext cx="8138160" cy="914400"/>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That's a completely fair thing to want clarity on. And we can get 100% clarity on that today. But can I ask — aside from the tax credit, is there anything else that would keep you from wanting to own your power?</a:t>
            </a:r>
            <a:endParaRPr lang="en-US" sz="1100" dirty="0"/>
          </a:p>
        </p:txBody>
      </p:sp>
      <p:sp>
        <p:nvSpPr>
          <p:cNvPr id="10" name="Shape 8"/>
          <p:cNvSpPr/>
          <p:nvPr/>
        </p:nvSpPr>
        <p:spPr>
          <a:xfrm>
            <a:off x="274320" y="3017520"/>
            <a:ext cx="8321040" cy="530352"/>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84048" y="3072384"/>
            <a:ext cx="8138160" cy="420624"/>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No, I think that's the main thing.</a:t>
            </a:r>
            <a:endParaRPr lang="en-US" sz="1100" dirty="0"/>
          </a:p>
        </p:txBody>
      </p:sp>
      <p:sp>
        <p:nvSpPr>
          <p:cNvPr id="12" name="Shape 10"/>
          <p:cNvSpPr/>
          <p:nvPr/>
        </p:nvSpPr>
        <p:spPr>
          <a:xfrm>
            <a:off x="274320" y="3648456"/>
            <a:ext cx="8321040" cy="768096"/>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384048" y="3703320"/>
            <a:ext cx="8138160" cy="658368"/>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Okay — so if we can nail down the tax credit question right now, you'd be ready to move forward?</a:t>
            </a:r>
            <a:endParaRPr lang="en-US" sz="1100" dirty="0"/>
          </a:p>
        </p:txBody>
      </p:sp>
      <p:sp>
        <p:nvSpPr>
          <p:cNvPr id="14" name="Shape 12"/>
          <p:cNvSpPr/>
          <p:nvPr/>
        </p:nvSpPr>
        <p:spPr>
          <a:xfrm>
            <a:off x="274320" y="4517136"/>
            <a:ext cx="8321040" cy="530352"/>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384048" y="4572000"/>
            <a:ext cx="8138160" cy="420624"/>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I think so.</a:t>
            </a:r>
            <a:endParaRPr lang="en-US" sz="1100" dirty="0"/>
          </a:p>
        </p:txBody>
      </p:sp>
      <p:sp>
        <p:nvSpPr>
          <p:cNvPr id="16" name="Shape 14"/>
          <p:cNvSpPr/>
          <p:nvPr/>
        </p:nvSpPr>
        <p:spPr>
          <a:xfrm>
            <a:off x="274320" y="5148072"/>
            <a:ext cx="8321040" cy="530352"/>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7" name="Text 15"/>
          <p:cNvSpPr/>
          <p:nvPr/>
        </p:nvSpPr>
        <p:spPr>
          <a:xfrm>
            <a:off x="384048" y="5202936"/>
            <a:ext cx="8138160" cy="420624"/>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Perfect. Let's do that together right now.</a:t>
            </a:r>
            <a:endParaRPr lang="en-US" sz="1100" dirty="0"/>
          </a:p>
        </p:txBody>
      </p:sp>
      <p:sp>
        <p:nvSpPr>
          <p:cNvPr id="18" name="Shape 16"/>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9" name="Text 17"/>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'Is That It?' flush is a pre-close. When they confirm the tax credit is the only thing, they've implicitly agreed to everything else. Now you're just solving one problem — not fighting an ambiguous cloud of resistance.</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Third-Party Validation: Don't Take My Word for It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Never argue with skepticism using only your own words — always bring in a third party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Google Reviews (live): 'Don't take my word for it — let me show you what homeowners in your area are saying right now'</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Utility rate filings: 'Here's [Utility]'s own rate increase request from this year — straight from their filing'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NREL or SEIA data: 'This is from the National Renewable Energy Laboratory — not our marketing team'</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skeptical homeowner trusts external sources more than any rep. Pre-load your three validation tabs before every appointment. Pulling up live reviews in real time is one of the most powerful trust-builders in the consultation.</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Maintaining the 'Late Night DJ' Voice Under Pressure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a homeowner challenges you, your voice should slow down, lower slightly, and stay warm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'Late Night DJ' voice: unhurried, confident, empathetic — the opposite of defensive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 fast, high-pitched response signals anxiety — the homeowner picks this up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Practice: have someone throw objections at you while you respond in a calm, measured tone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Physiological cues are as important as words. A rep who answers 'That sounds like a scam' with a calm smile and a slow 'I hear you — let me show you why thousands of people have said the same thing and then went ahead' closes deals. A defensive, rushed response loses them.</a:t>
            </a:r>
            <a:endParaRPr lang="en-US" sz="900" dirty="0"/>
          </a:p>
        </p:txBody>
      </p:sp>
    </p:spTree>
  </p:cSld>
  <p:clrMapOvr>
    <a:masterClrMapping/>
  </p:clrMapOvr>
</p:sld>
</file>

<file path=ppt/slides/slide68.xml><?xml version="1.0" encoding="utf-8"?>
<ns0:sld xmlns:a="http://schemas.openxmlformats.org/drawingml/2006/main" xmlns:ns0="http://schemas.openxmlformats.org/presentationml/2006/main">
  <ns0:cSld name="Slide 6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Skepticism Hot Seat</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Maintain composure and use Label → Confirm → Data against the most challenging objections</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delivers the following one at a time: 'This sounds like a scam.' / 'These savings are made up.' / 'You'll be gone in 2 years.' / 'My neighbor did this and regrets 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 must respond using the sequence: Label → Pause → 'Is That It?' → Proof</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Evaluator watches for: vocal calm, no defensiveness, no over-explaining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the response sounds like a trusted advisor, not a defensive salesperson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objection was hardest to stay calm through? Why?</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ns0:txBody>
      </ns0:sp>
    </ns0:spTree>
  </ns0:cSld>
  <ns0:clrMapOvr>
    <a:masterClrMapping/>
  </ns0:clrMapOvr>
</ns0:sld>
</file>

<file path=ppt/slides/slide69.xml><?xml version="1.0" encoding="utf-8"?>
<ns0:sld xmlns:a="http://schemas.openxmlformats.org/drawingml/2006/main" xmlns:ns0="http://schemas.openxmlformats.org/presentationml/2006/main">
  <ns0:cSld name="Slide 6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4.8</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Simplificación y El Camino al Cierre</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Narrowing Choices. Preventing Paralysis. Earning the Decision.</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70.xml><?xml version="1.0" encoding="utf-8"?>
<ns0:sld xmlns:a="http://schemas.openxmlformats.org/drawingml/2006/main" xmlns:ns0="http://schemas.openxmlformats.org/presentationml/2006/main">
  <ns0:cSld name="Slide 70">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4.8 — EL CAMINO AL CIERRE</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Dos Opciones. Una Decisión. La Firma.</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Paradox of Choice: why more options produce fewer decisions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Standard vs. Premium close: letting them choose scale, not concept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Trial closes: low-bar questions that build momentum toward yes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Explaining Next Steps to eliminate post-signature fear</a:t>
            </a:r>
            <a:endParaRPr lang="en-US" sz="1400" dirty="0"/>
          </a:p>
        </ns0:txBody>
      </ns0:sp>
    </ns0:spTree>
  </ns0:cSld>
  <ns0:clrMapOvr>
    <a:masterClrMapping/>
  </ns0:clrMapOvr>
</ns0: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Paradox of Choice: Why Simplicity Wins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More options = more comparison = more thinking = more 'I need to think about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Sheena Iyengar's jam experiment: 24 flavors attracted attention, 6 flavors drove purchases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Solar application: offering 5 financing options sends homeowners into analysis paralysis every time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rule: always present exactly TWO paths — 'The most popular' and 'The most savings'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show three or more options are often trying to 'let the homeowner decide' — but the outcome is no decision. You are not a menu. You are a guide. Guides make recommendations.</a:t>
            </a:r>
            <a:endParaRPr lang="en-US" sz="900" dirty="0"/>
          </a:p>
        </p:txBody>
      </p:sp>
    </p:spTree>
  </p:cSld>
  <p:clrMapOvr>
    <a:masterClrMapping/>
  </p:clrMapOvr>
</p:sld>
</file>

<file path=ppt/slides/slide72.xml><?xml version="1.0" encoding="utf-8"?>
<ns0:sld xmlns:a="http://schemas.openxmlformats.org/drawingml/2006/main" xmlns:ns0="http://schemas.openxmlformats.org/presentationml/2006/main">
  <ns0:cSld name="Slide 72">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109728" cy="5143500"/>
          </a:xfrm>
          <a:prstGeom prst="rect">
            <a:avLst/>
          </a:prstGeom>
          <a:solidFill>
            <a:srgbClr val="F4A61D"/>
          </a:solidFill>
          <a:ln w="12700">
            <a:solidFill>
              <a:srgbClr val="F4A61D"/>
            </a:solidFill>
            <a:prstDash val="solid"/>
          </a:ln>
        </ns0:spPr>
      </ns0:sp>
      <ns0:sp>
        <ns0:nvSpPr>
          <ns0:cNvPr id="3" name="Text 1"/>
          <ns0:cNvSpPr/>
          <ns0:nvPr/>
        </ns0:nvSpPr>
        <ns0:spPr>
          <a:xfrm>
            <a:off x="274320" y="182880"/>
            <a:ext cx="8503920" cy="594360"/>
          </a:xfrm>
          <a:prstGeom prst="rect">
            <a:avLst/>
          </a:prstGeom>
          <a:noFill/>
          <a:ln/>
        </ns0:spPr>
        <ns0: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Standard vs. Premium Close</a:t>
            </a:r>
            <a:endParaRPr lang="en-US" sz="2200" dirty="0"/>
          </a:p>
        </ns0:txBody>
      </ns0:sp>
      <ns0:sp>
        <ns0:nvSpPr>
          <ns0:cNvPr id="4" name="Shape 2"/>
          <ns0:cNvSpPr/>
          <ns0:nvPr/>
        </ns0:nvSpPr>
        <ns0:spPr>
          <a:xfrm>
            <a:off x="274320" y="804672"/>
            <a:ext cx="8503920" cy="27432"/>
          </a:xfrm>
          <a:prstGeom prst="rect">
            <a:avLst/>
          </a:prstGeom>
          <a:solidFill>
            <a:srgbClr val="F4A61D">
              <a:alpha val="40000"/>
            </a:srgbClr>
          </a:solidFill>
          <a:ln w="12700">
            <a:solidFill>
              <a:srgbClr val="F4A61D">
                <a:alpha val="40000"/>
              </a:srgbClr>
            </a:solidFill>
            <a:prstDash val="solid"/>
          </a:ln>
        </ns0:spPr>
      </ns0:sp>
      <ns0:sp>
        <ns0:nvSpPr>
          <ns0:cNvPr id="5" name="Text 3"/>
          <ns0:cNvSpPr/>
          <ns0:nvPr/>
        </ns0:nvSpPr>
        <ns0:spPr>
          <a:xfrm>
            <a:off x="274320" y="914400"/>
            <a:ext cx="8503920" cy="1508760"/>
          </a:xfrm>
          <a:prstGeom prst="rect">
            <a:avLst/>
          </a:prstGeom>
          <a:noFill/>
          <a:ln/>
        </ns0:spPr>
        <ns0: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Option A: Offset 80% of usage → lower monthly payment, minimal upfront, faster payoff</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Option B: Offset 105% of usage → maximum savings, slightly higher payment, creates credits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Critical framing: 'Both of these are smart decisions — the only question is how aggressive you want to be'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are choosing the SCALE of solar, not WHETHER to do solar — the concept is already sold</a:t>
            </a:r>
            <a:endParaRPr lang="en-US" sz="1400" dirty="0"/>
          </a:p>
        </ns0:txBody>
      </ns0:sp>
      <ns0:sp>
        <ns0:nvSpPr>
          <ns0:cNvPr id="6" name="Shape 4"/>
          <ns0:cNvSpPr/>
          <ns0:nvPr/>
        </ns0:nvSpPr>
        <ns0:spPr>
          <a:xfrm>
            <a:off x="274320" y="2560320"/>
            <a:ext cx="8503920" cy="178308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ns0:spPr>
      </ns0:sp>
      <ns0:sp>
        <ns0:nvSpPr>
          <ns0:cNvPr id="7" name="Shape 5"/>
          <ns0:cNvSpPr/>
          <ns0:nvPr/>
        </ns0:nvSpPr>
        <ns0:spPr>
          <a:xfrm>
            <a:off x="274320" y="2560320"/>
            <a:ext cx="1097280" cy="347472"/>
          </a:xfrm>
          <a:prstGeom prst="rect">
            <a:avLst/>
          </a:prstGeom>
          <a:solidFill>
            <a:srgbClr val="0891B2"/>
          </a:solidFill>
          <a:ln w="12700">
            <a:solidFill>
              <a:srgbClr val="0891B2"/>
            </a:solidFill>
            <a:prstDash val="solid"/>
          </a:ln>
        </ns0:spPr>
      </ns0:sp>
      <ns0:sp>
        <ns0:nvSpPr>
          <ns0:cNvPr id="8" name="Text 6"/>
          <ns0:cNvSpPr/>
          <ns0:nvPr/>
        </ns0:nvSpPr>
        <ns0:spPr>
          <a:xfrm>
            <a:off x="292608" y="2578608"/>
            <a:ext cx="1051560" cy="310896"/>
          </a:xfrm>
          <a:prstGeom prst="rect">
            <a:avLst/>
          </a:prstGeom>
          <a:noFill/>
          <a:ln/>
        </ns0:spPr>
        <ns0: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DIÁLOGO</a:t>
            </a:r>
            <a:endParaRPr lang="en-US" sz="900" dirty="0"/>
          </a:p>
        </ns0:txBody>
      </ns0:sp>
      <ns0:sp>
        <ns0:nvSpPr>
          <ns0:cNvPr id="9" name="Text 7"/>
          <ns0:cNvSpPr/>
          <ns0:nvPr/>
        </ns0:nvSpPr>
        <ns0:spPr>
          <a:xfrm>
            <a:off x="411480" y="3017520"/>
            <a:ext cx="8321040" cy="1234440"/>
          </a:xfrm>
          <a:prstGeom prst="rect">
            <a:avLst/>
          </a:prstGeom>
          <a:noFill/>
          <a:ln/>
        </ns0:spPr>
        <ns0: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Based on everything we've talked about, I've put together two smart options for your home. Option A offsets about 80% of your bill — lower payment, clean and simple. Option B goes to 105% and puts credits on your account every month. Both are solid. Which direction sounds better for your family?</a:t>
            </a:r>
            <a:endParaRPr lang="en-US" sz="1100" dirty="0"/>
          </a:p>
        </ns0:txBody>
      </ns0:sp>
      <ns0:sp>
        <ns0:nvSpPr>
          <ns0:cNvPr id="10" name="Shape 8"/>
          <ns0:cNvSpPr/>
          <ns0:nvPr/>
        </ns0:nvSpPr>
        <ns0:spPr>
          <a:xfrm>
            <a:off x="0" y="4663440"/>
            <a:ext cx="9144000" cy="480060"/>
          </a:xfrm>
          <a:prstGeom prst="rect">
            <a:avLst/>
          </a:prstGeom>
          <a:solidFill>
            <a:srgbClr val="E07B39">
              <a:alpha val="15000"/>
            </a:srgbClr>
          </a:solidFill>
          <a:ln w="12700">
            <a:solidFill>
              <a:srgbClr val="E07B39">
                <a:alpha val="15000"/>
              </a:srgbClr>
            </a:solidFill>
            <a:prstDash val="solid"/>
          </a:ln>
        </ns0:spPr>
      </ns0:sp>
      <ns0:sp>
        <ns0:nvSpPr>
          <ns0:cNvPr id="11" name="Text 9"/>
          <ns0:cNvSpPr/>
          <ns0:nvPr/>
        </ns0:nvSpPr>
        <ns0:spPr>
          <a:xfrm>
            <a:off x="274320" y="4690872"/>
            <a:ext cx="8686800" cy="384048"/>
          </a:xfrm>
          <a:prstGeom prst="rect">
            <a:avLst/>
          </a:prstGeom>
          <a:noFill/>
          <a:ln/>
        </ns0:spPr>
        <ns0: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binary choice close is one of the most field-proven structures in solar sales. By presenting it, you've already assumed the sale. The homeowner's job is just to pick the version that fits their household best.</a:t>
            </a:r>
            <a:endParaRPr lang="en-US" sz="900" dirty="0"/>
          </a:p>
        </ns0:txBody>
      </ns0:sp>
    </ns0:spTree>
  </ns0:cSld>
  <ns0:clrMapOvr>
    <a:masterClrMapping/>
  </ns0:clrMapOvr>
</ns0: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Low-Bar Trial Closes: Building Yes Momentum</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'Does the design look the way you expected the panels to sit on your roof?'</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'Does that monthly payment fit comfortably within your budget?'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 you have any remaining questions about the installation process?'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Each 'Yes' to a low-bar question builds psychological momentum toward the final 'Yes'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Trial closes are not tricks — they are checkpoints. Each one confirms alignment. By the time you reach the final ask, you've already collected 4–5 micro-agreements. The final 'Yes' is just the last in a series.</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Assumption of Value: Speaking in 'When,' Not 'If'</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we get the panels on your roof...' (not 'if you decide to go ahead')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the utility swaps your meter, you'll start seeing credits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your first bill comes in after PTO, you'll want to screenshot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Future-pacing: placing the homeowner mentally in the post-purchase state before they've signed</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Future pacing is one of the most powerful NLP-adjacent techniques in sales. When you speak in 'when,' the homeowner's brain starts visualizing the post-purchase reality — and that reality feels good. The decision becomes a formality.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Explaining Next Steps: The Post-Signature Road Map</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Most homeowners don't sign because they are afraid of what happens AFTER they sign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Eliminate the mystery before the ask: 'Let me show you exactly what happens next'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Step 1 — Site Survey (2-3 days): 'A technician comes out for a 30-minute inspection'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Step 2 — Permitting (2–4 weeks): 'We handle all the paperwork — you don't lift a finger'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Post-Signature Road Map removes the final unconscious fear: 'What am I committing to?' When homeowners can see the exact sequence of events, the unknown becomes known — and known things are manageable.</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Installation Journey: What Happens After 'Yes'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347472" y="960120"/>
            <a:ext cx="2002536" cy="292608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347472" y="960120"/>
            <a:ext cx="2002536" cy="384048"/>
          </a:xfrm>
          <a:prstGeom prst="rect">
            <a:avLst/>
          </a:prstGeom>
          <a:solidFill>
            <a:srgbClr val="0891B2"/>
          </a:solidFill>
          <a:ln w="12700">
            <a:solidFill>
              <a:srgbClr val="0891B2"/>
            </a:solidFill>
            <a:prstDash val="solid"/>
          </a:ln>
        </p:spPr>
      </p:sp>
      <p:sp>
        <p:nvSpPr>
          <p:cNvPr id="7" name="Text 5"/>
          <p:cNvSpPr/>
          <p:nvPr/>
        </p:nvSpPr>
        <p:spPr>
          <a:xfrm>
            <a:off x="365760" y="996696"/>
            <a:ext cx="1965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Site Survey</a:t>
            </a:r>
            <a:endParaRPr lang="en-US" sz="1200" dirty="0"/>
          </a:p>
        </p:txBody>
      </p:sp>
      <p:sp>
        <p:nvSpPr>
          <p:cNvPr id="8" name="Text 6"/>
          <p:cNvSpPr/>
          <p:nvPr/>
        </p:nvSpPr>
        <p:spPr>
          <a:xfrm>
            <a:off x="384048" y="1463040"/>
            <a:ext cx="1929384" cy="233172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Tech visit, 30 min, roof &amp; panel confirmed</a:t>
            </a:r>
            <a:endParaRPr lang="en-US" sz="1100" dirty="0"/>
          </a:p>
        </p:txBody>
      </p:sp>
      <p:sp>
        <p:nvSpPr>
          <p:cNvPr id="9" name="Shape 7"/>
          <p:cNvSpPr/>
          <p:nvPr/>
        </p:nvSpPr>
        <p:spPr>
          <a:xfrm>
            <a:off x="2350008" y="2368296"/>
            <a:ext cx="146304" cy="109728"/>
          </a:xfrm>
          <a:prstGeom prst="rect">
            <a:avLst/>
          </a:prstGeom>
          <a:solidFill>
            <a:srgbClr val="F4A61D"/>
          </a:solidFill>
          <a:ln w="12700">
            <a:solidFill>
              <a:srgbClr val="F4A61D"/>
            </a:solidFill>
            <a:prstDash val="solid"/>
          </a:ln>
        </p:spPr>
      </p:sp>
      <p:sp>
        <p:nvSpPr>
          <p:cNvPr id="10" name="Shape 8"/>
          <p:cNvSpPr/>
          <p:nvPr/>
        </p:nvSpPr>
        <p:spPr>
          <a:xfrm>
            <a:off x="2496312" y="1033272"/>
            <a:ext cx="2002536" cy="27889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11" name="Shape 9"/>
          <p:cNvSpPr/>
          <p:nvPr/>
        </p:nvSpPr>
        <p:spPr>
          <a:xfrm>
            <a:off x="2496312" y="1033272"/>
            <a:ext cx="2002536" cy="384048"/>
          </a:xfrm>
          <a:prstGeom prst="rect">
            <a:avLst/>
          </a:prstGeom>
          <a:solidFill>
            <a:srgbClr val="F4A61D"/>
          </a:solidFill>
          <a:ln w="12700">
            <a:solidFill>
              <a:srgbClr val="F4A61D"/>
            </a:solidFill>
            <a:prstDash val="solid"/>
          </a:ln>
        </p:spPr>
      </p:sp>
      <p:sp>
        <p:nvSpPr>
          <p:cNvPr id="12" name="Text 10"/>
          <p:cNvSpPr/>
          <p:nvPr/>
        </p:nvSpPr>
        <p:spPr>
          <a:xfrm>
            <a:off x="2514600" y="1069848"/>
            <a:ext cx="1965960" cy="310896"/>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Permitting</a:t>
            </a:r>
            <a:endParaRPr lang="en-US" sz="1200" dirty="0"/>
          </a:p>
        </p:txBody>
      </p:sp>
      <p:sp>
        <p:nvSpPr>
          <p:cNvPr id="13" name="Text 11"/>
          <p:cNvSpPr/>
          <p:nvPr/>
        </p:nvSpPr>
        <p:spPr>
          <a:xfrm>
            <a:off x="2532888" y="1536192"/>
            <a:ext cx="1929384" cy="219456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We handle everything, 2–4 weeks</a:t>
            </a:r>
            <a:endParaRPr lang="en-US" sz="1100" dirty="0"/>
          </a:p>
        </p:txBody>
      </p:sp>
      <p:sp>
        <p:nvSpPr>
          <p:cNvPr id="14" name="Shape 12"/>
          <p:cNvSpPr/>
          <p:nvPr/>
        </p:nvSpPr>
        <p:spPr>
          <a:xfrm>
            <a:off x="4498848" y="2372868"/>
            <a:ext cx="146304" cy="109728"/>
          </a:xfrm>
          <a:prstGeom prst="rect">
            <a:avLst/>
          </a:prstGeom>
          <a:solidFill>
            <a:srgbClr val="F4A61D"/>
          </a:solidFill>
          <a:ln w="12700">
            <a:solidFill>
              <a:srgbClr val="F4A61D"/>
            </a:solidFill>
            <a:prstDash val="solid"/>
          </a:ln>
        </p:spPr>
      </p:sp>
      <p:sp>
        <p:nvSpPr>
          <p:cNvPr id="15" name="Shape 13"/>
          <p:cNvSpPr/>
          <p:nvPr/>
        </p:nvSpPr>
        <p:spPr>
          <a:xfrm>
            <a:off x="4645152" y="1106424"/>
            <a:ext cx="2002536" cy="265176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6" name="Shape 14"/>
          <p:cNvSpPr/>
          <p:nvPr/>
        </p:nvSpPr>
        <p:spPr>
          <a:xfrm>
            <a:off x="4645152" y="1106424"/>
            <a:ext cx="2002536" cy="384048"/>
          </a:xfrm>
          <a:prstGeom prst="rect">
            <a:avLst/>
          </a:prstGeom>
          <a:solidFill>
            <a:srgbClr val="2D9B4E"/>
          </a:solidFill>
          <a:ln w="12700">
            <a:solidFill>
              <a:srgbClr val="2D9B4E"/>
            </a:solidFill>
            <a:prstDash val="solid"/>
          </a:ln>
        </p:spPr>
      </p:sp>
      <p:sp>
        <p:nvSpPr>
          <p:cNvPr id="17" name="Text 15"/>
          <p:cNvSpPr/>
          <p:nvPr/>
        </p:nvSpPr>
        <p:spPr>
          <a:xfrm>
            <a:off x="4663440" y="1143000"/>
            <a:ext cx="1965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Installation</a:t>
            </a:r>
            <a:endParaRPr lang="en-US" sz="1200" dirty="0"/>
          </a:p>
        </p:txBody>
      </p:sp>
      <p:sp>
        <p:nvSpPr>
          <p:cNvPr id="18" name="Text 16"/>
          <p:cNvSpPr/>
          <p:nvPr/>
        </p:nvSpPr>
        <p:spPr>
          <a:xfrm>
            <a:off x="4681728" y="1609344"/>
            <a:ext cx="1929384" cy="205740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Crew on roof, 1–2 days, clean job</a:t>
            </a:r>
            <a:endParaRPr lang="en-US" sz="1100" dirty="0"/>
          </a:p>
        </p:txBody>
      </p:sp>
      <p:sp>
        <p:nvSpPr>
          <p:cNvPr id="19" name="Shape 17"/>
          <p:cNvSpPr/>
          <p:nvPr/>
        </p:nvSpPr>
        <p:spPr>
          <a:xfrm>
            <a:off x="6647688" y="2377440"/>
            <a:ext cx="146304" cy="109728"/>
          </a:xfrm>
          <a:prstGeom prst="rect">
            <a:avLst/>
          </a:prstGeom>
          <a:solidFill>
            <a:srgbClr val="F4A61D"/>
          </a:solidFill>
          <a:ln w="12700">
            <a:solidFill>
              <a:srgbClr val="F4A61D"/>
            </a:solidFill>
            <a:prstDash val="solid"/>
          </a:ln>
        </p:spPr>
      </p:sp>
      <p:sp>
        <p:nvSpPr>
          <p:cNvPr id="20" name="Shape 18"/>
          <p:cNvSpPr/>
          <p:nvPr/>
        </p:nvSpPr>
        <p:spPr>
          <a:xfrm>
            <a:off x="6793992" y="1179576"/>
            <a:ext cx="2002536" cy="2514600"/>
          </a:xfrm>
          <a:prstGeom prst="rect">
            <a:avLst/>
          </a:prstGeom>
          <a:solidFill>
            <a:srgbClr val="1A2840"/>
          </a:solidFill>
          <a:ln w="25400">
            <a:solidFill>
              <a:srgbClr val="D4A017"/>
            </a:solidFill>
            <a:prstDash val="solid"/>
          </a:ln>
          <a:effectLst>
            <a:outerShdw sx="100000" sy="100000" kx="0" ky="0" algn="bl" rotWithShape="0" blurRad="101600" dist="38100" dir="8100000">
              <a:srgbClr val="000000">
                <a:alpha val="20000"/>
              </a:srgbClr>
            </a:outerShdw>
          </a:effectLst>
        </p:spPr>
      </p:sp>
      <p:sp>
        <p:nvSpPr>
          <p:cNvPr id="21" name="Shape 19"/>
          <p:cNvSpPr/>
          <p:nvPr/>
        </p:nvSpPr>
        <p:spPr>
          <a:xfrm>
            <a:off x="6793992" y="1179576"/>
            <a:ext cx="2002536" cy="384048"/>
          </a:xfrm>
          <a:prstGeom prst="rect">
            <a:avLst/>
          </a:prstGeom>
          <a:solidFill>
            <a:srgbClr val="D4A017"/>
          </a:solidFill>
          <a:ln w="12700">
            <a:solidFill>
              <a:srgbClr val="D4A017"/>
            </a:solidFill>
            <a:prstDash val="solid"/>
          </a:ln>
        </p:spPr>
      </p:sp>
      <p:sp>
        <p:nvSpPr>
          <p:cNvPr id="22" name="Text 20"/>
          <p:cNvSpPr/>
          <p:nvPr/>
        </p:nvSpPr>
        <p:spPr>
          <a:xfrm>
            <a:off x="6812280" y="1216152"/>
            <a:ext cx="196596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PTO</a:t>
            </a:r>
            <a:endParaRPr lang="en-US" sz="1200" dirty="0"/>
          </a:p>
        </p:txBody>
      </p:sp>
      <p:sp>
        <p:nvSpPr>
          <p:cNvPr id="23" name="Text 21"/>
          <p:cNvSpPr/>
          <p:nvPr/>
        </p:nvSpPr>
        <p:spPr>
          <a:xfrm>
            <a:off x="6830568" y="1682496"/>
            <a:ext cx="1929384" cy="1920240"/>
          </a:xfrm>
          <a:prstGeom prst="rect">
            <a:avLst/>
          </a:prstGeom>
          <a:noFill/>
          <a:ln/>
        </p:spPr>
        <p:txBody>
          <a:bodyPr wrap="square" lIns="0" tIns="0" rIns="0" bIns="0" rtlCol="0" anchor="t"/>
          <a:lstStyle/>
          <a:p>
            <a:pPr algn="ctr" indent="0" marL="0">
              <a:buNone/>
            </a:pPr>
            <a:r>
              <a:rPr lang="en-US" sz="1100" dirty="0">
                <a:solidFill>
                  <a:srgbClr val="8FA3B1"/>
                </a:solidFill>
                <a:latin typeface="Calibri" pitchFamily="34" charset="0"/>
                <a:ea typeface="Calibri" pitchFamily="34" charset="-122"/>
                <a:cs typeface="Calibri" pitchFamily="34" charset="-120"/>
              </a:rPr>
              <a:t>Utility activates, you go live — system ON</a:t>
            </a:r>
            <a:endParaRPr lang="en-US" sz="1100" dirty="0"/>
          </a:p>
        </p:txBody>
      </p:sp>
      <p:sp>
        <p:nvSpPr>
          <p:cNvPr id="24" name="Shape 22"/>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5" name="Text 23"/>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through this visual slowly. For each step say: 'And for this one, you don't have to do anything — we handle it.' Four times you say that, four times the homeowner's fear reduces. By PTO, they're excited.</a:t>
            </a:r>
            <a:endParaRPr lang="en-US" sz="900" dirty="0"/>
          </a:p>
        </p:txBody>
      </p:sp>
    </p:spTree>
  </p:cSld>
  <p:clrMapOvr>
    <a:masterClrMapping/>
  </p:clrMapOvr>
</p:sld>
</file>

<file path=ppt/slides/slide77.xml><?xml version="1.0" encoding="utf-8"?>
<ns0:sld xmlns:a="http://schemas.openxmlformats.org/drawingml/2006/main" xmlns:ns0="http://schemas.openxmlformats.org/presentationml/2006/main">
  <ns0:cSld name="Slide 77">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Activity: The Option-Reduction Drill</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Compress a full proposal into 2 simple choices — and get a pick in under 60 seconds</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is given a 'complex' scenario: 3 system sizes, 4 financing options, 2 panel brands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Task: summarize the whole proposal into exactly 2 options using: 'You have two smart ways to do this...'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Deliver the binary choice and ask: 'Which one sounds better for your family?'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Evaluator: Did the rep create simplicity or maintain complexity? Did the homeowner 'pick'?</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did the rep cut? Was cutting it the right move?</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ns0:txBody>
      </ns0:sp>
    </ns0:spTree>
  </ns0:cSld>
  <ns0:clrMapOvr>
    <a:masterClrMapping/>
  </ns0:clrMapOvr>
</ns0:sld>
</file>

<file path=ppt/slides/slide78.xml><?xml version="1.0" encoding="utf-8"?>
<ns0:sld xmlns:a="http://schemas.openxmlformats.org/drawingml/2006/main" xmlns:ns0="http://schemas.openxmlformats.org/presentationml/2006/main">
  <ns0:cSld name="Slide 7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4.9</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Simulación Completa de Presentación</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Certification Day: The Master Close</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79.xml><?xml version="1.0" encoding="utf-8"?>
<ns0:sld xmlns:a="http://schemas.openxmlformats.org/drawingml/2006/main" xmlns:ns0="http://schemas.openxmlformats.org/presentationml/2006/main">
  <ns0:cSld name="Slide 79">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4480560"/>
            <a:ext cx="9144000" cy="662940"/>
          </a:xfrm>
          <a:prstGeom prst="rect">
            <a:avLst/>
          </a:prstGeom>
          <a:solidFill>
            <a:srgbClr val="F4A61D"/>
          </a:solidFill>
          <a:ln w="12700">
            <a:solidFill>
              <a:srgbClr val="F4A61D"/>
            </a:solidFill>
            <a:prstDash val="solid"/>
          </a:ln>
        </ns0:spPr>
      </ns0:sp>
      <ns0:sp>
        <ns0:nvSpPr>
          <ns0:cNvPr id="3" name="Text 1"/>
          <ns0:cNvSpPr/>
          <ns0:nvPr/>
        </ns0:nvSpPr>
        <ns0:spPr>
          <a:xfrm>
            <a:off x="457200" y="1097280"/>
            <a:ext cx="8229600" cy="457200"/>
          </a:xfrm>
          <a:prstGeom prst="rect">
            <a:avLst/>
          </a:prstGeom>
          <a:noFill/>
          <a:ln/>
        </ns0:spPr>
        <ns0: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MÓDULO 4.9 — SIMULACIÓN COMPLETA</a:t>
            </a:r>
            <a:endParaRPr lang="en-US" sz="1200" dirty="0"/>
          </a:p>
        </ns0:txBody>
      </ns0:sp>
      <ns0:sp>
        <ns0:nvSpPr>
          <ns0:cNvPr id="4" name="Text 2"/>
          <ns0:cNvSpPr/>
          <ns0:nvPr/>
        </ns0:nvSpPr>
        <ns0:spPr>
          <a:xfrm>
            <a:off x="457200" y="1554480"/>
            <a:ext cx="7772400" cy="1280160"/>
          </a:xfrm>
          <a:prstGeom prst="rect">
            <a:avLst/>
          </a:prstGeom>
          <a:noFill/>
          <a:ln/>
        </ns0:spPr>
        <ns0: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Día de Partido. Sin Coaching. Solo Rendimiento.</a:t>
            </a:r>
            <a:endParaRPr lang="en-US" sz="3400" dirty="0"/>
          </a:p>
        </ns0:txBody>
      </ns0:sp>
      <ns0:sp>
        <ns0:nvSpPr>
          <ns0:cNvPr id="5" name="Text 3"/>
          <ns0:cNvSpPr/>
          <ns0:nvPr/>
        </ns0:nvSpPr>
        <ns0:spPr>
          <a:xfrm>
            <a:off x="457200" y="2926080"/>
            <a:ext cx="7772400" cy="1371600"/>
          </a:xfrm>
          <a:prstGeom prst="rect">
            <a:avLst/>
          </a:prstGeom>
          <a:noFill/>
          <a:ln/>
        </ns0:spPr>
        <ns0: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Logic Lead scenario: analytical homeowner with high bill and high skepticism</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Scoring criteria: the Closer Card (20 points)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AI simulation — The Garcia Proposal</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What a passing performance looks like vs. what sends you back to Day 3</a:t>
            </a:r>
            <a:endParaRPr lang="en-US" sz="1400" dirty="0"/>
          </a:p>
        </ns0:txBody>
      </ns0:sp>
    </ns0:spTree>
  </ns0:cSld>
  <ns0:clrMapOvr>
    <a:masterClrMapping/>
  </ns0:clrMapOvr>
</ns0: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Simulation Setup: The 'Logic Lead' Scenario</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4023360" cy="169164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4023360" cy="347472"/>
          </a:xfrm>
          <a:prstGeom prst="rect">
            <a:avLst/>
          </a:prstGeom>
          <a:solidFill>
            <a:srgbClr val="0891B2"/>
          </a:solidFill>
          <a:ln w="12700">
            <a:solidFill>
              <a:srgbClr val="0891B2"/>
            </a:solidFill>
            <a:prstDash val="solid"/>
          </a:ln>
        </p:spPr>
      </p:sp>
      <p:sp>
        <p:nvSpPr>
          <p:cNvPr id="7" name="Text 5"/>
          <p:cNvSpPr/>
          <p:nvPr/>
        </p:nvSpPr>
        <p:spPr>
          <a:xfrm>
            <a:off x="320040" y="850392"/>
            <a:ext cx="3931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THE HOMEOWNER (OWL)</a:t>
            </a:r>
            <a:endParaRPr lang="en-US" sz="1100" dirty="0"/>
          </a:p>
        </p:txBody>
      </p:sp>
      <p:sp>
        <p:nvSpPr>
          <p:cNvPr id="8" name="Text 6"/>
          <p:cNvSpPr/>
          <p:nvPr/>
        </p:nvSpPr>
        <p:spPr>
          <a:xfrm>
            <a:off x="365760" y="123444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Analytical, data-driven, has researched solar online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$340/month average bill, Tier 2 pricing</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Skeptical of savings claims — wants the math verified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Has one objection pre-loaded: 'I've seen these estimates before'</a:t>
            </a:r>
            <a:endParaRPr lang="en-US" sz="1100" dirty="0"/>
          </a:p>
        </p:txBody>
      </p:sp>
      <p:sp>
        <p:nvSpPr>
          <p:cNvPr id="9" name="Shape 7"/>
          <p:cNvSpPr/>
          <p:nvPr/>
        </p:nvSpPr>
        <p:spPr>
          <a:xfrm>
            <a:off x="4846320" y="822960"/>
            <a:ext cx="4023360" cy="169164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22960"/>
            <a:ext cx="4023360" cy="347472"/>
          </a:xfrm>
          <a:prstGeom prst="rect">
            <a:avLst/>
          </a:prstGeom>
          <a:solidFill>
            <a:srgbClr val="F4A61D"/>
          </a:solidFill>
          <a:ln w="12700">
            <a:solidFill>
              <a:srgbClr val="F4A61D"/>
            </a:solidFill>
            <a:prstDash val="solid"/>
          </a:ln>
        </p:spPr>
      </p:sp>
      <p:sp>
        <p:nvSpPr>
          <p:cNvPr id="11" name="Text 9"/>
          <p:cNvSpPr/>
          <p:nvPr/>
        </p:nvSpPr>
        <p:spPr>
          <a:xfrm>
            <a:off x="4892040" y="850392"/>
            <a:ext cx="3931920" cy="292608"/>
          </a:xfrm>
          <a:prstGeom prst="rect">
            <a:avLst/>
          </a:prstGeom>
          <a:noFill/>
          <a:ln/>
        </p:spPr>
        <p: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YOUR OBJECTIVES</a:t>
            </a:r>
            <a:endParaRPr lang="en-US" sz="1100" dirty="0"/>
          </a:p>
        </p:txBody>
      </p:sp>
      <p:sp>
        <p:nvSpPr>
          <p:cNvPr id="12" name="Text 10"/>
          <p:cNvSpPr/>
          <p:nvPr/>
        </p:nvSpPr>
        <p:spPr>
          <a:xfrm>
            <a:off x="4937760" y="123444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Open with The Bridge and earn a 'That's Right'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Use the Rent vs. Own and Bill Swap to reframe the numbers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Address skepticism using Label + Third-Party Proof</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 with the binary choice and the Road Map</a:t>
            </a:r>
            <a:endParaRPr lang="en-US" sz="1100" dirty="0"/>
          </a:p>
        </p:txBody>
      </p:sp>
      <p:sp>
        <p:nvSpPr>
          <p:cNvPr id="13" name="Shape 11"/>
          <p:cNvSpPr/>
          <p:nvPr/>
        </p:nvSpPr>
        <p:spPr>
          <a:xfrm>
            <a:off x="274320" y="2697480"/>
            <a:ext cx="4023360" cy="169164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97480"/>
            <a:ext cx="4023360" cy="347472"/>
          </a:xfrm>
          <a:prstGeom prst="rect">
            <a:avLst/>
          </a:prstGeom>
          <a:solidFill>
            <a:srgbClr val="2D9B4E"/>
          </a:solidFill>
          <a:ln w="12700">
            <a:solidFill>
              <a:srgbClr val="2D9B4E"/>
            </a:solidFill>
            <a:prstDash val="solid"/>
          </a:ln>
        </p:spPr>
      </p:sp>
      <p:sp>
        <p:nvSpPr>
          <p:cNvPr id="15" name="Text 13"/>
          <p:cNvSpPr/>
          <p:nvPr/>
        </p:nvSpPr>
        <p:spPr>
          <a:xfrm>
            <a:off x="320040" y="2724912"/>
            <a:ext cx="3931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RULES OF ENGAGEMENT</a:t>
            </a:r>
            <a:endParaRPr lang="en-US" sz="1100" dirty="0"/>
          </a:p>
        </p:txBody>
      </p:sp>
      <p:sp>
        <p:nvSpPr>
          <p:cNvPr id="16" name="Text 14"/>
          <p:cNvSpPr/>
          <p:nvPr/>
        </p:nvSpPr>
        <p:spPr>
          <a:xfrm>
            <a:off x="365760" y="310896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No coaching during the simulation — observers stay silent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The 'homeowner' actor must stay in character through the close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Rep has 25 minutes to reach a commitment to the Site Survey</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Record the session for post-simulation review</a:t>
            </a:r>
            <a:endParaRPr lang="en-US" sz="1100" dirty="0"/>
          </a:p>
        </p:txBody>
      </p:sp>
      <p:sp>
        <p:nvSpPr>
          <p:cNvPr id="17" name="Shape 15"/>
          <p:cNvSpPr/>
          <p:nvPr/>
        </p:nvSpPr>
        <p:spPr>
          <a:xfrm>
            <a:off x="4846320" y="2697480"/>
            <a:ext cx="4023360" cy="169164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97480"/>
            <a:ext cx="4023360" cy="347472"/>
          </a:xfrm>
          <a:prstGeom prst="rect">
            <a:avLst/>
          </a:prstGeom>
          <a:solidFill>
            <a:srgbClr val="E07B39"/>
          </a:solidFill>
          <a:ln w="12700">
            <a:solidFill>
              <a:srgbClr val="E07B39"/>
            </a:solidFill>
            <a:prstDash val="solid"/>
          </a:ln>
        </p:spPr>
      </p:sp>
      <p:sp>
        <p:nvSpPr>
          <p:cNvPr id="19" name="Text 17"/>
          <p:cNvSpPr/>
          <p:nvPr/>
        </p:nvSpPr>
        <p:spPr>
          <a:xfrm>
            <a:off x="4892040" y="2724912"/>
            <a:ext cx="39319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PASS CRITERIA</a:t>
            </a:r>
            <a:endParaRPr lang="en-US" sz="1100" dirty="0"/>
          </a:p>
        </p:txBody>
      </p:sp>
      <p:sp>
        <p:nvSpPr>
          <p:cNvPr id="20" name="Text 18"/>
          <p:cNvSpPr/>
          <p:nvPr/>
        </p:nvSpPr>
        <p:spPr>
          <a:xfrm>
            <a:off x="4937760" y="3108960"/>
            <a:ext cx="3840480" cy="121615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Score 16/20 on the Closer Card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Must reach a 'That's Right' in Module 4.1</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Must present both options in the binary close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Homeowner must commit to the Site Survey by end</a:t>
            </a:r>
            <a:endParaRPr lang="en-US" sz="11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the 'final exam' for Day 4. Reps who pass confirm they've internalized the full Day 4 framework. Reps who don't get a focused coaching debrief before Day 5.</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Closer Card: Day 4 Scoring Criteria</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Bridge Mastery (1–5): Did they earn a 'That's Right'? Did they use the homeowner's exact words?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Technical Simplicity (1–5): Were all concepts explained clearly? Zero jargon score?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Financial Confidence (1–5): Was the price delivered without hesitation? Was the Bill Swap clean?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Closing Path Clarity (1–5): Did they use a binary close? Did they present the Road Map?</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need 16/20 to advance to Day 5. Scores of 12–15 = focused coaching on the weakest category. Scores below 12 = repeat the full Day 4 simulation before advancing. This is a certification, not a participation ribbon.</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What Elite Reps Do Differently in Simulation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slow down — elite reps own silence and use pauses deliberately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stay curious under pressure — every objection becomes: 'Tell me more about that'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never apologize for the price or the product — they stand behind the math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close on the next step, not the signature — 'Let's lock in your site survey while I'm here'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Review recordings from previous simulation rounds to show concrete examples of each behavior. The 'slowing down' point often surprises newer reps — most feel they need to fill every silence.</a:t>
            </a:r>
            <a:endParaRPr lang="en-US" sz="900" dirty="0"/>
          </a:p>
        </p:txBody>
      </p:sp>
    </p:spTree>
  </p:cSld>
  <p:clrMapOvr>
    <a:masterClrMapping/>
  </p:clrMapOvr>
</p:sld>
</file>

<file path=ppt/slides/slide83.xml><?xml version="1.0" encoding="utf-8"?>
<ns0:sld xmlns:a="http://schemas.openxmlformats.org/drawingml/2006/main" xmlns:ns0="http://schemas.openxmlformats.org/presentationml/2006/main">
  <ns0:cSld name="Slide 83">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005840"/>
          </a:xfrm>
          <a:prstGeom prst="rect">
            <a:avLst/>
          </a:prstGeom>
          <a:solidFill>
            <a:srgbClr val="E07B39"/>
          </a:solidFill>
          <a:ln w="12700">
            <a:solidFill>
              <a:srgbClr val="E07B39"/>
            </a:solidFill>
            <a:prstDash val="solid"/>
          </a:ln>
        </ns0:spPr>
      </ns0:sp>
      <ns0:sp>
        <ns0:nvSpPr>
          <ns0:cNvPr id="3" name="Text 1"/>
          <ns0:cNvSpPr/>
          <ns0:nvPr/>
        </ns0:nvSpPr>
        <ns0:spPr>
          <a:xfrm>
            <a:off x="365760" y="73152"/>
            <a:ext cx="3657600" cy="365760"/>
          </a:xfrm>
          <a:prstGeom prst="rect">
            <a:avLst/>
          </a:prstGeom>
          <a:noFill/>
          <a:ln/>
        </ns0:spPr>
        <ns0: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ACTIVIDAD</a:t>
            </a:r>
            <a:endParaRPr lang="en-US" sz="1200" dirty="0"/>
          </a:p>
        </ns0:txBody>
      </ns0:sp>
      <ns0:sp>
        <ns0:nvSpPr>
          <ns0:cNvPr id="4" name="Text 2"/>
          <ns0:cNvSpPr/>
          <ns0:nvPr/>
        </ns0:nvSpPr>
        <ns0:spPr>
          <a:xfrm>
            <a:off x="365760" y="438912"/>
            <a:ext cx="8412480" cy="475488"/>
          </a:xfrm>
          <a:prstGeom prst="rect">
            <a:avLst/>
          </a:prstGeom>
          <a:noFill/>
          <a:ln/>
        </ns0:spPr>
        <ns0:txBody>
          <a:bodyPr wrap="square" lIns="0" tIns="0" rIns="0" bIns="0" rtlCol="0" anchor="ctr"/>
          <a:lstStyle/>
          <a:p>
            <a:pPr algn="l" indent="0" marL="0">
              <a:buNone/>
            </a:pPr>
            <a:r>
              <a:rPr lang="en-US" sz="1900" b="1" dirty="0">
                <a:solidFill>
                  <a:srgbClr val="0D1B2A"/>
                </a:solidFill>
                <a:latin typeface="Arial Black" pitchFamily="34" charset="0"/>
                <a:ea typeface="Arial Black" pitchFamily="34" charset="-122"/>
                <a:cs typeface="Arial Black" pitchFamily="34" charset="-120"/>
              </a:rPr>
              <a:t>AI Simulation: The Garcia Proposal</a:t>
            </a:r>
            <a:endParaRPr lang="en-US" sz="1900" dirty="0"/>
          </a:p>
        </ns0:txBody>
      </ns0:sp>
      <ns0:sp>
        <ns0:nvSpPr>
          <ns0:cNvPr id="5" name="Shape 3"/>
          <ns0:cNvSpPr/>
          <ns0:nvPr/>
        </ns0:nvSpPr>
        <ns0: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ns0:spPr>
      </ns0:sp>
      <ns0:sp>
        <ns0:nvSpPr>
          <ns0:cNvPr id="6" name="Text 4"/>
          <ns0:cNvSpPr/>
          <ns0:nvPr/>
        </ns0:nvSpPr>
        <ns0:spPr>
          <a:xfrm>
            <a:off x="411480" y="1170432"/>
            <a:ext cx="8321040" cy="448056"/>
          </a:xfrm>
          <a:prstGeom prst="rect">
            <a:avLst/>
          </a:prstGeom>
          <a:noFill/>
          <a:ln/>
        </ns0:spPr>
        <ns0: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Present the full Day 4 framework to Mr. and Mrs. Garcia — close on the Site Survey commitment</a:t>
            </a:r>
            <a:endParaRPr lang="en-US" sz="1200" dirty="0"/>
          </a:p>
        </ns0:txBody>
      </ns0:sp>
      <ns0:sp>
        <ns0:nvSpPr>
          <ns0:cNvPr id="7" name="Text 5"/>
          <ns0:cNvSpPr/>
          <ns0:nvPr/>
        </ns0:nvSpPr>
        <ns0:spPr>
          <a:xfrm>
            <a:off x="365760" y="1828800"/>
            <a:ext cx="6858000" cy="2743200"/>
          </a:xfrm>
          <a:prstGeom prst="rect">
            <a:avLst/>
          </a:prstGeom>
          <a:noFill/>
          <a:ln/>
        </ns0:spPr>
        <ns0: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Scan the QR code or click the link to launch the Garcia AI voice simulation bot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Goal: run the Bridge → Rent vs. Own → Bill Swap → COI → Skepticism handling → Binary Close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Earn a commitment to the Site Survey — a verbal 'yes' to the next step counts as the close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Record your audio session — submit for manager review and scoring on the Closer Card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Minimum time: 20 minutes — a close under 15 minutes usually means you skipped discovery or the Bridge</a:t>
            </a:r>
            <a:endParaRPr lang="en-US" sz="1300" dirty="0"/>
          </a:p>
        </ns0:txBody>
      </ns0:sp>
      <ns0:sp>
        <ns0:nvSpPr>
          <ns0:cNvPr id="8" name="Shape 6"/>
          <ns0:cNvSpPr/>
          <ns0:nvPr/>
        </ns0:nvSpPr>
        <ns0: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9" name="Text 7"/>
          <ns0:cNvSpPr/>
          <ns0:nvPr/>
        </ns0:nvSpPr>
        <ns0:spPr>
          <a:xfrm>
            <a:off x="7150608" y="1847088"/>
            <a:ext cx="1691640" cy="877824"/>
          </a:xfrm>
          <a:prstGeom prst="rect">
            <a:avLst/>
          </a:prstGeom>
          <a:noFill/>
          <a:ln/>
        </ns0:spPr>
        <ns0: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ns0:txBody>
      </ns0:sp>
    </ns0:spTree>
  </ns0:cSld>
  <ns0:clrMapOvr>
    <a:masterClrMapping/>
  </ns0:clrMapOvr>
</ns0:sld>
</file>

<file path=ppt/slides/slide84.xml><?xml version="1.0" encoding="utf-8"?>
<ns0:sld xmlns:a="http://schemas.openxmlformats.org/drawingml/2006/main" xmlns:ns0="http://schemas.openxmlformats.org/presentationml/2006/main">
  <ns0:cSld name="Slide 84">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691640"/>
          </a:xfrm>
          <a:prstGeom prst="rect">
            <a:avLst/>
          </a:prstGeom>
          <a:solidFill>
            <a:srgbClr val="F4A61D"/>
          </a:solidFill>
          <a:ln w="12700">
            <a:solidFill>
              <a:srgbClr val="F4A61D"/>
            </a:solidFill>
            <a:prstDash val="solid"/>
          </a:ln>
        </ns0:spPr>
      </ns0:sp>
      <ns0:sp>
        <ns0:nvSpPr>
          <ns0:cNvPr id="3" name="Text 1"/>
          <ns0:cNvSpPr/>
          <ns0:nvPr/>
        </ns0:nvSpPr>
        <ns0:spPr>
          <a:xfrm>
            <a:off x="365760" y="137160"/>
            <a:ext cx="8412480" cy="420624"/>
          </a:xfrm>
          <a:prstGeom prst="rect">
            <a:avLst/>
          </a:prstGeom>
          <a:noFill/>
          <a:ln/>
        </ns0:spPr>
        <ns0: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MÓDULO 4.10</a:t>
            </a:r>
            <a:endParaRPr lang="en-US" sz="1300" dirty="0"/>
          </a:p>
        </ns0:txBody>
      </ns0:sp>
      <ns0:sp>
        <ns0:nvSpPr>
          <ns0:cNvPr id="4" name="Text 2"/>
          <ns0:cNvSpPr/>
          <ns0:nvPr/>
        </ns0:nvSpPr>
        <ns0:spPr>
          <a:xfrm>
            <a:off x="365760" y="548640"/>
            <a:ext cx="8412480" cy="960120"/>
          </a:xfrm>
          <a:prstGeom prst="rect">
            <a:avLst/>
          </a:prstGeom>
          <a:noFill/>
          <a:ln/>
        </ns0:spPr>
        <ns0: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Resumen del Día 4</a:t>
            </a:r>
            <a:endParaRPr lang="en-US" sz="2800" dirty="0"/>
          </a:p>
        </ns0:txBody>
      </ns0:sp>
      <ns0:sp>
        <ns0:nvSpPr>
          <ns0:cNvPr id="5" name="Text 3"/>
          <ns0:cNvSpPr/>
          <ns0:nvPr/>
        </ns0:nvSpPr>
        <ns0:spPr>
          <a:xfrm>
            <a:off x="365760" y="1920240"/>
            <a:ext cx="8412480" cy="502920"/>
          </a:xfrm>
          <a:prstGeom prst="rect">
            <a:avLst/>
          </a:prstGeom>
          <a:noFill/>
          <a:ln/>
        </ns0:spPr>
        <ns0: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Key Takeaways &amp; Preview of Day 5</a:t>
            </a:r>
            <a:endParaRPr lang="en-US" sz="1600" dirty="0"/>
          </a:p>
        </ns0:txBody>
      </ns0:sp>
      <ns0:sp>
        <ns0:nvSpPr>
          <ns0:cNvPr id="6" name="Shape 4"/>
          <ns0:cNvSpPr/>
          <ns0:nvPr/>
        </ns0:nvSpPr>
        <ns0:spPr>
          <a:xfrm>
            <a:off x="36576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7" name="Shape 5"/>
          <ns0:cNvSpPr/>
          <ns0:nvPr/>
        </ns0:nvSpPr>
        <ns0:spPr>
          <a:xfrm>
            <a:off x="68580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8" name="Shape 6"/>
          <ns0:cNvSpPr/>
          <ns0:nvPr/>
        </ns0:nvSpPr>
        <ns0:spPr>
          <a:xfrm>
            <a:off x="100584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9" name="Shape 7"/>
          <ns0:cNvSpPr/>
          <ns0:nvPr/>
        </ns0:nvSpPr>
        <ns0:spPr>
          <a:xfrm>
            <a:off x="1325880" y="2606040"/>
            <a:ext cx="164592" cy="164592"/>
          </a:xfrm>
          <a:prstGeom prst="ellipse">
            <a:avLst/>
          </a:prstGeom>
          <a:solidFill>
            <a:srgbClr val="F4A61D">
              <a:alpha val="40000"/>
            </a:srgbClr>
          </a:solidFill>
          <a:ln w="12700">
            <a:solidFill>
              <a:srgbClr val="F4A61D">
                <a:alpha val="40000"/>
              </a:srgbClr>
            </a:solidFill>
            <a:prstDash val="solid"/>
          </a:ln>
        </ns0:spPr>
      </ns0:sp>
      <ns0:sp>
        <ns0:nvSpPr>
          <ns0:cNvPr id="10" name="Shape 8"/>
          <ns0:cNvSpPr/>
          <ns0:nvPr/>
        </ns0:nvSpPr>
        <ns0:spPr>
          <a:xfrm>
            <a:off x="1645920" y="2606040"/>
            <a:ext cx="164592" cy="164592"/>
          </a:xfrm>
          <a:prstGeom prst="ellipse">
            <a:avLst/>
          </a:prstGeom>
          <a:solidFill>
            <a:srgbClr val="F4A61D">
              <a:alpha val="40000"/>
            </a:srgbClr>
          </a:solidFill>
          <a:ln w="12700">
            <a:solidFill>
              <a:srgbClr val="F4A61D">
                <a:alpha val="40000"/>
              </a:srgbClr>
            </a:solidFill>
            <a:prstDash val="solid"/>
          </a:ln>
        </ns0:spPr>
      </ns0:sp>
    </ns0:spTree>
  </ns0:cSld>
  <ns0:clrMapOvr>
    <a:masterClrMapping/>
  </ns0:clrMapOvr>
</ns0: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4: The 4 Laws of the Solar Presentation</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1440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60120"/>
            <a:ext cx="594360" cy="731520"/>
          </a:xfrm>
          <a:prstGeom prst="rect">
            <a:avLst/>
          </a:prstGeom>
          <a:noFill/>
          <a:ln/>
        </p:spPr>
        <p: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01</a:t>
            </a:r>
            <a:endParaRPr lang="en-US" sz="2600" dirty="0"/>
          </a:p>
        </p:txBody>
      </p:sp>
      <p:sp>
        <p:nvSpPr>
          <p:cNvPr id="7" name="Shape 5"/>
          <p:cNvSpPr/>
          <p:nvPr/>
        </p:nvSpPr>
        <p:spPr>
          <a:xfrm>
            <a:off x="960120" y="1005840"/>
            <a:ext cx="27432" cy="640080"/>
          </a:xfrm>
          <a:prstGeom prst="rect">
            <a:avLst/>
          </a:prstGeom>
          <a:solidFill>
            <a:srgbClr val="F4A61D"/>
          </a:solidFill>
          <a:ln w="12700">
            <a:solidFill>
              <a:srgbClr val="F4A61D"/>
            </a:solidFill>
            <a:prstDash val="solid"/>
          </a:ln>
        </p:spPr>
      </p:sp>
      <p:sp>
        <p:nvSpPr>
          <p:cNvPr id="8" name="Text 6"/>
          <p:cNvSpPr/>
          <p:nvPr/>
        </p:nvSpPr>
        <p:spPr>
          <a:xfrm>
            <a:off x="1051560" y="100584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Recap to Earn Trust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The Bridge proves you listened. No recap = no 'That's Right' = no open door.</a:t>
            </a:r>
            <a:endParaRPr lang="en-US" sz="1300" dirty="0"/>
          </a:p>
        </p:txBody>
      </p:sp>
      <p:sp>
        <p:nvSpPr>
          <p:cNvPr id="9" name="Shape 7"/>
          <p:cNvSpPr/>
          <p:nvPr/>
        </p:nvSpPr>
        <p:spPr>
          <a:xfrm>
            <a:off x="274320" y="187452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920240"/>
            <a:ext cx="594360" cy="731520"/>
          </a:xfrm>
          <a:prstGeom prst="rect">
            <a:avLst/>
          </a:prstGeom>
          <a:noFill/>
          <a:ln/>
        </p:spPr>
        <p: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02</a:t>
            </a:r>
            <a:endParaRPr lang="en-US" sz="2600" dirty="0"/>
          </a:p>
        </p:txBody>
      </p:sp>
      <p:sp>
        <p:nvSpPr>
          <p:cNvPr id="11" name="Shape 9"/>
          <p:cNvSpPr/>
          <p:nvPr/>
        </p:nvSpPr>
        <p:spPr>
          <a:xfrm>
            <a:off x="960120" y="196596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6596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Simplify to Earn Clarity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If they don't understand it, they won't buy it. Grandmother Test every sentence.</a:t>
            </a:r>
            <a:endParaRPr lang="en-US" sz="1300" dirty="0"/>
          </a:p>
        </p:txBody>
      </p:sp>
      <p:sp>
        <p:nvSpPr>
          <p:cNvPr id="13" name="Shape 11"/>
          <p:cNvSpPr/>
          <p:nvPr/>
        </p:nvSpPr>
        <p:spPr>
          <a:xfrm>
            <a:off x="274320" y="283464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80360"/>
            <a:ext cx="594360" cy="731520"/>
          </a:xfrm>
          <a:prstGeom prst="rect">
            <a:avLst/>
          </a:prstGeom>
          <a:noFill/>
          <a:ln/>
        </p:spPr>
        <p: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03</a:t>
            </a:r>
            <a:endParaRPr lang="en-US" sz="2600" dirty="0"/>
          </a:p>
        </p:txBody>
      </p:sp>
      <p:sp>
        <p:nvSpPr>
          <p:cNvPr id="15" name="Shape 13"/>
          <p:cNvSpPr/>
          <p:nvPr/>
        </p:nvSpPr>
        <p:spPr>
          <a:xfrm>
            <a:off x="960120" y="2926080"/>
            <a:ext cx="27432" cy="640080"/>
          </a:xfrm>
          <a:prstGeom prst="rect">
            <a:avLst/>
          </a:prstGeom>
          <a:solidFill>
            <a:srgbClr val="F4A61D"/>
          </a:solidFill>
          <a:ln w="12700">
            <a:solidFill>
              <a:srgbClr val="F4A61D"/>
            </a:solidFill>
            <a:prstDash val="solid"/>
          </a:ln>
        </p:spPr>
      </p:sp>
      <p:sp>
        <p:nvSpPr>
          <p:cNvPr id="16" name="Text 14"/>
          <p:cNvSpPr/>
          <p:nvPr/>
        </p:nvSpPr>
        <p:spPr>
          <a:xfrm>
            <a:off x="1051560" y="292608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Compare to Earn Logic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Rent vs. Own turns their utility bill from a habit into a mistake they can fix.</a:t>
            </a:r>
            <a:endParaRPr lang="en-US" sz="1300" dirty="0"/>
          </a:p>
        </p:txBody>
      </p:sp>
      <p:sp>
        <p:nvSpPr>
          <p:cNvPr id="17" name="Shape 15"/>
          <p:cNvSpPr/>
          <p:nvPr/>
        </p:nvSpPr>
        <p:spPr>
          <a:xfrm>
            <a:off x="274320" y="379476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840480"/>
            <a:ext cx="594360" cy="731520"/>
          </a:xfrm>
          <a:prstGeom prst="rect">
            <a:avLst/>
          </a:prstGeom>
          <a:noFill/>
          <a:ln/>
        </p:spPr>
        <p: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04</a:t>
            </a:r>
            <a:endParaRPr lang="en-US" sz="2600" dirty="0"/>
          </a:p>
        </p:txBody>
      </p:sp>
      <p:sp>
        <p:nvSpPr>
          <p:cNvPr id="19" name="Shape 17"/>
          <p:cNvSpPr/>
          <p:nvPr/>
        </p:nvSpPr>
        <p:spPr>
          <a:xfrm>
            <a:off x="960120" y="388620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8620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Narrow to Earn the Decision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Two choices close more deals than five options. Guide them — don't overwhelm them.</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Homework: The COI Audit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Find 3 utility bills from friends or family members (not customers) — or use your own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Calculate their 25-year 'Cost of Inaction' using the formula: bill × 12 × 25 (base) and bill × 25 years at 5% inflation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Practice the full Bill Swap pitch on a non-salesperson — a neighbor, spouse, or parent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Record the reaction: What confused them? What made them say 'Hmm, that makes sense'?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Reps who practice on real non-sales people develop the empathy and clarity to handle real homeowner reactions. The confusion and questions from a non-sales practice partner are more valuable than any roleplay partner who already knows the script.</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4 Self-Assessment: 6 Questions to Answer Before Day 5</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40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deliver a 90-second Bridge that earns a 'That's Right' every time?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explain the system using only the 3 analogies — no technical terms?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say '$38,000' with zero hesitation and immediately pivot to the monthly payment?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handle 'This sounds too good to be true' with a Label + Proof sequence?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compress a complex proposal into 2 simple choices in under 60 seconds?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Can I explain the post-signature Road Map without looking at notes?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If the answer to any of these is 'not yet,' that's tomorrow's homework before Day 5 begins. Day 5 moves into the hardest part: the final close, the objection gauntlet, and the paperwork mastery.</a:t>
            </a:r>
            <a:endParaRPr lang="en-US" sz="900" dirty="0"/>
          </a:p>
        </p:txBody>
      </p:sp>
    </p:spTree>
  </p:cSld>
  <p:clrMapOvr>
    <a:masterClrMapping/>
  </p:clrMapOvr>
</p:sld>
</file>

<file path=ppt/slides/slide88.xml><?xml version="1.0" encoding="utf-8"?>
<ns0:sld xmlns:a="http://schemas.openxmlformats.org/drawingml/2006/main" xmlns:ns0="http://schemas.openxmlformats.org/presentationml/2006/main">
  <ns0:cSld name="Slide 88">
    <ns0:bg>
      <ns0:bgPr>
        <a:solidFill>
          <a:srgbClr val="0D1B2A"/>
        </a:solidFill>
      </ns0:bgPr>
    </ns0:bg>
    <ns0:spTree>
      <ns0:nvGrpSpPr>
        <ns0:cNvPr id="1" name=""/>
        <ns0:cNvGrpSpPr/>
        <ns0:nvPr/>
      </ns0:nvGrpSpPr>
      <ns0:grpSpPr>
        <a:xfrm>
          <a:off x="0" y="0"/>
          <a:ext cx="0" cy="0"/>
          <a:chOff x="0" y="0"/>
          <a:chExt cx="0" cy="0"/>
        </a:xfrm>
      </ns0:grpSpPr>
      <ns0:sp>
        <ns0:nvSpPr>
          <ns0:cNvPr id="2" name="Shape 0"/>
          <ns0:cNvSpPr/>
          <ns0:nvPr/>
        </ns0:nvSpPr>
        <ns0:spPr>
          <a:xfrm>
            <a:off x="0" y="0"/>
            <a:ext cx="9144000" cy="1463040"/>
          </a:xfrm>
          <a:prstGeom prst="rect">
            <a:avLst/>
          </a:prstGeom>
          <a:solidFill>
            <a:srgbClr val="1A2840"/>
          </a:solidFill>
          <a:ln w="12700">
            <a:solidFill>
              <a:srgbClr val="1A2840"/>
            </a:solidFill>
            <a:prstDash val="solid"/>
          </a:ln>
        </ns0:spPr>
      </ns0:sp>
      <ns0:sp>
        <ns0:nvSpPr>
          <ns0:cNvPr id="3" name="Shape 1"/>
          <ns0:cNvSpPr/>
          <ns0:nvPr/>
        </ns0:nvSpPr>
        <ns0:spPr>
          <a:xfrm>
            <a:off x="0" y="0"/>
            <a:ext cx="320040" cy="1463040"/>
          </a:xfrm>
          <a:prstGeom prst="rect">
            <a:avLst/>
          </a:prstGeom>
          <a:solidFill>
            <a:srgbClr val="F4A61D"/>
          </a:solidFill>
          <a:ln w="12700">
            <a:solidFill>
              <a:srgbClr val="F4A61D"/>
            </a:solidFill>
            <a:prstDash val="solid"/>
          </a:ln>
        </ns0:spPr>
      </ns0:sp>
      <ns0:sp>
        <ns0:nvSpPr>
          <ns0:cNvPr id="4" name="Text 2"/>
          <ns0:cNvSpPr/>
          <ns0:nvPr/>
        </ns0:nvSpPr>
        <ns0:spPr>
          <a:xfrm>
            <a:off x="502920" y="182880"/>
            <a:ext cx="8229600" cy="457200"/>
          </a:xfrm>
          <a:prstGeom prst="rect">
            <a:avLst/>
          </a:prstGeom>
          <a:noFill/>
          <a:ln/>
        </ns0:spPr>
        <ns0: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PRÓXIMAMENTE: DÍA 5</a:t>
            </a:r>
            <a:endParaRPr lang="en-US" sz="1200" dirty="0"/>
          </a:p>
        </ns0:txBody>
      </ns0:sp>
      <ns0:sp>
        <ns0:nvSpPr>
          <ns0:cNvPr id="5" name="Text 3"/>
          <ns0:cNvSpPr/>
          <ns0:nvPr/>
        </ns0:nvSpPr>
        <ns0:spPr>
          <a:xfrm>
            <a:off x="502920" y="640080"/>
            <a:ext cx="8229600" cy="685800"/>
          </a:xfrm>
          <a:prstGeom prst="rect">
            <a:avLst/>
          </a:prstGeom>
          <a:noFill/>
          <a:ln/>
        </ns0:spPr>
        <ns0:txBody>
          <a:bodyPr wrap="square" lIns="0" tIns="0" rIns="0" bIns="0" rtlCol="0" anchor="ctr"/>
          <a:lstStyle/>
          <a:p>
            <a:pPr algn="l" indent="0" marL="0">
              <a:buNone/>
            </a:pPr>
            <a:r>
              <a:rPr lang="en-US" sz="2400" b="1" dirty="0">
                <a:solidFill>
                  <a:srgbClr val="FFFFFF"/>
                </a:solidFill>
                <a:latin typeface="Arial Black" pitchFamily="34" charset="0"/>
                <a:ea typeface="Arial Black" pitchFamily="34" charset="-122"/>
                <a:cs typeface="Arial Black" pitchFamily="34" charset="-120"/>
              </a:rPr>
              <a:t>El Cierre Final y La Firma</a:t>
            </a:r>
            <a:endParaRPr lang="en-US" sz="2400" dirty="0"/>
          </a:p>
        </ns0:txBody>
      </ns0:sp>
      <ns0:sp>
        <ns0:nvSpPr>
          <ns0:cNvPr id="6" name="Shape 4"/>
          <ns0:cNvSpPr/>
          <ns0:nvPr/>
        </ns0:nvSpPr>
        <ns0:spPr>
          <a:xfrm>
            <a:off x="27432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7" name="Text 5"/>
          <ns0:cNvSpPr/>
          <ns0:nvPr/>
        </ns0:nvSpPr>
        <ns0:spPr>
          <a:xfrm>
            <a:off x="411480" y="187452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Overcoming 'Think About It'</a:t>
            </a:r>
            <a:endParaRPr lang="en-US" sz="1400" dirty="0"/>
          </a:p>
        </ns0:txBody>
      </ns0:sp>
      <ns0:sp>
        <ns0:nvSpPr>
          <ns0:cNvPr id="8" name="Text 6"/>
          <ns0:cNvSpPr/>
          <ns0:nvPr/>
        </ns0:nvSpPr>
        <ns0:spPr>
          <a:xfrm>
            <a:off x="411480" y="233172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anatomy of the stall — and how to dissolve it without pressure</a:t>
            </a:r>
            <a:endParaRPr lang="en-US" sz="1100" dirty="0"/>
          </a:p>
        </ns0:txBody>
      </ns0:sp>
      <ns0:sp>
        <ns0:nvSpPr>
          <ns0:cNvPr id="9" name="Shape 7"/>
          <ns0:cNvSpPr/>
          <ns0:nvPr/>
        </ns0:nvSpPr>
        <ns0:spPr>
          <a:xfrm>
            <a:off x="475488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0" name="Text 8"/>
          <ns0:cNvSpPr/>
          <ns0:nvPr/>
        </ns0:nvSpPr>
        <ns0:spPr>
          <a:xfrm>
            <a:off x="4892040" y="187452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Paperwork Mastery</a:t>
            </a:r>
            <a:endParaRPr lang="en-US" sz="1400" dirty="0"/>
          </a:p>
        </ns0:txBody>
      </ns0:sp>
      <ns0:sp>
        <ns0:nvSpPr>
          <ns0:cNvPr id="11" name="Text 9"/>
          <ns0:cNvSpPr/>
          <ns0:nvPr/>
        </ns0:nvSpPr>
        <ns0:spPr>
          <a:xfrm>
            <a:off x="4892040" y="233172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Walking through the agreement with confidence and zero confusion</a:t>
            </a:r>
            <a:endParaRPr lang="en-US" sz="1100" dirty="0"/>
          </a:p>
        </ns0:txBody>
      </ns0:sp>
      <ns0:sp>
        <ns0:nvSpPr>
          <ns0:cNvPr id="12" name="Shape 10"/>
          <ns0:cNvSpPr/>
          <ns0:nvPr/>
        </ns0:nvSpPr>
        <ns0:spPr>
          <a:xfrm>
            <a:off x="27432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3" name="Text 11"/>
          <ns0:cNvSpPr/>
          <ns0:nvPr/>
        </ns0:nvSpPr>
        <ns0:spPr>
          <a:xfrm>
            <a:off x="411480" y="352044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Financing Deep-Dive</a:t>
            </a:r>
            <a:endParaRPr lang="en-US" sz="1400" dirty="0"/>
          </a:p>
        </ns0:txBody>
      </ns0:sp>
      <ns0:sp>
        <ns0:nvSpPr>
          <ns0:cNvPr id="14" name="Text 12"/>
          <ns0:cNvSpPr/>
          <ns0:nvPr/>
        </ns0:nvSpPr>
        <ns0:spPr>
          <a:xfrm>
            <a:off x="411480" y="397764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Loan vs. lease vs. PPA — knowing which to recommend and when</a:t>
            </a:r>
            <a:endParaRPr lang="en-US" sz="1100" dirty="0"/>
          </a:p>
        </ns0:txBody>
      </ns0:sp>
      <ns0:sp>
        <ns0:nvSpPr>
          <ns0:cNvPr id="15" name="Shape 13"/>
          <ns0:cNvSpPr/>
          <ns0:nvPr/>
        </ns0:nvSpPr>
        <ns0:spPr>
          <a:xfrm>
            <a:off x="475488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ns0:spPr>
      </ns0:sp>
      <ns0:sp>
        <ns0:nvSpPr>
          <ns0:cNvPr id="16" name="Text 14"/>
          <ns0:cNvSpPr/>
          <ns0:nvPr/>
        </ns0:nvSpPr>
        <ns0:spPr>
          <a:xfrm>
            <a:off x="4892040" y="3520440"/>
            <a:ext cx="3749040" cy="411480"/>
          </a:xfrm>
          <a:prstGeom prst="rect">
            <a:avLst/>
          </a:prstGeom>
          <a:noFill/>
          <a:ln/>
        </ns0:spPr>
        <ns0: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Referrals at the Table</a:t>
            </a:r>
            <a:endParaRPr lang="en-US" sz="1400" dirty="0"/>
          </a:p>
        </ns0:txBody>
      </ns0:sp>
      <ns0:sp>
        <ns0:nvSpPr>
          <ns0:cNvPr id="17" name="Text 15"/>
          <ns0:cNvSpPr/>
          <ns0:nvPr/>
        </ns0:nvSpPr>
        <ns0:spPr>
          <a:xfrm>
            <a:off x="4892040" y="3977640"/>
            <a:ext cx="3749040" cy="685800"/>
          </a:xfrm>
          <a:prstGeom prst="rect">
            <a:avLst/>
          </a:prstGeom>
          <a:noFill/>
          <a:ln/>
        </ns0:spPr>
        <ns0: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Generating 3 warm referrals while the ink is still wet</a:t>
            </a:r>
            <a:endParaRPr lang="en-US" sz="1100" dirty="0"/>
          </a:p>
        </ns0:txBody>
      </ns0:sp>
      <ns0:sp>
        <ns0:nvSpPr>
          <ns0:cNvPr id="18" name="Shape 16"/>
          <ns0:cNvSpPr/>
          <ns0:nvPr/>
        </ns0:nvSpPr>
        <ns0:spPr>
          <a:xfrm>
            <a:off x="0" y="4709160"/>
            <a:ext cx="9144000" cy="434340"/>
          </a:xfrm>
          <a:prstGeom prst="rect">
            <a:avLst/>
          </a:prstGeom>
          <a:solidFill>
            <a:srgbClr val="F4A61D"/>
          </a:solidFill>
          <a:ln w="12700">
            <a:solidFill>
              <a:srgbClr val="F4A61D"/>
            </a:solidFill>
            <a:prstDash val="solid"/>
          </a:ln>
        </ns0:spPr>
      </ns0:sp>
      <ns0:sp>
        <ns0:nvSpPr>
          <ns0:cNvPr id="19" name="Text 17"/>
          <ns0:cNvSpPr/>
          <ns0:nvPr/>
        </ns0:nvSpPr>
        <ns0:spPr>
          <a:xfrm>
            <a:off x="457200" y="4736592"/>
            <a:ext cx="8229600" cy="402336"/>
          </a:xfrm>
          <a:prstGeom prst="rect">
            <a:avLst/>
          </a:prstGeom>
          <a:noFill/>
          <a:ln/>
        </ns0:spPr>
        <ns0: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4 Complete  ·  Come back tomorrow ready to get the signature.</a:t>
            </a:r>
            <a:endParaRPr lang="en-US" sz="1300" dirty="0"/>
          </a:p>
        </ns0:txBody>
      </ns0:sp>
    </ns0:spTree>
  </ns0:cSld>
  <ns0:clrMapOvr>
    <a: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4</dc:title>
  <dc:subject>PptxGenJS Presentation</dc:subject>
  <dc:creator>Solar Accelerator Training</dc:creator>
  <cp:lastModifiedBy>Solar Accelerator Training</cp:lastModifiedBy>
  <cp:revision>1</cp:revision>
  <dcterms:created xsi:type="dcterms:W3CDTF">2026-03-09T03:06:16Z</dcterms:created>
  <dcterms:modified xsi:type="dcterms:W3CDTF">2026-03-09T03:06:16Z</dcterms:modified>
</cp:coreProperties>
</file>