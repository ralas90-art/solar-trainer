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slide1.xml><?xml version="1.0" encoding="utf-8"?>
<ns0:sld xmlns:a="http://schemas.openxmlformats.org/drawingml/2006/main" xmlns:ns0="http://schemas.openxmlformats.org/presentationml/2006/main">
  <ns0:cSld name="Slide 1">
    <ns0:bg>
      <ns0:bgPr>
        <a:solidFill>
          <a:srgbClr val="0D1F3C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6583680" y="-1371600"/>
            <a:ext cx="4114800" cy="4114800"/>
          </a:xfrm>
          <a:prstGeom prst="ellipse">
            <a:avLst/>
          </a:prstGeom>
          <a:solidFill>
            <a:srgbClr val="F4821F">
              <a:alpha val="25000"/>
            </a:srgbClr>
          </a:solidFill>
          <a:ln w="12700">
            <a:solidFill>
              <a:srgbClr val="F4821F">
                <a:alpha val="25000"/>
              </a:srgbClr>
            </a:solidFill>
            <a:prstDash val="solid"/>
          </a:ln>
        </ns0:spPr>
      </ns0:sp>
      <ns0:sp>
        <ns0:nvSpPr>
          <ns0:cNvPr id="3" name="Shape 1"/>
          <ns0:cNvSpPr/>
          <ns0:nvPr/>
        </ns0:nvSpPr>
        <ns0:spPr>
          <a:xfrm>
            <a:off x="7132320" y="-822960"/>
            <a:ext cx="3017520" cy="3017520"/>
          </a:xfrm>
          <a:prstGeom prst="ellipse">
            <a:avLst/>
          </a:prstGeom>
          <a:solidFill>
            <a:srgbClr val="F5C842">
              <a:alpha val="40000"/>
            </a:srgbClr>
          </a:solidFill>
          <a:ln w="12700">
            <a:solidFill>
              <a:srgbClr val="F5C842">
                <a:alpha val="40000"/>
              </a:srgbClr>
            </a:solidFill>
            <a:prstDash val="solid"/>
          </a:ln>
        </ns0:spPr>
      </ns0:sp>
      <ns0:sp>
        <ns0:nvSpPr>
          <ns0:cNvPr id="4" name="Shape 2"/>
          <ns0:cNvSpPr/>
          <ns0:nvPr/>
        </ns0:nvSpPr>
        <ns0:spPr>
          <a:xfrm>
            <a:off x="7680960" y="-274320"/>
            <a:ext cx="1920240" cy="1920240"/>
          </a:xfrm>
          <a:prstGeom prst="ellipse">
            <a:avLst/>
          </a:prstGeom>
          <a:solidFill>
            <a:srgbClr val="F5C842">
              <a:alpha val="70000"/>
            </a:srgbClr>
          </a:solidFill>
          <a:ln w="12700">
            <a:solidFill>
              <a:srgbClr val="F5C842">
                <a:alpha val="70000"/>
              </a:srgbClr>
            </a:solidFill>
            <a:prstDash val="solid"/>
          </a:ln>
        </ns0:spPr>
      </ns0:sp>
      <ns0:sp>
        <ns0:nvSpPr>
          <ns0:cNvPr id="5" name="Shape 3"/>
          <ns0:cNvSpPr/>
          <ns0:nvPr/>
        </ns0:nvSpPr>
        <ns0:spPr>
          <a:xfrm>
            <a:off x="0" y="0"/>
            <a:ext cx="228600" cy="51435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6" name="Text 4"/>
          <ns0:cNvSpPr/>
          <ns0:nvPr/>
        </ns0:nvSpPr>
        <ns0:spPr>
          <a:xfrm>
            <a:off x="457200" y="1005840"/>
            <a:ext cx="5486400" cy="5029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2</a:t>
            </a:r>
            <a:endParaRPr lang="en-US" sz="1400" dirty="0"/>
          </a:p>
        </ns0:txBody>
      </ns0:sp>
      <ns0:sp>
        <ns0:nvSpPr>
          <ns0:cNvPr id="7" name="Text 5"/>
          <ns0:cNvSpPr/>
          <ns0:nvPr/>
        </ns0:nvSpPr>
        <ns0:spPr>
          <a:xfrm>
            <a:off x="457200" y="1463040"/>
            <a:ext cx="6400800" cy="17373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Solares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</a:t>
            </a:r>
            <a:endParaRPr lang="en-US" sz="5200" dirty="0"/>
          </a:p>
        </ns0:txBody>
      </ns0:sp>
      <ns0:sp>
        <ns0:nvSpPr>
          <ns0:cNvPr id="8" name="Text 6"/>
          <ns0:cNvSpPr/>
          <ns0:nvPr/>
        </ns0:nvSpPr>
        <ns0:spPr>
          <a:xfrm>
            <a:off x="457200" y="3246120"/>
            <a:ext cx="73152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de Campo · Psicología · Territorio · Objeciones</a:t>
            </a:r>
            <a:endParaRPr lang="en-US" sz="1600" dirty="0"/>
          </a:p>
        </ns0:txBody>
      </ns0:sp>
      <ns0:sp>
        <ns0:nvSpPr>
          <ns0:cNvPr id="9" name="Shape 7"/>
          <ns0:cNvSpPr/>
          <ns0:nvPr/>
        </ns0:nvSpPr>
        <ns0:spPr>
          <a:xfrm>
            <a:off x="457200" y="3886200"/>
            <a:ext cx="8229600" cy="36576"/>
          </a:xfrm>
          <a:prstGeom prst="rect">
            <a:avLst/>
          </a:prstGeom>
          <a:solidFill>
            <a:srgbClr val="94A3B8">
              <a:alpha val="40000"/>
            </a:srgbClr>
          </a:solidFill>
          <a:ln w="12700">
            <a:solidFill>
              <a:srgbClr val="94A3B8">
                <a:alpha val="40000"/>
              </a:srgbClr>
            </a:solidFill>
            <a:prstDash val="solid"/>
          </a:ln>
        </ns0:spPr>
      </ns0:sp>
      <ns0:sp>
        <ns0:nvSpPr>
          <ns0:cNvPr id="10" name="Text 8"/>
          <ns0:cNvSpPr/>
          <ns0:nvPr/>
        </ns0:nvSpPr>
        <ns0:spPr>
          <a:xfrm>
            <a:off x="457200" y="4023360"/>
            <a:ext cx="822960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Módulos  ·  ~4.5 Horas  ·  Juegos de Roles, Ejercicios y Certificación</a:t>
            </a:r>
            <a:endParaRPr lang="en-US" sz="1200" dirty="0"/>
          </a:p>
        </ns0:txBody>
      </ns0:sp>
    </ns0:spTree>
  </ns0:cSld>
  <ns0:clrMapOvr>
    <a:masterClrMapping/>
  </ns0:clrMapOvr>
</ns0:sld>
</file>

<file path=ppt/slides/slide2.xml><?xml version="1.0" encoding="utf-8"?>
<ns0:sld xmlns:a="http://schemas.openxmlformats.org/drawingml/2006/main" xmlns:ns0="http://schemas.openxmlformats.org/presentationml/2006/main">
  <ns0:cSld name="Slide 2"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274320" y="0"/>
            <a:ext cx="777240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del Día 2</a:t>
            </a:r>
            <a:endParaRPr lang="en-US" sz="2000" dirty="0"/>
          </a:p>
        </ns0:txBody>
      </ns0:sp>
      <ns0:sp>
        <ns0:nvSpPr>
          <ns0:cNvPr id="4" name="Shape 2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5" name="Text 3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900" dirty="0"/>
          </a:p>
        </ns0:txBody>
      </ns0:sp>
      <ns0:sp>
        <ns0:nvSpPr>
          <ns0:cNvPr id="6" name="Shape 4"/>
          <ns0:cNvSpPr/>
          <ns0:nvPr/>
        </ns0:nvSpPr>
        <ns0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ns0:spPr>
      </ns0:sp>
      <ns0:sp>
        <ns0:nvSpPr>
          <ns0:cNvPr id="7" name="Shape 5"/>
          <ns0:cNvSpPr/>
          <ns0:nvPr/>
        </ns0:nvSpPr>
        <ns0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8" name="Shape 6"/>
          <ns0:cNvSpPr/>
          <ns0:nvPr/>
        </ns0:nvSpPr>
        <ns0:spPr>
          <a:xfrm>
            <a:off x="274320" y="822960"/>
            <a:ext cx="502920" cy="438912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9" name="Text 7"/>
          <ns0:cNvSpPr/>
          <ns0:nvPr/>
        </ns0:nvSpPr>
        <ns0:spPr>
          <a:xfrm>
            <a:off x="274320" y="822960"/>
            <a:ext cx="502920" cy="43891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1100" dirty="0"/>
          </a:p>
        </ns0:txBody>
      </ns0:sp>
      <ns0:sp>
        <ns0:nvSpPr>
          <ns0:cNvPr id="10" name="Text 8"/>
          <ns0:cNvSpPr/>
          <ns0:nvPr/>
        </ns0:nvSpPr>
        <ns0:spPr>
          <a:xfrm>
            <a:off x="868680" y="868680"/>
            <a:ext cx="329184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Psicología del Propietario</a:t>
            </a:r>
            <a:endParaRPr lang="en-US" sz="1300" dirty="0"/>
          </a:p>
        </ns0:txBody>
      </ns0:sp>
      <ns0:sp>
        <ns0:nvSpPr>
          <ns0:cNvPr id="11" name="Text 9"/>
          <ns0:cNvSpPr/>
          <ns0:nvPr/>
        </ns0:nvSpPr>
        <ns0:spPr>
          <a:xfrm>
            <a:off x="4114800" y="868680"/>
            <a:ext cx="73152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100" dirty="0"/>
          </a:p>
        </ns0:txBody>
      </ns0:sp>
      <ns0:sp>
        <ns0:nvSpPr>
          <ns0:cNvPr id="12" name="Shape 10"/>
          <ns0:cNvSpPr/>
          <ns0:nvPr/>
        </ns0:nvSpPr>
        <ns0:spPr>
          <a:xfrm>
            <a:off x="274320" y="1481328"/>
            <a:ext cx="502920" cy="438912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13" name="Text 11"/>
          <ns0:cNvSpPr/>
          <ns0:nvPr/>
        </ns0:nvSpPr>
        <ns0:spPr>
          <a:xfrm>
            <a:off x="274320" y="1481328"/>
            <a:ext cx="502920" cy="43891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1100" dirty="0"/>
          </a:p>
        </ns0:txBody>
      </ns0:sp>
      <ns0:sp>
        <ns0:nvSpPr>
          <ns0:cNvPr id="14" name="Text 12"/>
          <ns0:cNvSpPr/>
          <ns0:nvPr/>
        </ns0:nvSpPr>
        <ns0:spPr>
          <a:xfrm>
            <a:off x="868680" y="1527048"/>
            <a:ext cx="329184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Territorio</a:t>
            </a:r>
            <a:endParaRPr lang="en-US" sz="1300" dirty="0"/>
          </a:p>
        </ns0:txBody>
      </ns0:sp>
      <ns0:sp>
        <ns0:nvSpPr>
          <ns0:cNvPr id="15" name="Text 13"/>
          <ns0:cNvSpPr/>
          <ns0:nvPr/>
        </ns0:nvSpPr>
        <ns0:spPr>
          <a:xfrm>
            <a:off x="4114800" y="1527048"/>
            <a:ext cx="73152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ns0:txBody>
      </ns0:sp>
      <ns0:sp>
        <ns0:nvSpPr>
          <ns0:cNvPr id="16" name="Shape 14"/>
          <ns0:cNvSpPr/>
          <ns0:nvPr/>
        </ns0:nvSpPr>
        <ns0:spPr>
          <a:xfrm>
            <a:off x="274320" y="2139696"/>
            <a:ext cx="502920" cy="438912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17" name="Text 15"/>
          <ns0:cNvSpPr/>
          <ns0:nvPr/>
        </ns0:nvSpPr>
        <ns0:spPr>
          <a:xfrm>
            <a:off x="274320" y="2139696"/>
            <a:ext cx="502920" cy="43891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n-US" sz="1100" dirty="0"/>
          </a:p>
        </ns0:txBody>
      </ns0:sp>
      <ns0:sp>
        <ns0:nvSpPr>
          <ns0:cNvPr id="18" name="Text 16"/>
          <ns0:cNvSpPr/>
          <ns0:nvPr/>
        </ns0:nvSpPr>
        <ns0:spPr>
          <a:xfrm>
            <a:off x="868680" y="2185416"/>
            <a:ext cx="329184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Matemáticas de Eficiencia</a:t>
            </a:r>
            <a:endParaRPr lang="en-US" sz="1300" dirty="0"/>
          </a:p>
        </ns0:txBody>
      </ns0:sp>
      <ns0:sp>
        <ns0:nvSpPr>
          <ns0:cNvPr id="19" name="Text 17"/>
          <ns0:cNvSpPr/>
          <ns0:nvPr/>
        </ns0:nvSpPr>
        <ns0:spPr>
          <a:xfrm>
            <a:off x="4114800" y="2185416"/>
            <a:ext cx="73152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ns0:txBody>
      </ns0:sp>
      <ns0:sp>
        <ns0:nvSpPr>
          <ns0:cNvPr id="20" name="Shape 18"/>
          <ns0:cNvSpPr/>
          <ns0:nvPr/>
        </ns0:nvSpPr>
        <ns0:spPr>
          <a:xfrm>
            <a:off x="274320" y="2798064"/>
            <a:ext cx="502920" cy="438912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21" name="Text 19"/>
          <ns0:cNvSpPr/>
          <ns0:nvPr/>
        </ns0:nvSpPr>
        <ns0:spPr>
          <a:xfrm>
            <a:off x="274320" y="2798064"/>
            <a:ext cx="502920" cy="43891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</a:t>
            </a:r>
            <a:endParaRPr lang="en-US" sz="1100" dirty="0"/>
          </a:p>
        </ns0:txBody>
      </ns0:sp>
      <ns0:sp>
        <ns0:nvSpPr>
          <ns0:cNvPr id="22" name="Text 20"/>
          <ns0:cNvSpPr/>
          <ns0:nvPr/>
        </ns0:nvSpPr>
        <ns0:spPr>
          <a:xfrm>
            <a:off x="868680" y="2843784"/>
            <a:ext cx="329184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de Conversación</a:t>
            </a:r>
            <a:endParaRPr lang="en-US" sz="1300" dirty="0"/>
          </a:p>
        </ns0:txBody>
      </ns0:sp>
      <ns0:sp>
        <ns0:nvSpPr>
          <ns0:cNvPr id="23" name="Text 21"/>
          <ns0:cNvSpPr/>
          <ns0:nvPr/>
        </ns0:nvSpPr>
        <ns0:spPr>
          <a:xfrm>
            <a:off x="4114800" y="2843784"/>
            <a:ext cx="73152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ns0:txBody>
      </ns0:sp>
      <ns0:sp>
        <ns0:nvSpPr>
          <ns0:cNvPr id="24" name="Shape 22"/>
          <ns0:cNvSpPr/>
          <ns0:nvPr/>
        </ns0:nvSpPr>
        <ns0:spPr>
          <a:xfrm>
            <a:off x="274320" y="3456432"/>
            <a:ext cx="502920" cy="438912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25" name="Text 23"/>
          <ns0:cNvSpPr/>
          <ns0:nvPr/>
        </ns0:nvSpPr>
        <ns0:spPr>
          <a:xfrm>
            <a:off x="274320" y="3456432"/>
            <a:ext cx="502920" cy="43891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1100" dirty="0"/>
          </a:p>
        </ns0:txBody>
      </ns0:sp>
      <ns0:sp>
        <ns0:nvSpPr>
          <ns0:cNvPr id="26" name="Text 24"/>
          <ns0:cNvSpPr/>
          <ns0:nvPr/>
        </ns0:nvSpPr>
        <ns0:spPr>
          <a:xfrm>
            <a:off x="868680" y="3502152"/>
            <a:ext cx="329184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del Toque de Puerta</a:t>
            </a:r>
            <a:endParaRPr lang="en-US" sz="1300" dirty="0"/>
          </a:p>
        </ns0:txBody>
      </ns0:sp>
      <ns0:sp>
        <ns0:nvSpPr>
          <ns0:cNvPr id="27" name="Text 25"/>
          <ns0:cNvSpPr/>
          <ns0:nvPr/>
        </ns0:nvSpPr>
        <ns0:spPr>
          <a:xfrm>
            <a:off x="4114800" y="3502152"/>
            <a:ext cx="73152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ns0:txBody>
      </ns0:sp>
      <ns0:sp>
        <ns0:nvSpPr>
          <ns0:cNvPr id="28" name="Shape 26"/>
          <ns0:cNvSpPr/>
          <ns0:nvPr/>
        </ns0:nvSpPr>
        <ns0:spPr>
          <a:xfrm>
            <a:off x="274320" y="4114800"/>
            <a:ext cx="502920" cy="438912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29" name="Text 27"/>
          <ns0:cNvSpPr/>
          <ns0:nvPr/>
        </ns0:nvSpPr>
        <ns0:spPr>
          <a:xfrm>
            <a:off x="274320" y="4114800"/>
            <a:ext cx="502920" cy="43891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</a:t>
            </a:r>
            <a:endParaRPr lang="en-US" sz="1100" dirty="0"/>
          </a:p>
        </ns0:txBody>
      </ns0:sp>
      <ns0:sp>
        <ns0:nvSpPr>
          <ns0:cNvPr id="30" name="Text 28"/>
          <ns0:cNvSpPr/>
          <ns0:nvPr/>
        </ns0:nvSpPr>
        <ns0:spPr>
          <a:xfrm>
            <a:off x="868680" y="4160520"/>
            <a:ext cx="329184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Micro Objeciones</a:t>
            </a:r>
            <a:endParaRPr lang="en-US" sz="1300" dirty="0"/>
          </a:p>
        </ns0:txBody>
      </ns0:sp>
      <ns0:sp>
        <ns0:nvSpPr>
          <ns0:cNvPr id="31" name="Text 29"/>
          <ns0:cNvSpPr/>
          <ns0:nvPr/>
        </ns0:nvSpPr>
        <ns0:spPr>
          <a:xfrm>
            <a:off x="4114800" y="4160520"/>
            <a:ext cx="73152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ns0:txBody>
      </ns0:sp>
      <ns0:sp>
        <ns0:nvSpPr>
          <ns0:cNvPr id="32" name="Shape 30"/>
          <ns0:cNvSpPr/>
          <ns0:nvPr/>
        </ns0:nvSpPr>
        <ns0:spPr>
          <a:xfrm>
            <a:off x="4937760" y="822960"/>
            <a:ext cx="502920" cy="4389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ns0:spPr>
      </ns0:sp>
      <ns0:sp>
        <ns0:nvSpPr>
          <ns0:cNvPr id="33" name="Text 31"/>
          <ns0:cNvSpPr/>
          <ns0:nvPr/>
        </ns0:nvSpPr>
        <ns0:spPr>
          <a:xfrm>
            <a:off x="4937760" y="822960"/>
            <a:ext cx="502920" cy="43891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</a:t>
            </a:r>
            <a:endParaRPr lang="en-US" sz="1100" dirty="0"/>
          </a:p>
        </ns0:txBody>
      </ns0:sp>
      <ns0:sp>
        <ns0:nvSpPr>
          <ns0:cNvPr id="34" name="Text 32"/>
          <ns0:cNvSpPr/>
          <ns0:nvPr/>
        </ns0:nvSpPr>
        <ns0:spPr>
          <a:xfrm>
            <a:off x="5532120" y="868680"/>
            <a:ext cx="274320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 Citas por Teléfono y Virtual</a:t>
            </a:r>
            <a:endParaRPr lang="en-US" sz="1300" dirty="0"/>
          </a:p>
        </ns0:txBody>
      </ns0:sp>
      <ns0:sp>
        <ns0:nvSpPr>
          <ns0:cNvPr id="35" name="Text 33"/>
          <ns0:cNvSpPr/>
          <ns0:nvPr/>
        </ns0:nvSpPr>
        <ns0:spPr>
          <a:xfrm>
            <a:off x="8183880" y="868680"/>
            <a:ext cx="68580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100" dirty="0"/>
          </a:p>
        </ns0:txBody>
      </ns0:sp>
      <ns0:sp>
        <ns0:nvSpPr>
          <ns0:cNvPr id="36" name="Shape 34"/>
          <ns0:cNvSpPr/>
          <ns0:nvPr/>
        </ns0:nvSpPr>
        <ns0:spPr>
          <a:xfrm>
            <a:off x="4937760" y="1481328"/>
            <a:ext cx="502920" cy="4389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ns0:spPr>
      </ns0:sp>
      <ns0:sp>
        <ns0:nvSpPr>
          <ns0:cNvPr id="37" name="Text 35"/>
          <ns0:cNvSpPr/>
          <ns0:nvPr/>
        </ns0:nvSpPr>
        <ns0:spPr>
          <a:xfrm>
            <a:off x="4937760" y="1481328"/>
            <a:ext cx="502920" cy="43891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</a:t>
            </a:r>
            <a:endParaRPr lang="en-US" sz="1100" dirty="0"/>
          </a:p>
        </ns0:txBody>
      </ns0:sp>
      <ns0:sp>
        <ns0:nvSpPr>
          <ns0:cNvPr id="38" name="Text 36"/>
          <ns0:cNvSpPr/>
          <ns0:nvPr/>
        </ns0:nvSpPr>
        <ns0:spPr>
          <a:xfrm>
            <a:off x="5532120" y="1527048"/>
            <a:ext cx="274320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Encuadre Anti-Ventas</a:t>
            </a:r>
            <a:endParaRPr lang="en-US" sz="1300" dirty="0"/>
          </a:p>
        </ns0:txBody>
      </ns0:sp>
      <ns0:sp>
        <ns0:nvSpPr>
          <ns0:cNvPr id="39" name="Text 37"/>
          <ns0:cNvSpPr/>
          <ns0:nvPr/>
        </ns0:nvSpPr>
        <ns0:spPr>
          <a:xfrm>
            <a:off x="8183880" y="1527048"/>
            <a:ext cx="68580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ns0:txBody>
      </ns0:sp>
      <ns0:sp>
        <ns0:nvSpPr>
          <ns0:cNvPr id="40" name="Shape 38"/>
          <ns0:cNvSpPr/>
          <ns0:nvPr/>
        </ns0:nvSpPr>
        <ns0:spPr>
          <a:xfrm>
            <a:off x="4937760" y="2139696"/>
            <a:ext cx="502920" cy="4389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ns0:spPr>
      </ns0:sp>
      <ns0:sp>
        <ns0:nvSpPr>
          <ns0:cNvPr id="41" name="Text 39"/>
          <ns0:cNvSpPr/>
          <ns0:nvPr/>
        </ns0:nvSpPr>
        <ns0:spPr>
          <a:xfrm>
            <a:off x="4937760" y="2139696"/>
            <a:ext cx="502920" cy="43891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</a:t>
            </a:r>
            <a:endParaRPr lang="en-US" sz="1100" dirty="0"/>
          </a:p>
        </ns0:txBody>
      </ns0:sp>
      <ns0:sp>
        <ns0:nvSpPr>
          <ns0:cNvPr id="42" name="Text 40"/>
          <ns0:cNvSpPr/>
          <ns0:nvPr/>
        </ns0:nvSpPr>
        <ns0:spPr>
          <a:xfrm>
            <a:off x="5532120" y="2185416"/>
            <a:ext cx="274320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Trabajo de Prospección</a:t>
            </a:r>
            <a:endParaRPr lang="en-US" sz="1300" dirty="0"/>
          </a:p>
        </ns0:txBody>
      </ns0:sp>
      <ns0:sp>
        <ns0:nvSpPr>
          <ns0:cNvPr id="43" name="Text 41"/>
          <ns0:cNvSpPr/>
          <ns0:nvPr/>
        </ns0:nvSpPr>
        <ns0:spPr>
          <a:xfrm>
            <a:off x="8183880" y="2185416"/>
            <a:ext cx="68580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ns0:txBody>
      </ns0:sp>
      <ns0:sp>
        <ns0:nvSpPr>
          <ns0:cNvPr id="44" name="Shape 42"/>
          <ns0:cNvSpPr/>
          <ns0:nvPr/>
        </ns0:nvSpPr>
        <ns0:spPr>
          <a:xfrm>
            <a:off x="4937760" y="2798064"/>
            <a:ext cx="502920" cy="4389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ns0:spPr>
      </ns0:sp>
      <ns0:sp>
        <ns0:nvSpPr>
          <ns0:cNvPr id="45" name="Text 43"/>
          <ns0:cNvSpPr/>
          <ns0:nvPr/>
        </ns0:nvSpPr>
        <ns0:spPr>
          <a:xfrm>
            <a:off x="4937760" y="2798064"/>
            <a:ext cx="502920" cy="43891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2.10</a:t>
            </a:r>
            <a:endParaRPr lang="en-US" sz="1100" dirty="0"/>
          </a:p>
        </ns0:txBody>
      </ns0:sp>
      <ns0:sp>
        <ns0:nvSpPr>
          <ns0:cNvPr id="46" name="Text 44"/>
          <ns0:cNvSpPr/>
          <ns0:nvPr/>
        </ns0:nvSpPr>
        <ns0:spPr>
          <a:xfrm>
            <a:off x="5532120" y="2843784"/>
            <a:ext cx="274320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Certificación de Juego de Roles</a:t>
            </a:r>
            <a:endParaRPr lang="en-US" sz="1300" dirty="0"/>
          </a:p>
        </ns0:txBody>
      </ns0:sp>
      <ns0:sp>
        <ns0:nvSpPr>
          <ns0:cNvPr id="47" name="Text 45"/>
          <ns0:cNvSpPr/>
          <ns0:nvPr/>
        </ns0:nvSpPr>
        <ns0:spPr>
          <a:xfrm>
            <a:off x="8183880" y="2843784"/>
            <a:ext cx="68580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ns0:txBody>
      </ns0:sp>
      <ns0:sp>
        <ns0:nvSpPr>
          <ns0:cNvPr id="48" name="Shape 46"/>
          <ns0:cNvSpPr/>
          <ns0:nvPr/>
        </ns0:nvSpPr>
        <ns0:spPr>
          <a:xfrm>
            <a:off x="4937760" y="3456432"/>
            <a:ext cx="502920" cy="4389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ns0:spPr>
      </ns0:sp>
      <ns0:sp>
        <ns0:nvSpPr>
          <ns0:cNvPr id="49" name="Text 47"/>
          <ns0:cNvSpPr/>
          <ns0:nvPr/>
        </ns0:nvSpPr>
        <ns0:spPr>
          <a:xfrm>
            <a:off x="4937760" y="3456432"/>
            <a:ext cx="502920" cy="43891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2.11</a:t>
            </a:r>
            <a:endParaRPr lang="en-US" sz="1100" dirty="0"/>
          </a:p>
        </ns0:txBody>
      </ns0:sp>
      <ns0:sp>
        <ns0:nvSpPr>
          <ns0:cNvPr id="50" name="Text 48"/>
          <ns0:cNvSpPr/>
          <ns0:nvPr/>
        </ns0:nvSpPr>
        <ns0:spPr>
          <a:xfrm>
            <a:off x="5532120" y="3502152"/>
            <a:ext cx="274320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del Día 2</a:t>
            </a:r>
            <a:endParaRPr lang="en-US" sz="1300" dirty="0"/>
          </a:p>
        </ns0:txBody>
      </ns0:sp>
      <ns0:sp>
        <ns0:nvSpPr>
          <ns0:cNvPr id="51" name="Text 49"/>
          <ns0:cNvSpPr/>
          <ns0:nvPr/>
        </ns0:nvSpPr>
        <ns0:spPr>
          <a:xfrm>
            <a:off x="8183880" y="3502152"/>
            <a:ext cx="68580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ns0:txBody>
      </ns0:sp>
    </ns0:spTree>
  </ns0:cSld>
  <ns0:clrMapOvr>
    <a:masterClrMapping/>
  </ns0:clrMapOvr>
</ns0:sld>
</file>

<file path=ppt/slides/slide3.xml><?xml version="1.0" encoding="utf-8"?>
<ns0:sld xmlns:a="http://schemas.openxmlformats.org/drawingml/2006/main" xmlns:ns0="http://schemas.openxmlformats.org/presentationml/2006/main">
  <ns0:cSld name="Slide 3">
    <ns0:bg>
      <ns0:bgPr>
        <a:solidFill>
          <a:srgbClr val="0D1F3C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164592" cy="51435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457200" y="1097280"/>
            <a:ext cx="82296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2.1</a:t>
            </a:r>
            <a:endParaRPr lang="en-US" sz="1300" dirty="0"/>
          </a:p>
        </ns0:txBody>
      </ns0:sp>
      <ns0:sp>
        <ns0:nvSpPr>
          <ns0:cNvPr id="4" name="Text 2"/>
          <ns0:cNvSpPr/>
          <ns0:nvPr/>
        </ns0:nvSpPr>
        <ns0:spPr>
          <a:xfrm>
            <a:off x="457200" y="1554480"/>
            <a:ext cx="8229600" cy="10972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Psicología del Propietario</a:t>
            </a:r>
            <a:endParaRPr lang="en-US" sz="3800" dirty="0"/>
          </a:p>
        </ns0:txBody>
      </ns0:sp>
      <ns0:sp>
        <ns0:nvSpPr>
          <ns0:cNvPr id="5" name="Text 3"/>
          <ns0:cNvSpPr/>
          <ns0:nvPr/>
        </ns0:nvSpPr>
        <ns0:spPr>
          <a:xfrm>
            <a:off x="457200" y="2697480"/>
            <a:ext cx="82296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las Personas Resisten el Solar  ·  Entender el 'Porqué' antes del 'Cómo'  ·  35 min</a:t>
            </a:r>
            <a:endParaRPr lang="en-US" sz="1600" dirty="0"/>
          </a:p>
        </ns0:txBody>
      </ns0:sp>
    </ns0:spTree>
  </ns0:cSld>
  <ns0:clrMapOvr>
    <a:masterClrMapping/>
  </ns0:clrMapOvr>
</ns0:sld>
</file>

<file path=ppt/slides/slide4.xml><?xml version="1.0" encoding="utf-8"?>
<ns0:sld xmlns:a="http://schemas.openxmlformats.org/drawingml/2006/main" xmlns:ns0="http://schemas.openxmlformats.org/presentationml/2006/main">
  <ns0:cSld name="Slide 4"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274320" y="0"/>
            <a:ext cx="777240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 la Psicología del Propietario</a:t>
            </a:r>
            <a:endParaRPr lang="en-US" sz="2000" dirty="0"/>
          </a:p>
        </ns0:txBody>
      </ns0:sp>
      <ns0:sp>
        <ns0:nvSpPr>
          <ns0:cNvPr id="4" name="Shape 2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5" name="Text 3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900" dirty="0"/>
          </a:p>
        </ns0:txBody>
      </ns0:sp>
      <ns0:sp>
        <ns0:nvSpPr>
          <ns0:cNvPr id="6" name="Shape 4"/>
          <ns0:cNvSpPr/>
          <ns0:nvPr/>
        </ns0:nvSpPr>
        <ns0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ns0:spPr>
      </ns0:sp>
      <ns0:sp>
        <ns0:nvSpPr>
          <ns0:cNvPr id="7" name="Shape 5"/>
          <ns0:cNvSpPr/>
          <ns0:nvPr/>
        </ns0:nvSpPr>
        <ns0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8" name="Text 6"/>
          <ns0:cNvSpPr/>
          <ns0:nvPr/>
        </ns0:nvSpPr>
        <ns0:spPr>
          <a:xfrm>
            <a:off x="365760" y="777240"/>
            <a:ext cx="8412480" cy="5486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mejores representantes de solar entienden a las personas primero, el producto segundo.</a:t>
            </a:r>
            <a:endParaRPr lang="en-US" sz="2200" dirty="0"/>
          </a:p>
        </ns0:txBody>
      </ns0:sp>
      <ns0:sp>
        <ns0:nvSpPr>
          <ns0:cNvPr id="9" name="Shape 7"/>
          <ns0:cNvSpPr/>
          <ns0:nvPr/>
        </ns0:nvSpPr>
        <ns0:spPr>
          <a:xfrm>
            <a:off x="274320" y="1463040"/>
            <a:ext cx="8595360" cy="43891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ns0:spPr>
      </ns0:sp>
      <ns0:sp>
        <ns0:nvSpPr>
          <ns0:cNvPr id="10" name="Text 8"/>
          <ns0:cNvSpPr/>
          <ns0:nvPr/>
        </ns0:nvSpPr>
        <ns0:spPr>
          <a:xfrm>
            <a:off x="457200" y="1508760"/>
            <a:ext cx="274320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 Aprendizaje:</a:t>
            </a:r>
            <a:endParaRPr lang="en-US" sz="1300" dirty="0"/>
          </a:p>
        </ns0:txBody>
      </ns0:sp>
      <ns0:sp>
        <ns0:nvSpPr>
          <ns0:cNvPr id="11" name="Text 9"/>
          <ns0:cNvSpPr/>
          <ns0:nvPr/>
        </ns0:nvSpPr>
        <ns0:spPr>
          <a:xfrm>
            <a:off x="3108960" y="1508760"/>
            <a:ext cx="557784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barreras psicológicas  ·  Aprovechar disparadores de persuasión  ·  Construir confianza instantánea</a:t>
            </a:r>
            <a:endParaRPr lang="en-US" sz="1200" dirty="0"/>
          </a:p>
        </ns0:txBody>
      </ns0:sp>
      <ns0:sp>
        <ns0:nvSpPr>
          <ns0:cNvPr id="12" name="Shape 10"/>
          <ns0:cNvSpPr/>
          <ns0:nvPr/>
        </ns0:nvSpPr>
        <ns0:spPr>
          <a:xfrm>
            <a:off x="365760" y="2057400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ns0:spPr>
      </ns0:sp>
      <ns0:sp>
        <ns0:nvSpPr>
          <ns0:cNvPr id="13" name="Shape 11"/>
          <ns0:cNvSpPr/>
          <ns0:nvPr/>
        </ns0:nvSpPr>
        <ns0:spPr>
          <a:xfrm>
            <a:off x="365760" y="2057400"/>
            <a:ext cx="64008" cy="13258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14" name="Text 12"/>
          <ns0:cNvSpPr/>
          <ns0:nvPr/>
        </ns0:nvSpPr>
        <ns0:spPr>
          <a:xfrm>
            <a:off x="530352" y="2167128"/>
            <a:ext cx="3767328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Resistencia es Normal</a:t>
            </a:r>
            <a:endParaRPr lang="en-US" sz="1300" dirty="0"/>
          </a:p>
        </ns0:txBody>
      </ns0:sp>
      <ns0:sp>
        <ns0:nvSpPr>
          <ns0:cNvPr id="15" name="Text 13"/>
          <ns0:cNvSpPr/>
          <ns0:nvPr/>
        </ns0:nvSpPr>
        <ns0:spPr>
          <a:xfrm>
            <a:off x="530352" y="2514600"/>
            <a:ext cx="3767328" cy="75895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mayoría de los propietarios no le pidieron que tocara. Su primera reacción es de autoprotección — no es personal.</a:t>
            </a:r>
            <a:endParaRPr lang="en-US" sz="1200" dirty="0"/>
          </a:p>
        </ns0:txBody>
      </ns0:sp>
      <ns0:sp>
        <ns0:nvSpPr>
          <ns0:cNvPr id="16" name="Shape 14"/>
          <ns0:cNvSpPr/>
          <ns0:nvPr/>
        </ns0:nvSpPr>
        <ns0:spPr>
          <a:xfrm>
            <a:off x="4754880" y="2057400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ns0:spPr>
      </ns0:sp>
      <ns0:sp>
        <ns0:nvSpPr>
          <ns0:cNvPr id="17" name="Shape 15"/>
          <ns0:cNvSpPr/>
          <ns0:nvPr/>
        </ns0:nvSpPr>
        <ns0:spPr>
          <a:xfrm>
            <a:off x="4754880" y="2057400"/>
            <a:ext cx="64008" cy="13258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18" name="Text 16"/>
          <ns0:cNvSpPr/>
          <ns0:nvPr/>
        </ns0:nvSpPr>
        <ns0:spPr>
          <a:xfrm>
            <a:off x="4919472" y="2167128"/>
            <a:ext cx="3767328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Psicología = Persuasión</a:t>
            </a:r>
            <a:endParaRPr lang="en-US" sz="1300" dirty="0"/>
          </a:p>
        </ns0:txBody>
      </ns0:sp>
      <ns0:sp>
        <ns0:nvSpPr>
          <ns0:cNvPr id="19" name="Text 17"/>
          <ns0:cNvSpPr/>
          <ns0:nvPr/>
        </ns0:nvSpPr>
        <ns0:spPr>
          <a:xfrm>
            <a:off x="4919472" y="2514600"/>
            <a:ext cx="3767328" cy="75895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entiende por qué las personas resisten, puede crear conversaciones que se sientan útiles — no insistentes.</a:t>
            </a:r>
            <a:endParaRPr lang="en-US" sz="1200" dirty="0"/>
          </a:p>
        </ns0:txBody>
      </ns0:sp>
      <ns0:sp>
        <ns0:nvSpPr>
          <ns0:cNvPr id="20" name="Shape 18"/>
          <ns0:cNvSpPr/>
          <ns0:nvPr/>
        </ns0:nvSpPr>
        <ns0:spPr>
          <a:xfrm>
            <a:off x="365760" y="3493008"/>
            <a:ext cx="4023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ns0:spPr>
      </ns0:sp>
      <ns0:sp>
        <ns0:nvSpPr>
          <ns0:cNvPr id="21" name="Shape 19"/>
          <ns0:cNvSpPr/>
          <ns0:nvPr/>
        </ns0:nvSpPr>
        <ns0:spPr>
          <a:xfrm>
            <a:off x="365760" y="3493008"/>
            <a:ext cx="64008" cy="123444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22" name="Text 20"/>
          <ns0:cNvSpPr/>
          <ns0:nvPr/>
        </ns0:nvSpPr>
        <ns0:spPr>
          <a:xfrm>
            <a:off x="530352" y="3602736"/>
            <a:ext cx="3767328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Comportamiento Impulsa las Decisiones</a:t>
            </a:r>
            <a:endParaRPr lang="en-US" sz="1300" dirty="0"/>
          </a:p>
        </ns0:txBody>
      </ns0:sp>
      <ns0:sp>
        <ns0:nvSpPr>
          <ns0:cNvPr id="23" name="Text 21"/>
          <ns0:cNvSpPr/>
          <ns0:nvPr/>
        </ns0:nvSpPr>
        <ns0:spPr>
          <a:xfrm>
            <a:off x="530352" y="3950208"/>
            <a:ext cx="3767328" cy="66751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humanos son impulsados por la emoción y el sesgo, no la lógica. Los mejores representantes venden al cerebro emocional.</a:t>
            </a:r>
            <a:endParaRPr lang="en-US" sz="1200" dirty="0"/>
          </a:p>
        </ns0:txBody>
      </ns0:sp>
      <ns0:sp>
        <ns0:nvSpPr>
          <ns0:cNvPr id="24" name="Shape 22"/>
          <ns0:cNvSpPr/>
          <ns0:nvPr/>
        </ns0:nvSpPr>
        <ns0:spPr>
          <a:xfrm>
            <a:off x="4754880" y="3493008"/>
            <a:ext cx="4023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ns0:spPr>
      </ns0:sp>
      <ns0:sp>
        <ns0:nvSpPr>
          <ns0:cNvPr id="25" name="Shape 23"/>
          <ns0:cNvSpPr/>
          <ns0:nvPr/>
        </ns0:nvSpPr>
        <ns0:spPr>
          <a:xfrm>
            <a:off x="4754880" y="3493008"/>
            <a:ext cx="64008" cy="1234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ns0:spPr>
      </ns0:sp>
      <ns0:sp>
        <ns0:nvSpPr>
          <ns0:cNvPr id="26" name="Text 24"/>
          <ns0:cNvSpPr/>
          <ns0:nvPr/>
        </ns0:nvSpPr>
        <ns0:spPr>
          <a:xfrm>
            <a:off x="4919472" y="3602736"/>
            <a:ext cx="3767328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Confianza Primero</a:t>
            </a:r>
            <a:endParaRPr lang="en-US" sz="1300" dirty="0"/>
          </a:p>
        </ns0:txBody>
      </ns0:sp>
      <ns0:sp>
        <ns0:nvSpPr>
          <ns0:cNvPr id="27" name="Text 25"/>
          <ns0:cNvSpPr/>
          <ns0:nvPr/>
        </ns0:nvSpPr>
        <ns0:spPr>
          <a:xfrm>
            <a:off x="4919472" y="3950208"/>
            <a:ext cx="3767328" cy="66751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confianza es la puerta de entrada a cada venta. Sin ella, el mejor discurso falla.</a:t>
            </a:r>
            <a:endParaRPr lang="en-US" sz="1200" dirty="0"/>
          </a:p>
        </ns0:txBody>
      </ns0:sp>
    </ns0:spTree>
  </ns0:cSld>
  <ns0:clrMapOvr>
    <a:masterClrMapping/>
  </ns0:clrMapOvr>
</ns0:sld>
</file>

<file path=ppt/slides/slide5.xml><?xml version="1.0" encoding="utf-8"?>
<ns0:sld xmlns:a="http://schemas.openxmlformats.org/drawingml/2006/main" xmlns:ns0="http://schemas.openxmlformats.org/presentationml/2006/main">
  <ns0:cSld name="Slide 5"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274320" y="0"/>
            <a:ext cx="777240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 Realidad: Usted Es una Interrupción</a:t>
            </a:r>
            <a:endParaRPr lang="en-US" sz="2000" dirty="0"/>
          </a:p>
        </ns0:txBody>
      </ns0:sp>
      <ns0:sp>
        <ns0:nvSpPr>
          <ns0:cNvPr id="4" name="Shape 2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5" name="Text 3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900" dirty="0"/>
          </a:p>
        </ns0:txBody>
      </ns0:sp>
      <ns0:sp>
        <ns0:nvSpPr>
          <ns0:cNvPr id="6" name="Shape 4"/>
          <ns0:cNvSpPr/>
          <ns0:nvPr/>
        </ns0:nvSpPr>
        <ns0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ns0:spPr>
      </ns0:sp>
      <ns0:sp>
        <ns0:nvSpPr>
          <ns0:cNvPr id="7" name="Shape 5"/>
          <ns0:cNvSpPr/>
          <ns0:nvPr/>
        </ns0:nvSpPr>
        <ns0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8" name="Shape 6"/>
          <ns0:cNvSpPr/>
          <ns0:nvPr/>
        </ns0:nvSpPr>
        <ns0:spPr>
          <a:xfrm>
            <a:off x="274320" y="777240"/>
            <a:ext cx="859536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ns0:spPr>
      </ns0:sp>
      <ns0:sp>
        <ns0:nvSpPr>
          <ns0:cNvPr id="9" name="Text 7"/>
          <ns0:cNvSpPr/>
          <ns0:nvPr/>
        </ns0:nvSpPr>
        <ns0:spPr>
          <a:xfrm>
            <a:off x="457200" y="777240"/>
            <a:ext cx="8229600" cy="9144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mayoría de los propietarios NO están buscando solar hoy.</a:t>
            </a:r>
            <a:endParaRPr lang="en-US" sz="2200" dirty="0"/>
          </a:p>
        </ns0:txBody>
      </ns0:sp>
      <ns0:sp>
        <ns0:nvSpPr>
          <ns0:cNvPr id="10" name="Shape 8"/>
          <ns0:cNvSpPr/>
          <ns0:nvPr/>
        </ns0:nvSpPr>
        <ns0:spPr>
          <a:xfrm>
            <a:off x="274320" y="1874520"/>
            <a:ext cx="4206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ns0:spPr>
      </ns0:sp>
      <ns0:sp>
        <ns0:nvSpPr>
          <ns0:cNvPr id="11" name="Shape 9"/>
          <ns0:cNvSpPr/>
          <ns0:nvPr/>
        </ns0:nvSpPr>
        <ns0:spPr>
          <a:xfrm>
            <a:off x="274320" y="1874520"/>
            <a:ext cx="64008" cy="16002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12" name="Text 10"/>
          <ns0:cNvSpPr/>
          <ns0:nvPr/>
        </ns0:nvSpPr>
        <ns0:spPr>
          <a:xfrm>
            <a:off x="438912" y="1984248"/>
            <a:ext cx="3950208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El Cerebro Activa el 'Modo de Protección'</a:t>
            </a:r>
            <a:endParaRPr lang="en-US" sz="1300" dirty="0"/>
          </a:p>
        </ns0:txBody>
      </ns0:sp>
      <ns0:sp>
        <ns0:nvSpPr>
          <ns0:cNvPr id="13" name="Text 11"/>
          <ns0:cNvSpPr/>
          <ns0:nvPr/>
        </ns0:nvSpPr>
        <ns0:spPr>
          <a:xfrm>
            <a:off x="438912" y="2331720"/>
            <a:ext cx="3950208" cy="10332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un extraño toca, el sistema de detección de amenazas del cerebro se activa inmediatamente. Cada respuesta — incluyendo 'No me interesa' — es un reflejo, no una decisión real.</a:t>
            </a:r>
            <a:endParaRPr lang="en-US" sz="1200" dirty="0"/>
          </a:p>
        </ns0:txBody>
      </ns0:sp>
      <ns0:sp>
        <ns0:nvSpPr>
          <ns0:cNvPr id="14" name="Shape 12"/>
          <ns0:cNvSpPr/>
          <ns0:nvPr/>
        </ns0:nvSpPr>
        <ns0:spPr>
          <a:xfrm>
            <a:off x="4663440" y="1874520"/>
            <a:ext cx="4206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ns0:spPr>
      </ns0:sp>
      <ns0:sp>
        <ns0:nvSpPr>
          <ns0:cNvPr id="15" name="Shape 13"/>
          <ns0:cNvSpPr/>
          <ns0:nvPr/>
        </ns0:nvSpPr>
        <ns0:spPr>
          <a:xfrm>
            <a:off x="4663440" y="1874520"/>
            <a:ext cx="64008" cy="1600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ns0:spPr>
      </ns0:sp>
      <ns0:sp>
        <ns0:nvSpPr>
          <ns0:cNvPr id="16" name="Text 14"/>
          <ns0:cNvSpPr/>
          <ns0:nvPr/>
        </ns0:nvSpPr>
        <ns0:spPr>
          <a:xfrm>
            <a:off x="4828032" y="1984248"/>
            <a:ext cx="3950208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Statu Quo = Seguridad</a:t>
            </a:r>
            <a:endParaRPr lang="en-US" sz="1300" dirty="0"/>
          </a:p>
        </ns0:txBody>
      </ns0:sp>
      <ns0:sp>
        <ns0:nvSpPr>
          <ns0:cNvPr id="17" name="Text 15"/>
          <ns0:cNvSpPr/>
          <ns0:nvPr/>
        </ns0:nvSpPr>
        <ns0:spPr>
          <a:xfrm>
            <a:off x="4828032" y="2331720"/>
            <a:ext cx="3950208" cy="10332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cerebro del propietario equipara el cambio con el riesgo. No hacer nada se siente seguro por defecto — incluso cuando no hacer nada les está costando dinero silenciosamente.</a:t>
            </a:r>
            <a:endParaRPr lang="en-US" sz="1200" dirty="0"/>
          </a:p>
        </ns0:txBody>
      </ns0:sp>
      <ns0:sp>
        <ns0:nvSpPr>
          <ns0:cNvPr id="18" name="Shape 16"/>
          <ns0:cNvSpPr/>
          <ns0:nvPr/>
        </ns0:nvSpPr>
        <ns0:spPr>
          <a:xfrm>
            <a:off x="274320" y="3611880"/>
            <a:ext cx="8595360" cy="1188720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  <a:prstDash val="solid"/>
          </a:ln>
        </ns0:spPr>
      </ns0:sp>
      <ns0:sp>
        <ns0:nvSpPr>
          <ns0:cNvPr id="19" name="Text 17"/>
          <ns0:cNvSpPr/>
          <ns0:nvPr/>
        </ns0:nvSpPr>
        <ns0:spPr>
          <a:xfrm>
            <a:off x="457200" y="3703320"/>
            <a:ext cx="822960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 tome personalmente — es biología.</a:t>
            </a:r>
            <a:endParaRPr lang="en-US" sz="1700" dirty="0"/>
          </a:p>
        </ns0:txBody>
      </ns0:sp>
      <ns0:sp>
        <ns0:nvSpPr>
          <ns0:cNvPr id="20" name="Text 18"/>
          <ns0:cNvSpPr/>
          <ns0:nvPr/>
        </ns0:nvSpPr>
        <ns0:spPr>
          <a:xfrm>
            <a:off x="457200" y="4114800"/>
            <a:ext cx="8229600" cy="5029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 interrumpiendo la cena, una película o una siesta. Su trabajo: ganar 30 segundos más a la vez.</a:t>
            </a:r>
            <a:endParaRPr lang="en-US" sz="1300" dirty="0"/>
          </a:p>
        </ns0:txBody>
      </ns0:sp>
      <ns0:sp>
        <ns0:nvSpPr>
          <ns0:cNvPr id="21" name="Shape 19"/>
          <ns0:cNvSpPr/>
          <ns0:nvPr/>
        </ns0:nvSpPr>
        <ns0:spPr>
          <a:xfrm>
            <a:off x="274320" y="4160520"/>
            <a:ext cx="8595360" cy="685800"/>
          </a:xfrm>
          <a:prstGeom prst="rect">
            <a:avLst/>
          </a:prstGeom>
          <a:solidFill>
            <a:srgbClr val="FFF3CD"/>
          </a:solidFill>
          <a:ln w="12700">
            <a:solidFill>
              <a:srgbClr val="F5C842"/>
            </a:solidFill>
            <a:prstDash val="solid"/>
          </a:ln>
        </ns0:spPr>
      </ns0:sp>
      <ns0:sp>
        <ns0:nvSpPr>
          <ns0:cNvPr id="22" name="Text 20"/>
          <ns0:cNvSpPr/>
          <ns0:nvPr/>
        </ns0:nvSpPr>
        <ns0:spPr>
          <a:xfrm>
            <a:off x="411480" y="4187952"/>
            <a:ext cx="8321040" cy="5943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TRAINER: </a:t>
            </a:r>
            <a:pPr indent="0" marL="0">
              <a:buNone/>
            </a:pPr>
            <a:r>
              <a:rPr lang="en-US" sz="1100" i="1" dirty="0">
                <a:solidFill>
                  <a:srgbClr val="5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 interrumpiendo la cena, una película o una siesta. Su cerebro está programado para deshacerse de usted lo más rápido posible para volver al statu quo.</a:t>
            </a:r>
            <a:endParaRPr lang="en-US" sz="1100" dirty="0"/>
          </a:p>
        </ns0:txBody>
      </ns0:sp>
    </ns0:spTree>
  </ns0:cSld>
  <ns0:clrMapOvr>
    <a:masterClrMapping/>
  </ns0:clrMapOvr>
</ns0:sld>
</file>

<file path=ppt/slides/slide6.xml><?xml version="1.0" encoding="utf-8"?>
<ns0:sld xmlns:a="http://schemas.openxmlformats.org/drawingml/2006/main" xmlns:ns0="http://schemas.openxmlformats.org/presentationml/2006/main">
  <ns0:cSld name="Slide 6"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274320" y="0"/>
            <a:ext cx="777240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Sesgo del Statu Quo: La Objeción Silenciosa</a:t>
            </a:r>
            <a:endParaRPr lang="en-US" sz="2000" dirty="0"/>
          </a:p>
        </ns0:txBody>
      </ns0:sp>
      <ns0:sp>
        <ns0:nvSpPr>
          <ns0:cNvPr id="4" name="Shape 2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5" name="Text 3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900" dirty="0"/>
          </a:p>
        </ns0:txBody>
      </ns0:sp>
      <ns0:sp>
        <ns0:nvSpPr>
          <ns0:cNvPr id="6" name="Shape 4"/>
          <ns0:cNvSpPr/>
          <ns0:nvPr/>
        </ns0:nvSpPr>
        <ns0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ns0:spPr>
      </ns0:sp>
      <ns0:sp>
        <ns0:nvSpPr>
          <ns0:cNvPr id="7" name="Shape 5"/>
          <ns0:cNvSpPr/>
          <ns0:nvPr/>
        </ns0:nvSpPr>
        <ns0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8" name="Shape 6"/>
          <ns0:cNvSpPr/>
          <ns0:nvPr/>
        </ns0:nvSpPr>
        <ns0:spPr>
          <a:xfrm>
            <a:off x="274320" y="822960"/>
            <a:ext cx="5029200" cy="3383280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  <a:prstDash val="solid"/>
          </a:ln>
        </ns0:spPr>
      </ns0:sp>
      <ns0:sp>
        <ns0:nvSpPr>
          <ns0:cNvPr id="9" name="Text 7"/>
          <ns0:cNvSpPr/>
          <ns0:nvPr/>
        </ns0:nvSpPr>
        <ns0:spPr>
          <a:xfrm>
            <a:off x="502920" y="914400"/>
            <a:ext cx="4572000" cy="3657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es:</a:t>
            </a:r>
            <a:endParaRPr lang="en-US" sz="1400" dirty="0"/>
          </a:p>
        </ns0:txBody>
      </ns0:sp>
      <ns0:sp>
        <ns0:nvSpPr>
          <ns0:cNvPr id="10" name="Text 8"/>
          <ns0:cNvSpPr/>
          <ns0:nvPr/>
        </ns0:nvSpPr>
        <ns0:spPr>
          <a:xfrm>
            <a:off x="502920" y="1325880"/>
            <a:ext cx="4572000" cy="2560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personas prefieren fuertemente la situación actual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cambio se siente arriesgado — incluso el cambio beneficioso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hacer nada se siente seguro por defecto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"Mi factura está bien" = evitar lo desconocido</a:t>
            </a:r>
            <a:endParaRPr lang="en-US" sz="1400" dirty="0"/>
          </a:p>
        </ns0:txBody>
      </ns0:sp>
      <ns0:sp>
        <ns0:nvSpPr>
          <ns0:cNvPr id="11" name="Shape 9"/>
          <ns0:cNvSpPr/>
          <ns0:nvPr/>
        </ns0:nvSpPr>
        <ns0:spPr>
          <a:xfrm>
            <a:off x="5486400" y="822960"/>
            <a:ext cx="3383280" cy="33832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12" name="Text 10"/>
          <ns0:cNvSpPr/>
          <ns0:nvPr/>
        </ns0:nvSpPr>
        <ns0:spPr>
          <a:xfrm>
            <a:off x="5577840" y="960120"/>
            <a:ext cx="3200400" cy="3657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Trabajo:</a:t>
            </a:r>
            <a:endParaRPr lang="en-US" sz="1400" dirty="0"/>
          </a:p>
        </ns0:txBody>
      </ns0:sp>
      <ns0:sp>
        <ns0:nvSpPr>
          <ns0:cNvPr id="13" name="Text 11"/>
          <ns0:cNvSpPr/>
          <ns0:nvPr/>
        </ns0:nvSpPr>
        <ns0:spPr>
          <a:xfrm>
            <a:off x="5577840" y="1417320"/>
            <a:ext cx="3200400" cy="18288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fuerce el cambio.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Revelar el costo de quedarse igual.</a:t>
            </a:r>
            <a:endParaRPr lang="en-US" sz="1600" dirty="0"/>
          </a:p>
        </ns0:txBody>
      </ns0:sp>
      <ns0:sp>
        <ns0:nvSpPr>
          <ns0:cNvPr id="14" name="Text 12"/>
          <ns0:cNvSpPr/>
          <ns0:nvPr/>
        </ns0:nvSpPr>
        <ns0:spPr>
          <a:xfrm>
            <a:off x="5577840" y="3108960"/>
            <a:ext cx="3200400" cy="9144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"¿Qué significaría seguir pagando a su empresa eléctrica $3,000 cada año?"</a:t>
            </a:r>
            <a:endParaRPr lang="en-US" sz="1200" dirty="0"/>
          </a:p>
        </ns0:txBody>
      </ns0:sp>
      <ns0:sp>
        <ns0:nvSpPr>
          <ns0:cNvPr id="15" name="Shape 13"/>
          <ns0:cNvSpPr/>
          <ns0:nvPr/>
        </ns0:nvSpPr>
        <ns0:spPr>
          <a:xfrm>
            <a:off x="274320" y="4160520"/>
            <a:ext cx="8595360" cy="685800"/>
          </a:xfrm>
          <a:prstGeom prst="rect">
            <a:avLst/>
          </a:prstGeom>
          <a:solidFill>
            <a:srgbClr val="FFF3CD"/>
          </a:solidFill>
          <a:ln w="12700">
            <a:solidFill>
              <a:srgbClr val="F5C842"/>
            </a:solidFill>
            <a:prstDash val="solid"/>
          </a:ln>
        </ns0:spPr>
      </ns0:sp>
      <ns0:sp>
        <ns0:nvSpPr>
          <ns0:cNvPr id="16" name="Text 14"/>
          <ns0:cNvSpPr/>
          <ns0:nvPr/>
        </ns0:nvSpPr>
        <ns0:spPr>
          <a:xfrm>
            <a:off x="411480" y="4187952"/>
            <a:ext cx="8321040" cy="5943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TRAINER: </a:t>
            </a:r>
            <a:pPr indent="0" marL="0">
              <a:buNone/>
            </a:pPr>
            <a:r>
              <a:rPr lang="en-US" sz="1100" i="1" dirty="0">
                <a:solidFill>
                  <a:srgbClr val="5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Pida a los propietarios que calculen cuánto ya le han pagado a la empresa eléctrica este año. La aversión a la pérdida actúa rápido.</a:t>
            </a:r>
            <a:endParaRPr lang="en-US" sz="1100" dirty="0"/>
          </a:p>
        </ns0:txBody>
      </ns0:sp>
    </ns0:spTree>
  </ns0:cSld>
  <ns0:clrMapOvr>
    <a:masterClrMapping/>
  </ns0:clrMapOvr>
</ns0:sld>
</file>

<file path=ppt/slides/slide7.xml><?xml version="1.0" encoding="utf-8"?>
<ns0:sld xmlns:a="http://schemas.openxmlformats.org/drawingml/2006/main" xmlns:ns0="http://schemas.openxmlformats.org/presentationml/2006/main">
  <ns0:cSld name="Slide 7"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274320" y="0"/>
            <a:ext cx="777240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Evasión y Demora de Decisiones</a:t>
            </a:r>
            <a:endParaRPr lang="en-US" sz="2000" dirty="0"/>
          </a:p>
        </ns0:txBody>
      </ns0:sp>
      <ns0:sp>
        <ns0:nvSpPr>
          <ns0:cNvPr id="4" name="Shape 2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5" name="Text 3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900" dirty="0"/>
          </a:p>
        </ns0:txBody>
      </ns0:sp>
      <ns0:sp>
        <ns0:nvSpPr>
          <ns0:cNvPr id="6" name="Shape 4"/>
          <ns0:cNvSpPr/>
          <ns0:nvPr/>
        </ns0:nvSpPr>
        <ns0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ns0:spPr>
      </ns0:sp>
      <ns0:sp>
        <ns0:nvSpPr>
          <ns0:cNvPr id="7" name="Shape 5"/>
          <ns0:cNvSpPr/>
          <ns0:nvPr/>
        </ns0:nvSpPr>
        <ns0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8" name="Text 6"/>
          <ns0:cNvSpPr/>
          <ns0:nvPr/>
        </ns0:nvSpPr>
        <ns0:spPr>
          <a:xfrm>
            <a:off x="365760" y="777240"/>
            <a:ext cx="8412480" cy="5943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 pensaré"</a:t>
            </a:r>
            <a:endParaRPr lang="en-US" sz="3000" dirty="0"/>
          </a:p>
        </ns0:txBody>
      </ns0:sp>
      <ns0:sp>
        <ns0:nvSpPr>
          <ns0:cNvPr id="9" name="Text 7"/>
          <ns0:cNvSpPr/>
          <ns0:nvPr/>
        </ns0:nvSpPr>
        <ns0:spPr>
          <a:xfrm>
            <a:off x="365760" y="1325880"/>
            <a:ext cx="841248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...rara vez es la verdad. Es alivio de presión.</a:t>
            </a:r>
            <a:endParaRPr lang="en-US" sz="1800" dirty="0"/>
          </a:p>
        </ns0:txBody>
      </ns0:sp>
      <ns0:sp>
        <ns0:nvSpPr>
          <ns0:cNvPr id="10" name="Shape 8"/>
          <ns0:cNvSpPr/>
          <ns0:nvPr/>
        </ns0:nvSpPr>
        <ns0:spPr>
          <a:xfrm>
            <a:off x="365760" y="187452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ns0:spPr>
      </ns0:sp>
      <ns0:sp>
        <ns0:nvSpPr>
          <ns0:cNvPr id="11" name="Shape 9"/>
          <ns0:cNvSpPr/>
          <ns0:nvPr/>
        </ns0:nvSpPr>
        <ns0:spPr>
          <a:xfrm>
            <a:off x="365760" y="1874520"/>
            <a:ext cx="64008" cy="13716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12" name="Text 10"/>
          <ns0:cNvSpPr/>
          <ns0:nvPr/>
        </ns0:nvSpPr>
        <ns0:spPr>
          <a:xfrm>
            <a:off x="530352" y="1984248"/>
            <a:ext cx="3675888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sucede</a:t>
            </a:r>
            <a:endParaRPr lang="en-US" sz="1300" dirty="0"/>
          </a:p>
        </ns0:txBody>
      </ns0:sp>
      <ns0:sp>
        <ns0:nvSpPr>
          <ns0:cNvPr id="13" name="Text 11"/>
          <ns0:cNvSpPr/>
          <ns0:nvPr/>
        </ns0:nvSpPr>
        <ns0:spPr>
          <a:xfrm>
            <a:off x="530352" y="2331720"/>
            <a:ext cx="3675888" cy="8046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decisiones crean ansiedad cognitiva. El cerebro usa la demora como atajo para evitar la incertidumbre.</a:t>
            </a:r>
            <a:endParaRPr lang="en-US" sz="1200" dirty="0"/>
          </a:p>
        </ns0:txBody>
      </ns0:sp>
      <ns0:sp>
        <ns0:nvSpPr>
          <ns0:cNvPr id="14" name="Shape 12"/>
          <ns0:cNvSpPr/>
          <ns0:nvPr/>
        </ns0:nvSpPr>
        <ns0:spPr>
          <a:xfrm>
            <a:off x="4434840" y="1874520"/>
            <a:ext cx="4343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ns0:spPr>
      </ns0:sp>
      <ns0:sp>
        <ns0:nvSpPr>
          <ns0:cNvPr id="15" name="Shape 13"/>
          <ns0:cNvSpPr/>
          <ns0:nvPr/>
        </ns0:nvSpPr>
        <ns0:spPr>
          <a:xfrm>
            <a:off x="4434840" y="1874520"/>
            <a:ext cx="64008" cy="1371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ns0:spPr>
      </ns0:sp>
      <ns0:sp>
        <ns0:nvSpPr>
          <ns0:cNvPr id="16" name="Text 14"/>
          <ns0:cNvSpPr/>
          <ns0:nvPr/>
        </ns0:nvSpPr>
        <ns0:spPr>
          <a:xfrm>
            <a:off x="4599432" y="1984248"/>
            <a:ext cx="4087368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'Pensarlo' realmente significa</a:t>
            </a:r>
            <a:endParaRPr lang="en-US" sz="1300" dirty="0"/>
          </a:p>
        </ns0:txBody>
      </ns0:sp>
      <ns0:sp>
        <ns0:nvSpPr>
          <ns0:cNvPr id="17" name="Text 15"/>
          <ns0:cNvSpPr/>
          <ns0:nvPr/>
        </ns0:nvSpPr>
        <ns0:spPr>
          <a:xfrm>
            <a:off x="4599432" y="2331720"/>
            <a:ext cx="4087368" cy="8046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 veo suficiente valor todavía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Algo no quedó claro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 estaba listo para comprometerme</a:t>
            </a:r>
            <a:endParaRPr lang="en-US" sz="1200" dirty="0"/>
          </a:p>
        </ns0:txBody>
      </ns0:sp>
      <ns0:sp>
        <ns0:nvSpPr>
          <ns0:cNvPr id="18" name="Shape 16"/>
          <ns0:cNvSpPr/>
          <ns0:nvPr/>
        </ns0:nvSpPr>
        <ns0:spPr>
          <a:xfrm>
            <a:off x="365760" y="3383280"/>
            <a:ext cx="8412480" cy="11887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ns0:spPr>
      </ns0:sp>
      <ns0:sp>
        <ns0:nvSpPr>
          <ns0:cNvPr id="19" name="Text 17"/>
          <ns0:cNvSpPr/>
          <ns0:nvPr/>
        </ns0:nvSpPr>
        <ns0:spPr>
          <a:xfrm>
            <a:off x="548640" y="3502152"/>
            <a:ext cx="8046720" cy="5029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del representante: Guiar la comprensión, no la presión. Ayudarlos a ver cuánto cuesta quedarse.</a:t>
            </a:r>
            <a:endParaRPr lang="en-US" sz="1500" dirty="0"/>
          </a:p>
        </ns0:txBody>
      </ns0:sp>
      <ns0:sp>
        <ns0:nvSpPr>
          <ns0:cNvPr id="20" name="Text 18"/>
          <ns0:cNvSpPr/>
          <ns0:nvPr/>
        </ns0:nvSpPr>
        <ns0:spPr>
          <a:xfrm>
            <a:off x="548640" y="4005072"/>
            <a:ext cx="804672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Pregunte: '¿Qué información le ayudaría a sentirse seguro sobre esta decisión?'</a:t>
            </a:r>
            <a:endParaRPr lang="en-US" sz="1300" dirty="0"/>
          </a:p>
        </ns0:txBody>
      </ns0:sp>
    </ns0:spTree>
  </ns0:cSld>
  <ns0:clrMapOvr>
    <a:masterClrMapping/>
  </ns0:clrMapOvr>
</ns0:sld>
</file>

<file path=ppt/slides/slide8.xml><?xml version="1.0" encoding="utf-8"?>
<ns0:sld xmlns:a="http://schemas.openxmlformats.org/drawingml/2006/main" xmlns:ns0="http://schemas.openxmlformats.org/presentationml/2006/main">
  <ns0:cSld name="Slide 8"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274320" y="0"/>
            <a:ext cx="777240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Barrera de Confianza del Contratista</a:t>
            </a:r>
            <a:endParaRPr lang="en-US" sz="2000" dirty="0"/>
          </a:p>
        </ns0:txBody>
      </ns0:sp>
      <ns0:sp>
        <ns0:nvSpPr>
          <ns0:cNvPr id="4" name="Shape 2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5" name="Text 3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900" dirty="0"/>
          </a:p>
        </ns0:txBody>
      </ns0:sp>
      <ns0:sp>
        <ns0:nvSpPr>
          <ns0:cNvPr id="6" name="Shape 4"/>
          <ns0:cNvSpPr/>
          <ns0:nvPr/>
        </ns0:nvSpPr>
        <ns0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ns0:spPr>
      </ns0:sp>
      <ns0:sp>
        <ns0:nvSpPr>
          <ns0:cNvPr id="7" name="Shape 5"/>
          <ns0:cNvSpPr/>
          <ns0:nvPr/>
        </ns0:nvSpPr>
        <ns0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8" name="Text 6"/>
          <ns0:cNvSpPr/>
          <ns0:nvPr/>
        </ns0:nvSpPr>
        <ns0:spPr>
          <a:xfrm>
            <a:off x="365760" y="822960"/>
            <a:ext cx="5029200" cy="1463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Muchos propietarios han sido defraudados por contratistas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experiencias negativas pasadas colorean la percepción actual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propietarios lo evalúan A USTED antes de evaluar el solar</a:t>
            </a:r>
            <a:endParaRPr lang="en-US" sz="1400" dirty="0"/>
          </a:p>
        </ns0:txBody>
      </ns0:sp>
      <ns0:sp>
        <ns0:nvSpPr>
          <ns0:cNvPr id="9" name="Shape 7"/>
          <ns0:cNvSpPr/>
          <ns0:nvPr/>
        </ns0:nvSpPr>
        <ns0:spPr>
          <a:xfrm>
            <a:off x="365760" y="2395728"/>
            <a:ext cx="5029200" cy="169164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ns0:spPr>
      </ns0:sp>
      <ns0:sp>
        <ns0:nvSpPr>
          <ns0:cNvPr id="10" name="Text 8"/>
          <ns0:cNvSpPr/>
          <ns0:nvPr/>
        </ns0:nvSpPr>
        <ns0:spPr>
          <a:xfrm>
            <a:off x="548640" y="2487168"/>
            <a:ext cx="457200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Señales de Desconfianza</a:t>
            </a:r>
            <a:endParaRPr lang="en-US" sz="1400" dirty="0"/>
          </a:p>
        </ns0:txBody>
      </ns0:sp>
      <ns0:sp>
        <ns0:nvSpPr>
          <ns0:cNvPr id="11" name="Text 9"/>
          <ns0:cNvSpPr/>
          <ns0:nvPr/>
        </ns0:nvSpPr>
        <ns0:spPr>
          <a:xfrm>
            <a:off x="548640" y="2852928"/>
            <a:ext cx="4572000" cy="11887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Brazos cruzados / lenguaje corporal cerrado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 cortas de una palabra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Cuerpo en ángulo (listo para cerrar la puerta)</a:t>
            </a:r>
            <a:endParaRPr lang="en-US" sz="1300" dirty="0"/>
          </a:p>
        </ns0:txBody>
      </ns0:sp>
      <ns0:sp>
        <ns0:nvSpPr>
          <ns0:cNvPr id="12" name="Shape 10"/>
          <ns0:cNvSpPr/>
          <ns0:nvPr/>
        </ns0:nvSpPr>
        <ns0:spPr>
          <a:xfrm>
            <a:off x="5577840" y="822960"/>
            <a:ext cx="3337560" cy="32918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ns0:spPr>
      </ns0:sp>
      <ns0:sp>
        <ns0:nvSpPr>
          <ns0:cNvPr id="13" name="Text 11"/>
          <ns0:cNvSpPr/>
          <ns0:nvPr/>
        </ns0:nvSpPr>
        <ns0:spPr>
          <a:xfrm>
            <a:off x="5715000" y="960120"/>
            <a:ext cx="3063240" cy="3657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Recuerde:</a:t>
            </a:r>
            <a:endParaRPr lang="en-US" sz="1300" dirty="0"/>
          </a:p>
        </ns0:txBody>
      </ns0:sp>
      <ns0:sp>
        <ns0:nvSpPr>
          <ns0:cNvPr id="14" name="Text 12"/>
          <ns0:cNvSpPr/>
          <ns0:nvPr/>
        </ns0:nvSpPr>
        <ns0:spPr>
          <a:xfrm>
            <a:off x="5715000" y="1371600"/>
            <a:ext cx="3063240" cy="2560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están rechazando el solar.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están protegiendo de un extraño.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primer trabajo es convertirse en una persona de confianza — no en un vendedor.</a:t>
            </a:r>
            <a:endParaRPr lang="en-US" sz="1300" dirty="0"/>
          </a:p>
        </ns0:txBody>
      </ns0:sp>
      <ns0:sp>
        <ns0:nvSpPr>
          <ns0:cNvPr id="15" name="Shape 13"/>
          <ns0:cNvSpPr/>
          <ns0:nvPr/>
        </ns0:nvSpPr>
        <ns0:spPr>
          <a:xfrm>
            <a:off x="274320" y="4160520"/>
            <a:ext cx="8595360" cy="685800"/>
          </a:xfrm>
          <a:prstGeom prst="rect">
            <a:avLst/>
          </a:prstGeom>
          <a:solidFill>
            <a:srgbClr val="FFF3CD"/>
          </a:solidFill>
          <a:ln w="12700">
            <a:solidFill>
              <a:srgbClr val="F5C842"/>
            </a:solidFill>
            <a:prstDash val="solid"/>
          </a:ln>
        </ns0:spPr>
      </ns0:sp>
      <ns0:sp>
        <ns0:nvSpPr>
          <ns0:cNvPr id="16" name="Text 14"/>
          <ns0:cNvSpPr/>
          <ns0:nvPr/>
        </ns0:nvSpPr>
        <ns0:spPr>
          <a:xfrm>
            <a:off x="411480" y="4187952"/>
            <a:ext cx="8321040" cy="5943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TRAINER: </a:t>
            </a:r>
            <a:pPr indent="0" marL="0">
              <a:buNone/>
            </a:pPr>
            <a:r>
              <a:rPr lang="en-US" sz="1100" i="1" dirty="0">
                <a:solidFill>
                  <a:srgbClr val="5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Pregunte a la clase: 'Piense en un momento en que USTED era escéptico de un vendedor. ¿Qué habría cambiado su opinión?'</a:t>
            </a:r>
            <a:endParaRPr lang="en-US" sz="1100" dirty="0"/>
          </a:p>
        </ns0:txBody>
      </ns0:sp>
    </ns0:spTree>
  </ns0:cSld>
  <ns0:clrMapOvr>
    <a:masterClrMapping/>
  </ns0:clrMapOvr>
</ns0:sld>
</file>

<file path=ppt/slides/slide9.xml><?xml version="1.0" encoding="utf-8"?>
<ns0:sld xmlns:a="http://schemas.openxmlformats.org/drawingml/2006/main" xmlns:ns0="http://schemas.openxmlformats.org/presentationml/2006/main">
  <ns0:cSld name="Slide 9"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274320" y="0"/>
            <a:ext cx="777240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Abordar el Escepticismo Directamente</a:t>
            </a:r>
            <a:endParaRPr lang="en-US" sz="2000" dirty="0"/>
          </a:p>
        </ns0:txBody>
      </ns0:sp>
      <ns0:sp>
        <ns0:nvSpPr>
          <ns0:cNvPr id="4" name="Shape 2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5" name="Text 3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900" dirty="0"/>
          </a:p>
        </ns0:txBody>
      </ns0:sp>
      <ns0:sp>
        <ns0:nvSpPr>
          <ns0:cNvPr id="6" name="Shape 4"/>
          <ns0:cNvSpPr/>
          <ns0:nvPr/>
        </ns0:nvSpPr>
        <ns0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ns0:spPr>
      </ns0:sp>
      <ns0:sp>
        <ns0:nvSpPr>
          <ns0:cNvPr id="7" name="Shape 5"/>
          <ns0:cNvSpPr/>
          <ns0:nvPr/>
        </ns0:nvSpPr>
        <ns0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8" name="Shape 6"/>
          <ns0:cNvSpPr/>
          <ns0:nvPr/>
        </ns0:nvSpPr>
        <ns0:spPr>
          <a:xfrm>
            <a:off x="274320" y="777240"/>
            <a:ext cx="8595360" cy="19202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ns0:spPr>
      </ns0:sp>
      <ns0:sp>
        <ns0:nvSpPr>
          <ns0:cNvPr id="9" name="Text 7"/>
          <ns0:cNvSpPr/>
          <ns0:nvPr/>
        </ns0:nvSpPr>
        <ns0:spPr>
          <a:xfrm>
            <a:off x="502920" y="868680"/>
            <a:ext cx="137160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Guión:</a:t>
            </a:r>
            <a:endParaRPr lang="en-US" sz="1200" dirty="0"/>
          </a:p>
        </ns0:txBody>
      </ns0:sp>
      <ns0:sp>
        <ns0:nvSpPr>
          <ns0:cNvPr id="10" name="Text 8"/>
          <ns0:cNvSpPr/>
          <ns0:nvPr/>
        </ns0:nvSpPr>
        <ns0:spPr>
          <a:xfrm>
            <a:off x="502920" y="1261872"/>
            <a:ext cx="8046720" cy="12344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"Sé que los representantes de solar tienen cierta reputación, y lo entiendo. Por eso comienzo con los números primero. Si no tiene sentido para su hogar, se lo diré."</a:t>
            </a:r>
            <a:endParaRPr lang="en-US" sz="1800" dirty="0"/>
          </a:p>
        </ns0:txBody>
      </ns0:sp>
      <ns0:sp>
        <ns0:nvSpPr>
          <ns0:cNvPr id="11" name="Shape 9"/>
          <ns0:cNvSpPr/>
          <ns0:nvPr/>
        </ns0:nvSpPr>
        <ns0:spPr>
          <a:xfrm>
            <a:off x="274320" y="283464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ns0:spPr>
      </ns0:sp>
      <ns0:sp>
        <ns0:nvSpPr>
          <ns0:cNvPr id="12" name="Shape 10"/>
          <ns0:cNvSpPr/>
          <ns0:nvPr/>
        </ns0:nvSpPr>
        <ns0:spPr>
          <a:xfrm>
            <a:off x="274320" y="2834640"/>
            <a:ext cx="64008" cy="150876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13" name="Text 11"/>
          <ns0:cNvSpPr/>
          <ns0:nvPr/>
        </ns0:nvSpPr>
        <ns0:spPr>
          <a:xfrm>
            <a:off x="438912" y="2944368"/>
            <a:ext cx="3858768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Por Qué Funciona Esto</a:t>
            </a:r>
            <a:endParaRPr lang="en-US" sz="1300" dirty="0"/>
          </a:p>
        </ns0:txBody>
      </ns0:sp>
      <ns0:sp>
        <ns0:nvSpPr>
          <ns0:cNvPr id="14" name="Text 12"/>
          <ns0:cNvSpPr/>
          <ns0:nvPr/>
        </ns0:nvSpPr>
        <ns0:spPr>
          <a:xfrm>
            <a:off x="438912" y="3291840"/>
            <a:ext cx="3858768" cy="94183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Nombrar al 'elefante en la habitación' desarma la resistencia antes de que se construya. Ya no eres una amenaza — eres alguien que entiende.</a:t>
            </a:r>
            <a:endParaRPr lang="en-US" sz="1200" dirty="0"/>
          </a:p>
        </ns0:txBody>
      </ns0:sp>
      <ns0:sp>
        <ns0:nvSpPr>
          <ns0:cNvPr id="15" name="Shape 13"/>
          <ns0:cNvSpPr/>
          <ns0:nvPr/>
        </ns0:nvSpPr>
        <ns0:spPr>
          <a:xfrm>
            <a:off x="4663440" y="283464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ns0:spPr>
      </ns0:sp>
      <ns0:sp>
        <ns0:nvSpPr>
          <ns0:cNvPr id="16" name="Shape 14"/>
          <ns0:cNvSpPr/>
          <ns0:nvPr/>
        </ns0:nvSpPr>
        <ns0:spPr>
          <a:xfrm>
            <a:off x="4663440" y="2834640"/>
            <a:ext cx="64008" cy="1508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ns0:spPr>
      </ns0:sp>
      <ns0:sp>
        <ns0:nvSpPr>
          <ns0:cNvPr id="17" name="Text 15"/>
          <ns0:cNvSpPr/>
          <ns0:nvPr/>
        </ns0:nvSpPr>
        <ns0:spPr>
          <a:xfrm>
            <a:off x="4828032" y="2944368"/>
            <a:ext cx="3858768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El Principio</a:t>
            </a:r>
            <a:endParaRPr lang="en-US" sz="1300" dirty="0"/>
          </a:p>
        </ns0:txBody>
      </ns0:sp>
      <ns0:sp>
        <ns0:nvSpPr>
          <ns0:cNvPr id="18" name="Text 16"/>
          <ns0:cNvSpPr/>
          <ns0:nvPr/>
        </ns0:nvSpPr>
        <ns0:spPr>
          <a:xfrm>
            <a:off x="4828032" y="3291840"/>
            <a:ext cx="3858768" cy="94183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admite que algunas personas en esta industria son insistentes, se separa instantáneamente de ellos. Vulnerabilidad = confianza.</a:t>
            </a:r>
            <a:endParaRPr lang="en-US" sz="1200" dirty="0"/>
          </a:p>
        </ns0:txBody>
      </ns0:sp>
      <ns0:sp>
        <ns0:nvSpPr>
          <ns0:cNvPr id="19" name="Shape 17"/>
          <ns0:cNvSpPr/>
          <ns0:nvPr/>
        </ns0:nvSpPr>
        <ns0:spPr>
          <a:xfrm>
            <a:off x="274320" y="4160520"/>
            <a:ext cx="8595360" cy="685800"/>
          </a:xfrm>
          <a:prstGeom prst="rect">
            <a:avLst/>
          </a:prstGeom>
          <a:solidFill>
            <a:srgbClr val="FFF3CD"/>
          </a:solidFill>
          <a:ln w="12700">
            <a:solidFill>
              <a:srgbClr val="F5C842"/>
            </a:solidFill>
            <a:prstDash val="solid"/>
          </a:ln>
        </ns0:spPr>
      </ns0:sp>
      <ns0:sp>
        <ns0:nvSpPr>
          <ns0:cNvPr id="20" name="Text 18"/>
          <ns0:cNvSpPr/>
          <ns0:nvPr/>
        </ns0:nvSpPr>
        <ns0:spPr>
          <a:xfrm>
            <a:off x="411480" y="4187952"/>
            <a:ext cx="8321040" cy="5943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TRAINER: </a:t>
            </a:r>
            <a:pPr indent="0" marL="0">
              <a:buNone/>
            </a:pPr>
            <a:r>
              <a:rPr lang="en-US" sz="1100" i="1" dirty="0">
                <a:solidFill>
                  <a:srgbClr val="5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admite que algunos representantes son insistentes, se separa instantáneamente de ellos. Practique decir esto en voz alta — debe sonar natural.</a:t>
            </a:r>
            <a:endParaRPr lang="en-US" sz="1100" dirty="0"/>
          </a:p>
        </ns0:txBody>
      </ns0:sp>
    </ns0:spTree>
  </ns0:cSld>
  <ns0:clrMapOvr>
    <a:masterClrMapping/>
  </ns0:clrMapOvr>
</ns0:sld>
</file>

<file path=ppt/slides/slide10.xml><?xml version="1.0" encoding="utf-8"?>
<ns0:sld xmlns:a="http://schemas.openxmlformats.org/drawingml/2006/main" xmlns:ns0="http://schemas.openxmlformats.org/presentationml/2006/main">
  <ns0:cSld name="Slide 10"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274320" y="0"/>
            <a:ext cx="777240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Aversión a la Pérdida: El Motivador Más Poderoso</a:t>
            </a:r>
            <a:endParaRPr lang="en-US" sz="2000" dirty="0"/>
          </a:p>
        </ns0:txBody>
      </ns0:sp>
      <ns0:sp>
        <ns0:nvSpPr>
          <ns0:cNvPr id="4" name="Shape 2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5" name="Text 3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900" dirty="0"/>
          </a:p>
        </ns0:txBody>
      </ns0:sp>
      <ns0:sp>
        <ns0:nvSpPr>
          <ns0:cNvPr id="6" name="Shape 4"/>
          <ns0:cNvSpPr/>
          <ns0:nvPr/>
        </ns0:nvSpPr>
        <ns0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ns0:spPr>
      </ns0:sp>
      <ns0:sp>
        <ns0:nvSpPr>
          <ns0:cNvPr id="7" name="Shape 5"/>
          <ns0:cNvSpPr/>
          <ns0:nvPr/>
        </ns0:nvSpPr>
        <ns0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8" name="Shape 6"/>
          <ns0:cNvSpPr/>
          <ns0:nvPr/>
        </ns0:nvSpPr>
        <ns0:spPr>
          <a:xfrm>
            <a:off x="274320" y="777240"/>
            <a:ext cx="8595360" cy="54864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ns0:spPr>
      </ns0:sp>
      <ns0:sp>
        <ns0:nvSpPr>
          <ns0:cNvPr id="9" name="Text 7"/>
          <ns0:cNvSpPr/>
          <ns0:nvPr/>
        </ns0:nvSpPr>
        <ns0:spPr>
          <a:xfrm>
            <a:off x="457200" y="795528"/>
            <a:ext cx="8229600" cy="5029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personas temen más las pérdidas que valoran las ganancias equivalentes.</a:t>
            </a:r>
            <a:endParaRPr lang="en-US" sz="1700" dirty="0"/>
          </a:p>
        </ns0:txBody>
      </ns0:sp>
      <ns0:sp>
        <ns0:nvSpPr>
          <ns0:cNvPr id="10" name="Shape 8"/>
          <ns0:cNvSpPr/>
          <ns0:nvPr/>
        </ns0:nvSpPr>
        <ns0:spPr>
          <a:xfrm>
            <a:off x="274320" y="1508760"/>
            <a:ext cx="4114800" cy="2103120"/>
          </a:xfrm>
          <a:prstGeom prst="rect">
            <a:avLst/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ns0:spPr>
      </ns0:sp>
      <ns0:sp>
        <ns0:nvSpPr>
          <ns0:cNvPr id="11" name="Text 9"/>
          <ns0:cNvSpPr/>
          <ns0:nvPr/>
        </ns0:nvSpPr>
        <ns0:spPr>
          <a:xfrm>
            <a:off x="411480" y="1600200"/>
            <a:ext cx="384048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Encuadre de Ganancia (Débil)</a:t>
            </a:r>
            <a:endParaRPr lang="en-US" sz="1400" dirty="0"/>
          </a:p>
        </ns0:txBody>
      </ns0:sp>
      <ns0:sp>
        <ns0:nvSpPr>
          <ns0:cNvPr id="12" name="Text 10"/>
          <ns0:cNvSpPr/>
          <ns0:nvPr/>
        </ns0:nvSpPr>
        <ns0:spPr>
          <a:xfrm>
            <a:off x="411480" y="2011680"/>
            <a:ext cx="3840480" cy="5486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"Podría ahorrar $200/mes con solar."</a:t>
            </a:r>
            <a:endParaRPr lang="en-US" sz="1300" dirty="0"/>
          </a:p>
        </ns0:txBody>
      </ns0:sp>
      <ns0:sp>
        <ns0:nvSpPr>
          <ns0:cNvPr id="13" name="Text 11"/>
          <ns0:cNvSpPr/>
          <ns0:nvPr/>
        </ns0:nvSpPr>
        <ns0:spPr>
          <a:xfrm>
            <a:off x="411480" y="2651760"/>
            <a:ext cx="384048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urgencia. Sin amenaza. Fácil de posponer.</a:t>
            </a:r>
            <a:endParaRPr lang="en-US" sz="1200" dirty="0"/>
          </a:p>
        </ns0:txBody>
      </ns0:sp>
      <ns0:sp>
        <ns0:nvSpPr>
          <ns0:cNvPr id="14" name="Shape 12"/>
          <ns0:cNvSpPr/>
          <ns0:nvPr/>
        </ns0:nvSpPr>
        <ns0:spPr>
          <a:xfrm>
            <a:off x="4754880" y="1508760"/>
            <a:ext cx="4114800" cy="2103120"/>
          </a:xfrm>
          <a:prstGeom prst="rect">
            <a:avLst/>
          </a:prstGeom>
          <a:solidFill>
            <a:srgbClr val="FFF1F2"/>
          </a:solidFill>
          <a:ln w="12700">
            <a:solidFill>
              <a:srgbClr val="FCA5A5"/>
            </a:solidFill>
            <a:prstDash val="solid"/>
          </a:ln>
        </ns0:spPr>
      </ns0:sp>
      <ns0:sp>
        <ns0:nvSpPr>
          <ns0:cNvPr id="15" name="Text 13"/>
          <ns0:cNvSpPr/>
          <ns0:nvPr/>
        </ns0:nvSpPr>
        <ns0:spPr>
          <a:xfrm>
            <a:off x="4892040" y="1600200"/>
            <a:ext cx="384048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Encuadre de Pérdida (Poderoso)</a:t>
            </a:r>
            <a:endParaRPr lang="en-US" sz="1400" dirty="0"/>
          </a:p>
        </ns0:txBody>
      </ns0:sp>
      <ns0:sp>
        <ns0:nvSpPr>
          <ns0:cNvPr id="16" name="Text 14"/>
          <ns0:cNvSpPr/>
          <ns0:nvPr/>
        </ns0:nvSpPr>
        <ns0:spPr>
          <a:xfrm>
            <a:off x="4892040" y="2011680"/>
            <a:ext cx="3840480" cy="5486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"Está perdiendo $200/mes a la empresa eléctrica."</a:t>
            </a:r>
            <a:endParaRPr lang="en-US" sz="1300" dirty="0"/>
          </a:p>
        </ns0:txBody>
      </ns0:sp>
      <ns0:sp>
        <ns0:nvSpPr>
          <ns0:cNvPr id="17" name="Text 15"/>
          <ns0:cNvSpPr/>
          <ns0:nvPr/>
        </ns0:nvSpPr>
        <ns0:spPr>
          <a:xfrm>
            <a:off x="4892040" y="2651760"/>
            <a:ext cx="384048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urgencia. Dolor actual. Difícil de ignorar.</a:t>
            </a:r>
            <a:endParaRPr lang="en-US" sz="1200" dirty="0"/>
          </a:p>
        </ns0:txBody>
      </ns0:sp>
      <ns0:sp>
        <ns0:nvSpPr>
          <ns0:cNvPr id="18" name="Text 16"/>
          <ns0:cNvSpPr/>
          <ns0:nvPr/>
        </ns0:nvSpPr>
        <ns0:spPr>
          <a:xfrm>
            <a:off x="274320" y="3749040"/>
            <a:ext cx="8595360" cy="5029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CLAVE: Enmarque el solar como detener una pérdida, no crear una ganancia.</a:t>
            </a:r>
            <a:endParaRPr lang="en-US" sz="1600" dirty="0"/>
          </a:p>
        </ns0:txBody>
      </ns0:sp>
      <ns0:sp>
        <ns0:nvSpPr>
          <ns0:cNvPr id="19" name="Shape 17"/>
          <ns0:cNvSpPr/>
          <ns0:nvPr/>
        </ns0:nvSpPr>
        <ns0:spPr>
          <a:xfrm>
            <a:off x="274320" y="4160520"/>
            <a:ext cx="8595360" cy="685800"/>
          </a:xfrm>
          <a:prstGeom prst="rect">
            <a:avLst/>
          </a:prstGeom>
          <a:solidFill>
            <a:srgbClr val="FFF3CD"/>
          </a:solidFill>
          <a:ln w="12700">
            <a:solidFill>
              <a:srgbClr val="F5C842"/>
            </a:solidFill>
            <a:prstDash val="solid"/>
          </a:ln>
        </ns0:spPr>
      </ns0:sp>
      <ns0:sp>
        <ns0:nvSpPr>
          <ns0:cNvPr id="20" name="Text 18"/>
          <ns0:cNvSpPr/>
          <ns0:nvPr/>
        </ns0:nvSpPr>
        <ns0:spPr>
          <a:xfrm>
            <a:off x="411480" y="4187952"/>
            <a:ext cx="8321040" cy="5943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TRAINER: </a:t>
            </a:r>
            <a:pPr indent="0" marL="0">
              <a:buNone/>
            </a:pPr>
            <a:r>
              <a:rPr lang="en-US" sz="1100" i="1" dirty="0">
                <a:solidFill>
                  <a:srgbClr val="5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Pregunte: '¿Cuánto le ha pagado a su empresa eléctrica en los últimos 10 años?' El número los impacta.</a:t>
            </a:r>
            <a:endParaRPr lang="en-US" sz="1100" dirty="0"/>
          </a:p>
        </ns0:txBody>
      </ns0:sp>
    </ns0:spTree>
  </ns0:cSld>
  <ns0:clrMapOvr>
    <a:masterClrMapping/>
  </ns0:clrMapOvr>
</ns0:sld>
</file>

<file path=ppt/slides/slide11.xml><?xml version="1.0" encoding="utf-8"?>
<ns0:sld xmlns:a="http://schemas.openxmlformats.org/drawingml/2006/main" xmlns:ns0="http://schemas.openxmlformats.org/presentationml/2006/main" xmlns:ns2="http://schemas.microsoft.com/office/powerpoint/2010/main">
  <ns0:cSld name="Slide 11"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274320" y="0"/>
            <a:ext cx="777240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Factores Psicológicos: Referencia Rápida</a:t>
            </a:r>
            <a:endParaRPr lang="en-US" sz="2000" dirty="0"/>
          </a:p>
        </ns0:txBody>
      </ns0:sp>
      <ns0:sp>
        <ns0:nvSpPr>
          <ns0:cNvPr id="4" name="Shape 2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5" name="Text 3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900" dirty="0"/>
          </a:p>
        </ns0:txBody>
      </ns0:sp>
      <ns0:sp>
        <ns0:nvSpPr>
          <ns0:cNvPr id="6" name="Shape 4"/>
          <ns0:cNvSpPr/>
          <ns0:nvPr/>
        </ns0:nvSpPr>
        <ns0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ns0:spPr>
      </ns0:sp>
      <ns0:sp>
        <ns0:nvSpPr>
          <ns0:cNvPr id="7" name="Shape 5"/>
          <ns0:cNvSpPr/>
          <ns0:nvPr/>
        </ns0:nvSpPr>
        <ns0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graphicFrame>
        <ns0:nvGraphicFramePr>
          <ns0:cNvPr id="12" name="Table 0"/>
          <ns0:cNvGraphicFramePr>
            <a:graphicFrameLocks noGrp="1"/>
          </ns0:cNvGraphicFramePr>
          <ns0:nvPr>
            <ns0:extLst>
              <ns0:ext uri="{D42A27DB-BD31-4B8C-83A1-F6EECF244321}">
                <ns2:modId val="1579011935"/>
              </ns0:ext>
            </ns0:extLst>
          </ns0:nvPr>
        </ns0:nvGraphicFramePr>
        <ns0:xfrm>
          <a:off x="274320" y="777240"/>
          <a:ext cx="8595360" cy="4160520"/>
        </ns0:xfrm>
        <a:graphic>
          <a:graphicData uri="http://schemas.openxmlformats.org/drawingml/2006/table">
            <a:tbl>
              <a:tblPr/>
              <a:tblGrid>
                <a:gridCol w="2286000"/>
                <a:gridCol w="2926080"/>
                <a:gridCol w="33832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 Psicológico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Cómo Se 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Estrategia del Representante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Sesgo del Statu Quo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"Mi factura está bien"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Mostrar el verdadero costo de quedarse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Evasión de Decisiones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"Lo pensaré"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Guiar con claridad, no con presión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Desconfianza en Contratistas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Brazos cruzados, respuestas cortas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Nómbrelo, construya rapport lentamente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Escepticismo Solar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"Los representantes siempre exageran"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Abordarlo abierta y directamente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Aversión a la Pérdida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Responde a $$ pagados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Enmarcar los ahorros como detener pérdidas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Fatiga de Decisiones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Respuestas monosilábicas por la noche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Mantenga el discurso corto, solicite pequeños pasos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</a:tr>
            </a:tbl>
          </a:graphicData>
        </a:graphic>
      </ns0:graphicFrame>
    </ns0:spTree>
  </ns0:cSld>
  <ns0:clrMapOvr>
    <a:masterClrMapping/>
  </ns0:clrMapOvr>
</ns0:sld>
</file>

<file path=ppt/slides/slide12.xml><?xml version="1.0" encoding="utf-8"?>
<ns0:sld xmlns:a="http://schemas.openxmlformats.org/drawingml/2006/main" xmlns:ns0="http://schemas.openxmlformats.org/presentationml/2006/main">
  <ns0:cSld name="Slide 12"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274320" y="0"/>
            <a:ext cx="777240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de IA: Gloria la Cautelosa</a:t>
            </a:r>
            <a:endParaRPr lang="en-US" sz="2000" dirty="0"/>
          </a:p>
        </ns0:txBody>
      </ns0:sp>
      <ns0:sp>
        <ns0:nvSpPr>
          <ns0:cNvPr id="4" name="Shape 2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5" name="Text 3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900" dirty="0"/>
          </a:p>
        </ns0:txBody>
      </ns0:sp>
      <ns0:sp>
        <ns0:nvSpPr>
          <ns0:cNvPr id="6" name="Shape 4"/>
          <ns0:cNvSpPr/>
          <ns0:nvPr/>
        </ns0:nvSpPr>
        <ns0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ns0:spPr>
      </ns0:sp>
      <ns0:sp>
        <ns0:nvSpPr>
          <ns0:cNvPr id="7" name="Shape 5"/>
          <ns0:cNvSpPr/>
          <ns0:nvPr/>
        </ns0:nvSpPr>
        <ns0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8" name="Shape 6"/>
          <ns0:cNvSpPr/>
          <ns0:nvPr/>
        </ns0:nvSpPr>
        <ns0:spPr>
          <a:xfrm>
            <a:off x="274320" y="777240"/>
            <a:ext cx="8595360" cy="15544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ns0:spPr>
      </ns0:sp>
      <ns0:sp>
        <ns0:nvSpPr>
          <ns0:cNvPr id="9" name="Text 7"/>
          <ns0:cNvSpPr/>
          <ns0:nvPr/>
        </ns0:nvSpPr>
        <ns0:spPr>
          <a:xfrm>
            <a:off x="502920" y="868680"/>
            <a:ext cx="1828800" cy="3657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</a:t>
            </a:r>
            <a:endParaRPr lang="en-US" sz="1100" dirty="0"/>
          </a:p>
        </ns0:txBody>
      </ns0:sp>
      <ns0:sp>
        <ns0:nvSpPr>
          <ns0:cNvPr id="10" name="Text 8"/>
          <ns0:cNvSpPr/>
          <ns0:nvPr/>
        </ns0:nvSpPr>
        <ns0:spPr>
          <a:xfrm>
            <a:off x="502920" y="1234440"/>
            <a:ext cx="8046720" cy="7315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Gloria abre la puerta con: "He escuchado este discurso antes. No me interesa."</a:t>
            </a:r>
            <a:endParaRPr lang="en-US" sz="1700" dirty="0"/>
          </a:p>
        </ns0:txBody>
      </ns0:sp>
      <ns0:sp>
        <ns0:nvSpPr>
          <ns0:cNvPr id="11" name="Text 9"/>
          <ns0:cNvSpPr/>
          <ns0:nvPr/>
        </ns0:nvSpPr>
        <ns0:spPr>
          <a:xfrm>
            <a:off x="274320" y="2514600"/>
            <a:ext cx="182880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de Habilidad:</a:t>
            </a:r>
            <a:endParaRPr lang="en-US" sz="1400" dirty="0"/>
          </a:p>
        </ns0:txBody>
      </ns0:sp>
      <ns0:sp>
        <ns0:nvSpPr>
          <ns0:cNvPr id="12" name="Text 10"/>
          <ns0:cNvSpPr/>
          <ns0:nvPr/>
        </ns0:nvSpPr>
        <ns0:spPr>
          <a:xfrm>
            <a:off x="548640" y="2926080"/>
            <a:ext cx="4572000" cy="18288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y nombrar la desconfianza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Desarmar el escepticismo sin discutir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un tono calmado y curioso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Gane 30 segundos más</a:t>
            </a:r>
            <a:endParaRPr lang="en-US" sz="1400" dirty="0"/>
          </a:p>
        </ns0:txBody>
      </ns0:sp>
      <ns0:sp>
        <ns0:nvSpPr>
          <ns0:cNvPr id="13" name="Shape 11"/>
          <ns0:cNvSpPr/>
          <ns0:nvPr/>
        </ns0:nvSpPr>
        <ns0:spPr>
          <a:xfrm>
            <a:off x="5120640" y="2468880"/>
            <a:ext cx="3749040" cy="233172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14" name="Text 12"/>
          <ns0:cNvSpPr/>
          <ns0:nvPr/>
        </ns0:nvSpPr>
        <ns0:spPr>
          <a:xfrm>
            <a:off x="5257800" y="2606040"/>
            <a:ext cx="347472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de Práctica</a:t>
            </a:r>
            <a:endParaRPr lang="en-US" sz="1300" dirty="0"/>
          </a:p>
        </ns0:txBody>
      </ns0:sp>
      <ns0:sp>
        <ns0:nvSpPr>
          <ns0:cNvPr id="15" name="Text 13"/>
          <ns0:cNvSpPr/>
          <ns0:nvPr/>
        </ns0:nvSpPr>
        <ns0:spPr>
          <a:xfrm>
            <a:off x="5257800" y="3017520"/>
            <a:ext cx="3474720" cy="1554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Mantenga la conversación abierta.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dé su discurso — solo conéctese y gane el derecho a hablar.</a:t>
            </a:r>
            <a:endParaRPr lang="en-US" sz="1300" dirty="0"/>
          </a:p>
        </ns0:txBody>
      </ns0:sp>
    </ns0:spTree>
  </ns0:cSld>
  <ns0:clrMapOvr>
    <a:masterClrMapping/>
  </ns0:clrMapOvr>
</ns0:sld>
</file>

<file path=ppt/slides/slide13.xml><?xml version="1.0" encoding="utf-8"?>
<ns0:sld xmlns:a="http://schemas.openxmlformats.org/drawingml/2006/main" xmlns:ns0="http://schemas.openxmlformats.org/presentationml/2006/main">
  <ns0:cSld name="Slide 13">
    <ns0:bg>
      <ns0:bgPr>
        <a:solidFill>
          <a:srgbClr val="0D1F3C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164592" cy="51435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457200" y="1097280"/>
            <a:ext cx="82296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2.2</a:t>
            </a:r>
            <a:endParaRPr lang="en-US" sz="1300" dirty="0"/>
          </a:p>
        </ns0:txBody>
      </ns0:sp>
      <ns0:sp>
        <ns0:nvSpPr>
          <ns0:cNvPr id="4" name="Text 2"/>
          <ns0:cNvSpPr/>
          <ns0:nvPr/>
        </ns0:nvSpPr>
        <ns0:spPr>
          <a:xfrm>
            <a:off x="457200" y="1554480"/>
            <a:ext cx="8229600" cy="10972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y Planificación de Territorio</a:t>
            </a:r>
            <a:endParaRPr lang="en-US" sz="3800" dirty="0"/>
          </a:p>
        </ns0:txBody>
      </ns0:sp>
      <ns0:sp>
        <ns0:nvSpPr>
          <ns0:cNvPr id="5" name="Text 3"/>
          <ns0:cNvSpPr/>
          <ns0:nvPr/>
        </ns0:nvSpPr>
        <ns0:spPr>
          <a:xfrm>
            <a:off x="457200" y="2697480"/>
            <a:ext cx="82296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Vecindarios de Alta Probabilidad  ·  20 min</a:t>
            </a:r>
            <a:endParaRPr lang="en-US" sz="1600" dirty="0"/>
          </a:p>
        </ns0:txBody>
      </ns0:sp>
    </ns0:spTree>
  </ns0:cSld>
  <ns0:clrMapOvr>
    <a:masterClrMapping/>
  </ns0:clrMapOvr>
</ns0:sld>
</file>

<file path=ppt/slides/slide14.xml><?xml version="1.0" encoding="utf-8"?>
<ns0:sld xmlns:a="http://schemas.openxmlformats.org/drawingml/2006/main" xmlns:ns0="http://schemas.openxmlformats.org/presentationml/2006/main">
  <ns0:cSld name="Slide 14"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274320" y="0"/>
            <a:ext cx="777240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Estrategia del Trébol</a:t>
            </a:r>
            <a:endParaRPr lang="en-US" sz="2000" dirty="0"/>
          </a:p>
        </ns0:txBody>
      </ns0:sp>
      <ns0:sp>
        <ns0:nvSpPr>
          <ns0:cNvPr id="4" name="Shape 2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5" name="Text 3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900" dirty="0"/>
          </a:p>
        </ns0:txBody>
      </ns0:sp>
      <ns0:sp>
        <ns0:nvSpPr>
          <ns0:cNvPr id="6" name="Shape 4"/>
          <ns0:cNvSpPr/>
          <ns0:nvPr/>
        </ns0:nvSpPr>
        <ns0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ns0:spPr>
      </ns0:sp>
      <ns0:sp>
        <ns0:nvSpPr>
          <ns0:cNvPr id="7" name="Shape 5"/>
          <ns0:cNvSpPr/>
          <ns0:nvPr/>
        </ns0:nvSpPr>
        <ns0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8" name="Text 6"/>
          <ns0:cNvSpPr/>
          <ns0:nvPr/>
        </ns0:nvSpPr>
        <ns0:spPr>
          <a:xfrm>
            <a:off x="365760" y="749808"/>
            <a:ext cx="841248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Comience donde ya existe la confianza.</a:t>
            </a:r>
            <a:endParaRPr lang="en-US" sz="2000" dirty="0"/>
          </a:p>
        </ns0:txBody>
      </ns0:sp>
      <ns0:sp>
        <ns0:nvSpPr>
          <ns0:cNvPr id="9" name="Shape 7"/>
          <ns0:cNvSpPr/>
          <ns0:nvPr/>
        </ns0:nvSpPr>
        <ns0:spPr>
          <a:xfrm>
            <a:off x="274320" y="1261872"/>
            <a:ext cx="8595360" cy="38404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ns0:spPr>
      </ns0:sp>
      <ns0:sp>
        <ns0:nvSpPr>
          <ns0:cNvPr id="10" name="Text 8"/>
          <ns0:cNvSpPr/>
          <ns0:nvPr/>
        </ns0:nvSpPr>
        <ns0:spPr>
          <a:xfrm>
            <a:off x="320040" y="1261872"/>
            <a:ext cx="2651760" cy="384048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4 casas a la IZQUIERDA</a:t>
            </a:r>
            <a:endParaRPr lang="en-US" sz="1200" dirty="0"/>
          </a:p>
        </ns0:txBody>
      </ns0:sp>
      <ns0:sp>
        <ns0:nvSpPr>
          <ns0:cNvPr id="11" name="Text 9"/>
          <ns0:cNvSpPr/>
          <ns0:nvPr/>
        </ns0:nvSpPr>
        <ns0:spPr>
          <a:xfrm>
            <a:off x="3246120" y="1261872"/>
            <a:ext cx="2651760" cy="384048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 RECIENTE</a:t>
            </a:r>
            <a:endParaRPr lang="en-US" sz="1200" dirty="0"/>
          </a:p>
        </ns0:txBody>
      </ns0:sp>
      <ns0:sp>
        <ns0:nvSpPr>
          <ns0:cNvPr id="12" name="Text 10"/>
          <ns0:cNvSpPr/>
          <ns0:nvPr/>
        </ns0:nvSpPr>
        <ns0:spPr>
          <a:xfrm>
            <a:off x="6172200" y="1261872"/>
            <a:ext cx="2651760" cy="384048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casas a la DERECHA →</a:t>
            </a:r>
            <a:endParaRPr lang="en-US" sz="1200" dirty="0"/>
          </a:p>
        </ns0:txBody>
      </ns0:sp>
      <ns0:sp>
        <ns0:nvSpPr>
          <ns0:cNvPr id="13" name="Shape 11"/>
          <ns0:cNvSpPr/>
          <ns0:nvPr/>
        </ns0:nvSpPr>
        <ns0:spPr>
          <a:xfrm>
            <a:off x="3749040" y="1755648"/>
            <a:ext cx="1645920" cy="1645920"/>
          </a:xfrm>
          <a:prstGeom prst="ellipse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14" name="Text 12"/>
          <ns0:cNvSpPr/>
          <ns0:nvPr/>
        </ns0:nvSpPr>
        <ns0:spPr>
          <a:xfrm>
            <a:off x="3749040" y="1755648"/>
            <a:ext cx="1645920" cy="16459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RECIENTE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</a:t>
            </a:r>
            <a:endParaRPr lang="en-US" sz="1300" dirty="0"/>
          </a:p>
        </ns0:txBody>
      </ns0:sp>
      <ns0:sp>
        <ns0:nvSpPr>
          <ns0:cNvPr id="15" name="Shape 13"/>
          <ns0:cNvSpPr/>
          <ns0:nvPr/>
        </ns0:nvSpPr>
        <ns0:spPr>
          <a:xfrm>
            <a:off x="2103120" y="1600200"/>
            <a:ext cx="1371600" cy="914400"/>
          </a:xfrm>
          <a:prstGeom prst="ellipse">
            <a:avLst/>
          </a:prstGeom>
          <a:solidFill>
            <a:srgbClr val="0D1F3C">
              <a:alpha val="70000"/>
            </a:srgbClr>
          </a:solidFill>
          <a:ln w="12700">
            <a:solidFill>
              <a:srgbClr val="94A3B8"/>
            </a:solidFill>
            <a:prstDash val="solid"/>
          </a:ln>
        </ns0:spPr>
      </ns0:sp>
      <ns0:sp>
        <ns0:nvSpPr>
          <ns0:cNvPr id="16" name="Text 14"/>
          <ns0:cNvSpPr/>
          <ns0:nvPr/>
        </ns0:nvSpPr>
        <ns0:spPr>
          <a:xfrm>
            <a:off x="2103120" y="1600200"/>
            <a:ext cx="1371600" cy="9144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prospecto</a:t>
            </a:r>
            <a:endParaRPr lang="en-US" sz="1000" dirty="0"/>
          </a:p>
        </ns0:txBody>
      </ns0:sp>
      <ns0:sp>
        <ns0:nvSpPr>
          <ns0:cNvPr id="17" name="Shape 15"/>
          <ns0:cNvSpPr/>
          <ns0:nvPr/>
        </ns0:nvSpPr>
        <ns0:spPr>
          <a:xfrm>
            <a:off x="5486400" y="1600200"/>
            <a:ext cx="1371600" cy="914400"/>
          </a:xfrm>
          <a:prstGeom prst="ellipse">
            <a:avLst/>
          </a:prstGeom>
          <a:solidFill>
            <a:srgbClr val="0D1F3C">
              <a:alpha val="70000"/>
            </a:srgbClr>
          </a:solidFill>
          <a:ln w="12700">
            <a:solidFill>
              <a:srgbClr val="94A3B8"/>
            </a:solidFill>
            <a:prstDash val="solid"/>
          </a:ln>
        </ns0:spPr>
      </ns0:sp>
      <ns0:sp>
        <ns0:nvSpPr>
          <ns0:cNvPr id="18" name="Text 16"/>
          <ns0:cNvSpPr/>
          <ns0:nvPr/>
        </ns0:nvSpPr>
        <ns0:spPr>
          <a:xfrm>
            <a:off x="5486400" y="1600200"/>
            <a:ext cx="1371600" cy="9144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prospecto</a:t>
            </a:r>
            <a:endParaRPr lang="en-US" sz="1000" dirty="0"/>
          </a:p>
        </ns0:txBody>
      </ns0:sp>
      <ns0:sp>
        <ns0:nvSpPr>
          <ns0:cNvPr id="19" name="Shape 17"/>
          <ns0:cNvSpPr/>
          <ns0:nvPr/>
        </ns0:nvSpPr>
        <ns0:spPr>
          <a:xfrm>
            <a:off x="1280160" y="2651760"/>
            <a:ext cx="1371600" cy="914400"/>
          </a:xfrm>
          <a:prstGeom prst="ellipse">
            <a:avLst/>
          </a:prstGeom>
          <a:solidFill>
            <a:srgbClr val="0D1F3C">
              <a:alpha val="70000"/>
            </a:srgbClr>
          </a:solidFill>
          <a:ln w="12700">
            <a:solidFill>
              <a:srgbClr val="94A3B8"/>
            </a:solidFill>
            <a:prstDash val="solid"/>
          </a:ln>
        </ns0:spPr>
      </ns0:sp>
      <ns0:sp>
        <ns0:nvSpPr>
          <ns0:cNvPr id="20" name="Text 18"/>
          <ns0:cNvSpPr/>
          <ns0:nvPr/>
        </ns0:nvSpPr>
        <ns0:spPr>
          <a:xfrm>
            <a:off x="1280160" y="2651760"/>
            <a:ext cx="1371600" cy="9144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prospecto</a:t>
            </a:r>
            <a:endParaRPr lang="en-US" sz="1000" dirty="0"/>
          </a:p>
        </ns0:txBody>
      </ns0:sp>
      <ns0:sp>
        <ns0:nvSpPr>
          <ns0:cNvPr id="21" name="Shape 19"/>
          <ns0:cNvSpPr/>
          <ns0:nvPr/>
        </ns0:nvSpPr>
        <ns0:spPr>
          <a:xfrm>
            <a:off x="6309360" y="2651760"/>
            <a:ext cx="1371600" cy="914400"/>
          </a:xfrm>
          <a:prstGeom prst="ellipse">
            <a:avLst/>
          </a:prstGeom>
          <a:solidFill>
            <a:srgbClr val="0D1F3C">
              <a:alpha val="70000"/>
            </a:srgbClr>
          </a:solidFill>
          <a:ln w="12700">
            <a:solidFill>
              <a:srgbClr val="94A3B8"/>
            </a:solidFill>
            <a:prstDash val="solid"/>
          </a:ln>
        </ns0:spPr>
      </ns0:sp>
      <ns0:sp>
        <ns0:nvSpPr>
          <ns0:cNvPr id="22" name="Text 20"/>
          <ns0:cNvSpPr/>
          <ns0:nvPr/>
        </ns0:nvSpPr>
        <ns0:spPr>
          <a:xfrm>
            <a:off x="6309360" y="2651760"/>
            <a:ext cx="1371600" cy="9144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prospecto</a:t>
            </a:r>
            <a:endParaRPr lang="en-US" sz="1000" dirty="0"/>
          </a:p>
        </ns0:txBody>
      </ns0:sp>
      <ns0:sp>
        <ns0:nvSpPr>
          <ns0:cNvPr id="23" name="Shape 21"/>
          <ns0:cNvSpPr/>
          <ns0:nvPr/>
        </ns0:nvSpPr>
        <ns0:spPr>
          <a:xfrm>
            <a:off x="2103120" y="3474720"/>
            <a:ext cx="1371600" cy="914400"/>
          </a:xfrm>
          <a:prstGeom prst="ellipse">
            <a:avLst/>
          </a:prstGeom>
          <a:solidFill>
            <a:srgbClr val="0D1F3C">
              <a:alpha val="70000"/>
            </a:srgbClr>
          </a:solidFill>
          <a:ln w="12700">
            <a:solidFill>
              <a:srgbClr val="94A3B8"/>
            </a:solidFill>
            <a:prstDash val="solid"/>
          </a:ln>
        </ns0:spPr>
      </ns0:sp>
      <ns0:sp>
        <ns0:nvSpPr>
          <ns0:cNvPr id="24" name="Text 22"/>
          <ns0:cNvSpPr/>
          <ns0:nvPr/>
        </ns0:nvSpPr>
        <ns0:spPr>
          <a:xfrm>
            <a:off x="2103120" y="3474720"/>
            <a:ext cx="1371600" cy="9144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prospecto</a:t>
            </a:r>
            <a:endParaRPr lang="en-US" sz="1000" dirty="0"/>
          </a:p>
        </ns0:txBody>
      </ns0:sp>
      <ns0:sp>
        <ns0:nvSpPr>
          <ns0:cNvPr id="25" name="Shape 23"/>
          <ns0:cNvSpPr/>
          <ns0:nvPr/>
        </ns0:nvSpPr>
        <ns0:spPr>
          <a:xfrm>
            <a:off x="5486400" y="3474720"/>
            <a:ext cx="1371600" cy="914400"/>
          </a:xfrm>
          <a:prstGeom prst="ellipse">
            <a:avLst/>
          </a:prstGeom>
          <a:solidFill>
            <a:srgbClr val="0D1F3C">
              <a:alpha val="70000"/>
            </a:srgbClr>
          </a:solidFill>
          <a:ln w="12700">
            <a:solidFill>
              <a:srgbClr val="94A3B8"/>
            </a:solidFill>
            <a:prstDash val="solid"/>
          </a:ln>
        </ns0:spPr>
      </ns0:sp>
      <ns0:sp>
        <ns0:nvSpPr>
          <ns0:cNvPr id="26" name="Text 24"/>
          <ns0:cNvSpPr/>
          <ns0:nvPr/>
        </ns0:nvSpPr>
        <ns0:spPr>
          <a:xfrm>
            <a:off x="5486400" y="3474720"/>
            <a:ext cx="1371600" cy="9144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prospecto</a:t>
            </a:r>
            <a:endParaRPr lang="en-US" sz="1000" dirty="0"/>
          </a:p>
        </ns0:txBody>
      </ns0:sp>
      <ns0:sp>
        <ns0:nvSpPr>
          <ns0:cNvPr id="27" name="Text 25"/>
          <ns0:cNvSpPr/>
          <ns0:nvPr/>
        </ns0:nvSpPr>
        <ns0:spPr>
          <a:xfrm>
            <a:off x="274320" y="3657600"/>
            <a:ext cx="859536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  8 casas AL OTRO LADO de la calle</a:t>
            </a:r>
            <a:endParaRPr lang="en-US" sz="1200" dirty="0"/>
          </a:p>
        </ns0:txBody>
      </ns0:sp>
      <ns0:sp>
        <ns0:nvSpPr>
          <ns0:cNvPr id="28" name="Shape 26"/>
          <ns0:cNvSpPr/>
          <ns0:nvPr/>
        </ns0:nvSpPr>
        <ns0:spPr>
          <a:xfrm>
            <a:off x="274320" y="4160520"/>
            <a:ext cx="8595360" cy="685800"/>
          </a:xfrm>
          <a:prstGeom prst="rect">
            <a:avLst/>
          </a:prstGeom>
          <a:solidFill>
            <a:srgbClr val="FFF3CD"/>
          </a:solidFill>
          <a:ln w="12700">
            <a:solidFill>
              <a:srgbClr val="F5C842"/>
            </a:solidFill>
            <a:prstDash val="solid"/>
          </a:ln>
        </ns0:spPr>
      </ns0:sp>
      <ns0:sp>
        <ns0:nvSpPr>
          <ns0:cNvPr id="29" name="Text 27"/>
          <ns0:cNvSpPr/>
          <ns0:nvPr/>
        </ns0:nvSpPr>
        <ns0:spPr>
          <a:xfrm>
            <a:off x="411480" y="4187952"/>
            <a:ext cx="8321040" cy="5943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TRAINER: </a:t>
            </a:r>
            <a:pPr indent="0" marL="0">
              <a:buNone/>
            </a:pPr>
            <a:r>
              <a:rPr lang="en-US" sz="1100" i="1" dirty="0">
                <a:solidFill>
                  <a:srgbClr val="5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vecinos no quieren ser los primeros en instalar solar — pero definitivamente no quieren ser los últimos. Use letreros en el jardín como prueba.</a:t>
            </a:r>
            <a:endParaRPr lang="en-US" sz="1100" dirty="0"/>
          </a:p>
        </ns0:txBody>
      </ns0:sp>
    </ns0:spTree>
  </ns0:cSld>
  <ns0:clrMapOvr>
    <a:masterClrMapping/>
  </ns0:clrMapOvr>
</ns0:sld>
</file>

<file path=ppt/slides/slide15.xml><?xml version="1.0" encoding="utf-8"?>
<ns0:sld xmlns:a="http://schemas.openxmlformats.org/drawingml/2006/main" xmlns:ns0="http://schemas.openxmlformats.org/presentationml/2006/main">
  <ns0:cSld name="Slide 15"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274320" y="0"/>
            <a:ext cx="777240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Bolsas de Alta Probabilidad</a:t>
            </a:r>
            <a:endParaRPr lang="en-US" sz="2000" dirty="0"/>
          </a:p>
        </ns0:txBody>
      </ns0:sp>
      <ns0:sp>
        <ns0:nvSpPr>
          <ns0:cNvPr id="4" name="Shape 2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5" name="Text 3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900" dirty="0"/>
          </a:p>
        </ns0:txBody>
      </ns0:sp>
      <ns0:sp>
        <ns0:nvSpPr>
          <ns0:cNvPr id="6" name="Shape 4"/>
          <ns0:cNvSpPr/>
          <ns0:nvPr/>
        </ns0:nvSpPr>
        <ns0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ns0:spPr>
      </ns0:sp>
      <ns0:sp>
        <ns0:nvSpPr>
          <ns0:cNvPr id="7" name="Shape 5"/>
          <ns0:cNvSpPr/>
          <ns0:nvPr/>
        </ns0:nvSpPr>
        <ns0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8" name="Shape 6"/>
          <ns0:cNvSpPr/>
          <ns0:nvPr/>
        </ns0:nvSpPr>
        <ns0:spPr>
          <a:xfrm>
            <a:off x="274320" y="777240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ns0:spPr>
      </ns0:sp>
      <ns0:sp>
        <ns0:nvSpPr>
          <ns0:cNvPr id="9" name="Shape 7"/>
          <ns0:cNvSpPr/>
          <ns0:nvPr/>
        </ns0:nvSpPr>
        <ns0:spPr>
          <a:xfrm>
            <a:off x="274320" y="777240"/>
            <a:ext cx="4206240" cy="6400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10" name="Text 8"/>
          <ns0:cNvSpPr/>
          <ns0:nvPr/>
        </ns0:nvSpPr>
        <ns0:spPr>
          <a:xfrm>
            <a:off x="457200" y="914400"/>
            <a:ext cx="228600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del Hogar</a:t>
            </a:r>
            <a:endParaRPr lang="en-US" sz="1300" dirty="0"/>
          </a:p>
        </ns0:txBody>
      </ns0:sp>
      <ns0:sp>
        <ns0:nvSpPr>
          <ns0:cNvPr id="11" name="Text 9"/>
          <ns0:cNvSpPr/>
          <ns0:nvPr/>
        </ns0:nvSpPr>
        <ns0:spPr>
          <a:xfrm>
            <a:off x="2834640" y="914400"/>
            <a:ext cx="146304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$250K+</a:t>
            </a:r>
            <a:endParaRPr lang="en-US" sz="1300" dirty="0"/>
          </a:p>
        </ns0:txBody>
      </ns0:sp>
      <ns0:sp>
        <ns0:nvSpPr>
          <ns0:cNvPr id="12" name="Text 10"/>
          <ns0:cNvSpPr/>
          <ns0:nvPr/>
        </ns0:nvSpPr>
        <ns0:spPr>
          <a:xfrm>
            <a:off x="457200" y="1280160"/>
            <a:ext cx="3840480" cy="6858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valor del hogar = facturas más altas = mayor ROI</a:t>
            </a:r>
            <a:endParaRPr lang="en-US" sz="1100" dirty="0"/>
          </a:p>
        </ns0:txBody>
      </ns0:sp>
      <ns0:sp>
        <ns0:nvSpPr>
          <ns0:cNvPr id="13" name="Shape 11"/>
          <ns0:cNvSpPr/>
          <ns0:nvPr/>
        </ns0:nvSpPr>
        <ns0:spPr>
          <a:xfrm>
            <a:off x="4709160" y="777240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ns0:spPr>
      </ns0:sp>
      <ns0:sp>
        <ns0:nvSpPr>
          <ns0:cNvPr id="14" name="Shape 12"/>
          <ns0:cNvSpPr/>
          <ns0:nvPr/>
        </ns0:nvSpPr>
        <ns0:spPr>
          <a:xfrm>
            <a:off x="4709160" y="777240"/>
            <a:ext cx="4206240" cy="6400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15" name="Text 13"/>
          <ns0:cNvSpPr/>
          <ns0:nvPr/>
        </ns0:nvSpPr>
        <ns0:spPr>
          <a:xfrm>
            <a:off x="4892040" y="914400"/>
            <a:ext cx="228600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 del Techo</a:t>
            </a:r>
            <a:endParaRPr lang="en-US" sz="1300" dirty="0"/>
          </a:p>
        </ns0:txBody>
      </ns0:sp>
      <ns0:sp>
        <ns0:nvSpPr>
          <ns0:cNvPr id="16" name="Text 14"/>
          <ns0:cNvSpPr/>
          <ns0:nvPr/>
        </ns0:nvSpPr>
        <ns0:spPr>
          <a:xfrm>
            <a:off x="7269480" y="914400"/>
            <a:ext cx="146304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5–15 años</a:t>
            </a:r>
            <a:endParaRPr lang="en-US" sz="1300" dirty="0"/>
          </a:p>
        </ns0:txBody>
      </ns0:sp>
      <ns0:sp>
        <ns0:nvSpPr>
          <ns0:cNvPr id="17" name="Text 15"/>
          <ns0:cNvSpPr/>
          <ns0:nvPr/>
        </ns0:nvSpPr>
        <ns0:spPr>
          <a:xfrm>
            <a:off x="4892040" y="1280160"/>
            <a:ext cx="3840480" cy="6858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Suficientemente viejo para ser estable, suficientemente joven para un sistema de 25 años</a:t>
            </a:r>
            <a:endParaRPr lang="en-US" sz="1100" dirty="0"/>
          </a:p>
        </ns0:txBody>
      </ns0:sp>
      <ns0:sp>
        <ns0:nvSpPr>
          <ns0:cNvPr id="18" name="Shape 16"/>
          <ns0:cNvSpPr/>
          <ns0:nvPr/>
        </ns0:nvSpPr>
        <ns0:spPr>
          <a:xfrm>
            <a:off x="274320" y="2240280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ns0:spPr>
      </ns0:sp>
      <ns0:sp>
        <ns0:nvSpPr>
          <ns0:cNvPr id="19" name="Shape 17"/>
          <ns0:cNvSpPr/>
          <ns0:nvPr/>
        </ns0:nvSpPr>
        <ns0:spPr>
          <a:xfrm>
            <a:off x="274320" y="2240280"/>
            <a:ext cx="420624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ns0:spPr>
      </ns0:sp>
      <ns0:sp>
        <ns0:nvSpPr>
          <ns0:cNvPr id="20" name="Text 18"/>
          <ns0:cNvSpPr/>
          <ns0:nvPr/>
        </ns0:nvSpPr>
        <ns0:spPr>
          <a:xfrm>
            <a:off x="457200" y="2377440"/>
            <a:ext cx="228600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Orientación del Techo</a:t>
            </a:r>
            <a:endParaRPr lang="en-US" sz="1300" dirty="0"/>
          </a:p>
        </ns0:txBody>
      </ns0:sp>
      <ns0:sp>
        <ns0:nvSpPr>
          <ns0:cNvPr id="21" name="Text 19"/>
          <ns0:cNvSpPr/>
          <ns0:nvPr/>
        </ns0:nvSpPr>
        <ns0:spPr>
          <a:xfrm>
            <a:off x="2834640" y="2377440"/>
            <a:ext cx="146304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orientación al sur</a:t>
            </a:r>
            <a:endParaRPr lang="en-US" sz="1300" dirty="0"/>
          </a:p>
        </ns0:txBody>
      </ns0:sp>
      <ns0:sp>
        <ns0:nvSpPr>
          <ns0:cNvPr id="22" name="Text 20"/>
          <ns0:cNvSpPr/>
          <ns0:nvPr/>
        </ns0:nvSpPr>
        <ns0:spPr>
          <a:xfrm>
            <a:off x="457200" y="2743200"/>
            <a:ext cx="3840480" cy="6858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planos orientados al sur reciben máxima exposición solar durante todo el año</a:t>
            </a:r>
            <a:endParaRPr lang="en-US" sz="1100" dirty="0"/>
          </a:p>
        </ns0:txBody>
      </ns0:sp>
      <ns0:sp>
        <ns0:nvSpPr>
          <ns0:cNvPr id="23" name="Shape 21"/>
          <ns0:cNvSpPr/>
          <ns0:nvPr/>
        </ns0:nvSpPr>
        <ns0:spPr>
          <a:xfrm>
            <a:off x="4709160" y="2240280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ns0:spPr>
      </ns0:sp>
      <ns0:sp>
        <ns0:nvSpPr>
          <ns0:cNvPr id="24" name="Shape 22"/>
          <ns0:cNvSpPr/>
          <ns0:nvPr/>
        </ns0:nvSpPr>
        <ns0:spPr>
          <a:xfrm>
            <a:off x="4709160" y="2240280"/>
            <a:ext cx="420624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ns0:spPr>
      </ns0:sp>
      <ns0:sp>
        <ns0:nvSpPr>
          <ns0:cNvPr id="25" name="Text 23"/>
          <ns0:cNvSpPr/>
          <ns0:nvPr/>
        </ns0:nvSpPr>
        <ns0:spPr>
          <a:xfrm>
            <a:off x="4892040" y="2377440"/>
            <a:ext cx="228600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Empresa Eléctrica</a:t>
            </a:r>
            <a:endParaRPr lang="en-US" sz="1300" dirty="0"/>
          </a:p>
        </ns0:txBody>
      </ns0:sp>
      <ns0:sp>
        <ns0:nvSpPr>
          <ns0:cNvPr id="26" name="Text 24"/>
          <ns0:cNvSpPr/>
          <ns0:nvPr/>
        </ns0:nvSpPr>
        <ns0:spPr>
          <a:xfrm>
            <a:off x="7269480" y="2377440"/>
            <a:ext cx="146304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cooperativa</a:t>
            </a:r>
            <a:endParaRPr lang="en-US" sz="1300" dirty="0"/>
          </a:p>
        </ns0:txBody>
      </ns0:sp>
      <ns0:sp>
        <ns0:nvSpPr>
          <ns0:cNvPr id="27" name="Text 25"/>
          <ns0:cNvSpPr/>
          <ns0:nvPr/>
        </ns0:nvSpPr>
        <ns0:spPr>
          <a:xfrm>
            <a:off x="4892040" y="2743200"/>
            <a:ext cx="3840480" cy="6858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cooperativas a menudo bloquean los incentivos de medición neta</a:t>
            </a:r>
            <a:endParaRPr lang="en-US" sz="1100" dirty="0"/>
          </a:p>
        </ns0:txBody>
      </ns0:sp>
      <ns0:sp>
        <ns0:nvSpPr>
          <ns0:cNvPr id="28" name="Shape 26"/>
          <ns0:cNvSpPr/>
          <ns0:nvPr/>
        </ns0:nvSpPr>
        <ns0:spPr>
          <a:xfrm>
            <a:off x="274320" y="3703320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ns0:spPr>
      </ns0:sp>
      <ns0:sp>
        <ns0:nvSpPr>
          <ns0:cNvPr id="29" name="Shape 27"/>
          <ns0:cNvSpPr/>
          <ns0:nvPr/>
        </ns0:nvSpPr>
        <ns0:spPr>
          <a:xfrm>
            <a:off x="274320" y="3703320"/>
            <a:ext cx="4206240" cy="6400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ns0:spPr>
      </ns0:sp>
      <ns0:sp>
        <ns0:nvSpPr>
          <ns0:cNvPr id="30" name="Text 28"/>
          <ns0:cNvSpPr/>
          <ns0:nvPr/>
        </ns0:nvSpPr>
        <ns0:spPr>
          <a:xfrm>
            <a:off x="457200" y="3840480"/>
            <a:ext cx="228600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EVs en la Entrada</a:t>
            </a:r>
            <a:endParaRPr lang="en-US" sz="1300" dirty="0"/>
          </a:p>
        </ns0:txBody>
      </ns0:sp>
      <ns0:sp>
        <ns0:nvSpPr>
          <ns0:cNvPr id="31" name="Text 29"/>
          <ns0:cNvSpPr/>
          <ns0:nvPr/>
        </ns0:nvSpPr>
        <ns0:spPr>
          <a:xfrm>
            <a:off x="2834640" y="3840480"/>
            <a:ext cx="146304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 fuerte</a:t>
            </a:r>
            <a:endParaRPr lang="en-US" sz="1300" dirty="0"/>
          </a:p>
        </ns0:txBody>
      </ns0:sp>
      <ns0:sp>
        <ns0:nvSpPr>
          <ns0:cNvPr id="32" name="Text 30"/>
          <ns0:cNvSpPr/>
          <ns0:nvPr/>
        </ns0:nvSpPr>
        <ns0:spPr>
          <a:xfrm>
            <a:off x="457200" y="4206240"/>
            <a:ext cx="3840480" cy="6858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dueños de EV ya pagan facturas de energía altas — encaje perfecto</a:t>
            </a:r>
            <a:endParaRPr lang="en-US" sz="1100" dirty="0"/>
          </a:p>
        </ns0:txBody>
      </ns0:sp>
      <ns0:sp>
        <ns0:nvSpPr>
          <ns0:cNvPr id="33" name="Shape 31"/>
          <ns0:cNvSpPr/>
          <ns0:nvPr/>
        </ns0:nvSpPr>
        <ns0:spPr>
          <a:xfrm>
            <a:off x="4709160" y="3703320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ns0:spPr>
      </ns0:sp>
      <ns0:sp>
        <ns0:nvSpPr>
          <ns0:cNvPr id="34" name="Shape 32"/>
          <ns0:cNvSpPr/>
          <ns0:nvPr/>
        </ns0:nvSpPr>
        <ns0:spPr>
          <a:xfrm>
            <a:off x="4709160" y="3703320"/>
            <a:ext cx="4206240" cy="6400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ns0:spPr>
      </ns0:sp>
      <ns0:sp>
        <ns0:nvSpPr>
          <ns0:cNvPr id="35" name="Text 33"/>
          <ns0:cNvSpPr/>
          <ns0:nvPr/>
        </ns0:nvSpPr>
        <ns0:spPr>
          <a:xfrm>
            <a:off x="4892040" y="3840480"/>
            <a:ext cx="228600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HOA</a:t>
            </a:r>
            <a:endParaRPr lang="en-US" sz="1300" dirty="0"/>
          </a:p>
        </ns0:txBody>
      </ns0:sp>
      <ns0:sp>
        <ns0:nvSpPr>
          <ns0:cNvPr id="36" name="Text 34"/>
          <ns0:cNvSpPr/>
          <ns0:nvPr/>
        </ns0:nvSpPr>
        <ns0:spPr>
          <a:xfrm>
            <a:off x="7269480" y="3840480"/>
            <a:ext cx="146304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Amigable con el solar</a:t>
            </a:r>
            <a:endParaRPr lang="en-US" sz="1300" dirty="0"/>
          </a:p>
        </ns0:txBody>
      </ns0:sp>
      <ns0:sp>
        <ns0:nvSpPr>
          <ns0:cNvPr id="37" name="Text 35"/>
          <ns0:cNvSpPr/>
          <ns0:nvPr/>
        </ns0:nvSpPr>
        <ns0:spPr>
          <a:xfrm>
            <a:off x="4892040" y="4206240"/>
            <a:ext cx="3840480" cy="6858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Verifique las reglas de la HOA antes de tocar todo el bloque</a:t>
            </a:r>
            <a:endParaRPr lang="en-US" sz="1100" dirty="0"/>
          </a:p>
        </ns0:txBody>
      </ns0:sp>
    </ns0:spTree>
  </ns0:cSld>
  <ns0:clrMapOvr>
    <a:masterClrMapping/>
  </ns0:clrMapOvr>
</ns0:sld>
</file>

<file path=ppt/slides/slide16.xml><?xml version="1.0" encoding="utf-8"?>
<ns0:sld xmlns:a="http://schemas.openxmlformats.org/drawingml/2006/main" xmlns:ns0="http://schemas.openxmlformats.org/presentationml/2006/main">
  <ns0:cSld name="Slide 16"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274320" y="0"/>
            <a:ext cx="777240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de Prospección y Entregable</a:t>
            </a:r>
            <a:endParaRPr lang="en-US" sz="2000" dirty="0"/>
          </a:p>
        </ns0:txBody>
      </ns0:sp>
      <ns0:sp>
        <ns0:nvSpPr>
          <ns0:cNvPr id="4" name="Shape 2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5" name="Text 3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900" dirty="0"/>
          </a:p>
        </ns0:txBody>
      </ns0:sp>
      <ns0:sp>
        <ns0:nvSpPr>
          <ns0:cNvPr id="6" name="Shape 4"/>
          <ns0:cNvSpPr/>
          <ns0:nvPr/>
        </ns0:nvSpPr>
        <ns0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ns0:spPr>
      </ns0:sp>
      <ns0:sp>
        <ns0:nvSpPr>
          <ns0:cNvPr id="7" name="Shape 5"/>
          <ns0:cNvSpPr/>
          <ns0:nvPr/>
        </ns0:nvSpPr>
        <ns0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8" name="Shape 6"/>
          <ns0:cNvSpPr/>
          <ns0:nvPr/>
        </ns0:nvSpPr>
        <ns0:spPr>
          <a:xfrm>
            <a:off x="274320" y="82296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ns0:spPr>
      </ns0:sp>
      <ns0:sp>
        <ns0:nvSpPr>
          <ns0:cNvPr id="9" name="Shape 7"/>
          <ns0:cNvSpPr/>
          <ns0:nvPr/>
        </ns0:nvSpPr>
        <ns0:spPr>
          <a:xfrm>
            <a:off x="274320" y="822960"/>
            <a:ext cx="64008" cy="2011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ns0:spPr>
      </ns0:sp>
      <ns0:sp>
        <ns0:nvSpPr>
          <ns0:cNvPr id="10" name="Text 8"/>
          <ns0:cNvSpPr/>
          <ns0:nvPr/>
        </ns0:nvSpPr>
        <ns0:spPr>
          <a:xfrm>
            <a:off x="438912" y="932688"/>
            <a:ext cx="3858768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Digitales</a:t>
            </a:r>
            <a:endParaRPr lang="en-US" sz="1300" dirty="0"/>
          </a:p>
        </ns0:txBody>
      </ns0:sp>
      <ns0:sp>
        <ns0:nvSpPr>
          <ns0:cNvPr id="11" name="Text 9"/>
          <ns0:cNvSpPr/>
          <ns0:nvPr/>
        </ns0:nvSpPr>
        <ns0:spPr>
          <a:xfrm>
            <a:off x="438912" y="1280160"/>
            <a:ext cx="3858768" cy="144475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en Google Maps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instalación en CRM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de hogares en Zillow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de propiedad del condado</a:t>
            </a:r>
            <a:endParaRPr lang="en-US" sz="1200" dirty="0"/>
          </a:p>
        </ns0:txBody>
      </ns0:sp>
      <ns0:sp>
        <ns0:nvSpPr>
          <ns0:cNvPr id="12" name="Shape 10"/>
          <ns0:cNvSpPr/>
          <ns0:nvPr/>
        </ns0:nvSpPr>
        <ns0:spPr>
          <a:xfrm>
            <a:off x="4754880" y="82296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ns0:spPr>
      </ns0:sp>
      <ns0:sp>
        <ns0:nvSpPr>
          <ns0:cNvPr id="13" name="Shape 11"/>
          <ns0:cNvSpPr/>
          <ns0:nvPr/>
        </ns0:nvSpPr>
        <ns0:spPr>
          <a:xfrm>
            <a:off x="4754880" y="822960"/>
            <a:ext cx="64008" cy="20116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14" name="Text 12"/>
          <ns0:cNvSpPr/>
          <ns0:nvPr/>
        </ns0:nvSpPr>
        <ns0:spPr>
          <a:xfrm>
            <a:off x="4919472" y="932688"/>
            <a:ext cx="3858768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de Prueba Social</a:t>
            </a:r>
            <a:endParaRPr lang="en-US" sz="1300" dirty="0"/>
          </a:p>
        </ns0:txBody>
      </ns0:sp>
      <ns0:sp>
        <ns0:nvSpPr>
          <ns0:cNvPr id="15" name="Text 13"/>
          <ns0:cNvSpPr/>
          <ns0:nvPr/>
        </ns0:nvSpPr>
        <ns0:spPr>
          <a:xfrm>
            <a:off x="4919472" y="1280160"/>
            <a:ext cx="3858768" cy="144475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Letreros de jardín cerca de instalaciones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Menciones de nombres de vecinos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instalaciones recientes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Familiaridad a nivel de calle</a:t>
            </a:r>
            <a:endParaRPr lang="en-US" sz="1200" dirty="0"/>
          </a:p>
        </ns0:txBody>
      </ns0:sp>
      <ns0:sp>
        <ns0:nvSpPr>
          <ns0:cNvPr id="16" name="Shape 14"/>
          <ns0:cNvSpPr/>
          <ns0:nvPr/>
        </ns0:nvSpPr>
        <ns0:spPr>
          <a:xfrm>
            <a:off x="274320" y="3017520"/>
            <a:ext cx="8595360" cy="17373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ns0:spPr>
      </ns0:sp>
      <ns0:sp>
        <ns0:nvSpPr>
          <ns0:cNvPr id="17" name="Text 15"/>
          <ns0:cNvSpPr/>
          <ns0:nvPr/>
        </ns0:nvSpPr>
        <ns0:spPr>
          <a:xfrm>
            <a:off x="502920" y="3154680"/>
            <a:ext cx="804672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ENTREGABLE: Plan de Territorio Escrito</a:t>
            </a:r>
            <a:endParaRPr lang="en-US" sz="1500" dirty="0"/>
          </a:p>
        </ns0:txBody>
      </ns0:sp>
      <ns0:sp>
        <ns0:nvSpPr>
          <ns0:cNvPr id="18" name="Text 16"/>
          <ns0:cNvSpPr/>
          <ns0:nvPr/>
        </ns0:nvSpPr>
        <ns0:spPr>
          <a:xfrm>
            <a:off x="594360" y="3611880"/>
            <a:ext cx="8046720" cy="10972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vecindarios objetivo con justificación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diarias de toques mapeadas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proximidad de instalación</a:t>
            </a:r>
            <a:endParaRPr lang="en-US" sz="1300" dirty="0"/>
          </a:p>
        </ns0:txBody>
      </ns0:sp>
    </ns0:spTree>
  </ns0:cSld>
  <ns0:clrMapOvr>
    <a:masterClrMapping/>
  </ns0:clrMapOvr>
</ns0:sld>
</file>

<file path=ppt/slides/slide17.xml><?xml version="1.0" encoding="utf-8"?>
<ns0:sld xmlns:a="http://schemas.openxmlformats.org/drawingml/2006/main" xmlns:ns0="http://schemas.openxmlformats.org/presentationml/2006/main">
  <ns0:cSld name="Slide 17">
    <ns0:bg>
      <ns0:bgPr>
        <a:solidFill>
          <a:srgbClr val="0D1F3C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164592" cy="51435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457200" y="1097280"/>
            <a:ext cx="82296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2.3</a:t>
            </a:r>
            <a:endParaRPr lang="en-US" sz="1300" dirty="0"/>
          </a:p>
        </ns0:txBody>
      </ns0:sp>
      <ns0:sp>
        <ns0:nvSpPr>
          <ns0:cNvPr id="4" name="Text 2"/>
          <ns0:cNvSpPr/>
          <ns0:nvPr/>
        </ns0:nvSpPr>
        <ns0:spPr>
          <a:xfrm>
            <a:off x="457200" y="1554480"/>
            <a:ext cx="8229600" cy="10972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Matemáticas de Eficiencia Diaria</a:t>
            </a:r>
            <a:endParaRPr lang="en-US" sz="3800" dirty="0"/>
          </a:p>
        </ns0:txBody>
      </ns0:sp>
      <ns0:sp>
        <ns0:nvSpPr>
          <ns0:cNvPr id="5" name="Text 3"/>
          <ns0:cNvSpPr/>
          <ns0:nvPr/>
        </ns0:nvSpPr>
        <ns0:spPr>
          <a:xfrm>
            <a:off x="457200" y="2697480"/>
            <a:ext cx="82296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Números No Mienten  ·  15 min</a:t>
            </a:r>
            <a:endParaRPr lang="en-US" sz="1600" dirty="0"/>
          </a:p>
        </ns0:txBody>
      </ns0:sp>
    </ns0:spTree>
  </ns0:cSld>
  <ns0:clrMapOvr>
    <a:masterClrMapping/>
  </ns0:clrMapOvr>
</ns0:sld>
</file>

<file path=ppt/slides/slide18.xml><?xml version="1.0" encoding="utf-8"?>
<ns0:sld xmlns:a="http://schemas.openxmlformats.org/drawingml/2006/main" xmlns:ns0="http://schemas.openxmlformats.org/presentationml/2006/main">
  <ns0:cSld name="Slide 18"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274320" y="0"/>
            <a:ext cx="777240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Matemáticas de Prospección Solar</a:t>
            </a:r>
            <a:endParaRPr lang="en-US" sz="2000" dirty="0"/>
          </a:p>
        </ns0:txBody>
      </ns0:sp>
      <ns0:sp>
        <ns0:nvSpPr>
          <ns0:cNvPr id="4" name="Shape 2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5" name="Text 3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n-US" sz="900" dirty="0"/>
          </a:p>
        </ns0:txBody>
      </ns0:sp>
      <ns0:sp>
        <ns0:nvSpPr>
          <ns0:cNvPr id="6" name="Shape 4"/>
          <ns0:cNvSpPr/>
          <ns0:nvPr/>
        </ns0:nvSpPr>
        <ns0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ns0:spPr>
      </ns0:sp>
      <ns0:sp>
        <ns0:nvSpPr>
          <ns0:cNvPr id="7" name="Shape 5"/>
          <ns0:cNvSpPr/>
          <ns0:nvPr/>
        </ns0:nvSpPr>
        <ns0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8" name="Text 6"/>
          <ns0:cNvSpPr/>
          <ns0:nvPr/>
        </ns0:nvSpPr>
        <ns0:spPr>
          <a:xfrm>
            <a:off x="365760" y="749808"/>
            <a:ext cx="841248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consistencia supera al talento.</a:t>
            </a:r>
            <a:endParaRPr lang="en-US" sz="2000" dirty="0"/>
          </a:p>
        </ns0:txBody>
      </ns0:sp>
      <ns0:sp>
        <ns0:nvSpPr>
          <ns0:cNvPr id="9" name="Shape 7"/>
          <ns0:cNvSpPr/>
          <ns0:nvPr/>
        </ns0:nvSpPr>
        <ns0:spPr>
          <a:xfrm>
            <a:off x="365760" y="1371600"/>
            <a:ext cx="2560320" cy="13716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ns0:spPr>
      </ns0:sp>
      <ns0:sp>
        <ns0:nvSpPr>
          <ns0:cNvPr id="10" name="Text 8"/>
          <ns0:cNvSpPr/>
          <ns0:nvPr/>
        </ns0:nvSpPr>
        <ns0:spPr>
          <a:xfrm>
            <a:off x="365760" y="1463040"/>
            <a:ext cx="2560320" cy="5029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toques</a:t>
            </a:r>
            <a:endParaRPr lang="en-US" sz="1800" dirty="0"/>
          </a:p>
        </ns0:txBody>
      </ns0:sp>
      <ns0:sp>
        <ns0:nvSpPr>
          <ns0:cNvPr id="11" name="Text 9"/>
          <ns0:cNvSpPr/>
          <ns0:nvPr/>
        </ns0:nvSpPr>
        <ns0:spPr>
          <a:xfrm>
            <a:off x="365760" y="2011680"/>
            <a:ext cx="2560320" cy="3657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ns0:txBody>
      </ns0:sp>
      <ns0:sp>
        <ns0:nvSpPr>
          <ns0:cNvPr id="12" name="Text 10"/>
          <ns0:cNvSpPr/>
          <ns0:nvPr/>
        </ns0:nvSpPr>
        <ns0:spPr>
          <a:xfrm>
            <a:off x="365760" y="2331720"/>
            <a:ext cx="256032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conversación</a:t>
            </a:r>
            <a:endParaRPr lang="en-US" sz="1400" dirty="0"/>
          </a:p>
        </ns0:txBody>
      </ns0:sp>
      <ns0:sp>
        <ns0:nvSpPr>
          <ns0:cNvPr id="13" name="Text 11"/>
          <ns0:cNvSpPr/>
          <ns0:nvPr/>
        </ns0:nvSpPr>
        <ns0:spPr>
          <a:xfrm>
            <a:off x="2971800" y="1828800"/>
            <a:ext cx="32004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ns0:txBody>
      </ns0:sp>
      <ns0:sp>
        <ns0:nvSpPr>
          <ns0:cNvPr id="14" name="Shape 12"/>
          <ns0:cNvSpPr/>
          <ns0:nvPr/>
        </ns0:nvSpPr>
        <ns0:spPr>
          <a:xfrm>
            <a:off x="3291840" y="1371600"/>
            <a:ext cx="2560320" cy="13716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ns0:spPr>
      </ns0:sp>
      <ns0:sp>
        <ns0:nvSpPr>
          <ns0:cNvPr id="15" name="Text 13"/>
          <ns0:cNvSpPr/>
          <ns0:nvPr/>
        </ns0:nvSpPr>
        <ns0:spPr>
          <a:xfrm>
            <a:off x="3291840" y="1463040"/>
            <a:ext cx="2560320" cy="5029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conversaciones</a:t>
            </a:r>
            <a:endParaRPr lang="en-US" sz="1800" dirty="0"/>
          </a:p>
        </ns0:txBody>
      </ns0:sp>
      <ns0:sp>
        <ns0:nvSpPr>
          <ns0:cNvPr id="16" name="Text 14"/>
          <ns0:cNvSpPr/>
          <ns0:nvPr/>
        </ns0:nvSpPr>
        <ns0:spPr>
          <a:xfrm>
            <a:off x="3291840" y="2011680"/>
            <a:ext cx="2560320" cy="3657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ns0:txBody>
      </ns0:sp>
      <ns0:sp>
        <ns0:nvSpPr>
          <ns0:cNvPr id="17" name="Text 15"/>
          <ns0:cNvSpPr/>
          <ns0:nvPr/>
        </ns0:nvSpPr>
        <ns0:spPr>
          <a:xfrm>
            <a:off x="3291840" y="2331720"/>
            <a:ext cx="256032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cita</a:t>
            </a:r>
            <a:endParaRPr lang="en-US" sz="1400" dirty="0"/>
          </a:p>
        </ns0:txBody>
      </ns0:sp>
      <ns0:sp>
        <ns0:nvSpPr>
          <ns0:cNvPr id="18" name="Text 16"/>
          <ns0:cNvSpPr/>
          <ns0:nvPr/>
        </ns0:nvSpPr>
        <ns0:spPr>
          <a:xfrm>
            <a:off x="5897880" y="1828800"/>
            <a:ext cx="32004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ns0:txBody>
      </ns0:sp>
      <ns0:sp>
        <ns0:nvSpPr>
          <ns0:cNvPr id="19" name="Shape 17"/>
          <ns0:cNvSpPr/>
          <ns0:nvPr/>
        </ns0:nvSpPr>
        <ns0:spPr>
          <a:xfrm>
            <a:off x="6217920" y="1371600"/>
            <a:ext cx="2560320" cy="13716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ns0:spPr>
      </ns0:sp>
      <ns0:sp>
        <ns0:nvSpPr>
          <ns0:cNvPr id="20" name="Text 18"/>
          <ns0:cNvSpPr/>
          <ns0:nvPr/>
        </ns0:nvSpPr>
        <ns0:spPr>
          <a:xfrm>
            <a:off x="6217920" y="1463040"/>
            <a:ext cx="2560320" cy="5029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citas</a:t>
            </a:r>
            <a:endParaRPr lang="en-US" sz="1800" dirty="0"/>
          </a:p>
        </ns0:txBody>
      </ns0:sp>
      <ns0:sp>
        <ns0:nvSpPr>
          <ns0:cNvPr id="21" name="Text 19"/>
          <ns0:cNvSpPr/>
          <ns0:nvPr/>
        </ns0:nvSpPr>
        <ns0:spPr>
          <a:xfrm>
            <a:off x="6217920" y="2011680"/>
            <a:ext cx="2560320" cy="3657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ns0:txBody>
      </ns0:sp>
      <ns0:sp>
        <ns0:nvSpPr>
          <ns0:cNvPr id="22" name="Text 20"/>
          <ns0:cNvSpPr/>
          <ns0:nvPr/>
        </ns0:nvSpPr>
        <ns0:spPr>
          <a:xfrm>
            <a:off x="6217920" y="2331720"/>
            <a:ext cx="256032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venta</a:t>
            </a:r>
            <a:endParaRPr lang="en-US" sz="1400" dirty="0"/>
          </a:p>
        </ns0:txBody>
      </ns0:sp>
      <ns0:sp>
        <ns0:nvSpPr>
          <ns0:cNvPr id="23" name="Shape 21"/>
          <ns0:cNvSpPr/>
          <ns0:nvPr/>
        </ns0:nvSpPr>
        <ns0:spPr>
          <a:xfrm>
            <a:off x="365760" y="2971800"/>
            <a:ext cx="8412480" cy="9144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24" name="Text 22"/>
          <ns0:cNvSpPr/>
          <ns0:nvPr/>
        </ns0:nvSpPr>
        <ns0:spPr>
          <a:xfrm>
            <a:off x="365760" y="2971800"/>
            <a:ext cx="8412480" cy="9144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puertas = 1 cierre</a:t>
            </a:r>
            <a:endParaRPr lang="en-US" sz="3200" dirty="0"/>
          </a:p>
        </ns0:txBody>
      </ns0:sp>
      <ns0:sp>
        <ns0:nvSpPr>
          <ns0:cNvPr id="25" name="Shape 23"/>
          <ns0:cNvSpPr/>
          <ns0:nvPr/>
        </ns0:nvSpPr>
        <ns0:spPr>
          <a:xfrm>
            <a:off x="274320" y="4160520"/>
            <a:ext cx="8595360" cy="685800"/>
          </a:xfrm>
          <a:prstGeom prst="rect">
            <a:avLst/>
          </a:prstGeom>
          <a:solidFill>
            <a:srgbClr val="FFF3CD"/>
          </a:solidFill>
          <a:ln w="12700">
            <a:solidFill>
              <a:srgbClr val="F5C842"/>
            </a:solidFill>
            <a:prstDash val="solid"/>
          </a:ln>
        </ns0:spPr>
      </ns0:sp>
      <ns0:sp>
        <ns0:nvSpPr>
          <ns0:cNvPr id="26" name="Text 24"/>
          <ns0:cNvSpPr/>
          <ns0:nvPr/>
        </ns0:nvSpPr>
        <ns0:spPr>
          <a:xfrm>
            <a:off x="411480" y="4187952"/>
            <a:ext cx="8321040" cy="5943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TRAINER: </a:t>
            </a:r>
            <a:pPr indent="0" marL="0">
              <a:buNone/>
            </a:pPr>
            <a:r>
              <a:rPr lang="en-US" sz="1100" i="1" dirty="0">
                <a:solidFill>
                  <a:srgbClr val="5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Escriba esto en la pizarra. Haga que los representantes calculen cuántas puertas tocaron la semana pasada.</a:t>
            </a:r>
            <a:endParaRPr lang="en-US" sz="1100" dirty="0"/>
          </a:p>
        </ns0:txBody>
      </ns0:sp>
    </ns0:spTree>
  </ns0:cSld>
  <ns0:clrMapOvr>
    <a:masterClrMapping/>
  </ns0:clrMapOvr>
</ns0:sld>
</file>

<file path=ppt/slides/slide19.xml><?xml version="1.0" encoding="utf-8"?>
<ns0:sld xmlns:a="http://schemas.openxmlformats.org/drawingml/2006/main" xmlns:ns0="http://schemas.openxmlformats.org/presentationml/2006/main">
  <ns0:cSld name="Slide 19"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274320" y="0"/>
            <a:ext cx="777240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por Hora y La Puerta de $78</a:t>
            </a:r>
            <a:endParaRPr lang="en-US" sz="2000" dirty="0"/>
          </a:p>
        </ns0:txBody>
      </ns0:sp>
      <ns0:sp>
        <ns0:nvSpPr>
          <ns0:cNvPr id="4" name="Shape 2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5" name="Text 3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n-US" sz="900" dirty="0"/>
          </a:p>
        </ns0:txBody>
      </ns0:sp>
      <ns0:sp>
        <ns0:nvSpPr>
          <ns0:cNvPr id="6" name="Shape 4"/>
          <ns0:cNvSpPr/>
          <ns0:nvPr/>
        </ns0:nvSpPr>
        <ns0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ns0:spPr>
      </ns0:sp>
      <ns0:sp>
        <ns0:nvSpPr>
          <ns0:cNvPr id="7" name="Shape 5"/>
          <ns0:cNvSpPr/>
          <ns0:nvPr/>
        </ns0:nvSpPr>
        <ns0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8" name="Shape 6"/>
          <ns0:cNvSpPr/>
          <ns0:nvPr/>
        </ns0:nvSpPr>
        <ns0:spPr>
          <a:xfrm>
            <a:off x="365760" y="822960"/>
            <a:ext cx="2011680" cy="12801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ns0:spPr>
      </ns0:sp>
      <ns0:sp>
        <ns0:nvSpPr>
          <ns0:cNvPr id="9" name="Shape 7"/>
          <ns0:cNvSpPr/>
          <ns0:nvPr/>
        </ns0:nvSpPr>
        <ns0:spPr>
          <a:xfrm>
            <a:off x="365760" y="822960"/>
            <a:ext cx="2011680" cy="6400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10" name="Text 8"/>
          <ns0:cNvSpPr/>
          <ns0:nvPr/>
        </ns0:nvSpPr>
        <ns0:spPr>
          <a:xfrm>
            <a:off x="365760" y="960120"/>
            <a:ext cx="201168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$3,500</a:t>
            </a:r>
            <a:endParaRPr lang="en-US" sz="3400" dirty="0"/>
          </a:p>
        </ns0:txBody>
      </ns0:sp>
      <ns0:sp>
        <ns0:nvSpPr>
          <ns0:cNvPr id="11" name="Text 9"/>
          <ns0:cNvSpPr/>
          <ns0:nvPr/>
        </ns0:nvSpPr>
        <ns0:spPr>
          <a:xfrm>
            <a:off x="365760" y="1600200"/>
            <a:ext cx="201168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Comisión Promedio</a:t>
            </a:r>
            <a:endParaRPr lang="en-US" sz="1100" dirty="0"/>
          </a:p>
        </ns0:txBody>
      </ns0:sp>
      <ns0:sp>
        <ns0:nvSpPr>
          <ns0:cNvPr id="12" name="Shape 10"/>
          <ns0:cNvSpPr/>
          <ns0:nvPr/>
        </ns0:nvSpPr>
        <ns0:spPr>
          <a:xfrm>
            <a:off x="2560320" y="822960"/>
            <a:ext cx="2011680" cy="12801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ns0:spPr>
      </ns0:sp>
      <ns0:sp>
        <ns0:nvSpPr>
          <ns0:cNvPr id="13" name="Shape 11"/>
          <ns0:cNvSpPr/>
          <ns0:nvPr/>
        </ns0:nvSpPr>
        <ns0:spPr>
          <a:xfrm>
            <a:off x="2560320" y="822960"/>
            <a:ext cx="2011680" cy="6400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14" name="Text 12"/>
          <ns0:cNvSpPr/>
          <ns0:nvPr/>
        </ns0:nvSpPr>
        <ns0:spPr>
          <a:xfrm>
            <a:off x="2560320" y="960120"/>
            <a:ext cx="201168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 9hrs</a:t>
            </a:r>
            <a:endParaRPr lang="en-US" sz="3400" dirty="0"/>
          </a:p>
        </ns0:txBody>
      </ns0:sp>
      <ns0:sp>
        <ns0:nvSpPr>
          <ns0:cNvPr id="15" name="Text 13"/>
          <ns0:cNvSpPr/>
          <ns0:nvPr/>
        </ns0:nvSpPr>
        <ns0:spPr>
          <a:xfrm>
            <a:off x="2560320" y="1600200"/>
            <a:ext cx="201168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de Trabajo</a:t>
            </a:r>
            <a:endParaRPr lang="en-US" sz="1100" dirty="0"/>
          </a:p>
        </ns0:txBody>
      </ns0:sp>
      <ns0:sp>
        <ns0:nvSpPr>
          <ns0:cNvPr id="16" name="Shape 14"/>
          <ns0:cNvSpPr/>
          <ns0:nvPr/>
        </ns0:nvSpPr>
        <ns0:spPr>
          <a:xfrm>
            <a:off x="4754880" y="822960"/>
            <a:ext cx="2011680" cy="12801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ns0:spPr>
      </ns0:sp>
      <ns0:sp>
        <ns0:nvSpPr>
          <ns0:cNvPr id="17" name="Shape 15"/>
          <ns0:cNvSpPr/>
          <ns0:nvPr/>
        </ns0:nvSpPr>
        <ns0:spPr>
          <a:xfrm>
            <a:off x="4754880" y="822960"/>
            <a:ext cx="2011680" cy="6400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18" name="Text 16"/>
          <ns0:cNvSpPr/>
          <ns0:nvPr/>
        </ns0:nvSpPr>
        <ns0:spPr>
          <a:xfrm>
            <a:off x="4754880" y="960120"/>
            <a:ext cx="201168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$389/hr</a:t>
            </a:r>
            <a:endParaRPr lang="en-US" sz="3400" dirty="0"/>
          </a:p>
        </ns0:txBody>
      </ns0:sp>
      <ns0:sp>
        <ns0:nvSpPr>
          <ns0:cNvPr id="19" name="Text 17"/>
          <ns0:cNvSpPr/>
          <ns0:nvPr/>
        </ns0:nvSpPr>
        <ns0:spPr>
          <a:xfrm>
            <a:off x="4754880" y="1600200"/>
            <a:ext cx="201168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Tarifa por Hora</a:t>
            </a:r>
            <a:endParaRPr lang="en-US" sz="1100" dirty="0"/>
          </a:p>
        </ns0:txBody>
      </ns0:sp>
      <ns0:sp>
        <ns0:nvSpPr>
          <ns0:cNvPr id="20" name="Shape 18"/>
          <ns0:cNvSpPr/>
          <ns0:nvPr/>
        </ns0:nvSpPr>
        <ns0:spPr>
          <a:xfrm>
            <a:off x="6949440" y="822960"/>
            <a:ext cx="2011680" cy="12801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ns0:spPr>
      </ns0:sp>
      <ns0:sp>
        <ns0:nvSpPr>
          <ns0:cNvPr id="21" name="Shape 19"/>
          <ns0:cNvSpPr/>
          <ns0:nvPr/>
        </ns0:nvSpPr>
        <ns0:spPr>
          <a:xfrm>
            <a:off x="6949440" y="822960"/>
            <a:ext cx="2011680" cy="6400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22" name="Text 20"/>
          <ns0:cNvSpPr/>
          <ns0:nvPr/>
        </ns0:nvSpPr>
        <ns0:spPr>
          <a:xfrm>
            <a:off x="6949440" y="960120"/>
            <a:ext cx="201168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$78</a:t>
            </a:r>
            <a:endParaRPr lang="en-US" sz="3400" dirty="0"/>
          </a:p>
        </ns0:txBody>
      </ns0:sp>
      <ns0:sp>
        <ns0:nvSpPr>
          <ns0:cNvPr id="23" name="Text 21"/>
          <ns0:cNvSpPr/>
          <ns0:nvPr/>
        </ns0:nvSpPr>
        <ns0:spPr>
          <a:xfrm>
            <a:off x="6949440" y="1600200"/>
            <a:ext cx="201168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por Puerta</a:t>
            </a:r>
            <a:endParaRPr lang="en-US" sz="1100" dirty="0"/>
          </a:p>
        </ns0:txBody>
      </ns0:sp>
      <ns0:sp>
        <ns0:nvSpPr>
          <ns0:cNvPr id="24" name="Shape 22"/>
          <ns0:cNvSpPr/>
          <ns0:nvPr/>
        </ns0:nvSpPr>
        <ns0:spPr>
          <a:xfrm>
            <a:off x="365760" y="2331720"/>
            <a:ext cx="8412480" cy="2286000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  <a:prstDash val="solid"/>
          </a:ln>
        </ns0:spPr>
      </ns0:sp>
      <ns0:sp>
        <ns0:nvSpPr>
          <ns0:cNvPr id="25" name="Text 23"/>
          <ns0:cNvSpPr/>
          <ns0:nvPr/>
        </ns0:nvSpPr>
        <ns0:spPr>
          <a:xfrm>
            <a:off x="640080" y="2468880"/>
            <a:ext cx="786384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Reencuadre Cada 'No'</a:t>
            </a:r>
            <a:endParaRPr lang="en-US" sz="1800" dirty="0"/>
          </a:p>
        </ns0:txBody>
      </ns0:sp>
      <ns0:sp>
        <ns0:nvSpPr>
          <ns0:cNvPr id="26" name="Text 24"/>
          <ns0:cNvSpPr/>
          <ns0:nvPr/>
        </ns0:nvSpPr>
        <ns0:spPr>
          <a:xfrm>
            <a:off x="640080" y="2926080"/>
            <a:ext cx="7863840" cy="1554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puerta que toca — ya sea que respondan o no — vale aproximadamente $78 para usted. Los noes financian los síes. Cada rechazo es un pago hacia su próxima comisión.</a:t>
            </a:r>
            <a:endParaRPr lang="en-US" sz="1500" dirty="0"/>
          </a:p>
        </ns0:txBody>
      </ns0:sp>
      <ns0:sp>
        <ns0:nvSpPr>
          <ns0:cNvPr id="27" name="Shape 25"/>
          <ns0:cNvSpPr/>
          <ns0:nvPr/>
        </ns0:nvSpPr>
        <ns0:spPr>
          <a:xfrm>
            <a:off x="274320" y="4160520"/>
            <a:ext cx="8595360" cy="685800"/>
          </a:xfrm>
          <a:prstGeom prst="rect">
            <a:avLst/>
          </a:prstGeom>
          <a:solidFill>
            <a:srgbClr val="FFF3CD"/>
          </a:solidFill>
          <a:ln w="12700">
            <a:solidFill>
              <a:srgbClr val="F5C842"/>
            </a:solidFill>
            <a:prstDash val="solid"/>
          </a:ln>
        </ns0:spPr>
      </ns0:sp>
      <ns0:sp>
        <ns0:nvSpPr>
          <ns0:cNvPr id="28" name="Text 26"/>
          <ns0:cNvSpPr/>
          <ns0:nvPr/>
        </ns0:nvSpPr>
        <ns0:spPr>
          <a:xfrm>
            <a:off x="411480" y="4187952"/>
            <a:ext cx="8321040" cy="5943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TRAINER: </a:t>
            </a:r>
            <a:pPr indent="0" marL="0">
              <a:buNone/>
            </a:pPr>
            <a:r>
              <a:rPr lang="en-US" sz="1100" i="1" dirty="0">
                <a:solidFill>
                  <a:srgbClr val="5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Pregunte a los representantes: '¿Si alguien le ofreciera $78 por caminar a una puerta, lo haría 100 veces hoy?' Cuando alguien cierra una puerta, diga '¡Gracias por los $78!' — le quita el aguijón al No.</a:t>
            </a:r>
            <a:endParaRPr lang="en-US" sz="1100" dirty="0"/>
          </a:p>
        </ns0:txBody>
      </ns0:sp>
    </ns0:spTree>
  </ns0:cSld>
  <ns0:clrMapOvr>
    <a:masterClrMapping/>
  </ns0:clrMapOvr>
</ns0:sld>
</file>

<file path=ppt/slides/slide20.xml><?xml version="1.0" encoding="utf-8"?>
<ns0:sld xmlns:a="http://schemas.openxmlformats.org/drawingml/2006/main" xmlns:ns0="http://schemas.openxmlformats.org/presentationml/2006/main">
  <ns0:cSld name="Slide 20"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274320" y="0"/>
            <a:ext cx="777240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de Oro y No Negociables Diarios</a:t>
            </a:r>
            <a:endParaRPr lang="en-US" sz="2000" dirty="0"/>
          </a:p>
        </ns0:txBody>
      </ns0:sp>
      <ns0:sp>
        <ns0:nvSpPr>
          <ns0:cNvPr id="4" name="Shape 2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5" name="Text 3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n-US" sz="900" dirty="0"/>
          </a:p>
        </ns0:txBody>
      </ns0:sp>
      <ns0:sp>
        <ns0:nvSpPr>
          <ns0:cNvPr id="6" name="Shape 4"/>
          <ns0:cNvSpPr/>
          <ns0:nvPr/>
        </ns0:nvSpPr>
        <ns0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ns0:spPr>
      </ns0:sp>
      <ns0:sp>
        <ns0:nvSpPr>
          <ns0:cNvPr id="7" name="Shape 5"/>
          <ns0:cNvSpPr/>
          <ns0:nvPr/>
        </ns0:nvSpPr>
        <ns0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8" name="Shape 6"/>
          <ns0:cNvSpPr/>
          <ns0:nvPr/>
        </ns0:nvSpPr>
        <ns0:spPr>
          <a:xfrm>
            <a:off x="274320" y="777240"/>
            <a:ext cx="4206240" cy="2560320"/>
          </a:xfrm>
          <a:prstGeom prst="rect">
            <a:avLst/>
          </a:prstGeom>
          <a:solidFill>
            <a:srgbClr val="F5C842">
              <a:alpha val="80000"/>
            </a:srgbClr>
          </a:solidFill>
          <a:ln w="12700">
            <a:solidFill>
              <a:srgbClr val="F5C842"/>
            </a:solidFill>
            <a:prstDash val="solid"/>
          </a:ln>
        </ns0:spPr>
      </ns0:sp>
      <ns0:sp>
        <ns0:nvSpPr>
          <ns0:cNvPr id="9" name="Text 7"/>
          <ns0:cNvSpPr/>
          <ns0:nvPr/>
        </ns0:nvSpPr>
        <ns0:spPr>
          <a:xfrm>
            <a:off x="365760" y="896112"/>
            <a:ext cx="402336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HORAS DE ORO</a:t>
            </a:r>
            <a:endParaRPr lang="en-US" sz="1400" dirty="0"/>
          </a:p>
        </ns0:txBody>
      </ns0:sp>
      <ns0:sp>
        <ns0:nvSpPr>
          <ns0:cNvPr id="10" name="Text 8"/>
          <ns0:cNvSpPr/>
          <ns0:nvPr/>
        </ns0:nvSpPr>
        <ns0:spPr>
          <a:xfrm>
            <a:off x="365760" y="1417320"/>
            <a:ext cx="4023360" cy="5943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2:00 PM – 7:00 PM</a:t>
            </a:r>
            <a:endParaRPr lang="en-US" sz="2800" dirty="0"/>
          </a:p>
        </ns0:txBody>
      </ns0:sp>
      <ns0:sp>
        <ns0:nvSpPr>
          <ns0:cNvPr id="11" name="Text 9"/>
          <ns0:cNvSpPr/>
          <ns0:nvPr/>
        </ns0:nvSpPr>
        <ns0:spPr>
          <a:xfrm>
            <a:off x="457200" y="2103120"/>
            <a:ext cx="3840480" cy="10515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mandados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admin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redes sociales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distracciones</a:t>
            </a:r>
            <a:endParaRPr lang="en-US" sz="1400" dirty="0"/>
          </a:p>
        </ns0:txBody>
      </ns0:sp>
      <ns0:sp>
        <ns0:nvSpPr>
          <ns0:cNvPr id="12" name="Shape 10"/>
          <ns0:cNvSpPr/>
          <ns0:nvPr/>
        </ns0:nvSpPr>
        <ns0:spPr>
          <a:xfrm>
            <a:off x="4663440" y="777240"/>
            <a:ext cx="4206240" cy="25603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ns0:spPr>
      </ns0:sp>
      <ns0:sp>
        <ns0:nvSpPr>
          <ns0:cNvPr id="13" name="Text 11"/>
          <ns0:cNvSpPr/>
          <ns0:nvPr/>
        </ns0:nvSpPr>
        <ns0:spPr>
          <a:xfrm>
            <a:off x="4754880" y="896112"/>
            <a:ext cx="402336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Negociables Diarios</a:t>
            </a:r>
            <a:endParaRPr lang="en-US" sz="1400" dirty="0"/>
          </a:p>
        </ns0:txBody>
      </ns0:sp>
      <ns0:sp>
        <ns0:nvSpPr>
          <ns0:cNvPr id="14" name="Text 12"/>
          <ns0:cNvSpPr/>
          <ns0:nvPr/>
        </ns0:nvSpPr>
        <ns0:spPr>
          <a:xfrm>
            <a:off x="4846320" y="1417320"/>
            <a:ext cx="3840480" cy="18288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puertas por día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llamadas si marca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2 citas establecidas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actualizado antes del fin del día</a:t>
            </a:r>
            <a:endParaRPr lang="en-US" sz="1400" dirty="0"/>
          </a:p>
        </ns0:txBody>
      </ns0:sp>
      <ns0:sp>
        <ns0:nvSpPr>
          <ns0:cNvPr id="15" name="Shape 13"/>
          <ns0:cNvSpPr/>
          <ns0:nvPr/>
        </ns0:nvSpPr>
        <ns0:spPr>
          <a:xfrm>
            <a:off x="274320" y="3520440"/>
            <a:ext cx="8595360" cy="1188720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  <a:prstDash val="solid"/>
          </a:ln>
        </ns0:spPr>
      </ns0:sp>
      <ns0:sp>
        <ns0:nvSpPr>
          <ns0:cNvPr id="16" name="Text 14"/>
          <ns0:cNvSpPr/>
          <ns0:nvPr/>
        </ns0:nvSpPr>
        <ns0:spPr>
          <a:xfrm>
            <a:off x="457200" y="3611880"/>
            <a:ext cx="164592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 Diario:</a:t>
            </a:r>
            <a:endParaRPr lang="en-US" sz="1200" dirty="0"/>
          </a:p>
        </ns0:txBody>
      </ns0:sp>
      <ns0:sp>
        <ns0:nvSpPr>
          <ns0:cNvPr id="17" name="Shape 15"/>
          <ns0:cNvSpPr/>
          <ns0:nvPr/>
        </ns0:nvSpPr>
        <ns0:spPr>
          <a:xfrm>
            <a:off x="411480" y="3950208"/>
            <a:ext cx="1965960" cy="621792"/>
          </a:xfrm>
          <a:prstGeom prst="rect">
            <a:avLst/>
          </a:prstGeom>
          <a:solidFill>
            <a:srgbClr val="F4821F">
              <a:alpha val="20000"/>
            </a:srgbClr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18" name="Text 16"/>
          <ns0:cNvSpPr/>
          <ns0:nvPr/>
        </ns0:nvSpPr>
        <ns0:spPr>
          <a:xfrm>
            <a:off x="411480" y="3950208"/>
            <a:ext cx="1965960" cy="62179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Mañana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preparación</a:t>
            </a:r>
            <a:endParaRPr lang="en-US" sz="1100" dirty="0"/>
          </a:p>
        </ns0:txBody>
      </ns0:sp>
      <ns0:sp>
        <ns0:nvSpPr>
          <ns0:cNvPr id="19" name="Shape 17"/>
          <ns0:cNvSpPr/>
          <ns0:nvPr/>
        </ns0:nvSpPr>
        <ns0:spPr>
          <a:xfrm>
            <a:off x="2587752" y="3950208"/>
            <a:ext cx="1965960" cy="621792"/>
          </a:xfrm>
          <a:prstGeom prst="rect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/>
            </a:solidFill>
            <a:prstDash val="solid"/>
          </a:ln>
        </ns0:spPr>
      </ns0:sp>
      <ns0:sp>
        <ns0:nvSpPr>
          <ns0:cNvPr id="20" name="Text 18"/>
          <ns0:cNvSpPr/>
          <ns0:nvPr/>
        </ns0:nvSpPr>
        <ns0:spPr>
          <a:xfrm>
            <a:off x="2587752" y="3950208"/>
            <a:ext cx="1965960" cy="62179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Mediodía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 / plan de ruta</a:t>
            </a:r>
            <a:endParaRPr lang="en-US" sz="1100" dirty="0"/>
          </a:p>
        </ns0:txBody>
      </ns0:sp>
      <ns0:sp>
        <ns0:nvSpPr>
          <ns0:cNvPr id="21" name="Shape 19"/>
          <ns0:cNvSpPr/>
          <ns0:nvPr/>
        </ns0:nvSpPr>
        <ns0:spPr>
          <a:xfrm>
            <a:off x="4764024" y="3950208"/>
            <a:ext cx="1965960" cy="621792"/>
          </a:xfrm>
          <a:prstGeom prst="rect">
            <a:avLst/>
          </a:prstGeom>
          <a:solidFill>
            <a:srgbClr val="F4821F">
              <a:alpha val="20000"/>
            </a:srgbClr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22" name="Text 20"/>
          <ns0:cNvSpPr/>
          <ns0:nvPr/>
        </ns0:nvSpPr>
        <ns0:spPr>
          <a:xfrm>
            <a:off x="4764024" y="3950208"/>
            <a:ext cx="1965960" cy="62179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Prospección</a:t>
            </a:r>
            <a:endParaRPr lang="en-US" sz="1100" dirty="0"/>
          </a:p>
        </ns0:txBody>
      </ns0:sp>
      <ns0:sp>
        <ns0:nvSpPr>
          <ns0:cNvPr id="23" name="Shape 21"/>
          <ns0:cNvSpPr/>
          <ns0:nvPr/>
        </ns0:nvSpPr>
        <ns0:spPr>
          <a:xfrm>
            <a:off x="6940296" y="3950208"/>
            <a:ext cx="1965960" cy="621792"/>
          </a:xfrm>
          <a:prstGeom prst="rect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/>
            </a:solidFill>
            <a:prstDash val="solid"/>
          </a:ln>
        </ns0:spPr>
      </ns0:sp>
      <ns0:sp>
        <ns0:nvSpPr>
          <ns0:cNvPr id="24" name="Text 22"/>
          <ns0:cNvSpPr/>
          <ns0:nvPr/>
        </ns0:nvSpPr>
        <ns0:spPr>
          <a:xfrm>
            <a:off x="6940296" y="3950208"/>
            <a:ext cx="1965960" cy="62179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Noche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Seguimientos</a:t>
            </a:r>
            <a:endParaRPr lang="en-US" sz="1100" dirty="0"/>
          </a:p>
        </ns0:txBody>
      </ns0:sp>
    </ns0:spTree>
  </ns0:cSld>
  <ns0:clrMapOvr>
    <a:masterClrMapping/>
  </ns0:clrMapOvr>
</ns0:sld>
</file>

<file path=ppt/slides/slide21.xml><?xml version="1.0" encoding="utf-8"?>
<ns0:sld xmlns:a="http://schemas.openxmlformats.org/drawingml/2006/main" xmlns:ns0="http://schemas.openxmlformats.org/presentationml/2006/main">
  <ns0:cSld name="Slide 21">
    <ns0:bg>
      <ns0:bgPr>
        <a:solidFill>
          <a:srgbClr val="0D1F3C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164592" cy="51435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457200" y="1097280"/>
            <a:ext cx="82296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2.4</a:t>
            </a:r>
            <a:endParaRPr lang="en-US" sz="1300" dirty="0"/>
          </a:p>
        </ns0:txBody>
      </ns0:sp>
      <ns0:sp>
        <ns0:nvSpPr>
          <ns0:cNvPr id="4" name="Text 2"/>
          <ns0:cNvSpPr/>
          <ns0:nvPr/>
        </ns0:nvSpPr>
        <ns0:spPr>
          <a:xfrm>
            <a:off x="457200" y="1554480"/>
            <a:ext cx="8229600" cy="10972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Marco de Conversación Solar</a:t>
            </a:r>
            <a:endParaRPr lang="en-US" sz="3800" dirty="0"/>
          </a:p>
        </ns0:txBody>
      </ns0:sp>
      <ns0:sp>
        <ns0:nvSpPr>
          <ns0:cNvPr id="5" name="Text 3"/>
          <ns0:cNvSpPr/>
          <ns0:nvPr/>
        </ns0:nvSpPr>
        <ns0:spPr>
          <a:xfrm>
            <a:off x="457200" y="2697480"/>
            <a:ext cx="82296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Pasos en Cada Interacción  ·  20 min</a:t>
            </a:r>
            <a:endParaRPr lang="en-US" sz="1600" dirty="0"/>
          </a:p>
        </ns0:txBody>
      </ns0:sp>
    </ns0:spTree>
  </ns0:cSld>
  <ns0:clrMapOvr>
    <a:masterClrMapping/>
  </ns0:clrMapOvr>
</ns0:sld>
</file>

<file path=ppt/slides/slide22.xml><?xml version="1.0" encoding="utf-8"?>
<ns0:sld xmlns:a="http://schemas.openxmlformats.org/drawingml/2006/main" xmlns:ns0="http://schemas.openxmlformats.org/presentationml/2006/main">
  <ns0:cSld name="Slide 22"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274320" y="0"/>
            <a:ext cx="777240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Marco de 7 Pasos</a:t>
            </a:r>
            <a:endParaRPr lang="en-US" sz="2000" dirty="0"/>
          </a:p>
        </ns0:txBody>
      </ns0:sp>
      <ns0:sp>
        <ns0:nvSpPr>
          <ns0:cNvPr id="4" name="Shape 2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5" name="Text 3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</a:t>
            </a:r>
            <a:endParaRPr lang="en-US" sz="900" dirty="0"/>
          </a:p>
        </ns0:txBody>
      </ns0:sp>
      <ns0:sp>
        <ns0:nvSpPr>
          <ns0:cNvPr id="6" name="Shape 4"/>
          <ns0:cNvSpPr/>
          <ns0:nvPr/>
        </ns0:nvSpPr>
        <ns0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ns0:spPr>
      </ns0:sp>
      <ns0:sp>
        <ns0:nvSpPr>
          <ns0:cNvPr id="7" name="Shape 5"/>
          <ns0:cNvSpPr/>
          <ns0:nvPr/>
        </ns0:nvSpPr>
        <ns0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8" name="Shape 6"/>
          <ns0:cNvSpPr/>
          <ns0:nvPr/>
        </ns0:nvSpPr>
        <ns0:spPr>
          <a:xfrm>
            <a:off x="274320" y="804672"/>
            <a:ext cx="457200" cy="713232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9" name="Text 7"/>
          <ns0:cNvSpPr/>
          <ns0:nvPr/>
        </ns0:nvSpPr>
        <ns0:spPr>
          <a:xfrm>
            <a:off x="274320" y="804672"/>
            <a:ext cx="457200" cy="71323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ns0:txBody>
      </ns0:sp>
      <ns0:sp>
        <ns0:nvSpPr>
          <ns0:cNvPr id="10" name="Shape 8"/>
          <ns0:cNvSpPr/>
          <ns0:nvPr/>
        </ns0:nvSpPr>
        <ns0:spPr>
          <a:xfrm>
            <a:off x="731520" y="804672"/>
            <a:ext cx="3840480" cy="713232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  <a:prstDash val="solid"/>
          </a:ln>
        </ns0:spPr>
      </ns0:sp>
      <ns0:sp>
        <ns0:nvSpPr>
          <ns0:cNvPr id="11" name="Text 9"/>
          <ns0:cNvSpPr/>
          <ns0:nvPr/>
        </ns0:nvSpPr>
        <ns0:spPr>
          <a:xfrm>
            <a:off x="868680" y="850392"/>
            <a:ext cx="356616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Interrupción de Patrón</a:t>
            </a:r>
            <a:endParaRPr lang="en-US" sz="1300" dirty="0"/>
          </a:p>
        </ns0:txBody>
      </ns0:sp>
      <ns0:sp>
        <ns0:nvSpPr>
          <ns0:cNvPr id="12" name="Text 10"/>
          <ns0:cNvSpPr/>
          <ns0:nvPr/>
        </ns0:nvSpPr>
        <ns0:spPr>
          <a:xfrm>
            <a:off x="868680" y="1188720"/>
            <a:ext cx="3566160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Lidere con algo inesperado</a:t>
            </a:r>
            <a:endParaRPr lang="en-US" sz="1000" dirty="0"/>
          </a:p>
        </ns0:txBody>
      </ns0:sp>
      <ns0:sp>
        <ns0:nvSpPr>
          <ns0:cNvPr id="13" name="Shape 11"/>
          <ns0:cNvSpPr/>
          <ns0:nvPr/>
        </ns0:nvSpPr>
        <ns0:spPr>
          <a:xfrm>
            <a:off x="274320" y="1700784"/>
            <a:ext cx="457200" cy="7132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ns0:spPr>
      </ns0:sp>
      <ns0:sp>
        <ns0:nvSpPr>
          <ns0:cNvPr id="14" name="Text 12"/>
          <ns0:cNvSpPr/>
          <ns0:nvPr/>
        </ns0:nvSpPr>
        <ns0:spPr>
          <a:xfrm>
            <a:off x="274320" y="1700784"/>
            <a:ext cx="457200" cy="71323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ns0:txBody>
      </ns0:sp>
      <ns0:sp>
        <ns0:nvSpPr>
          <ns0:cNvPr id="15" name="Shape 13"/>
          <ns0:cNvSpPr/>
          <ns0:nvPr/>
        </ns0:nvSpPr>
        <ns0:spPr>
          <a:xfrm>
            <a:off x="731520" y="1700784"/>
            <a:ext cx="3840480" cy="713232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  <a:prstDash val="solid"/>
          </a:ln>
        </ns0:spPr>
      </ns0:sp>
      <ns0:sp>
        <ns0:nvSpPr>
          <ns0:cNvPr id="16" name="Text 14"/>
          <ns0:cNvSpPr/>
          <ns0:nvPr/>
        </ns0:nvSpPr>
        <ns0:spPr>
          <a:xfrm>
            <a:off x="868680" y="1746504"/>
            <a:ext cx="356616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</a:t>
            </a:r>
            <a:endParaRPr lang="en-US" sz="1300" dirty="0"/>
          </a:p>
        </ns0:txBody>
      </ns0:sp>
      <ns0:sp>
        <ns0:nvSpPr>
          <ns0:cNvPr id="17" name="Text 15"/>
          <ns0:cNvSpPr/>
          <ns0:nvPr/>
        </ns0:nvSpPr>
        <ns0:spPr>
          <a:xfrm>
            <a:off x="868680" y="2084832"/>
            <a:ext cx="3566160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Momento humano antes del solar</a:t>
            </a:r>
            <a:endParaRPr lang="en-US" sz="1000" dirty="0"/>
          </a:p>
        </ns0:txBody>
      </ns0:sp>
      <ns0:sp>
        <ns0:nvSpPr>
          <ns0:cNvPr id="18" name="Shape 16"/>
          <ns0:cNvSpPr/>
          <ns0:nvPr/>
        </ns0:nvSpPr>
        <ns0:spPr>
          <a:xfrm>
            <a:off x="274320" y="2596896"/>
            <a:ext cx="457200" cy="713232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19" name="Text 17"/>
          <ns0:cNvSpPr/>
          <ns0:nvPr/>
        </ns0:nvSpPr>
        <ns0:spPr>
          <a:xfrm>
            <a:off x="274320" y="2596896"/>
            <a:ext cx="457200" cy="71323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ns0:txBody>
      </ns0:sp>
      <ns0:sp>
        <ns0:nvSpPr>
          <ns0:cNvPr id="20" name="Shape 18"/>
          <ns0:cNvSpPr/>
          <ns0:nvPr/>
        </ns0:nvSpPr>
        <ns0:spPr>
          <a:xfrm>
            <a:off x="731520" y="2596896"/>
            <a:ext cx="3840480" cy="713232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  <a:prstDash val="solid"/>
          </a:ln>
        </ns0:spPr>
      </ns0:sp>
      <ns0:sp>
        <ns0:nvSpPr>
          <ns0:cNvPr id="21" name="Text 19"/>
          <ns0:cNvSpPr/>
          <ns0:nvPr/>
        </ns0:nvSpPr>
        <ns0:spPr>
          <a:xfrm>
            <a:off x="868680" y="2642616"/>
            <a:ext cx="356616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Curiosidad</a:t>
            </a:r>
            <a:endParaRPr lang="en-US" sz="1300" dirty="0"/>
          </a:p>
        </ns0:txBody>
      </ns0:sp>
      <ns0:sp>
        <ns0:nvSpPr>
          <ns0:cNvPr id="22" name="Text 20"/>
          <ns0:cNvSpPr/>
          <ns0:nvPr/>
        </ns0:nvSpPr>
        <ns0:spPr>
          <a:xfrm>
            <a:off x="868680" y="2980944"/>
            <a:ext cx="3566160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 que hablen sobre solar</a:t>
            </a:r>
            <a:endParaRPr lang="en-US" sz="1000" dirty="0"/>
          </a:p>
        </ns0:txBody>
      </ns0:sp>
      <ns0:sp>
        <ns0:nvSpPr>
          <ns0:cNvPr id="23" name="Shape 21"/>
          <ns0:cNvSpPr/>
          <ns0:nvPr/>
        </ns0:nvSpPr>
        <ns0:spPr>
          <a:xfrm>
            <a:off x="274320" y="3493008"/>
            <a:ext cx="457200" cy="7132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ns0:spPr>
      </ns0:sp>
      <ns0:sp>
        <ns0:nvSpPr>
          <ns0:cNvPr id="24" name="Text 22"/>
          <ns0:cNvSpPr/>
          <ns0:nvPr/>
        </ns0:nvSpPr>
        <ns0:spPr>
          <a:xfrm>
            <a:off x="274320" y="3493008"/>
            <a:ext cx="457200" cy="71323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ns0:txBody>
      </ns0:sp>
      <ns0:sp>
        <ns0:nvSpPr>
          <ns0:cNvPr id="25" name="Shape 23"/>
          <ns0:cNvSpPr/>
          <ns0:nvPr/>
        </ns0:nvSpPr>
        <ns0:spPr>
          <a:xfrm>
            <a:off x="731520" y="3493008"/>
            <a:ext cx="3840480" cy="713232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  <a:prstDash val="solid"/>
          </a:ln>
        </ns0:spPr>
      </ns0:sp>
      <ns0:sp>
        <ns0:nvSpPr>
          <ns0:cNvPr id="26" name="Text 24"/>
          <ns0:cNvSpPr/>
          <ns0:nvPr/>
        </ns0:nvSpPr>
        <ns0:spPr>
          <a:xfrm>
            <a:off x="868680" y="3538728"/>
            <a:ext cx="356616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Conciencia del Problema</a:t>
            </a:r>
            <a:endParaRPr lang="en-US" sz="1300" dirty="0"/>
          </a:p>
        </ns0:txBody>
      </ns0:sp>
      <ns0:sp>
        <ns0:nvSpPr>
          <ns0:cNvPr id="27" name="Text 25"/>
          <ns0:cNvSpPr/>
          <ns0:nvPr/>
        </ns0:nvSpPr>
        <ns0:spPr>
          <a:xfrm>
            <a:off x="868680" y="3877056"/>
            <a:ext cx="3566160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Presentar los costos de energía en aumento</a:t>
            </a:r>
            <a:endParaRPr lang="en-US" sz="1000" dirty="0"/>
          </a:p>
        </ns0:txBody>
      </ns0:sp>
      <ns0:sp>
        <ns0:nvSpPr>
          <ns0:cNvPr id="28" name="Shape 26"/>
          <ns0:cNvSpPr/>
          <ns0:nvPr/>
        </ns0:nvSpPr>
        <ns0:spPr>
          <a:xfrm>
            <a:off x="4754880" y="804672"/>
            <a:ext cx="457200" cy="713232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29" name="Text 27"/>
          <ns0:cNvSpPr/>
          <ns0:nvPr/>
        </ns0:nvSpPr>
        <ns0:spPr>
          <a:xfrm>
            <a:off x="4754880" y="804672"/>
            <a:ext cx="457200" cy="71323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ns0:txBody>
      </ns0:sp>
      <ns0:sp>
        <ns0:nvSpPr>
          <ns0:cNvPr id="30" name="Shape 28"/>
          <ns0:cNvSpPr/>
          <ns0:nvPr/>
        </ns0:nvSpPr>
        <ns0:spPr>
          <a:xfrm>
            <a:off x="5212080" y="804672"/>
            <a:ext cx="3840480" cy="713232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  <a:prstDash val="solid"/>
          </a:ln>
        </ns0:spPr>
      </ns0:sp>
      <ns0:sp>
        <ns0:nvSpPr>
          <ns0:cNvPr id="31" name="Text 29"/>
          <ns0:cNvSpPr/>
          <ns0:nvPr/>
        </ns0:nvSpPr>
        <ns0:spPr>
          <a:xfrm>
            <a:off x="5349240" y="850392"/>
            <a:ext cx="356616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Descubrimiento de Factura</a:t>
            </a:r>
            <a:endParaRPr lang="en-US" sz="1300" dirty="0"/>
          </a:p>
        </ns0:txBody>
      </ns0:sp>
      <ns0:sp>
        <ns0:nvSpPr>
          <ns0:cNvPr id="32" name="Text 30"/>
          <ns0:cNvSpPr/>
          <ns0:nvPr/>
        </ns0:nvSpPr>
        <ns0:spPr>
          <a:xfrm>
            <a:off x="5349240" y="1188720"/>
            <a:ext cx="3566160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Encontrar su número real</a:t>
            </a:r>
            <a:endParaRPr lang="en-US" sz="1000" dirty="0"/>
          </a:p>
        </ns0:txBody>
      </ns0:sp>
      <ns0:sp>
        <ns0:nvSpPr>
          <ns0:cNvPr id="33" name="Shape 31"/>
          <ns0:cNvSpPr/>
          <ns0:nvPr/>
        </ns0:nvSpPr>
        <ns0:spPr>
          <a:xfrm>
            <a:off x="4754880" y="1700784"/>
            <a:ext cx="457200" cy="7132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ns0:spPr>
      </ns0:sp>
      <ns0:sp>
        <ns0:nvSpPr>
          <ns0:cNvPr id="34" name="Text 32"/>
          <ns0:cNvSpPr/>
          <ns0:nvPr/>
        </ns0:nvSpPr>
        <ns0:spPr>
          <a:xfrm>
            <a:off x="4754880" y="1700784"/>
            <a:ext cx="457200" cy="71323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ns0:txBody>
      </ns0:sp>
      <ns0:sp>
        <ns0:nvSpPr>
          <ns0:cNvPr id="35" name="Shape 33"/>
          <ns0:cNvSpPr/>
          <ns0:nvPr/>
        </ns0:nvSpPr>
        <ns0:spPr>
          <a:xfrm>
            <a:off x="5212080" y="1700784"/>
            <a:ext cx="3840480" cy="713232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  <a:prstDash val="solid"/>
          </a:ln>
        </ns0:spPr>
      </ns0:sp>
      <ns0:sp>
        <ns0:nvSpPr>
          <ns0:cNvPr id="36" name="Text 34"/>
          <ns0:cNvSpPr/>
          <ns0:nvPr/>
        </ns0:nvSpPr>
        <ns0:spPr>
          <a:xfrm>
            <a:off x="5349240" y="1746504"/>
            <a:ext cx="356616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Calificación</a:t>
            </a:r>
            <a:endParaRPr lang="en-US" sz="1300" dirty="0"/>
          </a:p>
        </ns0:txBody>
      </ns0:sp>
      <ns0:sp>
        <ns0:nvSpPr>
          <ns0:cNvPr id="37" name="Text 35"/>
          <ns0:cNvSpPr/>
          <ns0:nvPr/>
        </ns0:nvSpPr>
        <ns0:spPr>
          <a:xfrm>
            <a:off x="5349240" y="2084832"/>
            <a:ext cx="3566160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Asegurarse de que sean el ajuste correcto</a:t>
            </a:r>
            <a:endParaRPr lang="en-US" sz="1000" dirty="0"/>
          </a:p>
        </ns0:txBody>
      </ns0:sp>
      <ns0:sp>
        <ns0:nvSpPr>
          <ns0:cNvPr id="38" name="Shape 36"/>
          <ns0:cNvSpPr/>
          <ns0:nvPr/>
        </ns0:nvSpPr>
        <ns0:spPr>
          <a:xfrm>
            <a:off x="4754880" y="2596896"/>
            <a:ext cx="457200" cy="713232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39" name="Text 37"/>
          <ns0:cNvSpPr/>
          <ns0:nvPr/>
        </ns0:nvSpPr>
        <ns0:spPr>
          <a:xfrm>
            <a:off x="4754880" y="2596896"/>
            <a:ext cx="457200" cy="71323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ns0:txBody>
      </ns0:sp>
      <ns0:sp>
        <ns0:nvSpPr>
          <ns0:cNvPr id="40" name="Shape 38"/>
          <ns0:cNvSpPr/>
          <ns0:nvPr/>
        </ns0:nvSpPr>
        <ns0:spPr>
          <a:xfrm>
            <a:off x="5212080" y="2596896"/>
            <a:ext cx="3840480" cy="713232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  <a:prstDash val="solid"/>
          </a:ln>
        </ns0:spPr>
      </ns0:sp>
      <ns0:sp>
        <ns0:nvSpPr>
          <ns0:cNvPr id="41" name="Text 39"/>
          <ns0:cNvSpPr/>
          <ns0:nvPr/>
        </ns0:nvSpPr>
        <ns0:spPr>
          <a:xfrm>
            <a:off x="5349240" y="2642616"/>
            <a:ext cx="356616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Paso</a:t>
            </a:r>
            <a:endParaRPr lang="en-US" sz="1300" dirty="0"/>
          </a:p>
        </ns0:txBody>
      </ns0:sp>
      <ns0:sp>
        <ns0:nvSpPr>
          <ns0:cNvPr id="42" name="Text 40"/>
          <ns0:cNvSpPr/>
          <ns0:nvPr/>
        </ns0:nvSpPr>
        <ns0:spPr>
          <a:xfrm>
            <a:off x="5349240" y="2980944"/>
            <a:ext cx="3566160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para la cita</a:t>
            </a:r>
            <a:endParaRPr lang="en-US" sz="1000" dirty="0"/>
          </a:p>
        </ns0:txBody>
      </ns0:sp>
      <ns0:sp>
        <ns0:nvSpPr>
          <ns0:cNvPr id="43" name="Shape 41"/>
          <ns0:cNvSpPr/>
          <ns0:nvPr/>
        </ns0:nvSpPr>
        <ns0:spPr>
          <a:xfrm>
            <a:off x="274320" y="4160520"/>
            <a:ext cx="8595360" cy="685800"/>
          </a:xfrm>
          <a:prstGeom prst="rect">
            <a:avLst/>
          </a:prstGeom>
          <a:solidFill>
            <a:srgbClr val="FFF3CD"/>
          </a:solidFill>
          <a:ln w="12700">
            <a:solidFill>
              <a:srgbClr val="F5C842"/>
            </a:solidFill>
            <a:prstDash val="solid"/>
          </a:ln>
        </ns0:spPr>
      </ns0:sp>
      <ns0:sp>
        <ns0:nvSpPr>
          <ns0:cNvPr id="44" name="Text 42"/>
          <ns0:cNvSpPr/>
          <ns0:nvPr/>
        </ns0:nvSpPr>
        <ns0:spPr>
          <a:xfrm>
            <a:off x="411480" y="4187952"/>
            <a:ext cx="8321040" cy="5943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TRAINER: </a:t>
            </a:r>
            <a:pPr indent="0" marL="0">
              <a:buNone/>
            </a:pPr>
            <a:r>
              <a:rPr lang="en-US" sz="1100" i="1" dirty="0">
                <a:solidFill>
                  <a:srgbClr val="5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omita pasos. Si intenta ver la factura (Paso 5) antes de construir rapport (Paso 2), lo sacarán del porche.</a:t>
            </a:r>
            <a:endParaRPr lang="en-US" sz="1100" dirty="0"/>
          </a:p>
        </ns0:txBody>
      </ns0:sp>
    </ns0:spTree>
  </ns0:cSld>
  <ns0:clrMapOvr>
    <a:masterClrMapping/>
  </ns0:clrMapOvr>
</ns0:sld>
</file>

<file path=ppt/slides/slide23.xml><?xml version="1.0" encoding="utf-8"?>
<ns0:sld xmlns:a="http://schemas.openxmlformats.org/drawingml/2006/main" xmlns:ns0="http://schemas.openxmlformats.org/presentationml/2006/main">
  <ns0:cSld name="Slide 23"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274320" y="0"/>
            <a:ext cx="777240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en Acción: Guiones Clave</a:t>
            </a:r>
            <a:endParaRPr lang="en-US" sz="2000" dirty="0"/>
          </a:p>
        </ns0:txBody>
      </ns0:sp>
      <ns0:sp>
        <ns0:nvSpPr>
          <ns0:cNvPr id="4" name="Shape 2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5" name="Text 3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</a:t>
            </a:r>
            <a:endParaRPr lang="en-US" sz="900" dirty="0"/>
          </a:p>
        </ns0:txBody>
      </ns0:sp>
      <ns0:sp>
        <ns0:nvSpPr>
          <ns0:cNvPr id="6" name="Shape 4"/>
          <ns0:cNvSpPr/>
          <ns0:nvPr/>
        </ns0:nvSpPr>
        <ns0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ns0:spPr>
      </ns0:sp>
      <ns0:sp>
        <ns0:nvSpPr>
          <ns0:cNvPr id="7" name="Shape 5"/>
          <ns0:cNvSpPr/>
          <ns0:nvPr/>
        </ns0:nvSpPr>
        <ns0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8" name="Shape 6"/>
          <ns0:cNvSpPr/>
          <ns0:nvPr/>
        </ns0:nvSpPr>
        <ns0:spPr>
          <a:xfrm>
            <a:off x="274320" y="804672"/>
            <a:ext cx="4206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ns0:spPr>
      </ns0:sp>
      <ns0:sp>
        <ns0:nvSpPr>
          <ns0:cNvPr id="9" name="Shape 7"/>
          <ns0:cNvSpPr/>
          <ns0:nvPr/>
        </ns0:nvSpPr>
        <ns0:spPr>
          <a:xfrm>
            <a:off x="274320" y="804672"/>
            <a:ext cx="64008" cy="16002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10" name="Text 8"/>
          <ns0:cNvSpPr/>
          <ns0:nvPr/>
        </ns0:nvSpPr>
        <ns0:spPr>
          <a:xfrm>
            <a:off x="438912" y="914400"/>
            <a:ext cx="3950208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Interrupción de Patrón</a:t>
            </a:r>
            <a:endParaRPr lang="en-US" sz="1300" dirty="0"/>
          </a:p>
        </ns0:txBody>
      </ns0:sp>
      <ns0:sp>
        <ns0:nvSpPr>
          <ns0:cNvPr id="11" name="Text 9"/>
          <ns0:cNvSpPr/>
          <ns0:nvPr/>
        </ns0:nvSpPr>
        <ns0:spPr>
          <a:xfrm>
            <a:off x="438912" y="1261872"/>
            <a:ext cx="3950208" cy="10332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 vecino en Maple acaba de instalar solar y quería que visitara algunos hogares cercanos."</a:t>
            </a:r>
            <a:endParaRPr lang="en-US" sz="1200" dirty="0"/>
          </a:p>
        </ns0:txBody>
      </ns0:sp>
      <ns0:sp>
        <ns0:nvSpPr>
          <ns0:cNvPr id="12" name="Shape 10"/>
          <ns0:cNvSpPr/>
          <ns0:nvPr/>
        </ns0:nvSpPr>
        <ns0:spPr>
          <a:xfrm>
            <a:off x="4663440" y="804672"/>
            <a:ext cx="4206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ns0:spPr>
      </ns0:sp>
      <ns0:sp>
        <ns0:nvSpPr>
          <ns0:cNvPr id="13" name="Shape 11"/>
          <ns0:cNvSpPr/>
          <ns0:nvPr/>
        </ns0:nvSpPr>
        <ns0:spPr>
          <a:xfrm>
            <a:off x="4663440" y="804672"/>
            <a:ext cx="64008" cy="1600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ns0:spPr>
      </ns0:sp>
      <ns0:sp>
        <ns0:nvSpPr>
          <ns0:cNvPr id="14" name="Text 12"/>
          <ns0:cNvSpPr/>
          <ns0:nvPr/>
        </ns0:nvSpPr>
        <ns0:spPr>
          <a:xfrm>
            <a:off x="4828032" y="914400"/>
            <a:ext cx="3950208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Curiosidad</a:t>
            </a:r>
            <a:endParaRPr lang="en-US" sz="1300" dirty="0"/>
          </a:p>
        </ns0:txBody>
      </ns0:sp>
      <ns0:sp>
        <ns0:nvSpPr>
          <ns0:cNvPr id="15" name="Text 13"/>
          <ns0:cNvSpPr/>
          <ns0:nvPr/>
        </ns0:nvSpPr>
        <ns0:spPr>
          <a:xfrm>
            <a:off x="4828032" y="1261872"/>
            <a:ext cx="3950208" cy="10332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"¿Ha investigado sobre solar antes, o simplemente no ha tenido oportunidad?"</a:t>
            </a:r>
            <a:endParaRPr lang="en-US" sz="1200" dirty="0"/>
          </a:p>
        </ns0:txBody>
      </ns0:sp>
      <ns0:sp>
        <ns0:nvSpPr>
          <ns0:cNvPr id="16" name="Shape 14"/>
          <ns0:cNvSpPr/>
          <ns0:nvPr/>
        </ns0:nvSpPr>
        <ns0:spPr>
          <a:xfrm>
            <a:off x="274320" y="2651760"/>
            <a:ext cx="4206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ns0:spPr>
      </ns0:sp>
      <ns0:sp>
        <ns0:nvSpPr>
          <ns0:cNvPr id="17" name="Shape 15"/>
          <ns0:cNvSpPr/>
          <ns0:nvPr/>
        </ns0:nvSpPr>
        <ns0:spPr>
          <a:xfrm>
            <a:off x="274320" y="2651760"/>
            <a:ext cx="64008" cy="16002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18" name="Text 16"/>
          <ns0:cNvSpPr/>
          <ns0:nvPr/>
        </ns0:nvSpPr>
        <ns0:spPr>
          <a:xfrm>
            <a:off x="438912" y="2761488"/>
            <a:ext cx="3950208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Conciencia del Problema</a:t>
            </a:r>
            <a:endParaRPr lang="en-US" sz="1300" dirty="0"/>
          </a:p>
        </ns0:txBody>
      </ns0:sp>
      <ns0:sp>
        <ns0:nvSpPr>
          <ns0:cNvPr id="19" name="Text 17"/>
          <ns0:cNvSpPr/>
          <ns0:nvPr/>
        </ns0:nvSpPr>
        <ns0:spPr>
          <a:xfrm>
            <a:off x="438912" y="3108960"/>
            <a:ext cx="3950208" cy="10332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 mayoría de los propietarios en este código postal ven sus facturas subir 4–6% cada año."</a:t>
            </a:r>
            <a:endParaRPr lang="en-US" sz="1200" dirty="0"/>
          </a:p>
        </ns0:txBody>
      </ns0:sp>
      <ns0:sp>
        <ns0:nvSpPr>
          <ns0:cNvPr id="20" name="Shape 18"/>
          <ns0:cNvSpPr/>
          <ns0:nvPr/>
        </ns0:nvSpPr>
        <ns0:spPr>
          <a:xfrm>
            <a:off x="4663440" y="2651760"/>
            <a:ext cx="4206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ns0:spPr>
      </ns0:sp>
      <ns0:sp>
        <ns0:nvSpPr>
          <ns0:cNvPr id="21" name="Shape 19"/>
          <ns0:cNvSpPr/>
          <ns0:nvPr/>
        </ns0:nvSpPr>
        <ns0:spPr>
          <a:xfrm>
            <a:off x="4663440" y="2651760"/>
            <a:ext cx="64008" cy="1600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ns0:spPr>
      </ns0:sp>
      <ns0:sp>
        <ns0:nvSpPr>
          <ns0:cNvPr id="22" name="Text 20"/>
          <ns0:cNvSpPr/>
          <ns0:nvPr/>
        </ns0:nvSpPr>
        <ns0:spPr>
          <a:xfrm>
            <a:off x="4828032" y="2761488"/>
            <a:ext cx="3950208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Paso (Cierre Binario)</a:t>
            </a:r>
            <a:endParaRPr lang="en-US" sz="1300" dirty="0"/>
          </a:p>
        </ns0:txBody>
      </ns0:sp>
      <ns0:sp>
        <ns0:nvSpPr>
          <ns0:cNvPr id="23" name="Text 21"/>
          <ns0:cNvSpPr/>
          <ns0:nvPr/>
        </ns0:nvSpPr>
        <ns0:spPr>
          <a:xfrm>
            <a:off x="4828032" y="3108960"/>
            <a:ext cx="3950208" cy="10332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"Tengo el jueves a las 6pm o el sábado por la mañana — ¿cuál le funciona mejor?"</a:t>
            </a:r>
            <a:endParaRPr lang="en-US" sz="1200" dirty="0"/>
          </a:p>
        </ns0:txBody>
      </ns0:sp>
      <ns0:sp>
        <ns0:nvSpPr>
          <ns0:cNvPr id="24" name="Shape 22"/>
          <ns0:cNvSpPr/>
          <ns0:nvPr/>
        </ns0:nvSpPr>
        <ns0:spPr>
          <a:xfrm>
            <a:off x="274320" y="4160520"/>
            <a:ext cx="8595360" cy="685800"/>
          </a:xfrm>
          <a:prstGeom prst="rect">
            <a:avLst/>
          </a:prstGeom>
          <a:solidFill>
            <a:srgbClr val="FFF3CD"/>
          </a:solidFill>
          <a:ln w="12700">
            <a:solidFill>
              <a:srgbClr val="F5C842"/>
            </a:solidFill>
            <a:prstDash val="solid"/>
          </a:ln>
        </ns0:spPr>
      </ns0:sp>
      <ns0:sp>
        <ns0:nvSpPr>
          <ns0:cNvPr id="25" name="Text 23"/>
          <ns0:cNvSpPr/>
          <ns0:nvPr/>
        </ns0:nvSpPr>
        <ns0:spPr>
          <a:xfrm>
            <a:off x="411480" y="4187952"/>
            <a:ext cx="8321040" cy="5943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TRAINER: </a:t>
            </a:r>
            <a:pPr indent="0" marL="0">
              <a:buNone/>
            </a:pPr>
            <a:r>
              <a:rPr lang="en-US" sz="1100" i="1" dirty="0">
                <a:solidFill>
                  <a:srgbClr val="5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cierre binario elimina la dinámica 'sí/no'. Asume el movimiento hacia adelante y crea micro-compromiso.</a:t>
            </a:r>
            <a:endParaRPr lang="en-US" sz="1100" dirty="0"/>
          </a:p>
        </ns0:txBody>
      </ns0:sp>
    </ns0:spTree>
  </ns0:cSld>
  <ns0:clrMapOvr>
    <a:masterClrMapping/>
  </ns0:clrMapOvr>
</ns0:sld>
</file>

<file path=ppt/slides/slide24.xml><?xml version="1.0" encoding="utf-8"?>
<ns0:sld xmlns:a="http://schemas.openxmlformats.org/drawingml/2006/main" xmlns:ns0="http://schemas.openxmlformats.org/presentationml/2006/main">
  <ns0:cSld name="Slide 24"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274320" y="0"/>
            <a:ext cx="777240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1: La Interrupción de Patrón</a:t>
            </a:r>
            <a:endParaRPr lang="en-US" sz="2000" dirty="0"/>
          </a:p>
        </ns0:txBody>
      </ns0:sp>
      <ns0:sp>
        <ns0:nvSpPr>
          <ns0:cNvPr id="4" name="Shape 2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5" name="Text 3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</a:t>
            </a:r>
            <a:endParaRPr lang="en-US" sz="900" dirty="0"/>
          </a:p>
        </ns0:txBody>
      </ns0:sp>
      <ns0:sp>
        <ns0:nvSpPr>
          <ns0:cNvPr id="6" name="Shape 4"/>
          <ns0:cNvSpPr/>
          <ns0:nvPr/>
        </ns0:nvSpPr>
        <ns0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ns0:spPr>
      </ns0:sp>
      <ns0:sp>
        <ns0:nvSpPr>
          <ns0:cNvPr id="7" name="Shape 5"/>
          <ns0:cNvSpPr/>
          <ns0:nvPr/>
        </ns0:nvSpPr>
        <ns0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8" name="Shape 6"/>
          <ns0:cNvSpPr/>
          <ns0:nvPr/>
        </ns0:nvSpPr>
        <ns0:spPr>
          <a:xfrm>
            <a:off x="274320" y="777240"/>
            <a:ext cx="8595360" cy="50292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9" name="Text 7"/>
          <ns0:cNvSpPr/>
          <ns0:nvPr/>
        </ns0:nvSpPr>
        <ns0:spPr>
          <a:xfrm>
            <a:off x="457200" y="777240"/>
            <a:ext cx="8229600" cy="5029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Detener el reflejo de rechazo en piloto automático del propietario.</a:t>
            </a:r>
            <a:endParaRPr lang="en-US" sz="1500" dirty="0"/>
          </a:p>
        </ns0:txBody>
      </ns0:sp>
      <ns0:sp>
        <ns0:nvSpPr>
          <ns0:cNvPr id="10" name="Shape 8"/>
          <ns0:cNvSpPr/>
          <ns0:nvPr/>
        </ns0:nvSpPr>
        <ns0:spPr>
          <a:xfrm>
            <a:off x="274320" y="1463040"/>
            <a:ext cx="4114800" cy="219456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ns0:spPr>
      </ns0:sp>
      <ns0:sp>
        <ns0:nvSpPr>
          <ns0:cNvPr id="11" name="Text 9"/>
          <ns0:cNvSpPr/>
          <ns0:nvPr/>
        </ns0:nvSpPr>
        <ns0:spPr>
          <a:xfrm>
            <a:off x="457200" y="1572768"/>
            <a:ext cx="3749040" cy="3657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Apertura Estándar</a:t>
            </a:r>
            <a:endParaRPr lang="en-US" sz="1400" dirty="0"/>
          </a:p>
        </ns0:txBody>
      </ns0:sp>
      <ns0:sp>
        <ns0:nvSpPr>
          <ns0:cNvPr id="12" name="Text 10"/>
          <ns0:cNvSpPr/>
          <ns0:nvPr/>
        </ns0:nvSpPr>
        <ns0:spPr>
          <a:xfrm>
            <a:off x="457200" y="1993392"/>
            <a:ext cx="374904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"Hola, ¿cómo está hoy?"</a:t>
            </a:r>
            <a:endParaRPr lang="en-US" sz="1600" dirty="0"/>
          </a:p>
        </ns0:txBody>
      </ns0:sp>
      <ns0:sp>
        <ns0:nvSpPr>
          <ns0:cNvPr id="13" name="Text 11"/>
          <ns0:cNvSpPr/>
          <ns0:nvPr/>
        </ns0:nvSpPr>
        <ns0:spPr>
          <a:xfrm>
            <a:off x="457200" y="2514600"/>
            <a:ext cx="3749040" cy="9144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propietario piensa: Vendedor. El cerebro entra en modo 'deshacerse de esta persona' antes de que termine la oración.</a:t>
            </a:r>
            <a:endParaRPr lang="en-US" sz="1200" dirty="0"/>
          </a:p>
        </ns0:txBody>
      </ns0:sp>
      <ns0:sp>
        <ns0:nvSpPr>
          <ns0:cNvPr id="14" name="Shape 12"/>
          <ns0:cNvSpPr/>
          <ns0:nvPr/>
        </ns0:nvSpPr>
        <ns0:spPr>
          <a:xfrm>
            <a:off x="4754880" y="1463040"/>
            <a:ext cx="4114800" cy="2194560"/>
          </a:xfrm>
          <a:prstGeom prst="rect">
            <a:avLst/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ns0:spPr>
      </ns0:sp>
      <ns0:sp>
        <ns0:nvSpPr>
          <ns0:cNvPr id="15" name="Text 13"/>
          <ns0:cNvSpPr/>
          <ns0:nvPr/>
        </ns0:nvSpPr>
        <ns0:spPr>
          <a:xfrm>
            <a:off x="4937760" y="1572768"/>
            <a:ext cx="3749040" cy="3657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Interrupción de Patrón</a:t>
            </a:r>
            <a:endParaRPr lang="en-US" sz="1400" dirty="0"/>
          </a:p>
        </ns0:txBody>
      </ns0:sp>
      <ns0:sp>
        <ns0:nvSpPr>
          <ns0:cNvPr id="16" name="Text 14"/>
          <ns0:cNvSpPr/>
          <ns0:nvPr/>
        </ns0:nvSpPr>
        <ns0:spPr>
          <a:xfrm>
            <a:off x="4937760" y="1993392"/>
            <a:ext cx="3749040" cy="5943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"Hola, disculpe la molestia — estaba mirando el techo de su vecino Juan..."</a:t>
            </a:r>
            <a:endParaRPr lang="en-US" sz="1400" dirty="0"/>
          </a:p>
        </ns0:txBody>
      </ns0:sp>
      <ns0:sp>
        <ns0:nvSpPr>
          <ns0:cNvPr id="17" name="Text 15"/>
          <ns0:cNvSpPr/>
          <ns0:nvPr/>
        </ns0:nvSpPr>
        <ns0:spPr>
          <a:xfrm>
            <a:off x="4937760" y="2651760"/>
            <a:ext cx="3749040" cy="8229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 la curiosidad en lugar de la defensa. Pausan el piloto automático y realmente escuchan.</a:t>
            </a:r>
            <a:endParaRPr lang="en-US" sz="1200" dirty="0"/>
          </a:p>
        </ns0:txBody>
      </ns0:sp>
      <ns0:sp>
        <ns0:nvSpPr>
          <ns0:cNvPr id="18" name="Shape 16"/>
          <ns0:cNvSpPr/>
          <ns0:nvPr/>
        </ns0:nvSpPr>
        <ns0:spPr>
          <a:xfrm>
            <a:off x="274320" y="3794760"/>
            <a:ext cx="8595360" cy="10058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ns0:spPr>
      </ns0:sp>
      <ns0:sp>
        <ns0:nvSpPr>
          <ns0:cNvPr id="19" name="Text 17"/>
          <ns0:cNvSpPr/>
          <ns0:nvPr/>
        </ns0:nvSpPr>
        <ns0:spPr>
          <a:xfrm>
            <a:off x="457200" y="3858768"/>
            <a:ext cx="8229600" cy="384048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clave: Lidere con curiosidad, no con un discurso.</a:t>
            </a:r>
            <a:endParaRPr lang="en-US" sz="1600" dirty="0"/>
          </a:p>
        </ns0:txBody>
      </ns0:sp>
      <ns0:sp>
        <ns0:nvSpPr>
          <ns0:cNvPr id="20" name="Text 18"/>
          <ns0:cNvSpPr/>
          <ns0:nvPr/>
        </ns0:nvSpPr>
        <ns0:spPr>
          <a:xfrm>
            <a:off x="457200" y="4224528"/>
            <a:ext cx="8229600" cy="3657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Haga referencia a un vecino, una instalación local, o algo específico de su calle.</a:t>
            </a:r>
            <a:endParaRPr lang="en-US" sz="1300" dirty="0"/>
          </a:p>
        </ns0:txBody>
      </ns0:sp>
      <ns0:sp>
        <ns0:nvSpPr>
          <ns0:cNvPr id="21" name="Shape 19"/>
          <ns0:cNvSpPr/>
          <ns0:nvPr/>
        </ns0:nvSpPr>
        <ns0:spPr>
          <a:xfrm>
            <a:off x="274320" y="4160520"/>
            <a:ext cx="8595360" cy="685800"/>
          </a:xfrm>
          <a:prstGeom prst="rect">
            <a:avLst/>
          </a:prstGeom>
          <a:solidFill>
            <a:srgbClr val="FFF3CD"/>
          </a:solidFill>
          <a:ln w="12700">
            <a:solidFill>
              <a:srgbClr val="F5C842"/>
            </a:solidFill>
            <a:prstDash val="solid"/>
          </a:ln>
        </ns0:spPr>
      </ns0:sp>
      <ns0:sp>
        <ns0:nvSpPr>
          <ns0:cNvPr id="22" name="Text 20"/>
          <ns0:cNvSpPr/>
          <ns0:nvPr/>
        </ns0:nvSpPr>
        <ns0:spPr>
          <a:xfrm>
            <a:off x="411480" y="4187952"/>
            <a:ext cx="8321040" cy="5943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TRAINER: </a:t>
            </a:r>
            <a:pPr indent="0" marL="0">
              <a:buNone/>
            </a:pPr>
            <a:r>
              <a:rPr lang="en-US" sz="1100" i="1" dirty="0">
                <a:solidFill>
                  <a:srgbClr val="5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Haga que los representantes practiquen 3 interrupciones de patrón diferentes en voz alta ahora mismo. La especificidad es lo que lo hace funcionar.</a:t>
            </a:r>
            <a:endParaRPr lang="en-US" sz="1100" dirty="0"/>
          </a:p>
        </ns0:txBody>
      </ns0:sp>
    </ns0:spTree>
  </ns0:cSld>
  <ns0:clrMapOvr>
    <a:masterClrMapping/>
  </ns0:clrMapOvr>
</ns0:sld>
</file>

<file path=ppt/slides/slide25.xml><?xml version="1.0" encoding="utf-8"?>
<ns0:sld xmlns:a="http://schemas.openxmlformats.org/drawingml/2006/main" xmlns:ns0="http://schemas.openxmlformats.org/presentationml/2006/main">
  <ns0:cSld name="Slide 25">
    <ns0:bg>
      <ns0:bgPr>
        <a:solidFill>
          <a:srgbClr val="0D1F3C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164592" cy="51435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457200" y="1097280"/>
            <a:ext cx="82296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2.5</a:t>
            </a:r>
            <a:endParaRPr lang="en-US" sz="1300" dirty="0"/>
          </a:p>
        </ns0:txBody>
      </ns0:sp>
      <ns0:sp>
        <ns0:nvSpPr>
          <ns0:cNvPr id="4" name="Text 2"/>
          <ns0:cNvSpPr/>
          <ns0:nvPr/>
        </ns0:nvSpPr>
        <ns0:spPr>
          <a:xfrm>
            <a:off x="457200" y="1554480"/>
            <a:ext cx="8229600" cy="10972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del Toque de Puerta</a:t>
            </a:r>
            <a:endParaRPr lang="en-US" sz="3800" dirty="0"/>
          </a:p>
        </ns0:txBody>
      </ns0:sp>
      <ns0:sp>
        <ns0:nvSpPr>
          <ns0:cNvPr id="5" name="Text 3"/>
          <ns0:cNvSpPr/>
          <ns0:nvPr/>
        </ns0:nvSpPr>
        <ns0:spPr>
          <a:xfrm>
            <a:off x="457200" y="2697480"/>
            <a:ext cx="82296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Arte de los Primeros 30 Segundos  ·  30 min</a:t>
            </a:r>
            <a:endParaRPr lang="en-US" sz="1600" dirty="0"/>
          </a:p>
        </ns0:txBody>
      </ns0:sp>
    </ns0:spTree>
  </ns0:cSld>
  <ns0:clrMapOvr>
    <a:masterClrMapping/>
  </ns0:clrMapOvr>
</ns0:sld>
</file>

<file path=ppt/slides/slide26.xml><?xml version="1.0" encoding="utf-8"?>
<ns0:sld xmlns:a="http://schemas.openxmlformats.org/drawingml/2006/main" xmlns:ns0="http://schemas.openxmlformats.org/presentationml/2006/main">
  <ns0:cSld name="Slide 26"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274320" y="0"/>
            <a:ext cx="777240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Mentalidad, Preparación y Acercamiento</a:t>
            </a:r>
            <a:endParaRPr lang="en-US" sz="2000" dirty="0"/>
          </a:p>
        </ns0:txBody>
      </ns0:sp>
      <ns0:sp>
        <ns0:nvSpPr>
          <ns0:cNvPr id="4" name="Shape 2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5" name="Text 3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900" dirty="0"/>
          </a:p>
        </ns0:txBody>
      </ns0:sp>
      <ns0:sp>
        <ns0:nvSpPr>
          <ns0:cNvPr id="6" name="Shape 4"/>
          <ns0:cNvSpPr/>
          <ns0:nvPr/>
        </ns0:nvSpPr>
        <ns0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ns0:spPr>
      </ns0:sp>
      <ns0:sp>
        <ns0:nvSpPr>
          <ns0:cNvPr id="7" name="Shape 5"/>
          <ns0:cNvSpPr/>
          <ns0:nvPr/>
        </ns0:nvSpPr>
        <ns0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8" name="Shape 6"/>
          <ns0:cNvSpPr/>
          <ns0:nvPr/>
        </ns0:nvSpPr>
        <ns0:spPr>
          <a:xfrm>
            <a:off x="274320" y="804672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ns0:spPr>
      </ns0:sp>
      <ns0:sp>
        <ns0:nvSpPr>
          <ns0:cNvPr id="9" name="Shape 7"/>
          <ns0:cNvSpPr/>
          <ns0:nvPr/>
        </ns0:nvSpPr>
        <ns0:spPr>
          <a:xfrm>
            <a:off x="274320" y="804672"/>
            <a:ext cx="64008" cy="18288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10" name="Text 8"/>
          <ns0:cNvSpPr/>
          <ns0:nvPr/>
        </ns0:nvSpPr>
        <ns0:spPr>
          <a:xfrm>
            <a:off x="438912" y="914400"/>
            <a:ext cx="3950208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Mentalidad Correcta</a:t>
            </a:r>
            <a:endParaRPr lang="en-US" sz="1300" dirty="0"/>
          </a:p>
        </ns0:txBody>
      </ns0:sp>
      <ns0:sp>
        <ns0:nvSpPr>
          <ns0:cNvPr id="11" name="Text 9"/>
          <ns0:cNvSpPr/>
          <ns0:nvPr/>
        </ns0:nvSpPr>
        <ns0:spPr>
          <a:xfrm>
            <a:off x="438912" y="1261872"/>
            <a:ext cx="3950208" cy="12618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Espere el rechazo como lo predeterminado.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Celebre las conversaciones — no solo las citas.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puerta es una oportunidad de $78.</a:t>
            </a:r>
            <a:endParaRPr lang="en-US" sz="1200" dirty="0"/>
          </a:p>
        </ns0:txBody>
      </ns0:sp>
      <ns0:sp>
        <ns0:nvSpPr>
          <ns0:cNvPr id="12" name="Shape 10"/>
          <ns0:cNvSpPr/>
          <ns0:nvPr/>
        </ns0:nvSpPr>
        <ns0:spPr>
          <a:xfrm>
            <a:off x="4663440" y="804672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ns0:spPr>
      </ns0:sp>
      <ns0:sp>
        <ns0:nvSpPr>
          <ns0:cNvPr id="13" name="Shape 11"/>
          <ns0:cNvSpPr/>
          <ns0:nvPr/>
        </ns0:nvSpPr>
        <ns0:spPr>
          <a:xfrm>
            <a:off x="4663440" y="804672"/>
            <a:ext cx="64008" cy="1828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ns0:spPr>
      </ns0:sp>
      <ns0:sp>
        <ns0:nvSpPr>
          <ns0:cNvPr id="14" name="Text 12"/>
          <ns0:cNvSpPr/>
          <ns0:nvPr/>
        </ns0:nvSpPr>
        <ns0:spPr>
          <a:xfrm>
            <a:off x="4828032" y="914400"/>
            <a:ext cx="3950208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Pre-Toque</a:t>
            </a:r>
            <a:endParaRPr lang="en-US" sz="1300" dirty="0"/>
          </a:p>
        </ns0:txBody>
      </ns0:sp>
      <ns0:sp>
        <ns0:nvSpPr>
          <ns0:cNvPr id="15" name="Text 13"/>
          <ns0:cNvSpPr/>
          <ns0:nvPr/>
        </ns0:nvSpPr>
        <ns0:spPr>
          <a:xfrm>
            <a:off x="4828032" y="1261872"/>
            <a:ext cx="3950208" cy="12618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Apariencia limpia y profesional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Insignia o identificador visible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Materiales listos (tableta o impresos)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Energía positiva — sonría genuinamente</a:t>
            </a:r>
            <a:endParaRPr lang="en-US" sz="1200" dirty="0"/>
          </a:p>
        </ns0:txBody>
      </ns0:sp>
      <ns0:sp>
        <ns0:nvSpPr>
          <ns0:cNvPr id="16" name="Shape 14"/>
          <ns0:cNvSpPr/>
          <ns0:nvPr/>
        </ns0:nvSpPr>
        <ns0:spPr>
          <a:xfrm>
            <a:off x="274320" y="2788920"/>
            <a:ext cx="8595360" cy="4114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ns0:spPr>
      </ns0:sp>
      <ns0:sp>
        <ns0:nvSpPr>
          <ns0:cNvPr id="17" name="Text 15"/>
          <ns0:cNvSpPr/>
          <ns0:nvPr/>
        </ns0:nvSpPr>
        <ns0:spPr>
          <a:xfrm>
            <a:off x="457200" y="2816352"/>
            <a:ext cx="822960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Acercamiento</a:t>
            </a:r>
            <a:endParaRPr lang="en-US" sz="1500" dirty="0"/>
          </a:p>
        </ns0:txBody>
      </ns0:sp>
      <ns0:sp>
        <ns0:nvSpPr>
          <ns0:cNvPr id="18" name="Text 16"/>
          <ns0:cNvSpPr/>
          <ns0:nvPr/>
        </ns0:nvSpPr>
        <ns0:spPr>
          <a:xfrm>
            <a:off x="457200" y="3246120"/>
            <a:ext cx="8229600" cy="15087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Párece a 6 pies — déle espacio al propietario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Sonría ANTES de que se abra la puerta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Mantenga las manos visibles — abiertas y relajadas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 visual sin mirar fijamente</a:t>
            </a:r>
            <a:endParaRPr lang="en-US" sz="1400" dirty="0"/>
          </a:p>
        </ns0:txBody>
      </ns0:sp>
    </ns0:spTree>
  </ns0:cSld>
  <ns0:clrMapOvr>
    <a:masterClrMapping/>
  </ns0:clrMapOvr>
</ns0:sld>
</file>

<file path=ppt/slides/slide27.xml><?xml version="1.0" encoding="utf-8"?>
<ns0:sld xmlns:a="http://schemas.openxmlformats.org/drawingml/2006/main" xmlns:ns0="http://schemas.openxmlformats.org/presentationml/2006/main">
  <ns0:cSld name="Slide 27"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274320" y="0"/>
            <a:ext cx="777240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Discurso de 30 Segundos</a:t>
            </a:r>
            <a:endParaRPr lang="en-US" sz="2000" dirty="0"/>
          </a:p>
        </ns0:txBody>
      </ns0:sp>
      <ns0:sp>
        <ns0:nvSpPr>
          <ns0:cNvPr id="4" name="Shape 2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5" name="Text 3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900" dirty="0"/>
          </a:p>
        </ns0:txBody>
      </ns0:sp>
      <ns0:sp>
        <ns0:nvSpPr>
          <ns0:cNvPr id="6" name="Shape 4"/>
          <ns0:cNvSpPr/>
          <ns0:nvPr/>
        </ns0:nvSpPr>
        <ns0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ns0:spPr>
      </ns0:sp>
      <ns0:sp>
        <ns0:nvSpPr>
          <ns0:cNvPr id="7" name="Shape 5"/>
          <ns0:cNvSpPr/>
          <ns0:nvPr/>
        </ns0:nvSpPr>
        <ns0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8" name="Shape 6"/>
          <ns0:cNvSpPr/>
          <ns0:nvPr/>
        </ns0:nvSpPr>
        <ns0:spPr>
          <a:xfrm>
            <a:off x="274320" y="914400"/>
            <a:ext cx="566928" cy="566928"/>
          </a:xfrm>
          <a:prstGeom prst="ellipse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9" name="Text 7"/>
          <ns0:cNvSpPr/>
          <ns0:nvPr/>
        </ns0:nvSpPr>
        <ns0:spPr>
          <a:xfrm>
            <a:off x="274320" y="914400"/>
            <a:ext cx="566928" cy="566928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ns0:txBody>
      </ns0:sp>
      <ns0:sp>
        <ns0:nvSpPr>
          <ns0:cNvPr id="10" name="Text 8"/>
          <ns0:cNvSpPr/>
          <ns0:nvPr/>
        </ns0:nvSpPr>
        <ns0:spPr>
          <a:xfrm>
            <a:off x="1005840" y="850392"/>
            <a:ext cx="228600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300" dirty="0"/>
          </a:p>
        </ns0:txBody>
      </ns0:sp>
      <ns0:sp>
        <ns0:nvSpPr>
          <ns0:cNvPr id="11" name="Text 9"/>
          <ns0:cNvSpPr/>
          <ns0:nvPr/>
        </ns0:nvSpPr>
        <ns0:spPr>
          <a:xfrm>
            <a:off x="1005840" y="1188720"/>
            <a:ext cx="786384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"Hola, soy [Nombre] — trabajo con un equipo ayudando a propietarios en esta área."</a:t>
            </a:r>
            <a:endParaRPr lang="en-US" sz="1200" dirty="0"/>
          </a:p>
        </ns0:txBody>
      </ns0:sp>
      <ns0:sp>
        <ns0:nvSpPr>
          <ns0:cNvPr id="12" name="Shape 10"/>
          <ns0:cNvSpPr/>
          <ns0:nvPr/>
        </ns0:nvSpPr>
        <ns0:spPr>
          <a:xfrm>
            <a:off x="557784" y="1517904"/>
            <a:ext cx="0" cy="201168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ns0:spPr>
      </ns0:sp>
      <ns0:sp>
        <ns0:nvSpPr>
          <ns0:cNvPr id="13" name="Shape 11"/>
          <ns0:cNvSpPr/>
          <ns0:nvPr/>
        </ns0:nvSpPr>
        <ns0:spPr>
          <a:xfrm>
            <a:off x="274320" y="1773936"/>
            <a:ext cx="566928" cy="566928"/>
          </a:xfrm>
          <a:prstGeom prst="ellipse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14" name="Text 12"/>
          <ns0:cNvSpPr/>
          <ns0:nvPr/>
        </ns0:nvSpPr>
        <ns0:spPr>
          <a:xfrm>
            <a:off x="274320" y="1773936"/>
            <a:ext cx="566928" cy="566928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ns0:txBody>
      </ns0:sp>
      <ns0:sp>
        <ns0:nvSpPr>
          <ns0:cNvPr id="15" name="Text 13"/>
          <ns0:cNvSpPr/>
          <ns0:nvPr/>
        </ns0:nvSpPr>
        <ns0:spPr>
          <a:xfrm>
            <a:off x="1005840" y="1709928"/>
            <a:ext cx="228600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de Vecino</a:t>
            </a:r>
            <a:endParaRPr lang="en-US" sz="1300" dirty="0"/>
          </a:p>
        </ns0:txBody>
      </ns0:sp>
      <ns0:sp>
        <ns0:nvSpPr>
          <ns0:cNvPr id="16" name="Text 14"/>
          <ns0:cNvSpPr/>
          <ns0:nvPr/>
        </ns0:nvSpPr>
        <ns0:spPr>
          <a:xfrm>
            <a:off x="1005840" y="2048256"/>
            <a:ext cx="786384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 vecino en Oak acaba de instalar solar y quería que notificáramos a los hogares cercanos."</a:t>
            </a:r>
            <a:endParaRPr lang="en-US" sz="1200" dirty="0"/>
          </a:p>
        </ns0:txBody>
      </ns0:sp>
      <ns0:sp>
        <ns0:nvSpPr>
          <ns0:cNvPr id="17" name="Shape 15"/>
          <ns0:cNvSpPr/>
          <ns0:nvPr/>
        </ns0:nvSpPr>
        <ns0:spPr>
          <a:xfrm>
            <a:off x="557784" y="2377440"/>
            <a:ext cx="0" cy="201168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ns0:spPr>
      </ns0:sp>
      <ns0:sp>
        <ns0:nvSpPr>
          <ns0:cNvPr id="18" name="Shape 16"/>
          <ns0:cNvSpPr/>
          <ns0:nvPr/>
        </ns0:nvSpPr>
        <ns0:spPr>
          <a:xfrm>
            <a:off x="274320" y="2633472"/>
            <a:ext cx="566928" cy="566928"/>
          </a:xfrm>
          <a:prstGeom prst="ellipse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19" name="Text 17"/>
          <ns0:cNvSpPr/>
          <ns0:nvPr/>
        </ns0:nvSpPr>
        <ns0:spPr>
          <a:xfrm>
            <a:off x="274320" y="2633472"/>
            <a:ext cx="566928" cy="566928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ns0:txBody>
      </ns0:sp>
      <ns0:sp>
        <ns0:nvSpPr>
          <ns0:cNvPr id="20" name="Text 18"/>
          <ns0:cNvSpPr/>
          <ns0:nvPr/>
        </ns0:nvSpPr>
        <ns0:spPr>
          <a:xfrm>
            <a:off x="1005840" y="2569464"/>
            <a:ext cx="228600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Conciencia del Problema</a:t>
            </a:r>
            <a:endParaRPr lang="en-US" sz="1300" dirty="0"/>
          </a:p>
        </ns0:txBody>
      </ns0:sp>
      <ns0:sp>
        <ns0:nvSpPr>
          <ns0:cNvPr id="21" name="Text 19"/>
          <ns0:cNvSpPr/>
          <ns0:nvPr/>
        </ns0:nvSpPr>
        <ns0:spPr>
          <a:xfrm>
            <a:off x="1005840" y="2907792"/>
            <a:ext cx="786384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 mayoría de las personas aquí ven sus facturas eléctricas subir cada año."</a:t>
            </a:r>
            <a:endParaRPr lang="en-US" sz="1200" dirty="0"/>
          </a:p>
        </ns0:txBody>
      </ns0:sp>
      <ns0:sp>
        <ns0:nvSpPr>
          <ns0:cNvPr id="22" name="Shape 20"/>
          <ns0:cNvSpPr/>
          <ns0:nvPr/>
        </ns0:nvSpPr>
        <ns0:spPr>
          <a:xfrm>
            <a:off x="557784" y="3236976"/>
            <a:ext cx="0" cy="201168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ns0:spPr>
      </ns0:sp>
      <ns0:sp>
        <ns0:nvSpPr>
          <ns0:cNvPr id="23" name="Shape 21"/>
          <ns0:cNvSpPr/>
          <ns0:nvPr/>
        </ns0:nvSpPr>
        <ns0:spPr>
          <a:xfrm>
            <a:off x="274320" y="3493008"/>
            <a:ext cx="566928" cy="566928"/>
          </a:xfrm>
          <a:prstGeom prst="ellipse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24" name="Text 22"/>
          <ns0:cNvSpPr/>
          <ns0:nvPr/>
        </ns0:nvSpPr>
        <ns0:spPr>
          <a:xfrm>
            <a:off x="274320" y="3493008"/>
            <a:ext cx="566928" cy="566928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ns0:txBody>
      </ns0:sp>
      <ns0:sp>
        <ns0:nvSpPr>
          <ns0:cNvPr id="25" name="Text 23"/>
          <ns0:cNvSpPr/>
          <ns0:nvPr/>
        </ns0:nvSpPr>
        <ns0:spPr>
          <a:xfrm>
            <a:off x="1005840" y="3429000"/>
            <a:ext cx="228600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Invitación</a:t>
            </a:r>
            <a:endParaRPr lang="en-US" sz="1300" dirty="0"/>
          </a:p>
        </ns0:txBody>
      </ns0:sp>
      <ns0:sp>
        <ns0:nvSpPr>
          <ns0:cNvPr id="26" name="Text 24"/>
          <ns0:cNvSpPr/>
          <ns0:nvPr/>
        </ns0:nvSpPr>
        <ns0:spPr>
          <a:xfrm>
            <a:off x="1005840" y="3767328"/>
            <a:ext cx="786384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"¿Valdría 10 minutos ver si su hogar califica?"</a:t>
            </a:r>
            <a:endParaRPr lang="en-US" sz="1200" dirty="0"/>
          </a:p>
        </ns0:txBody>
      </ns0:sp>
      <ns0:sp>
        <ns0:nvSpPr>
          <ns0:cNvPr id="27" name="Shape 25"/>
          <ns0:cNvSpPr/>
          <ns0:nvPr/>
        </ns0:nvSpPr>
        <ns0:spPr>
          <a:xfrm>
            <a:off x="274320" y="4160520"/>
            <a:ext cx="8595360" cy="685800"/>
          </a:xfrm>
          <a:prstGeom prst="rect">
            <a:avLst/>
          </a:prstGeom>
          <a:solidFill>
            <a:srgbClr val="FFF3CD"/>
          </a:solidFill>
          <a:ln w="12700">
            <a:solidFill>
              <a:srgbClr val="F5C842"/>
            </a:solidFill>
            <a:prstDash val="solid"/>
          </a:ln>
        </ns0:spPr>
      </ns0:sp>
      <ns0:sp>
        <ns0:nvSpPr>
          <ns0:cNvPr id="28" name="Text 26"/>
          <ns0:cNvSpPr/>
          <ns0:nvPr/>
        </ns0:nvSpPr>
        <ns0:spPr>
          <a:xfrm>
            <a:off x="411480" y="4187952"/>
            <a:ext cx="8321040" cy="5943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TRAINER: </a:t>
            </a:r>
            <a:pPr indent="0" marL="0">
              <a:buNone/>
            </a:pPr>
            <a:r>
              <a:rPr lang="en-US" sz="1100" i="1" dirty="0">
                <a:solidFill>
                  <a:srgbClr val="5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Cronometrelo. Debe ser en menos de 30 segundos. Los propietarios deciden en 7 segundos si quedarse o cerrar la puerta.</a:t>
            </a:r>
            <a:endParaRPr lang="en-US" sz="1100" dirty="0"/>
          </a:p>
        </ns0:txBody>
      </ns0:sp>
    </ns0:spTree>
  </ns0:cSld>
  <ns0:clrMapOvr>
    <a:masterClrMapping/>
  </ns0:clrMapOvr>
</ns0:sld>
</file>

<file path=ppt/slides/slide28.xml><?xml version="1.0" encoding="utf-8"?>
<ns0:sld xmlns:a="http://schemas.openxmlformats.org/drawingml/2006/main" xmlns:ns0="http://schemas.openxmlformats.org/presentationml/2006/main">
  <ns0:cSld name="Slide 28"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274320" y="0"/>
            <a:ext cx="777240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de Juego de Roles y Entregable</a:t>
            </a:r>
            <a:endParaRPr lang="en-US" sz="2000" dirty="0"/>
          </a:p>
        </ns0:txBody>
      </ns0:sp>
      <ns0:sp>
        <ns0:nvSpPr>
          <ns0:cNvPr id="4" name="Shape 2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5" name="Text 3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900" dirty="0"/>
          </a:p>
        </ns0:txBody>
      </ns0:sp>
      <ns0:sp>
        <ns0:nvSpPr>
          <ns0:cNvPr id="6" name="Shape 4"/>
          <ns0:cNvSpPr/>
          <ns0:nvPr/>
        </ns0:nvSpPr>
        <ns0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ns0:spPr>
      </ns0:sp>
      <ns0:sp>
        <ns0:nvSpPr>
          <ns0:cNvPr id="7" name="Shape 5"/>
          <ns0:cNvSpPr/>
          <ns0:nvPr/>
        </ns0:nvSpPr>
        <ns0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8" name="Shape 6"/>
          <ns0:cNvSpPr/>
          <ns0:nvPr/>
        </ns0:nvSpPr>
        <ns0:spPr>
          <a:xfrm>
            <a:off x="274320" y="804672"/>
            <a:ext cx="8595360" cy="2286000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  <a:prstDash val="solid"/>
          </a:ln>
        </ns0:spPr>
      </ns0:sp>
      <ns0:sp>
        <ns0:nvSpPr>
          <ns0:cNvPr id="9" name="Text 7"/>
          <ns0:cNvSpPr/>
          <ns0:nvPr/>
        </ns0:nvSpPr>
        <ns0:spPr>
          <a:xfrm>
            <a:off x="457200" y="914400"/>
            <a:ext cx="804672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 PRÁCTICA EN PAREJAS: 5 Rondas Cada Uno</a:t>
            </a:r>
            <a:endParaRPr lang="en-US" sz="1600" dirty="0"/>
          </a:p>
        </ns0:txBody>
      </ns0:sp>
      <ns0:sp>
        <ns0:nvSpPr>
          <ns0:cNvPr id="10" name="Text 8"/>
          <ns0:cNvSpPr/>
          <ns0:nvPr/>
        </ns0:nvSpPr>
        <ns0:spPr>
          <a:xfrm>
            <a:off x="548640" y="1371600"/>
            <a:ext cx="7863840" cy="16459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representante toca, otro juega como propietario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propietario comienza neutral, luego escala la resistencia en las rondas 3–5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entrenador observa y señala la energía, el contacto visual y el momento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Cambie después de 5 rondas</a:t>
            </a:r>
            <a:endParaRPr lang="en-US" sz="1300" dirty="0"/>
          </a:p>
        </ns0:txBody>
      </ns0:sp>
      <ns0:sp>
        <ns0:nvSpPr>
          <ns0:cNvPr id="11" name="Shape 9"/>
          <ns0:cNvSpPr/>
          <ns0:nvPr/>
        </ns0:nvSpPr>
        <ns0:spPr>
          <a:xfrm>
            <a:off x="274320" y="3246120"/>
            <a:ext cx="8595360" cy="15544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ns0:spPr>
      </ns0:sp>
      <ns0:sp>
        <ns0:nvSpPr>
          <ns0:cNvPr id="12" name="Text 10"/>
          <ns0:cNvSpPr/>
          <ns0:nvPr/>
        </ns0:nvSpPr>
        <ns0:spPr>
          <a:xfrm>
            <a:off x="502920" y="3383280"/>
            <a:ext cx="8046720" cy="384048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📹  ENTREGABLE: Grabe Su Discurso</a:t>
            </a:r>
            <a:endParaRPr lang="en-US" sz="1500" dirty="0"/>
          </a:p>
        </ns0:txBody>
      </ns0:sp>
      <ns0:sp>
        <ns0:nvSpPr>
          <ns0:cNvPr id="13" name="Text 11"/>
          <ns0:cNvSpPr/>
          <ns0:nvPr/>
        </ns0:nvSpPr>
        <ns0:spPr>
          <a:xfrm>
            <a:off x="594360" y="3794760"/>
            <a:ext cx="8046720" cy="8686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Grabe un discurso de puerta de 30 segundos en su teléfono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Entregue a su entrenador para retroalimentación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Criterios: Energía, estructura, velocidad, cierre de cita</a:t>
            </a:r>
            <a:endParaRPr lang="en-US" sz="1300" dirty="0"/>
          </a:p>
        </ns0:txBody>
      </ns0:sp>
    </ns0:spTree>
  </ns0:cSld>
  <ns0:clrMapOvr>
    <a:masterClrMapping/>
  </ns0:clrMapOvr>
</ns0:sld>
</file>

<file path=ppt/slides/slide29.xml><?xml version="1.0" encoding="utf-8"?>
<ns0:sld xmlns:a="http://schemas.openxmlformats.org/drawingml/2006/main" xmlns:ns0="http://schemas.openxmlformats.org/presentationml/2006/main">
  <ns0:cSld name="Slide 29">
    <ns0:bg>
      <ns0:bgPr>
        <a:solidFill>
          <a:srgbClr val="0D1F3C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164592" cy="51435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457200" y="1097280"/>
            <a:ext cx="82296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2.6</a:t>
            </a:r>
            <a:endParaRPr lang="en-US" sz="1300" dirty="0"/>
          </a:p>
        </ns0:txBody>
      </ns0:sp>
      <ns0:sp>
        <ns0:nvSpPr>
          <ns0:cNvPr id="4" name="Text 2"/>
          <ns0:cNvSpPr/>
          <ns0:nvPr/>
        </ns0:nvSpPr>
        <ns0:spPr>
          <a:xfrm>
            <a:off x="457200" y="1554480"/>
            <a:ext cx="8229600" cy="10972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Micro Objeciones</a:t>
            </a:r>
            <a:endParaRPr lang="en-US" sz="3800" dirty="0"/>
          </a:p>
        </ns0:txBody>
      </ns0:sp>
      <ns0:sp>
        <ns0:nvSpPr>
          <ns0:cNvPr id="5" name="Text 3"/>
          <ns0:cNvSpPr/>
          <ns0:nvPr/>
        </ns0:nvSpPr>
        <ns0:spPr>
          <a:xfrm>
            <a:off x="457200" y="2697480"/>
            <a:ext cx="82296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que la Puerta se Cierre  ·  30 min</a:t>
            </a:r>
            <a:endParaRPr lang="en-US" sz="1600" dirty="0"/>
          </a:p>
        </ns0:txBody>
      </ns0:sp>
    </ns0:spTree>
  </ns0:cSld>
  <ns0:clrMapOvr>
    <a:masterClrMapping/>
  </ns0:clrMapOvr>
</ns0:sld>
</file>

<file path=ppt/slides/slide30.xml><?xml version="1.0" encoding="utf-8"?>
<ns0:sld xmlns:a="http://schemas.openxmlformats.org/drawingml/2006/main" xmlns:ns0="http://schemas.openxmlformats.org/presentationml/2006/main">
  <ns0:cSld name="Slide 30"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274320" y="0"/>
            <a:ext cx="777240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de Oro de las Objeciones</a:t>
            </a:r>
            <a:endParaRPr lang="en-US" sz="2000" dirty="0"/>
          </a:p>
        </ns0:txBody>
      </ns0:sp>
      <ns0:sp>
        <ns0:nvSpPr>
          <ns0:cNvPr id="4" name="Shape 2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5" name="Text 3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</a:t>
            </a:r>
            <a:endParaRPr lang="en-US" sz="900" dirty="0"/>
          </a:p>
        </ns0:txBody>
      </ns0:sp>
      <ns0:sp>
        <ns0:nvSpPr>
          <ns0:cNvPr id="6" name="Shape 4"/>
          <ns0:cNvSpPr/>
          <ns0:nvPr/>
        </ns0:nvSpPr>
        <ns0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ns0:spPr>
      </ns0:sp>
      <ns0:sp>
        <ns0:nvSpPr>
          <ns0:cNvPr id="7" name="Shape 5"/>
          <ns0:cNvSpPr/>
          <ns0:nvPr/>
        </ns0:nvSpPr>
        <ns0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8" name="Shape 6"/>
          <ns0:cNvSpPr/>
          <ns0:nvPr/>
        </ns0:nvSpPr>
        <ns0:spPr>
          <a:xfrm>
            <a:off x="274320" y="777240"/>
            <a:ext cx="8595360" cy="118872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9" name="Text 7"/>
          <ns0:cNvSpPr/>
          <ns0:nvPr/>
        </ns0:nvSpPr>
        <ns0:spPr>
          <a:xfrm>
            <a:off x="457200" y="822960"/>
            <a:ext cx="4114800" cy="5943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Discuta.</a:t>
            </a:r>
            <a:endParaRPr lang="en-US" sz="3800" dirty="0"/>
          </a:p>
        </ns0:txBody>
      </ns0:sp>
      <ns0:sp>
        <ns0:nvSpPr>
          <ns0:cNvPr id="10" name="Text 8"/>
          <ns0:cNvSpPr/>
          <ns0:nvPr/>
        </ns0:nvSpPr>
        <ns0:spPr>
          <a:xfrm>
            <a:off x="4572000" y="822960"/>
            <a:ext cx="4114800" cy="5943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Curioso.</a:t>
            </a:r>
            <a:endParaRPr lang="en-US" sz="3800" dirty="0"/>
          </a:p>
        </ns0:txBody>
      </ns0:sp>
      <ns0:sp>
        <ns0:nvSpPr>
          <ns0:cNvPr id="11" name="Text 9"/>
          <ns0:cNvSpPr/>
          <ns0:nvPr/>
        </ns0:nvSpPr>
        <ns0:spPr>
          <a:xfrm>
            <a:off x="457200" y="1399032"/>
            <a:ext cx="804672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resistencia es una solicitud de más información — no un no definitivo.</a:t>
            </a:r>
            <a:endParaRPr lang="en-US" sz="1300" dirty="0"/>
          </a:p>
        </ns0:txBody>
      </ns0:sp>
      <ns0:sp>
        <ns0:nvSpPr>
          <ns0:cNvPr id="12" name="Shape 10"/>
          <ns0:cNvSpPr/>
          <ns0:nvPr/>
        </ns0:nvSpPr>
        <ns0:spPr>
          <a:xfrm>
            <a:off x="274320" y="2121408"/>
            <a:ext cx="8595360" cy="420624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ns0:spPr>
      </ns0:sp>
      <ns0:sp>
        <ns0:nvSpPr>
          <ns0:cNvPr id="13" name="Text 11"/>
          <ns0:cNvSpPr/>
          <ns0:nvPr/>
        </ns0:nvSpPr>
        <ns0:spPr>
          <a:xfrm>
            <a:off x="457200" y="2121408"/>
            <a:ext cx="8229600" cy="420624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Fórmula:  ACEPTAR  →  DISTRAER  →  PREGUNTAR</a:t>
            </a:r>
            <a:endParaRPr lang="en-US" sz="1400" dirty="0"/>
          </a:p>
        </ns0:txBody>
      </ns0:sp>
      <ns0:sp>
        <ns0:nvSpPr>
          <ns0:cNvPr id="14" name="Text 12"/>
          <ns0:cNvSpPr/>
          <ns0:nvPr/>
        </ns0:nvSpPr>
        <ns0:spPr>
          <a:xfrm>
            <a:off x="457200" y="2633472"/>
            <a:ext cx="8229600" cy="43891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"Tiene sentido — la mayoría de las personas se sienten así hasta que ven los datos. Pregunta rápida..."</a:t>
            </a:r>
            <a:endParaRPr lang="en-US" sz="1300" dirty="0"/>
          </a:p>
        </ns0:txBody>
      </ns0:sp>
      <ns0:sp>
        <ns0:nvSpPr>
          <ns0:cNvPr id="15" name="Text 13"/>
          <ns0:cNvSpPr/>
          <ns0:nvPr/>
        </ns0:nvSpPr>
        <ns0:spPr>
          <a:xfrm>
            <a:off x="365760" y="3154680"/>
            <a:ext cx="4023360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Principios:</a:t>
            </a:r>
            <a:endParaRPr lang="en-US" sz="1200" dirty="0"/>
          </a:p>
        </ns0:txBody>
      </ns0:sp>
      <ns0:sp>
        <ns0:nvSpPr>
          <ns0:cNvPr id="16" name="Text 14"/>
          <ns0:cNvSpPr/>
          <ns0:nvPr/>
        </ns0:nvSpPr>
        <ns0:spPr>
          <a:xfrm>
            <a:off x="365760" y="3438144"/>
            <a:ext cx="4023360" cy="658368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 primero — nunca descarte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Haga UNA pregunta de seguimiento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Redirigir — cerrar para un pequeño próximo paso</a:t>
            </a:r>
            <a:endParaRPr lang="en-US" sz="1200" dirty="0"/>
          </a:p>
        </ns0:txBody>
      </ns0:sp>
      <ns0:sp>
        <ns0:nvSpPr>
          <ns0:cNvPr id="17" name="Shape 15"/>
          <ns0:cNvSpPr/>
          <ns0:nvPr/>
        </ns0:nvSpPr>
        <ns0:spPr>
          <a:xfrm>
            <a:off x="4663440" y="3127248"/>
            <a:ext cx="4206240" cy="1005840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  <a:prstDash val="solid"/>
          </a:ln>
        </ns0:spPr>
      </ns0:sp>
      <ns0:sp>
        <ns0:nvSpPr>
          <ns0:cNvPr id="18" name="Text 16"/>
          <ns0:cNvSpPr/>
          <ns0:nvPr/>
        </ns0:nvSpPr>
        <ns0:spPr>
          <a:xfrm>
            <a:off x="4800600" y="3200400"/>
            <a:ext cx="3840480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la mayoría de los representantes hace mal:</a:t>
            </a:r>
            <a:endParaRPr lang="en-US" sz="1200" dirty="0"/>
          </a:p>
        </ns0:txBody>
      </ns0:sp>
      <ns0:sp>
        <ns0:nvSpPr>
          <ns0:cNvPr id="19" name="Text 17"/>
          <ns0:cNvSpPr/>
          <ns0:nvPr/>
        </ns0:nvSpPr>
        <ns0:spPr>
          <a:xfrm>
            <a:off x="4800600" y="3493008"/>
            <a:ext cx="3840480" cy="5943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Empuje de regreso → ellos empujan más fuerte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Ponerse a la defensiva / aceptar el rechazo</a:t>
            </a:r>
            <a:endParaRPr lang="en-US" sz="1200" dirty="0"/>
          </a:p>
        </ns0:txBody>
      </ns0:sp>
      <ns0:sp>
        <ns0:nvSpPr>
          <ns0:cNvPr id="20" name="Shape 18"/>
          <ns0:cNvSpPr/>
          <ns0:nvPr/>
        </ns0:nvSpPr>
        <ns0:spPr>
          <a:xfrm>
            <a:off x="274320" y="4160520"/>
            <a:ext cx="8595360" cy="685800"/>
          </a:xfrm>
          <a:prstGeom prst="rect">
            <a:avLst/>
          </a:prstGeom>
          <a:solidFill>
            <a:srgbClr val="FFF3CD"/>
          </a:solidFill>
          <a:ln w="12700">
            <a:solidFill>
              <a:srgbClr val="F5C842"/>
            </a:solidFill>
            <a:prstDash val="solid"/>
          </a:ln>
        </ns0:spPr>
      </ns0:sp>
      <ns0:sp>
        <ns0:nvSpPr>
          <ns0:cNvPr id="21" name="Text 19"/>
          <ns0:cNvSpPr/>
          <ns0:nvPr/>
        </ns0:nvSpPr>
        <ns0:spPr>
          <a:xfrm>
            <a:off x="411480" y="4187952"/>
            <a:ext cx="8321040" cy="5943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TRAINER: </a:t>
            </a:r>
            <a:pPr indent="0" marL="0">
              <a:buNone/>
            </a:pPr>
            <a:r>
              <a:rPr lang="en-US" sz="1100" i="1" dirty="0">
                <a:solidFill>
                  <a:srgbClr val="5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empuja, ellos empujan de regreso. Si jala, caen hacia usted. Use su energía — como el Aikido.</a:t>
            </a:r>
            <a:endParaRPr lang="en-US" sz="1100" dirty="0"/>
          </a:p>
        </ns0:txBody>
      </ns0:sp>
    </ns0:spTree>
  </ns0:cSld>
  <ns0:clrMapOvr>
    <a:masterClrMapping/>
  </ns0:clrMapOvr>
</ns0:sld>
</file>

<file path=ppt/slides/slide31.xml><?xml version="1.0" encoding="utf-8"?>
<ns0:sld xmlns:a="http://schemas.openxmlformats.org/drawingml/2006/main" xmlns:ns0="http://schemas.openxmlformats.org/presentationml/2006/main">
  <ns0:cSld name="Slide 31"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274320" y="0"/>
            <a:ext cx="777240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Rechazos: Guiones</a:t>
            </a:r>
            <a:endParaRPr lang="en-US" sz="2000" dirty="0"/>
          </a:p>
        </ns0:txBody>
      </ns0:sp>
      <ns0:sp>
        <ns0:nvSpPr>
          <ns0:cNvPr id="4" name="Shape 2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5" name="Text 3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</a:t>
            </a:r>
            <a:endParaRPr lang="en-US" sz="900" dirty="0"/>
          </a:p>
        </ns0:txBody>
      </ns0:sp>
      <ns0:sp>
        <ns0:nvSpPr>
          <ns0:cNvPr id="6" name="Shape 4"/>
          <ns0:cNvSpPr/>
          <ns0:nvPr/>
        </ns0:nvSpPr>
        <ns0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ns0:spPr>
      </ns0:sp>
      <ns0:sp>
        <ns0:nvSpPr>
          <ns0:cNvPr id="7" name="Shape 5"/>
          <ns0:cNvSpPr/>
          <ns0:nvPr/>
        </ns0:nvSpPr>
        <ns0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8" name="Shape 6"/>
          <ns0:cNvSpPr/>
          <ns0:nvPr/>
        </ns0:nvSpPr>
        <ns0:spPr>
          <a:xfrm>
            <a:off x="274320" y="804672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ns0:spPr>
      </ns0:sp>
      <ns0:sp>
        <ns0:nvSpPr>
          <ns0:cNvPr id="9" name="Shape 7"/>
          <ns0:cNvSpPr/>
          <ns0:nvPr/>
        </ns0:nvSpPr>
        <ns0:spPr>
          <a:xfrm>
            <a:off x="274320" y="804672"/>
            <a:ext cx="4206240" cy="438912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ns0:spPr>
      </ns0:sp>
      <ns0:sp>
        <ns0:nvSpPr>
          <ns0:cNvPr id="10" name="Text 8"/>
          <ns0:cNvSpPr/>
          <ns0:nvPr/>
        </ns0:nvSpPr>
        <ns0:spPr>
          <a:xfrm>
            <a:off x="384048" y="804672"/>
            <a:ext cx="4023360" cy="43891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"No me interesa"</a:t>
            </a:r>
            <a:endParaRPr lang="en-US" sz="1300" dirty="0"/>
          </a:p>
        </ns0:txBody>
      </ns0:sp>
      <ns0:sp>
        <ns0:nvSpPr>
          <ns0:cNvPr id="11" name="Text 9"/>
          <ns0:cNvSpPr/>
          <ns0:nvPr/>
        </ns0:nvSpPr>
        <ns0:spPr>
          <a:xfrm>
            <a:off x="384048" y="1307592"/>
            <a:ext cx="3977640" cy="10972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"Completamente justo. Pregunta rápida — ¿ha investigado sobre solar antes, o simplemente no ha tenido oportunidad?"</a:t>
            </a:r>
            <a:endParaRPr lang="en-US" sz="1200" dirty="0"/>
          </a:p>
        </ns0:txBody>
      </ns0:sp>
      <ns0:sp>
        <ns0:nvSpPr>
          <ns0:cNvPr id="12" name="Shape 10"/>
          <ns0:cNvSpPr/>
          <ns0:nvPr/>
        </ns0:nvSpPr>
        <ns0:spPr>
          <a:xfrm>
            <a:off x="4663440" y="804672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ns0:spPr>
      </ns0:sp>
      <ns0:sp>
        <ns0:nvSpPr>
          <ns0:cNvPr id="13" name="Shape 11"/>
          <ns0:cNvSpPr/>
          <ns0:nvPr/>
        </ns0:nvSpPr>
        <ns0:spPr>
          <a:xfrm>
            <a:off x="4663440" y="804672"/>
            <a:ext cx="4206240" cy="438912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ns0:spPr>
      </ns0:sp>
      <ns0:sp>
        <ns0:nvSpPr>
          <ns0:cNvPr id="14" name="Text 12"/>
          <ns0:cNvSpPr/>
          <ns0:nvPr/>
        </ns0:nvSpPr>
        <ns0:spPr>
          <a:xfrm>
            <a:off x="4773168" y="804672"/>
            <a:ext cx="4023360" cy="43891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"Deje información"</a:t>
            </a:r>
            <a:endParaRPr lang="en-US" sz="1300" dirty="0"/>
          </a:p>
        </ns0:txBody>
      </ns0:sp>
      <ns0:sp>
        <ns0:nvSpPr>
          <ns0:cNvPr id="15" name="Text 13"/>
          <ns0:cNvSpPr/>
          <ns0:nvPr/>
        </ns0:nvSpPr>
        <ns0:spPr>
          <a:xfrm>
            <a:off x="4773168" y="1307592"/>
            <a:ext cx="3977640" cy="10972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"Con gusto — pero los ahorros dependen de su factura y techo específicos. ¿Le importa si hago una pregunta rápida?"</a:t>
            </a:r>
            <a:endParaRPr lang="en-US" sz="1200" dirty="0"/>
          </a:p>
        </ns0:txBody>
      </ns0:sp>
      <ns0:sp>
        <ns0:nvSpPr>
          <ns0:cNvPr id="16" name="Shape 14"/>
          <ns0:cNvSpPr/>
          <ns0:nvPr/>
        </ns0:nvSpPr>
        <ns0:spPr>
          <a:xfrm>
            <a:off x="274320" y="269748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ns0:spPr>
      </ns0:sp>
      <ns0:sp>
        <ns0:nvSpPr>
          <ns0:cNvPr id="17" name="Shape 15"/>
          <ns0:cNvSpPr/>
          <ns0:nvPr/>
        </ns0:nvSpPr>
        <ns0:spPr>
          <a:xfrm>
            <a:off x="274320" y="2697480"/>
            <a:ext cx="4206240" cy="438912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ns0:spPr>
      </ns0:sp>
      <ns0:sp>
        <ns0:nvSpPr>
          <ns0:cNvPr id="18" name="Text 16"/>
          <ns0:cNvSpPr/>
          <ns0:nvPr/>
        </ns0:nvSpPr>
        <ns0:spPr>
          <a:xfrm>
            <a:off x="384048" y="2697480"/>
            <a:ext cx="4023360" cy="43891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"Estoy ocupado"</a:t>
            </a:r>
            <a:endParaRPr lang="en-US" sz="1300" dirty="0"/>
          </a:p>
        </ns0:txBody>
      </ns0:sp>
      <ns0:sp>
        <ns0:nvSpPr>
          <ns0:cNvPr id="19" name="Text 17"/>
          <ns0:cNvSpPr/>
          <ns0:nvPr/>
        </ns0:nvSpPr>
        <ns0:spPr>
          <a:xfrm>
            <a:off x="384048" y="3200400"/>
            <a:ext cx="3977640" cy="10972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"Lo entiendo completamente, en realidad voy de camino a la casa de otro vecino. No estoy aquí para darle un discurso ahora — solo veo si siquiera es elegible para el programa estatal."</a:t>
            </a:r>
            <a:endParaRPr lang="en-US" sz="1200" dirty="0"/>
          </a:p>
        </ns0:txBody>
      </ns0:sp>
      <ns0:sp>
        <ns0:nvSpPr>
          <ns0:cNvPr id="20" name="Shape 18"/>
          <ns0:cNvSpPr/>
          <ns0:nvPr/>
        </ns0:nvSpPr>
        <ns0:spPr>
          <a:xfrm>
            <a:off x="4663440" y="269748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ns0:spPr>
      </ns0:sp>
      <ns0:sp>
        <ns0:nvSpPr>
          <ns0:cNvPr id="21" name="Shape 19"/>
          <ns0:cNvSpPr/>
          <ns0:nvPr/>
        </ns0:nvSpPr>
        <ns0:spPr>
          <a:xfrm>
            <a:off x="4663440" y="2697480"/>
            <a:ext cx="4206240" cy="438912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ns0:spPr>
      </ns0:sp>
      <ns0:sp>
        <ns0:nvSpPr>
          <ns0:cNvPr id="22" name="Text 20"/>
          <ns0:cNvSpPr/>
          <ns0:nvPr/>
        </ns0:nvSpPr>
        <ns0:spPr>
          <a:xfrm>
            <a:off x="4773168" y="2697480"/>
            <a:ext cx="4023360" cy="43891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"Necesito hablar con mi cónyuge"</a:t>
            </a:r>
            <a:endParaRPr lang="en-US" sz="1300" dirty="0"/>
          </a:p>
        </ns0:txBody>
      </ns0:sp>
      <ns0:sp>
        <ns0:nvSpPr>
          <ns0:cNvPr id="23" name="Text 21"/>
          <ns0:cNvSpPr/>
          <ns0:nvPr/>
        </ns0:nvSpPr>
        <ns0:spPr>
          <a:xfrm>
            <a:off x="4773168" y="3200400"/>
            <a:ext cx="3977640" cy="10972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"Eso es inteligente — en realidad prefiero que ambos propietarios estén presentes. ¿Cuándo están ambos en casa?"</a:t>
            </a:r>
            <a:endParaRPr lang="en-US" sz="1200" dirty="0"/>
          </a:p>
        </ns0:txBody>
      </ns0:sp>
      <ns0:sp>
        <ns0:nvSpPr>
          <ns0:cNvPr id="24" name="Shape 22"/>
          <ns0:cNvSpPr/>
          <ns0:nvPr/>
        </ns0:nvSpPr>
        <ns0:spPr>
          <a:xfrm>
            <a:off x="274320" y="4160520"/>
            <a:ext cx="8595360" cy="685800"/>
          </a:xfrm>
          <a:prstGeom prst="rect">
            <a:avLst/>
          </a:prstGeom>
          <a:solidFill>
            <a:srgbClr val="FFF3CD"/>
          </a:solidFill>
          <a:ln w="12700">
            <a:solidFill>
              <a:srgbClr val="F5C842"/>
            </a:solidFill>
            <a:prstDash val="solid"/>
          </a:ln>
        </ns0:spPr>
      </ns0:sp>
      <ns0:sp>
        <ns0:nvSpPr>
          <ns0:cNvPr id="25" name="Text 23"/>
          <ns0:cNvSpPr/>
          <ns0:nvPr/>
        </ns0:nvSpPr>
        <ns0:spPr>
          <a:xfrm>
            <a:off x="411480" y="4187952"/>
            <a:ext cx="8321040" cy="5943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TRAINER: </a:t>
            </a:r>
            <a:pPr indent="0" marL="0">
              <a:buNone/>
            </a:pPr>
            <a:r>
              <a:rPr lang="en-US" sz="1100" i="1" dirty="0">
                <a:solidFill>
                  <a:srgbClr val="5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de Fuego Rápido: El entrenador grita objeciones. Los representantes responden en 3 segundos. La velocidad construye confianza.</a:t>
            </a:r>
            <a:endParaRPr lang="en-US" sz="1100" dirty="0"/>
          </a:p>
        </ns0:txBody>
      </ns0:sp>
    </ns0:spTree>
  </ns0:cSld>
  <ns0:clrMapOvr>
    <a:masterClrMapping/>
  </ns0:clrMapOvr>
</ns0:sld>
</file>

<file path=ppt/slides/slide32.xml><?xml version="1.0" encoding="utf-8"?>
<ns0:sld xmlns:a="http://schemas.openxmlformats.org/drawingml/2006/main" xmlns:ns0="http://schemas.openxmlformats.org/presentationml/2006/main">
  <ns0:cSld name="Slide 32">
    <ns0:bg>
      <ns0:bgPr>
        <a:solidFill>
          <a:srgbClr val="0D1F3C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164592" cy="51435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457200" y="1097280"/>
            <a:ext cx="82296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2.7</a:t>
            </a:r>
            <a:endParaRPr lang="en-US" sz="1300" dirty="0"/>
          </a:p>
        </ns0:txBody>
      </ns0:sp>
      <ns0:sp>
        <ns0:nvSpPr>
          <ns0:cNvPr id="4" name="Text 2"/>
          <ns0:cNvSpPr/>
          <ns0:nvPr/>
        </ns0:nvSpPr>
        <ns0:spPr>
          <a:xfrm>
            <a:off x="457200" y="1554480"/>
            <a:ext cx="8229600" cy="10972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Establecimiento de Citas por Teléfono y Virtual</a:t>
            </a:r>
            <a:endParaRPr lang="en-US" sz="3800" dirty="0"/>
          </a:p>
        </ns0:txBody>
      </ns0:sp>
      <ns0:sp>
        <ns0:nvSpPr>
          <ns0:cNvPr id="5" name="Text 3"/>
          <ns0:cNvSpPr/>
          <ns0:nvPr/>
        </ns0:nvSpPr>
        <ns0:spPr>
          <a:xfrm>
            <a:off x="457200" y="2697480"/>
            <a:ext cx="82296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Velocidad, Tono y Confirmación  ·  25 min</a:t>
            </a:r>
            <a:endParaRPr lang="en-US" sz="1600" dirty="0"/>
          </a:p>
        </ns0:txBody>
      </ns0:sp>
    </ns0:spTree>
  </ns0:cSld>
  <ns0:clrMapOvr>
    <a:masterClrMapping/>
  </ns0:clrMapOvr>
</ns0:sld>
</file>

<file path=ppt/slides/slide33.xml><?xml version="1.0" encoding="utf-8"?>
<ns0:sld xmlns:a="http://schemas.openxmlformats.org/drawingml/2006/main" xmlns:ns0="http://schemas.openxmlformats.org/presentationml/2006/main">
  <ns0:cSld name="Slide 33"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274320" y="0"/>
            <a:ext cx="777240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al Prospecto y Marco Telefónico</a:t>
            </a:r>
            <a:endParaRPr lang="en-US" sz="2000" dirty="0"/>
          </a:p>
        </ns0:txBody>
      </ns0:sp>
      <ns0:sp>
        <ns0:nvSpPr>
          <ns0:cNvPr id="4" name="Shape 2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5" name="Text 3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</a:t>
            </a:r>
            <a:endParaRPr lang="en-US" sz="900" dirty="0"/>
          </a:p>
        </ns0:txBody>
      </ns0:sp>
      <ns0:sp>
        <ns0:nvSpPr>
          <ns0:cNvPr id="6" name="Shape 4"/>
          <ns0:cNvSpPr/>
          <ns0:nvPr/>
        </ns0:nvSpPr>
        <ns0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ns0:spPr>
      </ns0:sp>
      <ns0:sp>
        <ns0:nvSpPr>
          <ns0:cNvPr id="7" name="Shape 5"/>
          <ns0:cNvSpPr/>
          <ns0:nvPr/>
        </ns0:nvSpPr>
        <ns0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8" name="Shape 6"/>
          <ns0:cNvSpPr/>
          <ns0:nvPr/>
        </ns0:nvSpPr>
        <ns0:spPr>
          <a:xfrm>
            <a:off x="274320" y="777240"/>
            <a:ext cx="8595360" cy="73152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9" name="Text 7"/>
          <ns0:cNvSpPr/>
          <ns0:nvPr/>
        </ns0:nvSpPr>
        <ns0:spPr>
          <a:xfrm>
            <a:off x="457200" y="777240"/>
            <a:ext cx="8229600" cy="7315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Contacte dentro de 5 minutos de recibir un prospecto — o piérdalo ante un competidor.</a:t>
            </a:r>
            <a:endParaRPr lang="en-US" sz="1700" dirty="0"/>
          </a:p>
        </ns0:txBody>
      </ns0:sp>
      <ns0:sp>
        <ns0:nvSpPr>
          <ns0:cNvPr id="10" name="Shape 8"/>
          <ns0:cNvSpPr/>
          <ns0:nvPr/>
        </ns0:nvSpPr>
        <ns0:spPr>
          <a:xfrm>
            <a:off x="274320" y="1801368"/>
            <a:ext cx="530352" cy="5303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ns0:spPr>
      </ns0:sp>
      <ns0:sp>
        <ns0:nvSpPr>
          <ns0:cNvPr id="11" name="Text 9"/>
          <ns0:cNvSpPr/>
          <ns0:nvPr/>
        </ns0:nvSpPr>
        <ns0:spPr>
          <a:xfrm>
            <a:off x="274320" y="1801368"/>
            <a:ext cx="530352" cy="53035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ns0:txBody>
      </ns0:sp>
      <ns0:sp>
        <ns0:nvSpPr>
          <ns0:cNvPr id="12" name="Text 10"/>
          <ns0:cNvSpPr/>
          <ns0:nvPr/>
        </ns0:nvSpPr>
        <ns0:spPr>
          <a:xfrm>
            <a:off x="1005840" y="1709928"/>
            <a:ext cx="182880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</a:t>
            </a:r>
            <a:endParaRPr lang="en-US" sz="1300" dirty="0"/>
          </a:p>
        </ns0:txBody>
      </ns0:sp>
      <ns0:sp>
        <ns0:nvSpPr>
          <ns0:cNvPr id="13" name="Text 11"/>
          <ns0:cNvSpPr/>
          <ns0:nvPr/>
        </ns0:nvSpPr>
        <ns0:spPr>
          <a:xfrm>
            <a:off x="1005840" y="2057400"/>
            <a:ext cx="786384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"Hola [Nombre], soy [Su Nombre] de [Empresa]. Una pregunta rápida—"</a:t>
            </a:r>
            <a:endParaRPr lang="en-US" sz="1200" dirty="0"/>
          </a:p>
        </ns0:txBody>
      </ns0:sp>
      <ns0:sp>
        <ns0:nvSpPr>
          <ns0:cNvPr id="14" name="Shape 12"/>
          <ns0:cNvSpPr/>
          <ns0:nvPr/>
        </ns0:nvSpPr>
        <ns0:spPr>
          <a:xfrm>
            <a:off x="274320" y="2697480"/>
            <a:ext cx="530352" cy="5303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ns0:spPr>
      </ns0:sp>
      <ns0:sp>
        <ns0:nvSpPr>
          <ns0:cNvPr id="15" name="Text 13"/>
          <ns0:cNvSpPr/>
          <ns0:nvPr/>
        </ns0:nvSpPr>
        <ns0:spPr>
          <a:xfrm>
            <a:off x="274320" y="2697480"/>
            <a:ext cx="530352" cy="53035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ns0:txBody>
      </ns0:sp>
      <ns0:sp>
        <ns0:nvSpPr>
          <ns0:cNvPr id="16" name="Text 14"/>
          <ns0:cNvSpPr/>
          <ns0:nvPr/>
        </ns0:nvSpPr>
        <ns0:spPr>
          <a:xfrm>
            <a:off x="1005840" y="2606040"/>
            <a:ext cx="182880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Descubrimiento</a:t>
            </a:r>
            <a:endParaRPr lang="en-US" sz="1300" dirty="0"/>
          </a:p>
        </ns0:txBody>
      </ns0:sp>
      <ns0:sp>
        <ns0:nvSpPr>
          <ns0:cNvPr id="17" name="Text 15"/>
          <ns0:cNvSpPr/>
          <ns0:nvPr/>
        </ns0:nvSpPr>
        <ns0:spPr>
          <a:xfrm>
            <a:off x="1005840" y="2953512"/>
            <a:ext cx="786384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"¿Cuál es su factura eléctrica promedio? / ¿Cuánto tiempo lleva en el hogar? / ¿Ha investigado solar antes?"</a:t>
            </a:r>
            <a:endParaRPr lang="en-US" sz="1200" dirty="0"/>
          </a:p>
        </ns0:txBody>
      </ns0:sp>
      <ns0:sp>
        <ns0:nvSpPr>
          <ns0:cNvPr id="18" name="Shape 16"/>
          <ns0:cNvSpPr/>
          <ns0:nvPr/>
        </ns0:nvSpPr>
        <ns0:spPr>
          <a:xfrm>
            <a:off x="274320" y="3593592"/>
            <a:ext cx="530352" cy="5303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ns0:spPr>
      </ns0:sp>
      <ns0:sp>
        <ns0:nvSpPr>
          <ns0:cNvPr id="19" name="Text 17"/>
          <ns0:cNvSpPr/>
          <ns0:nvPr/>
        </ns0:nvSpPr>
        <ns0:spPr>
          <a:xfrm>
            <a:off x="274320" y="3593592"/>
            <a:ext cx="530352" cy="53035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ns0:txBody>
      </ns0:sp>
      <ns0:sp>
        <ns0:nvSpPr>
          <ns0:cNvPr id="20" name="Text 18"/>
          <ns0:cNvSpPr/>
          <ns0:nvPr/>
        </ns0:nvSpPr>
        <ns0:spPr>
          <a:xfrm>
            <a:off x="1005840" y="3502152"/>
            <a:ext cx="182880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Cita</a:t>
            </a:r>
            <a:endParaRPr lang="en-US" sz="1300" dirty="0"/>
          </a:p>
        </ns0:txBody>
      </ns0:sp>
      <ns0:sp>
        <ns0:nvSpPr>
          <ns0:cNvPr id="21" name="Text 19"/>
          <ns0:cNvSpPr/>
          <ns0:nvPr/>
        </ns0:nvSpPr>
        <ns0:spPr>
          <a:xfrm>
            <a:off x="1005840" y="3849624"/>
            <a:ext cx="786384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"Tengo el martes a las 7 o el jueves a las 6. ¿Cuál le funciona mejor?"</a:t>
            </a:r>
            <a:endParaRPr lang="en-US" sz="1200" dirty="0"/>
          </a:p>
        </ns0:txBody>
      </ns0:sp>
      <ns0:sp>
        <ns0:nvSpPr>
          <ns0:cNvPr id="22" name="Shape 20"/>
          <ns0:cNvSpPr/>
          <ns0:nvPr/>
        </ns0:nvSpPr>
        <ns0:spPr>
          <a:xfrm>
            <a:off x="274320" y="4160520"/>
            <a:ext cx="8595360" cy="685800"/>
          </a:xfrm>
          <a:prstGeom prst="rect">
            <a:avLst/>
          </a:prstGeom>
          <a:solidFill>
            <a:srgbClr val="FFF3CD"/>
          </a:solidFill>
          <a:ln w="12700">
            <a:solidFill>
              <a:srgbClr val="F5C842"/>
            </a:solidFill>
            <a:prstDash val="solid"/>
          </a:ln>
        </ns0:spPr>
      </ns0:sp>
      <ns0:sp>
        <ns0:nvSpPr>
          <ns0:cNvPr id="23" name="Text 21"/>
          <ns0:cNvSpPr/>
          <ns0:nvPr/>
        </ns0:nvSpPr>
        <ns0:spPr>
          <a:xfrm>
            <a:off x="411480" y="4187952"/>
            <a:ext cx="8321040" cy="5943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TRAINER: </a:t>
            </a:r>
            <a:pPr indent="0" marL="0">
              <a:buNone/>
            </a:pPr>
            <a:r>
              <a:rPr lang="en-US" sz="1100" i="1" dirty="0">
                <a:solidFill>
                  <a:srgbClr val="5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Sonría mientras habla. El propietario puede escucharlo. Disminuya el ritmo — la urgencia se lee como desesperación.</a:t>
            </a:r>
            <a:endParaRPr lang="en-US" sz="1100" dirty="0"/>
          </a:p>
        </ns0:txBody>
      </ns0:sp>
    </ns0:spTree>
  </ns0:cSld>
  <ns0:clrMapOvr>
    <a:masterClrMapping/>
  </ns0:clrMapOvr>
</ns0:sld>
</file>

<file path=ppt/slides/slide34.xml><?xml version="1.0" encoding="utf-8"?>
<ns0:sld xmlns:a="http://schemas.openxmlformats.org/drawingml/2006/main" xmlns:ns0="http://schemas.openxmlformats.org/presentationml/2006/main">
  <ns0:cSld name="Slide 34"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274320" y="0"/>
            <a:ext cx="777240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Tonalidad y Objeciones Telefónicas</a:t>
            </a:r>
            <a:endParaRPr lang="en-US" sz="2000" dirty="0"/>
          </a:p>
        </ns0:txBody>
      </ns0:sp>
      <ns0:sp>
        <ns0:nvSpPr>
          <ns0:cNvPr id="4" name="Shape 2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5" name="Text 3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</a:t>
            </a:r>
            <a:endParaRPr lang="en-US" sz="900" dirty="0"/>
          </a:p>
        </ns0:txBody>
      </ns0:sp>
      <ns0:sp>
        <ns0:nvSpPr>
          <ns0:cNvPr id="6" name="Shape 4"/>
          <ns0:cNvSpPr/>
          <ns0:nvPr/>
        </ns0:nvSpPr>
        <ns0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ns0:spPr>
      </ns0:sp>
      <ns0:sp>
        <ns0:nvSpPr>
          <ns0:cNvPr id="7" name="Shape 5"/>
          <ns0:cNvSpPr/>
          <ns0:nvPr/>
        </ns0:nvSpPr>
        <ns0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8" name="Shape 6"/>
          <ns0:cNvSpPr/>
          <ns0:nvPr/>
        </ns0:nvSpPr>
        <ns0:spPr>
          <a:xfrm>
            <a:off x="274320" y="804672"/>
            <a:ext cx="4206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ns0:spPr>
      </ns0:sp>
      <ns0:sp>
        <ns0:nvSpPr>
          <ns0:cNvPr id="9" name="Shape 7"/>
          <ns0:cNvSpPr/>
          <ns0:nvPr/>
        </ns0:nvSpPr>
        <ns0:spPr>
          <a:xfrm>
            <a:off x="274320" y="804672"/>
            <a:ext cx="64008" cy="1463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ns0:spPr>
      </ns0:sp>
      <ns0:sp>
        <ns0:nvSpPr>
          <ns0:cNvPr id="10" name="Text 8"/>
          <ns0:cNvSpPr/>
          <ns0:nvPr/>
        </ns0:nvSpPr>
        <ns0:spPr>
          <a:xfrm>
            <a:off x="438912" y="914400"/>
            <a:ext cx="3950208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Sonría Mientras Habla</a:t>
            </a:r>
            <a:endParaRPr lang="en-US" sz="1300" dirty="0"/>
          </a:p>
        </ns0:txBody>
      </ns0:sp>
      <ns0:sp>
        <ns0:nvSpPr>
          <ns0:cNvPr id="11" name="Text 9"/>
          <ns0:cNvSpPr/>
          <ns0:nvPr/>
        </ns0:nvSpPr>
        <ns0:spPr>
          <a:xfrm>
            <a:off x="438912" y="1261872"/>
            <a:ext cx="3950208" cy="89611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propietario escucha su energía. Una sonrisa genuina cambia su tono — pueden sentirlo a través del teléfono.</a:t>
            </a:r>
            <a:endParaRPr lang="en-US" sz="1200" dirty="0"/>
          </a:p>
        </ns0:txBody>
      </ns0:sp>
      <ns0:sp>
        <ns0:nvSpPr>
          <ns0:cNvPr id="12" name="Shape 10"/>
          <ns0:cNvSpPr/>
          <ns0:nvPr/>
        </ns0:nvSpPr>
        <ns0:spPr>
          <a:xfrm>
            <a:off x="4663440" y="804672"/>
            <a:ext cx="4206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ns0:spPr>
      </ns0:sp>
      <ns0:sp>
        <ns0:nvSpPr>
          <ns0:cNvPr id="13" name="Shape 11"/>
          <ns0:cNvSpPr/>
          <ns0:nvPr/>
        </ns0:nvSpPr>
        <ns0:spPr>
          <a:xfrm>
            <a:off x="4663440" y="804672"/>
            <a:ext cx="64008" cy="146304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14" name="Text 12"/>
          <ns0:cNvSpPr/>
          <ns0:nvPr/>
        </ns0:nvSpPr>
        <ns0:spPr>
          <a:xfrm>
            <a:off x="4828032" y="914400"/>
            <a:ext cx="3950208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Disminuya su Ritmo</a:t>
            </a:r>
            <a:endParaRPr lang="en-US" sz="1300" dirty="0"/>
          </a:p>
        </ns0:txBody>
      </ns0:sp>
      <ns0:sp>
        <ns0:nvSpPr>
          <ns0:cNvPr id="15" name="Text 13"/>
          <ns0:cNvSpPr/>
          <ns0:nvPr/>
        </ns0:nvSpPr>
        <ns0:spPr>
          <a:xfrm>
            <a:off x="4828032" y="1261872"/>
            <a:ext cx="3950208" cy="89611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Rápido = nervioso = vendedor. Paso lento y deliberado = confiado = de confianza.</a:t>
            </a:r>
            <a:endParaRPr lang="en-US" sz="1200" dirty="0"/>
          </a:p>
        </ns0:txBody>
      </ns0:sp>
      <ns0:sp>
        <ns0:nvSpPr>
          <ns0:cNvPr id="16" name="Shape 14"/>
          <ns0:cNvSpPr/>
          <ns0:nvPr/>
        </ns0:nvSpPr>
        <ns0:spPr>
          <a:xfrm>
            <a:off x="274320" y="2423160"/>
            <a:ext cx="4206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ns0:spPr>
      </ns0:sp>
      <ns0:sp>
        <ns0:nvSpPr>
          <ns0:cNvPr id="17" name="Shape 15"/>
          <ns0:cNvSpPr/>
          <ns0:nvPr/>
        </ns0:nvSpPr>
        <ns0:spPr>
          <a:xfrm>
            <a:off x="274320" y="2423160"/>
            <a:ext cx="64008" cy="146304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18" name="Text 16"/>
          <ns0:cNvSpPr/>
          <ns0:nvPr/>
        </ns0:nvSpPr>
        <ns0:spPr>
          <a:xfrm>
            <a:off x="438912" y="2532888"/>
            <a:ext cx="3950208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Tono Confiado</a:t>
            </a:r>
            <a:endParaRPr lang="en-US" sz="1300" dirty="0"/>
          </a:p>
        </ns0:txBody>
      </ns0:sp>
      <ns0:sp>
        <ns0:nvSpPr>
          <ns0:cNvPr id="19" name="Text 17"/>
          <ns0:cNvSpPr/>
          <ns0:nvPr/>
        </ns0:nvSpPr>
        <ns0:spPr>
          <a:xfrm>
            <a:off x="438912" y="2880360"/>
            <a:ext cx="3950208" cy="89611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Evite entonación ascendente (preguntas al final de declaraciones). Las declaraciones directas inspiran confianza.</a:t>
            </a:r>
            <a:endParaRPr lang="en-US" sz="1200" dirty="0"/>
          </a:p>
        </ns0:txBody>
      </ns0:sp>
      <ns0:sp>
        <ns0:nvSpPr>
          <ns0:cNvPr id="20" name="Shape 18"/>
          <ns0:cNvSpPr/>
          <ns0:nvPr/>
        </ns0:nvSpPr>
        <ns0:spPr>
          <a:xfrm>
            <a:off x="4663440" y="2423160"/>
            <a:ext cx="4206240" cy="2423160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  <a:prstDash val="solid"/>
          </a:ln>
        </ns0:spPr>
      </ns0:sp>
      <ns0:sp>
        <ns0:nvSpPr>
          <ns0:cNvPr id="21" name="Text 19"/>
          <ns0:cNvSpPr/>
          <ns0:nvPr/>
        </ns0:nvSpPr>
        <ns0:spPr>
          <a:xfrm>
            <a:off x="4800600" y="2542032"/>
            <a:ext cx="384048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Objeción Telefónica</a:t>
            </a:r>
            <a:endParaRPr lang="en-US" sz="1300" dirty="0"/>
          </a:p>
        </ns0:txBody>
      </ns0:sp>
      <ns0:sp>
        <ns0:nvSpPr>
          <ns0:cNvPr id="22" name="Text 20"/>
          <ns0:cNvSpPr/>
          <ns0:nvPr/>
        </ns0:nvSpPr>
        <ns0:spPr>
          <a:xfrm>
            <a:off x="4800600" y="2944368"/>
            <a:ext cx="384048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"Solo envíeme información."</a:t>
            </a:r>
            <a:endParaRPr lang="en-US" sz="1400" dirty="0"/>
          </a:p>
        </ns0:txBody>
      </ns0:sp>
      <ns0:sp>
        <ns0:nvSpPr>
          <ns0:cNvPr id="23" name="Text 21"/>
          <ns0:cNvSpPr/>
          <ns0:nvPr/>
        </ns0:nvSpPr>
        <ns0:spPr>
          <a:xfrm>
            <a:off x="4800600" y="3410712"/>
            <a:ext cx="109728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Respuesta:</a:t>
            </a:r>
            <a:endParaRPr lang="en-US" sz="1200" dirty="0"/>
          </a:p>
        </ns0:txBody>
      </ns0:sp>
      <ns0:sp>
        <ns0:nvSpPr>
          <ns0:cNvPr id="24" name="Text 22"/>
          <ns0:cNvSpPr/>
          <ns0:nvPr/>
        </ns0:nvSpPr>
        <ns0:spPr>
          <a:xfrm>
            <a:off x="4800600" y="3749040"/>
            <a:ext cx="3840480" cy="10058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 información no tendrá sentido sin su factura específica y datos del techo — por eso una llamada rápida de 10 minutos es mucho más valiosa que un folleto."</a:t>
            </a:r>
            <a:endParaRPr lang="en-US" sz="1200" dirty="0"/>
          </a:p>
        </ns0:txBody>
      </ns0:sp>
    </ns0:spTree>
  </ns0:cSld>
  <ns0:clrMapOvr>
    <a:masterClrMapping/>
  </ns0:clrMapOvr>
</ns0:sld>
</file>

<file path=ppt/slides/slide35.xml><?xml version="1.0" encoding="utf-8"?>
<ns0:sld xmlns:a="http://schemas.openxmlformats.org/drawingml/2006/main" xmlns:ns0="http://schemas.openxmlformats.org/presentationml/2006/main">
  <ns0:cSld name="Slide 35">
    <ns0:bg>
      <ns0:bgPr>
        <a:solidFill>
          <a:srgbClr val="0D1F3C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164592" cy="51435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457200" y="1097280"/>
            <a:ext cx="82296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2.8</a:t>
            </a:r>
            <a:endParaRPr lang="en-US" sz="1300" dirty="0"/>
          </a:p>
        </ns0:txBody>
      </ns0:sp>
      <ns0:sp>
        <ns0:nvSpPr>
          <ns0:cNvPr id="4" name="Text 2"/>
          <ns0:cNvSpPr/>
          <ns0:nvPr/>
        </ns0:nvSpPr>
        <ns0:spPr>
          <a:xfrm>
            <a:off x="457200" y="1554480"/>
            <a:ext cx="8229600" cy="10972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Encuadre Anti-Ventas</a:t>
            </a:r>
            <a:endParaRPr lang="en-US" sz="3800" dirty="0"/>
          </a:p>
        </ns0:txBody>
      </ns0:sp>
      <ns0:sp>
        <ns0:nvSpPr>
          <ns0:cNvPr id="5" name="Text 3"/>
          <ns0:cNvSpPr/>
          <ns0:nvPr/>
        </ns0:nvSpPr>
        <ns0:spPr>
          <a:xfrm>
            <a:off x="457200" y="2697480"/>
            <a:ext cx="82296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Acercamiento del Consultor  ·  20 min</a:t>
            </a:r>
            <a:endParaRPr lang="en-US" sz="1600" dirty="0"/>
          </a:p>
        </ns0:txBody>
      </ns0:sp>
    </ns0:spTree>
  </ns0:cSld>
  <ns0:clrMapOvr>
    <a:masterClrMapping/>
  </ns0:clrMapOvr>
</ns0:sld>
</file>

<file path=ppt/slides/slide36.xml><?xml version="1.0" encoding="utf-8"?>
<ns0:sld xmlns:a="http://schemas.openxmlformats.org/drawingml/2006/main" xmlns:ns0="http://schemas.openxmlformats.org/presentationml/2006/main">
  <ns0:cSld name="Slide 36"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274320" y="0"/>
            <a:ext cx="777240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Estrategia Anti-Discurso</a:t>
            </a:r>
            <a:endParaRPr lang="en-US" sz="2000" dirty="0"/>
          </a:p>
        </ns0:txBody>
      </ns0:sp>
      <ns0:sp>
        <ns0:nvSpPr>
          <ns0:cNvPr id="4" name="Shape 2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5" name="Text 3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</a:t>
            </a:r>
            <a:endParaRPr lang="en-US" sz="900" dirty="0"/>
          </a:p>
        </ns0:txBody>
      </ns0:sp>
      <ns0:sp>
        <ns0:nvSpPr>
          <ns0:cNvPr id="6" name="Shape 4"/>
          <ns0:cNvSpPr/>
          <ns0:nvPr/>
        </ns0:nvSpPr>
        <ns0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ns0:spPr>
      </ns0:sp>
      <ns0:sp>
        <ns0:nvSpPr>
          <ns0:cNvPr id="7" name="Shape 5"/>
          <ns0:cNvSpPr/>
          <ns0:nvPr/>
        </ns0:nvSpPr>
        <ns0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8" name="Shape 6"/>
          <ns0:cNvSpPr/>
          <ns0:nvPr/>
        </ns0:nvSpPr>
        <ns0:spPr>
          <a:xfrm>
            <a:off x="274320" y="777240"/>
            <a:ext cx="859536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ns0:spPr>
      </ns0:sp>
      <ns0:sp>
        <ns0:nvSpPr>
          <ns0:cNvPr id="9" name="Text 7"/>
          <ns0:cNvSpPr/>
          <ns0:nvPr/>
        </ns0:nvSpPr>
        <ns0:spPr>
          <a:xfrm>
            <a:off x="457200" y="777240"/>
            <a:ext cx="8229600" cy="9144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estoy aquí para venderle nada."</a:t>
            </a:r>
            <a:endParaRPr lang="en-US" sz="2800" dirty="0"/>
          </a:p>
        </ns0:txBody>
      </ns0:sp>
      <ns0:sp>
        <ns0:nvSpPr>
          <ns0:cNvPr id="10" name="Shape 8"/>
          <ns0:cNvSpPr/>
          <ns0:nvPr/>
        </ns0:nvSpPr>
        <ns0:spPr>
          <a:xfrm>
            <a:off x="274320" y="182880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ns0:spPr>
      </ns0:sp>
      <ns0:sp>
        <ns0:nvSpPr>
          <ns0:cNvPr id="11" name="Shape 9"/>
          <ns0:cNvSpPr/>
          <ns0:nvPr/>
        </ns0:nvSpPr>
        <ns0:spPr>
          <a:xfrm>
            <a:off x="274320" y="1828800"/>
            <a:ext cx="64008" cy="1554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ns0:spPr>
      </ns0:sp>
      <ns0:sp>
        <ns0:nvSpPr>
          <ns0:cNvPr id="12" name="Text 10"/>
          <ns0:cNvSpPr/>
          <ns0:nvPr/>
        </ns0:nvSpPr>
        <ns0:spPr>
          <a:xfrm>
            <a:off x="438912" y="1938528"/>
            <a:ext cx="3858768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Basado en Permiso</a:t>
            </a:r>
            <a:endParaRPr lang="en-US" sz="1300" dirty="0"/>
          </a:p>
        </ns0:txBody>
      </ns0:sp>
      <ns0:sp>
        <ns0:nvSpPr>
          <ns0:cNvPr id="13" name="Text 11"/>
          <ns0:cNvSpPr/>
          <ns0:nvPr/>
        </ns0:nvSpPr>
        <ns0:spPr>
          <a:xfrm>
            <a:off x="438912" y="2286000"/>
            <a:ext cx="3858768" cy="98755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"¿Le parece bien si le hago una pregunta rápida?"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"¿Le importa si reviso su techo?"</a:t>
            </a:r>
            <a:endParaRPr lang="en-US" sz="1200" dirty="0"/>
          </a:p>
        </ns0:txBody>
      </ns0:sp>
      <ns0:sp>
        <ns0:nvSpPr>
          <ns0:cNvPr id="14" name="Shape 12"/>
          <ns0:cNvSpPr/>
          <ns0:nvPr/>
        </ns0:nvSpPr>
        <ns0:spPr>
          <a:xfrm>
            <a:off x="4663440" y="182880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ns0:spPr>
      </ns0:sp>
      <ns0:sp>
        <ns0:nvSpPr>
          <ns0:cNvPr id="15" name="Shape 13"/>
          <ns0:cNvSpPr/>
          <ns0:nvPr/>
        </ns0:nvSpPr>
        <ns0:spPr>
          <a:xfrm>
            <a:off x="4663440" y="1828800"/>
            <a:ext cx="64008" cy="1554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16" name="Text 14"/>
          <ns0:cNvSpPr/>
          <ns0:nvPr/>
        </ns0:nvSpPr>
        <ns0:spPr>
          <a:xfrm>
            <a:off x="4828032" y="1938528"/>
            <a:ext cx="3858768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Descalificación</a:t>
            </a:r>
            <a:endParaRPr lang="en-US" sz="1300" dirty="0"/>
          </a:p>
        </ns0:txBody>
      </ns0:sp>
      <ns0:sp>
        <ns0:nvSpPr>
          <ns0:cNvPr id="17" name="Text 15"/>
          <ns0:cNvSpPr/>
          <ns0:nvPr/>
        </ns0:nvSpPr>
        <ns0:spPr>
          <a:xfrm>
            <a:off x="4828032" y="2286000"/>
            <a:ext cx="3858768" cy="98755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"Solar no tiene sentido para todos — déjeme primero verificar si su hogar siquiera califica."</a:t>
            </a:r>
            <a:endParaRPr lang="en-US" sz="1200" dirty="0"/>
          </a:p>
        </ns0:txBody>
      </ns0:sp>
      <ns0:sp>
        <ns0:nvSpPr>
          <ns0:cNvPr id="18" name="Shape 16"/>
          <ns0:cNvSpPr/>
          <ns0:nvPr/>
        </ns0:nvSpPr>
        <ns0:spPr>
          <a:xfrm>
            <a:off x="274320" y="3520440"/>
            <a:ext cx="8595360" cy="1234440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  <a:prstDash val="solid"/>
          </a:ln>
        </ns0:spPr>
      </ns0:sp>
      <ns0:sp>
        <ns0:nvSpPr>
          <ns0:cNvPr id="19" name="Text 17"/>
          <ns0:cNvSpPr/>
          <ns0:nvPr/>
        </ns0:nvSpPr>
        <ns0:spPr>
          <a:xfrm>
            <a:off x="457200" y="3630168"/>
            <a:ext cx="804672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Micro Compromisos Construyen Cumplimiento</a:t>
            </a:r>
            <a:endParaRPr lang="en-US" sz="1400" dirty="0"/>
          </a:p>
        </ns0:txBody>
      </ns0:sp>
      <ns0:sp>
        <ns0:nvSpPr>
          <ns0:cNvPr id="20" name="Text 18"/>
          <ns0:cNvSpPr/>
          <ns0:nvPr/>
        </ns0:nvSpPr>
        <ns0:spPr>
          <a:xfrm>
            <a:off x="548640" y="4005072"/>
            <a:ext cx="786384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"¿Tiene sentido?" → "¿Justo?" → "¿Suena bien hasta ahora?"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pequeño sí construye hacia el gran sí</a:t>
            </a:r>
            <a:endParaRPr lang="en-US" sz="1300" dirty="0"/>
          </a:p>
        </ns0:txBody>
      </ns0:sp>
    </ns0:spTree>
  </ns0:cSld>
  <ns0:clrMapOvr>
    <a:masterClrMapping/>
  </ns0:clrMapOvr>
</ns0:sld>
</file>

<file path=ppt/slides/slide37.xml><?xml version="1.0" encoding="utf-8"?>
<ns0:sld xmlns:a="http://schemas.openxmlformats.org/drawingml/2006/main" xmlns:ns0="http://schemas.openxmlformats.org/presentationml/2006/main" xmlns:ns2="http://schemas.microsoft.com/office/powerpoint/2010/main">
  <ns0:cSld name="Slide 37"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274320" y="0"/>
            <a:ext cx="777240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Energía de Consultor vs. Energía de Vendedor</a:t>
            </a:r>
            <a:endParaRPr lang="en-US" sz="2000" dirty="0"/>
          </a:p>
        </ns0:txBody>
      </ns0:sp>
      <ns0:sp>
        <ns0:nvSpPr>
          <ns0:cNvPr id="4" name="Shape 2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5" name="Text 3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</a:t>
            </a:r>
            <a:endParaRPr lang="en-US" sz="900" dirty="0"/>
          </a:p>
        </ns0:txBody>
      </ns0:sp>
      <ns0:sp>
        <ns0:nvSpPr>
          <ns0:cNvPr id="6" name="Shape 4"/>
          <ns0:cNvSpPr/>
          <ns0:nvPr/>
        </ns0:nvSpPr>
        <ns0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ns0:spPr>
      </ns0:sp>
      <ns0:sp>
        <ns0:nvSpPr>
          <ns0:cNvPr id="7" name="Shape 5"/>
          <ns0:cNvSpPr/>
          <ns0:nvPr/>
        </ns0:nvSpPr>
        <ns0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graphicFrame>
        <ns0:nvGraphicFramePr>
          <ns0:cNvPr id="38" name="Table 0"/>
          <ns0:cNvGraphicFramePr>
            <a:graphicFrameLocks noGrp="1"/>
          </ns0:cNvGraphicFramePr>
          <ns0:nvPr>
            <ns0:extLst>
              <ns0:ext uri="{D42A27DB-BD31-4B8C-83A1-F6EECF244321}">
                <ns2:modId val="1579011935"/>
              </ns0:ext>
            </ns0:extLst>
          </ns0:nvPr>
        </ns0:nvGraphicFramePr>
        <ns0:xfrm>
          <a:off x="274320" y="777240"/>
          <a:ext cx="8595360" cy="4160520"/>
        </ns0:xfrm>
        <a:graphic>
          <a:graphicData uri="http://schemas.openxmlformats.org/drawingml/2006/table">
            <a:tbl>
              <a:tblPr/>
              <a:tblGrid>
                <a:gridCol w="2286000"/>
                <a:gridCol w="2926080"/>
                <a:gridCol w="33832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Comportamiento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Vendedor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Consultor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F4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Ritmo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Rápido, urgente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Lento, deliberado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Lenguaje corporal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Inclinarse hacia adelante, invadir el espacio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Relajado, 6 pies atrás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Lenguaje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"Usted necesita solar"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"Déjeme ver si tiene sentido para usted"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Objeciones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Superar / empujar a través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Reconocer y redirigir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Cerrar la venta hoy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Reservar la cita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Autoridad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Experto en producto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Asesor de energía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</a:tr>
            </a:tbl>
          </a:graphicData>
        </a:graphic>
      </ns0:graphicFrame>
    </ns0:spTree>
  </ns0:cSld>
  <ns0:clrMapOvr>
    <a:masterClrMapping/>
  </ns0:clrMapOvr>
</ns0:sld>
</file>

<file path=ppt/slides/slide38.xml><?xml version="1.0" encoding="utf-8"?>
<ns0:sld xmlns:a="http://schemas.openxmlformats.org/drawingml/2006/main" xmlns:ns0="http://schemas.openxmlformats.org/presentationml/2006/main">
  <ns0:cSld name="Slide 38">
    <ns0:bg>
      <ns0:bgPr>
        <a:solidFill>
          <a:srgbClr val="0D1F3C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164592" cy="51435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457200" y="1097280"/>
            <a:ext cx="82296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2.9</a:t>
            </a:r>
            <a:endParaRPr lang="en-US" sz="1300" dirty="0"/>
          </a:p>
        </ns0:txBody>
      </ns0:sp>
      <ns0:sp>
        <ns0:nvSpPr>
          <ns0:cNvPr id="4" name="Text 2"/>
          <ns0:cNvSpPr/>
          <ns0:nvPr/>
        </ns0:nvSpPr>
        <ns0:spPr>
          <a:xfrm>
            <a:off x="457200" y="1554480"/>
            <a:ext cx="8229600" cy="10972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Trabajo de Prospección</a:t>
            </a:r>
            <a:endParaRPr lang="en-US" sz="3800" dirty="0"/>
          </a:p>
        </ns0:txBody>
      </ns0:sp>
      <ns0:sp>
        <ns0:nvSpPr>
          <ns0:cNvPr id="5" name="Text 3"/>
          <ns0:cNvSpPr/>
          <ns0:nvPr/>
        </ns0:nvSpPr>
        <ns0:spPr>
          <a:xfrm>
            <a:off x="457200" y="2697480"/>
            <a:ext cx="82296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Ritmo Diario y KPIs  ·  15 min</a:t>
            </a:r>
            <a:endParaRPr lang="en-US" sz="1600" dirty="0"/>
          </a:p>
        </ns0:txBody>
      </ns0:sp>
    </ns0:spTree>
  </ns0:cSld>
  <ns0:clrMapOvr>
    <a:masterClrMapping/>
  </ns0:clrMapOvr>
</ns0:sld>
</file>

<file path=ppt/slides/slide39.xml><?xml version="1.0" encoding="utf-8"?>
<ns0:sld xmlns:a="http://schemas.openxmlformats.org/drawingml/2006/main" xmlns:ns0="http://schemas.openxmlformats.org/presentationml/2006/main">
  <ns0:cSld name="Slide 39"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274320" y="0"/>
            <a:ext cx="777240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Ritmo Diario y Metas de KPI</a:t>
            </a:r>
            <a:endParaRPr lang="en-US" sz="2000" dirty="0"/>
          </a:p>
        </ns0:txBody>
      </ns0:sp>
      <ns0:sp>
        <ns0:nvSpPr>
          <ns0:cNvPr id="4" name="Shape 2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5" name="Text 3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</a:t>
            </a:r>
            <a:endParaRPr lang="en-US" sz="900" dirty="0"/>
          </a:p>
        </ns0:txBody>
      </ns0:sp>
      <ns0:sp>
        <ns0:nvSpPr>
          <ns0:cNvPr id="6" name="Shape 4"/>
          <ns0:cNvSpPr/>
          <ns0:nvPr/>
        </ns0:nvSpPr>
        <ns0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ns0:spPr>
      </ns0:sp>
      <ns0:sp>
        <ns0:nvSpPr>
          <ns0:cNvPr id="7" name="Shape 5"/>
          <ns0:cNvSpPr/>
          <ns0:nvPr/>
        </ns0:nvSpPr>
        <ns0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8" name="Text 6"/>
          <ns0:cNvSpPr/>
          <ns0:nvPr/>
        </ns0:nvSpPr>
        <ns0:spPr>
          <a:xfrm>
            <a:off x="365760" y="749808"/>
            <a:ext cx="841248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 mide se gestiona.</a:t>
            </a:r>
            <a:endParaRPr lang="en-US" sz="1800" dirty="0"/>
          </a:p>
        </ns0:txBody>
      </ns0:sp>
      <ns0:sp>
        <ns0:nvSpPr>
          <ns0:cNvPr id="9" name="Shape 7"/>
          <ns0:cNvSpPr/>
          <ns0:nvPr/>
        </ns0:nvSpPr>
        <ns0:spPr>
          <a:xfrm>
            <a:off x="274320" y="1325880"/>
            <a:ext cx="256032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ns0:spPr>
      </ns0:sp>
      <ns0:sp>
        <ns0:nvSpPr>
          <ns0:cNvPr id="10" name="Text 8"/>
          <ns0:cNvSpPr/>
          <ns0:nvPr/>
        </ns0:nvSpPr>
        <ns0:spPr>
          <a:xfrm>
            <a:off x="274320" y="1325880"/>
            <a:ext cx="2560320" cy="658368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Mañana 8–12</a:t>
            </a:r>
            <a:endParaRPr lang="en-US" sz="1300" dirty="0"/>
          </a:p>
        </ns0:txBody>
      </ns0:sp>
      <ns0:sp>
        <ns0:nvSpPr>
          <ns0:cNvPr id="11" name="Shape 9"/>
          <ns0:cNvSpPr/>
          <ns0:nvPr/>
        </ns0:nvSpPr>
        <ns0:spPr>
          <a:xfrm>
            <a:off x="2926080" y="1325880"/>
            <a:ext cx="5943600" cy="658368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  <a:prstDash val="solid"/>
          </a:ln>
        </ns0:spPr>
      </ns0:sp>
      <ns0:sp>
        <ns0:nvSpPr>
          <ns0:cNvPr id="12" name="Text 10"/>
          <ns0:cNvSpPr/>
          <ns0:nvPr/>
        </ns0:nvSpPr>
        <ns0:spPr>
          <a:xfrm>
            <a:off x="3108960" y="1325880"/>
            <a:ext cx="5577840" cy="658368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preparación / entrenamiento / planificación de ruta</a:t>
            </a:r>
            <a:endParaRPr lang="en-US" sz="1300" dirty="0"/>
          </a:p>
        </ns0:txBody>
      </ns0:sp>
      <ns0:sp>
        <ns0:nvSpPr>
          <ns0:cNvPr id="13" name="Shape 11"/>
          <ns0:cNvSpPr/>
          <ns0:nvPr/>
        </ns0:nvSpPr>
        <ns0:spPr>
          <a:xfrm>
            <a:off x="274320" y="2130552"/>
            <a:ext cx="256032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ns0:spPr>
      </ns0:sp>
      <ns0:sp>
        <ns0:nvSpPr>
          <ns0:cNvPr id="14" name="Text 12"/>
          <ns0:cNvSpPr/>
          <ns0:nvPr/>
        </ns0:nvSpPr>
        <ns0:spPr>
          <a:xfrm>
            <a:off x="274320" y="2130552"/>
            <a:ext cx="2560320" cy="658368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Mediodía 12–2</a:t>
            </a:r>
            <a:endParaRPr lang="en-US" sz="1300" dirty="0"/>
          </a:p>
        </ns0:txBody>
      </ns0:sp>
      <ns0:sp>
        <ns0:nvSpPr>
          <ns0:cNvPr id="15" name="Shape 13"/>
          <ns0:cNvSpPr/>
          <ns0:nvPr/>
        </ns0:nvSpPr>
        <ns0:spPr>
          <a:xfrm>
            <a:off x="2926080" y="2130552"/>
            <a:ext cx="5943600" cy="658368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  <a:prstDash val="solid"/>
          </a:ln>
        </ns0:spPr>
      </ns0:sp>
      <ns0:sp>
        <ns0:nvSpPr>
          <ns0:cNvPr id="16" name="Text 14"/>
          <ns0:cNvSpPr/>
          <ns0:nvPr/>
        </ns0:nvSpPr>
        <ns0:spPr>
          <a:xfrm>
            <a:off x="3108960" y="2130552"/>
            <a:ext cx="5577840" cy="658368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Actualizaciones de CRM / reunión de equipo / almuerzo</a:t>
            </a:r>
            <a:endParaRPr lang="en-US" sz="1300" dirty="0"/>
          </a:p>
        </ns0:txBody>
      </ns0:sp>
      <ns0:sp>
        <ns0:nvSpPr>
          <ns0:cNvPr id="17" name="Shape 15"/>
          <ns0:cNvSpPr/>
          <ns0:nvPr/>
        </ns0:nvSpPr>
        <ns0:spPr>
          <a:xfrm>
            <a:off x="274320" y="2935224"/>
            <a:ext cx="2560320" cy="65836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ns0:spPr>
      </ns0:sp>
      <ns0:sp>
        <ns0:nvSpPr>
          <ns0:cNvPr id="18" name="Text 16"/>
          <ns0:cNvSpPr/>
          <ns0:nvPr/>
        </ns0:nvSpPr>
        <ns0:spPr>
          <a:xfrm>
            <a:off x="274320" y="2935224"/>
            <a:ext cx="2560320" cy="658368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Tarde 2–7</a:t>
            </a:r>
            <a:endParaRPr lang="en-US" sz="1300" dirty="0"/>
          </a:p>
        </ns0:txBody>
      </ns0:sp>
      <ns0:sp>
        <ns0:nvSpPr>
          <ns0:cNvPr id="19" name="Shape 17"/>
          <ns0:cNvSpPr/>
          <ns0:nvPr/>
        </ns0:nvSpPr>
        <ns0:spPr>
          <a:xfrm>
            <a:off x="2926080" y="2935224"/>
            <a:ext cx="5943600" cy="658368"/>
          </a:xfrm>
          <a:prstGeom prst="rect">
            <a:avLst/>
          </a:prstGeom>
          <a:solidFill>
            <a:srgbClr val="FFF3CD"/>
          </a:solidFill>
          <a:ln w="12700">
            <a:solidFill>
              <a:srgbClr val="E2E8F0"/>
            </a:solidFill>
            <a:prstDash val="solid"/>
          </a:ln>
        </ns0:spPr>
      </ns0:sp>
      <ns0:sp>
        <ns0:nvSpPr>
          <ns0:cNvPr id="20" name="Text 18"/>
          <ns0:cNvSpPr/>
          <ns0:nvPr/>
        </ns0:nvSpPr>
        <ns0:spPr>
          <a:xfrm>
            <a:off x="3108960" y="2935224"/>
            <a:ext cx="5577840" cy="658368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HORAS DE ORO — Solo prospección</a:t>
            </a:r>
            <a:endParaRPr lang="en-US" sz="1300" dirty="0"/>
          </a:p>
        </ns0:txBody>
      </ns0:sp>
      <ns0:sp>
        <ns0:nvSpPr>
          <ns0:cNvPr id="21" name="Shape 19"/>
          <ns0:cNvSpPr/>
          <ns0:nvPr/>
        </ns0:nvSpPr>
        <ns0:spPr>
          <a:xfrm>
            <a:off x="274320" y="3739896"/>
            <a:ext cx="256032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ns0:spPr>
      </ns0:sp>
      <ns0:sp>
        <ns0:nvSpPr>
          <ns0:cNvPr id="22" name="Text 20"/>
          <ns0:cNvSpPr/>
          <ns0:nvPr/>
        </ns0:nvSpPr>
        <ns0:spPr>
          <a:xfrm>
            <a:off x="274320" y="3739896"/>
            <a:ext cx="2560320" cy="658368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Noche 7–9</a:t>
            </a:r>
            <a:endParaRPr lang="en-US" sz="1300" dirty="0"/>
          </a:p>
        </ns0:txBody>
      </ns0:sp>
      <ns0:sp>
        <ns0:nvSpPr>
          <ns0:cNvPr id="23" name="Shape 21"/>
          <ns0:cNvSpPr/>
          <ns0:nvPr/>
        </ns0:nvSpPr>
        <ns0:spPr>
          <a:xfrm>
            <a:off x="2926080" y="3739896"/>
            <a:ext cx="5943600" cy="658368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  <a:prstDash val="solid"/>
          </a:ln>
        </ns0:spPr>
      </ns0:sp>
      <ns0:sp>
        <ns0:nvSpPr>
          <ns0:cNvPr id="24" name="Text 22"/>
          <ns0:cNvSpPr/>
          <ns0:nvPr/>
        </ns0:nvSpPr>
        <ns0:spPr>
          <a:xfrm>
            <a:off x="3108960" y="3739896"/>
            <a:ext cx="5577840" cy="658368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Seguimientos / llamadas de confirmación / CRM</a:t>
            </a:r>
            <a:endParaRPr lang="en-US" sz="1300" dirty="0"/>
          </a:p>
        </ns0:txBody>
      </ns0:sp>
      <ns0:sp>
        <ns0:nvSpPr>
          <ns0:cNvPr id="25" name="Shape 23"/>
          <ns0:cNvSpPr/>
          <ns0:nvPr/>
        </ns0:nvSpPr>
        <ns0:spPr>
          <a:xfrm>
            <a:off x="274320" y="4572000"/>
            <a:ext cx="8595360" cy="438912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  <a:prstDash val="solid"/>
          </a:ln>
        </ns0:spPr>
      </ns0:sp>
      <ns0:sp>
        <ns0:nvSpPr>
          <ns0:cNvPr id="26" name="Shape 24"/>
          <ns0:cNvSpPr/>
          <ns0:nvPr/>
        </ns0:nvSpPr>
        <ns0:spPr>
          <a:xfrm>
            <a:off x="457200" y="4572000"/>
            <a:ext cx="2377440" cy="438912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27" name="Text 25"/>
          <ns0:cNvSpPr/>
          <ns0:nvPr/>
        </ns0:nvSpPr>
        <ns0:spPr>
          <a:xfrm>
            <a:off x="457200" y="4572000"/>
            <a:ext cx="2377440" cy="43891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puertas</a:t>
            </a:r>
            <a:endParaRPr lang="en-US" sz="1300" dirty="0"/>
          </a:p>
        </ns0:txBody>
      </ns0:sp>
      <ns0:sp>
        <ns0:nvSpPr>
          <ns0:cNvPr id="28" name="Shape 26"/>
          <ns0:cNvSpPr/>
          <ns0:nvPr/>
        </ns0:nvSpPr>
        <ns0:spPr>
          <a:xfrm>
            <a:off x="2743200" y="4572000"/>
            <a:ext cx="2377440" cy="438912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29" name="Text 27"/>
          <ns0:cNvSpPr/>
          <ns0:nvPr/>
        </ns0:nvSpPr>
        <ns0:spPr>
          <a:xfrm>
            <a:off x="2743200" y="4572000"/>
            <a:ext cx="2377440" cy="43891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conversaciones</a:t>
            </a:r>
            <a:endParaRPr lang="en-US" sz="1300" dirty="0"/>
          </a:p>
        </ns0:txBody>
      </ns0:sp>
      <ns0:sp>
        <ns0:nvSpPr>
          <ns0:cNvPr id="30" name="Shape 28"/>
          <ns0:cNvSpPr/>
          <ns0:nvPr/>
        </ns0:nvSpPr>
        <ns0:spPr>
          <a:xfrm>
            <a:off x="5486400" y="4572000"/>
            <a:ext cx="2377440" cy="438912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31" name="Text 29"/>
          <ns0:cNvSpPr/>
          <ns0:nvPr/>
        </ns0:nvSpPr>
        <ns0:spPr>
          <a:xfrm>
            <a:off x="5486400" y="4572000"/>
            <a:ext cx="2377440" cy="43891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citas</a:t>
            </a:r>
            <a:endParaRPr lang="en-US" sz="1300" dirty="0"/>
          </a:p>
        </ns0:txBody>
      </ns0:sp>
    </ns0:spTree>
  </ns0:cSld>
  <ns0:clrMapOvr>
    <a:masterClrMapping/>
  </ns0:clrMapOvr>
</ns0:sld>
</file>

<file path=ppt/slides/slide40.xml><?xml version="1.0" encoding="utf-8"?>
<ns0:sld xmlns:a="http://schemas.openxmlformats.org/drawingml/2006/main" xmlns:ns0="http://schemas.openxmlformats.org/presentationml/2006/main">
  <ns0:cSld name="Slide 40"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274320" y="0"/>
            <a:ext cx="777240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Responsabilidad</a:t>
            </a:r>
            <a:endParaRPr lang="en-US" sz="2000" dirty="0"/>
          </a:p>
        </ns0:txBody>
      </ns0:sp>
      <ns0:sp>
        <ns0:nvSpPr>
          <ns0:cNvPr id="4" name="Shape 2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5" name="Text 3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</a:t>
            </a:r>
            <a:endParaRPr lang="en-US" sz="900" dirty="0"/>
          </a:p>
        </ns0:txBody>
      </ns0:sp>
      <ns0:sp>
        <ns0:nvSpPr>
          <ns0:cNvPr id="6" name="Shape 4"/>
          <ns0:cNvSpPr/>
          <ns0:nvPr/>
        </ns0:nvSpPr>
        <ns0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ns0:spPr>
      </ns0:sp>
      <ns0:sp>
        <ns0:nvSpPr>
          <ns0:cNvPr id="7" name="Shape 5"/>
          <ns0:cNvSpPr/>
          <ns0:nvPr/>
        </ns0:nvSpPr>
        <ns0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8" name="Shape 6"/>
          <ns0:cNvSpPr/>
          <ns0:nvPr/>
        </ns0:nvSpPr>
        <ns0:spPr>
          <a:xfrm>
            <a:off x="274320" y="804672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ns0:spPr>
      </ns0:sp>
      <ns0:sp>
        <ns0:nvSpPr>
          <ns0:cNvPr id="9" name="Shape 7"/>
          <ns0:cNvSpPr/>
          <ns0:nvPr/>
        </ns0:nvSpPr>
        <ns0:spPr>
          <a:xfrm>
            <a:off x="274320" y="804672"/>
            <a:ext cx="64008" cy="1828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ns0:spPr>
      </ns0:sp>
      <ns0:sp>
        <ns0:nvSpPr>
          <ns0:cNvPr id="10" name="Text 8"/>
          <ns0:cNvSpPr/>
          <ns0:nvPr/>
        </ns0:nvSpPr>
        <ns0:spPr>
          <a:xfrm>
            <a:off x="438912" y="914400"/>
            <a:ext cx="3858768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en CRM</a:t>
            </a:r>
            <a:endParaRPr lang="en-US" sz="1300" dirty="0"/>
          </a:p>
        </ns0:txBody>
      </ns0:sp>
      <ns0:sp>
        <ns0:nvSpPr>
          <ns0:cNvPr id="11" name="Text 9"/>
          <ns0:cNvSpPr/>
          <ns0:nvPr/>
        </ns0:nvSpPr>
        <ns0:spPr>
          <a:xfrm>
            <a:off x="438912" y="1261872"/>
            <a:ext cx="3858768" cy="12618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cada toque, conversación y cita en tiempo real. Si no está en el CRM, no sucedió.</a:t>
            </a:r>
            <a:endParaRPr lang="en-US" sz="1200" dirty="0"/>
          </a:p>
        </ns0:txBody>
      </ns0:sp>
      <ns0:sp>
        <ns0:nvSpPr>
          <ns0:cNvPr id="12" name="Shape 10"/>
          <ns0:cNvSpPr/>
          <ns0:nvPr/>
        </ns0:nvSpPr>
        <ns0:spPr>
          <a:xfrm>
            <a:off x="4663440" y="804672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ns0:spPr>
      </ns0:sp>
      <ns0:sp>
        <ns0:nvSpPr>
          <ns0:cNvPr id="13" name="Shape 11"/>
          <ns0:cNvSpPr/>
          <ns0:nvPr/>
        </ns0:nvSpPr>
        <ns0:spPr>
          <a:xfrm>
            <a:off x="4663440" y="804672"/>
            <a:ext cx="64008" cy="18288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14" name="Text 12"/>
          <ns0:cNvSpPr/>
          <ns0:nvPr/>
        </ns0:nvSpPr>
        <ns0:spPr>
          <a:xfrm>
            <a:off x="4828032" y="914400"/>
            <a:ext cx="3858768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Revisiones del Gerente</a:t>
            </a:r>
            <a:endParaRPr lang="en-US" sz="1300" dirty="0"/>
          </a:p>
        </ns0:txBody>
      </ns0:sp>
      <ns0:sp>
        <ns0:nvSpPr>
          <ns0:cNvPr id="15" name="Text 13"/>
          <ns0:cNvSpPr/>
          <ns0:nvPr/>
        </ns0:nvSpPr>
        <ns0:spPr>
          <a:xfrm>
            <a:off x="4828032" y="1261872"/>
            <a:ext cx="3858768" cy="12618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diaria al final del día. Comparta KPIs, victorias y una cosa para mejorar mañana.</a:t>
            </a:r>
            <a:endParaRPr lang="en-US" sz="1200" dirty="0"/>
          </a:p>
        </ns0:txBody>
      </ns0:sp>
      <ns0:sp>
        <ns0:nvSpPr>
          <ns0:cNvPr id="16" name="Shape 14"/>
          <ns0:cNvSpPr/>
          <ns0:nvPr/>
        </ns0:nvSpPr>
        <ns0:spPr>
          <a:xfrm>
            <a:off x="274320" y="278892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ns0:spPr>
      </ns0:sp>
      <ns0:sp>
        <ns0:nvSpPr>
          <ns0:cNvPr id="17" name="Shape 15"/>
          <ns0:cNvSpPr/>
          <ns0:nvPr/>
        </ns0:nvSpPr>
        <ns0:spPr>
          <a:xfrm>
            <a:off x="274320" y="2788920"/>
            <a:ext cx="64008" cy="18288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18" name="Text 16"/>
          <ns0:cNvSpPr/>
          <ns0:nvPr/>
        </ns0:nvSpPr>
        <ns0:spPr>
          <a:xfrm>
            <a:off x="438912" y="2898648"/>
            <a:ext cx="3858768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de Clasificación</a:t>
            </a:r>
            <a:endParaRPr lang="en-US" sz="1300" dirty="0"/>
          </a:p>
        </ns0:txBody>
      </ns0:sp>
      <ns0:sp>
        <ns0:nvSpPr>
          <ns0:cNvPr id="19" name="Text 17"/>
          <ns0:cNvSpPr/>
          <ns0:nvPr/>
        </ns0:nvSpPr>
        <ns0:spPr>
          <a:xfrm>
            <a:off x="438912" y="3246120"/>
            <a:ext cx="3858768" cy="12618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tablas de clasificación públicas impulsan la competencia saludable. Mejores ejecutantes por puertas, citas y cierres.</a:t>
            </a:r>
            <a:endParaRPr lang="en-US" sz="1200" dirty="0"/>
          </a:p>
        </ns0:txBody>
      </ns0:sp>
      <ns0:sp>
        <ns0:nvSpPr>
          <ns0:cNvPr id="20" name="Shape 18"/>
          <ns0:cNvSpPr/>
          <ns0:nvPr/>
        </ns0:nvSpPr>
        <ns0:spPr>
          <a:xfrm>
            <a:off x="4663440" y="278892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ns0:spPr>
      </ns0:sp>
      <ns0:sp>
        <ns0:nvSpPr>
          <ns0:cNvPr id="21" name="Shape 19"/>
          <ns0:cNvSpPr/>
          <ns0:nvPr/>
        </ns0:nvSpPr>
        <ns0:spPr>
          <a:xfrm>
            <a:off x="4663440" y="2788920"/>
            <a:ext cx="64008" cy="1828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ns0:spPr>
      </ns0:sp>
      <ns0:sp>
        <ns0:nvSpPr>
          <ns0:cNvPr id="22" name="Text 20"/>
          <ns0:cNvSpPr/>
          <ns0:nvPr/>
        </ns0:nvSpPr>
        <ns0:spPr>
          <a:xfrm>
            <a:off x="4828032" y="2898648"/>
            <a:ext cx="3858768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Revisiones Semanales</a:t>
            </a:r>
            <a:endParaRPr lang="en-US" sz="1300" dirty="0"/>
          </a:p>
        </ns0:txBody>
      </ns0:sp>
      <ns0:sp>
        <ns0:nvSpPr>
          <ns0:cNvPr id="23" name="Text 21"/>
          <ns0:cNvSpPr/>
          <ns0:nvPr/>
        </ns0:nvSpPr>
        <ns0:spPr>
          <a:xfrm>
            <a:off x="4828032" y="3246120"/>
            <a:ext cx="3858768" cy="12618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las tasas de conversión semanalmente. Ajuste el territorio, el momento y los guiones según los datos.</a:t>
            </a:r>
            <a:endParaRPr lang="en-US" sz="1200" dirty="0"/>
          </a:p>
        </ns0:txBody>
      </ns0:sp>
    </ns0:spTree>
  </ns0:cSld>
  <ns0:clrMapOvr>
    <a:masterClrMapping/>
  </ns0:clrMapOvr>
</ns0:sld>
</file>

<file path=ppt/slides/slide41.xml><?xml version="1.0" encoding="utf-8"?>
<ns0:sld xmlns:a="http://schemas.openxmlformats.org/drawingml/2006/main" xmlns:ns0="http://schemas.openxmlformats.org/presentationml/2006/main">
  <ns0:cSld name="Slide 41">
    <ns0:bg>
      <ns0:bgPr>
        <a:solidFill>
          <a:srgbClr val="0D1F3C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164592" cy="51435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457200" y="1097280"/>
            <a:ext cx="82296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2.10</a:t>
            </a:r>
            <a:endParaRPr lang="en-US" sz="1300" dirty="0"/>
          </a:p>
        </ns0:txBody>
      </ns0:sp>
      <ns0:sp>
        <ns0:nvSpPr>
          <ns0:cNvPr id="4" name="Text 2"/>
          <ns0:cNvSpPr/>
          <ns0:nvPr/>
        </ns0:nvSpPr>
        <ns0:spPr>
          <a:xfrm>
            <a:off x="457200" y="1554480"/>
            <a:ext cx="8229600" cy="10972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Certificación de Juego de Roles</a:t>
            </a:r>
            <a:endParaRPr lang="en-US" sz="3800" dirty="0"/>
          </a:p>
        </ns0:txBody>
      </ns0:sp>
      <ns0:sp>
        <ns0:nvSpPr>
          <ns0:cNvPr id="5" name="Text 3"/>
          <ns0:cNvSpPr/>
          <ns0:nvPr/>
        </ns0:nvSpPr>
        <ns0:spPr>
          <a:xfrm>
            <a:off x="457200" y="2697480"/>
            <a:ext cx="82296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Habilidades del Mundo Real  ·  30 min</a:t>
            </a:r>
            <a:endParaRPr lang="en-US" sz="1600" dirty="0"/>
          </a:p>
        </ns0:txBody>
      </ns0:sp>
    </ns0:spTree>
  </ns0:cSld>
  <ns0:clrMapOvr>
    <a:masterClrMapping/>
  </ns0:clrMapOvr>
</ns0:sld>
</file>

<file path=ppt/slides/slide42.xml><?xml version="1.0" encoding="utf-8"?>
<ns0:sld xmlns:a="http://schemas.openxmlformats.org/drawingml/2006/main" xmlns:ns0="http://schemas.openxmlformats.org/presentationml/2006/main">
  <ns0:cSld name="Slide 42"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274320" y="0"/>
            <a:ext cx="777240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Certificación: En Qué Está Siendo Evaluado</a:t>
            </a:r>
            <a:endParaRPr lang="en-US" sz="2000" dirty="0"/>
          </a:p>
        </ns0:txBody>
      </ns0:sp>
      <ns0:sp>
        <ns0:nvSpPr>
          <ns0:cNvPr id="4" name="Shape 2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5" name="Text 3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2.10</a:t>
            </a:r>
            <a:endParaRPr lang="en-US" sz="900" dirty="0"/>
          </a:p>
        </ns0:txBody>
      </ns0:sp>
      <ns0:sp>
        <ns0:nvSpPr>
          <ns0:cNvPr id="6" name="Shape 4"/>
          <ns0:cNvSpPr/>
          <ns0:nvPr/>
        </ns0:nvSpPr>
        <ns0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ns0:spPr>
      </ns0:sp>
      <ns0:sp>
        <ns0:nvSpPr>
          <ns0:cNvPr id="7" name="Shape 5"/>
          <ns0:cNvSpPr/>
          <ns0:nvPr/>
        </ns0:nvSpPr>
        <ns0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8" name="Text 6"/>
          <ns0:cNvSpPr/>
          <ns0:nvPr/>
        </ns0:nvSpPr>
        <ns0:spPr>
          <a:xfrm>
            <a:off x="365760" y="777240"/>
            <a:ext cx="841248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ya no es práctica. Esta es su prueba de preparación.</a:t>
            </a:r>
            <a:endParaRPr lang="en-US" sz="1800" dirty="0"/>
          </a:p>
        </ns0:txBody>
      </ns0:sp>
      <ns0:sp>
        <ns0:nvSpPr>
          <ns0:cNvPr id="9" name="Shape 7"/>
          <ns0:cNvSpPr/>
          <ns0:nvPr/>
        </ns0:nvSpPr>
        <ns0:spPr>
          <a:xfrm>
            <a:off x="274320" y="1371600"/>
            <a:ext cx="822960" cy="713232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10" name="Text 8"/>
          <ns0:cNvSpPr/>
          <ns0:nvPr/>
        </ns0:nvSpPr>
        <ns0:spPr>
          <a:xfrm>
            <a:off x="274320" y="1371600"/>
            <a:ext cx="822960" cy="71323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Ronda 1</a:t>
            </a:r>
            <a:endParaRPr lang="en-US" sz="1100" dirty="0"/>
          </a:p>
        </ns0:txBody>
      </ns0:sp>
      <ns0:sp>
        <ns0:nvSpPr>
          <ns0:cNvPr id="11" name="Shape 9"/>
          <ns0:cNvSpPr/>
          <ns0:nvPr/>
        </ns0:nvSpPr>
        <ns0:spPr>
          <a:xfrm>
            <a:off x="1188720" y="1371600"/>
            <a:ext cx="7680960" cy="713232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  <a:prstDash val="solid"/>
          </a:ln>
        </ns0:spPr>
      </ns0:sp>
      <ns0:sp>
        <ns0:nvSpPr>
          <ns0:cNvPr id="12" name="Text 10"/>
          <ns0:cNvSpPr/>
          <ns0:nvPr/>
        </ns0:nvSpPr>
        <ns0:spPr>
          <a:xfrm>
            <a:off x="1371600" y="1417320"/>
            <a:ext cx="274320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Toque de Puerta</a:t>
            </a:r>
            <a:endParaRPr lang="en-US" sz="1400" dirty="0"/>
          </a:p>
        </ns0:txBody>
      </ns0:sp>
      <ns0:sp>
        <ns0:nvSpPr>
          <ns0:cNvPr id="13" name="Text 11"/>
          <ns0:cNvSpPr/>
          <ns0:nvPr/>
        </ns0:nvSpPr>
        <ns0:spPr>
          <a:xfrm>
            <a:off x="1371600" y="1755648"/>
            <a:ext cx="7315200" cy="292608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Interrupción de patrón → rapport → calificación → cierre de cita</a:t>
            </a:r>
            <a:endParaRPr lang="en-US" sz="1200" dirty="0"/>
          </a:p>
        </ns0:txBody>
      </ns0:sp>
      <ns0:sp>
        <ns0:nvSpPr>
          <ns0:cNvPr id="14" name="Shape 12"/>
          <ns0:cNvSpPr/>
          <ns0:nvPr/>
        </ns0:nvSpPr>
        <ns0:spPr>
          <a:xfrm>
            <a:off x="274320" y="2267712"/>
            <a:ext cx="822960" cy="713232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15" name="Text 13"/>
          <ns0:cNvSpPr/>
          <ns0:nvPr/>
        </ns0:nvSpPr>
        <ns0:spPr>
          <a:xfrm>
            <a:off x="274320" y="2267712"/>
            <a:ext cx="822960" cy="71323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Ronda 2</a:t>
            </a:r>
            <a:endParaRPr lang="en-US" sz="1100" dirty="0"/>
          </a:p>
        </ns0:txBody>
      </ns0:sp>
      <ns0:sp>
        <ns0:nvSpPr>
          <ns0:cNvPr id="16" name="Shape 14"/>
          <ns0:cNvSpPr/>
          <ns0:nvPr/>
        </ns0:nvSpPr>
        <ns0:spPr>
          <a:xfrm>
            <a:off x="1188720" y="2267712"/>
            <a:ext cx="7680960" cy="713232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  <a:prstDash val="solid"/>
          </a:ln>
        </ns0:spPr>
      </ns0:sp>
      <ns0:sp>
        <ns0:nvSpPr>
          <ns0:cNvPr id="17" name="Text 15"/>
          <ns0:cNvSpPr/>
          <ns0:nvPr/>
        </ns0:nvSpPr>
        <ns0:spPr>
          <a:xfrm>
            <a:off x="1371600" y="2313432"/>
            <a:ext cx="274320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Llamada Telefónica</a:t>
            </a:r>
            <a:endParaRPr lang="en-US" sz="1400" dirty="0"/>
          </a:p>
        </ns0:txBody>
      </ns0:sp>
      <ns0:sp>
        <ns0:nvSpPr>
          <ns0:cNvPr id="18" name="Text 16"/>
          <ns0:cNvSpPr/>
          <ns0:nvPr/>
        </ns0:nvSpPr>
        <ns0:spPr>
          <a:xfrm>
            <a:off x="1371600" y="2651760"/>
            <a:ext cx="7315200" cy="292608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 rápida → preguntas de descubrimiento → cierre de cita</a:t>
            </a:r>
            <a:endParaRPr lang="en-US" sz="1200" dirty="0"/>
          </a:p>
        </ns0:txBody>
      </ns0:sp>
      <ns0:sp>
        <ns0:nvSpPr>
          <ns0:cNvPr id="19" name="Shape 17"/>
          <ns0:cNvSpPr/>
          <ns0:nvPr/>
        </ns0:nvSpPr>
        <ns0:spPr>
          <a:xfrm>
            <a:off x="274320" y="3163824"/>
            <a:ext cx="822960" cy="713232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20" name="Text 18"/>
          <ns0:cNvSpPr/>
          <ns0:nvPr/>
        </ns0:nvSpPr>
        <ns0:spPr>
          <a:xfrm>
            <a:off x="274320" y="3163824"/>
            <a:ext cx="822960" cy="71323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Ronda 3</a:t>
            </a:r>
            <a:endParaRPr lang="en-US" sz="1100" dirty="0"/>
          </a:p>
        </ns0:txBody>
      </ns0:sp>
      <ns0:sp>
        <ns0:nvSpPr>
          <ns0:cNvPr id="21" name="Shape 19"/>
          <ns0:cNvSpPr/>
          <ns0:nvPr/>
        </ns0:nvSpPr>
        <ns0:spPr>
          <a:xfrm>
            <a:off x="1188720" y="3163824"/>
            <a:ext cx="7680960" cy="713232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  <a:prstDash val="solid"/>
          </a:ln>
        </ns0:spPr>
      </ns0:sp>
      <ns0:sp>
        <ns0:nvSpPr>
          <ns0:cNvPr id="22" name="Text 20"/>
          <ns0:cNvSpPr/>
          <ns0:nvPr/>
        </ns0:nvSpPr>
        <ns0:spPr>
          <a:xfrm>
            <a:off x="1371600" y="3209544"/>
            <a:ext cx="274320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de Objeciones</a:t>
            </a:r>
            <a:endParaRPr lang="en-US" sz="1400" dirty="0"/>
          </a:p>
        </ns0:txBody>
      </ns0:sp>
      <ns0:sp>
        <ns0:nvSpPr>
          <ns0:cNvPr id="23" name="Text 21"/>
          <ns0:cNvSpPr/>
          <ns0:nvPr/>
        </ns0:nvSpPr>
        <ns0:spPr>
          <a:xfrm>
            <a:off x="1371600" y="3547872"/>
            <a:ext cx="7315200" cy="292608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objeciones rápidas — responda en 3 segundos cada una</a:t>
            </a:r>
            <a:endParaRPr lang="en-US" sz="1200" dirty="0"/>
          </a:p>
        </ns0:txBody>
      </ns0:sp>
      <ns0:sp>
        <ns0:nvSpPr>
          <ns0:cNvPr id="24" name="Shape 22"/>
          <ns0:cNvSpPr/>
          <ns0:nvPr/>
        </ns0:nvSpPr>
        <ns0:spPr>
          <a:xfrm>
            <a:off x="274320" y="4059936"/>
            <a:ext cx="822960" cy="713232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25" name="Text 23"/>
          <ns0:cNvSpPr/>
          <ns0:nvPr/>
        </ns0:nvSpPr>
        <ns0:spPr>
          <a:xfrm>
            <a:off x="274320" y="4059936"/>
            <a:ext cx="822960" cy="71323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Ronda 4</a:t>
            </a:r>
            <a:endParaRPr lang="en-US" sz="1100" dirty="0"/>
          </a:p>
        </ns0:txBody>
      </ns0:sp>
      <ns0:sp>
        <ns0:nvSpPr>
          <ns0:cNvPr id="26" name="Shape 24"/>
          <ns0:cNvSpPr/>
          <ns0:nvPr/>
        </ns0:nvSpPr>
        <ns0:spPr>
          <a:xfrm>
            <a:off x="1188720" y="4059936"/>
            <a:ext cx="7680960" cy="713232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  <a:prstDash val="solid"/>
          </a:ln>
        </ns0:spPr>
      </ns0:sp>
      <ns0:sp>
        <ns0:nvSpPr>
          <ns0:cNvPr id="27" name="Text 25"/>
          <ns0:cNvSpPr/>
          <ns0:nvPr/>
        </ns0:nvSpPr>
        <ns0:spPr>
          <a:xfrm>
            <a:off x="1371600" y="4105656"/>
            <a:ext cx="274320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Completo</a:t>
            </a:r>
            <a:endParaRPr lang="en-US" sz="1400" dirty="0"/>
          </a:p>
        </ns0:txBody>
      </ns0:sp>
      <ns0:sp>
        <ns0:nvSpPr>
          <ns0:cNvPr id="28" name="Text 26"/>
          <ns0:cNvSpPr/>
          <ns0:nvPr/>
        </ns0:nvSpPr>
        <ns0:spPr>
          <a:xfrm>
            <a:off x="1371600" y="4443984"/>
            <a:ext cx="7315200" cy="292608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una conversación de 7 pasos con un propietario resistente</a:t>
            </a:r>
            <a:endParaRPr lang="en-US" sz="1200" dirty="0"/>
          </a:p>
        </ns0:txBody>
      </ns0:sp>
      <ns0:sp>
        <ns0:nvSpPr>
          <ns0:cNvPr id="29" name="Shape 27"/>
          <ns0:cNvSpPr/>
          <ns0:nvPr/>
        </ns0:nvSpPr>
        <ns0:spPr>
          <a:xfrm>
            <a:off x="274320" y="4754880"/>
            <a:ext cx="8595360" cy="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ns0:spPr>
      </ns0:sp>
    </ns0:spTree>
  </ns0:cSld>
  <ns0:clrMapOvr>
    <a:masterClrMapping/>
  </ns0:clrMapOvr>
</ns0:sld>
</file>

<file path=ppt/slides/slide43.xml><?xml version="1.0" encoding="utf-8"?>
<ns0:sld xmlns:a="http://schemas.openxmlformats.org/drawingml/2006/main" xmlns:ns0="http://schemas.openxmlformats.org/presentationml/2006/main">
  <ns0:cSld name="Slide 43"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274320" y="0"/>
            <a:ext cx="777240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Aprobación y Evaluación del Gerente</a:t>
            </a:r>
            <a:endParaRPr lang="en-US" sz="2000" dirty="0"/>
          </a:p>
        </ns0:txBody>
      </ns0:sp>
      <ns0:sp>
        <ns0:nvSpPr>
          <ns0:cNvPr id="4" name="Shape 2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5" name="Text 3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2.10</a:t>
            </a:r>
            <a:endParaRPr lang="en-US" sz="900" dirty="0"/>
          </a:p>
        </ns0:txBody>
      </ns0:sp>
      <ns0:sp>
        <ns0:nvSpPr>
          <ns0:cNvPr id="6" name="Shape 4"/>
          <ns0:cNvSpPr/>
          <ns0:nvPr/>
        </ns0:nvSpPr>
        <ns0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ns0:spPr>
      </ns0:sp>
      <ns0:sp>
        <ns0:nvSpPr>
          <ns0:cNvPr id="7" name="Shape 5"/>
          <ns0:cNvSpPr/>
          <ns0:nvPr/>
        </ns0:nvSpPr>
        <ns0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8" name="Text 6"/>
          <ns0:cNvSpPr/>
          <ns0:nvPr/>
        </ns0:nvSpPr>
        <ns0:spPr>
          <a:xfrm>
            <a:off x="365760" y="804672"/>
            <a:ext cx="365760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Aprobación:</a:t>
            </a:r>
            <a:endParaRPr lang="en-US" sz="1600" dirty="0"/>
          </a:p>
        </ns0:txBody>
      </ns0:sp>
      <ns0:sp>
        <ns0:nvSpPr>
          <ns0:cNvPr id="9" name="Text 7"/>
          <ns0:cNvSpPr/>
          <ns0:nvPr/>
        </ns0:nvSpPr>
        <ns0:spPr>
          <a:xfrm>
            <a:off x="457200" y="1261872"/>
            <a:ext cx="4754880" cy="30175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Energía calmada y confiada durante toda la interacción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 al propietario (factura, propiedad, tiempo en el hogar)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un cierre binario para la cita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Maneja al menos 2 objeciones sin discutir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Permanece en modo consultor (no vendedor)</a:t>
            </a:r>
            <a:endParaRPr lang="en-US" sz="1400" dirty="0"/>
          </a:p>
        </ns0:txBody>
      </ns0:sp>
      <ns0:sp>
        <ns0:nvSpPr>
          <ns0:cNvPr id="10" name="Shape 8"/>
          <ns0:cNvSpPr/>
          <ns0:nvPr/>
        </ns0:nvSpPr>
        <ns0:spPr>
          <a:xfrm>
            <a:off x="5212080" y="777240"/>
            <a:ext cx="3657600" cy="40233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ns0:spPr>
      </ns0:sp>
      <ns0:sp>
        <ns0:nvSpPr>
          <ns0:cNvPr id="11" name="Text 9"/>
          <ns0:cNvSpPr/>
          <ns0:nvPr/>
        </ns0:nvSpPr>
        <ns0:spPr>
          <a:xfrm>
            <a:off x="5349240" y="896112"/>
            <a:ext cx="338328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Evaluación del Gerente</a:t>
            </a:r>
            <a:endParaRPr lang="en-US" sz="1300" dirty="0"/>
          </a:p>
        </ns0:txBody>
      </ns0:sp>
      <ns0:sp>
        <ns0:nvSpPr>
          <ns0:cNvPr id="12" name="Shape 10"/>
          <ns0:cNvSpPr/>
          <ns0:nvPr/>
        </ns0:nvSpPr>
        <ns0:spPr>
          <a:xfrm>
            <a:off x="5349240" y="1417320"/>
            <a:ext cx="320040" cy="3200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94A3B8"/>
            </a:solidFill>
            <a:prstDash val="solid"/>
          </a:ln>
        </ns0:spPr>
      </ns0:sp>
      <ns0:sp>
        <ns0:nvSpPr>
          <ns0:cNvPr id="13" name="Text 11"/>
          <ns0:cNvSpPr/>
          <ns0:nvPr/>
        </ns0:nvSpPr>
        <ns0:spPr>
          <a:xfrm>
            <a:off x="5760720" y="1435608"/>
            <a:ext cx="292608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Energía / presencia</a:t>
            </a:r>
            <a:endParaRPr lang="en-US" sz="1200" dirty="0"/>
          </a:p>
        </ns0:txBody>
      </ns0:sp>
      <ns0:sp>
        <ns0:nvSpPr>
          <ns0:cNvPr id="14" name="Shape 12"/>
          <ns0:cNvSpPr/>
          <ns0:nvPr/>
        </ns0:nvSpPr>
        <ns0:spPr>
          <a:xfrm>
            <a:off x="5349240" y="1892808"/>
            <a:ext cx="320040" cy="3200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94A3B8"/>
            </a:solidFill>
            <a:prstDash val="solid"/>
          </a:ln>
        </ns0:spPr>
      </ns0:sp>
      <ns0:sp>
        <ns0:nvSpPr>
          <ns0:cNvPr id="15" name="Text 13"/>
          <ns0:cNvSpPr/>
          <ns0:nvPr/>
        </ns0:nvSpPr>
        <ns0:spPr>
          <a:xfrm>
            <a:off x="5760720" y="1911096"/>
            <a:ext cx="292608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la interrupción de patrón</a:t>
            </a:r>
            <a:endParaRPr lang="en-US" sz="1200" dirty="0"/>
          </a:p>
        </ns0:txBody>
      </ns0:sp>
      <ns0:sp>
        <ns0:nvSpPr>
          <ns0:cNvPr id="16" name="Shape 14"/>
          <ns0:cNvSpPr/>
          <ns0:nvPr/>
        </ns0:nvSpPr>
        <ns0:spPr>
          <a:xfrm>
            <a:off x="5349240" y="2368296"/>
            <a:ext cx="320040" cy="3200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94A3B8"/>
            </a:solidFill>
            <a:prstDash val="solid"/>
          </a:ln>
        </ns0:spPr>
      </ns0:sp>
      <ns0:sp>
        <ns0:nvSpPr>
          <ns0:cNvPr id="17" name="Text 15"/>
          <ns0:cNvSpPr/>
          <ns0:nvPr/>
        </ns0:nvSpPr>
        <ns0:spPr>
          <a:xfrm>
            <a:off x="5760720" y="2386584"/>
            <a:ext cx="292608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(¿genuino?)</a:t>
            </a:r>
            <a:endParaRPr lang="en-US" sz="1200" dirty="0"/>
          </a:p>
        </ns0:txBody>
      </ns0:sp>
      <ns0:sp>
        <ns0:nvSpPr>
          <ns0:cNvPr id="18" name="Shape 16"/>
          <ns0:cNvSpPr/>
          <ns0:nvPr/>
        </ns0:nvSpPr>
        <ns0:spPr>
          <a:xfrm>
            <a:off x="5349240" y="2843784"/>
            <a:ext cx="320040" cy="3200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94A3B8"/>
            </a:solidFill>
            <a:prstDash val="solid"/>
          </a:ln>
        </ns0:spPr>
      </ns0:sp>
      <ns0:sp>
        <ns0:nvSpPr>
          <ns0:cNvPr id="19" name="Text 17"/>
          <ns0:cNvSpPr/>
          <ns0:nvPr/>
        </ns0:nvSpPr>
        <ns0:spPr>
          <a:xfrm>
            <a:off x="5760720" y="2862072"/>
            <a:ext cx="292608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de calificación</a:t>
            </a:r>
            <a:endParaRPr lang="en-US" sz="1200" dirty="0"/>
          </a:p>
        </ns0:txBody>
      </ns0:sp>
      <ns0:sp>
        <ns0:nvSpPr>
          <ns0:cNvPr id="20" name="Shape 18"/>
          <ns0:cNvSpPr/>
          <ns0:nvPr/>
        </ns0:nvSpPr>
        <ns0:spPr>
          <a:xfrm>
            <a:off x="5349240" y="3319272"/>
            <a:ext cx="320040" cy="3200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94A3B8"/>
            </a:solidFill>
            <a:prstDash val="solid"/>
          </a:ln>
        </ns0:spPr>
      </ns0:sp>
      <ns0:sp>
        <ns0:nvSpPr>
          <ns0:cNvPr id="21" name="Text 19"/>
          <ns0:cNvSpPr/>
          <ns0:nvPr/>
        </ns0:nvSpPr>
        <ns0:spPr>
          <a:xfrm>
            <a:off x="5760720" y="3337560"/>
            <a:ext cx="292608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a objeciones</a:t>
            </a:r>
            <a:endParaRPr lang="en-US" sz="1200" dirty="0"/>
          </a:p>
        </ns0:txBody>
      </ns0:sp>
      <ns0:sp>
        <ns0:nvSpPr>
          <ns0:cNvPr id="22" name="Shape 20"/>
          <ns0:cNvSpPr/>
          <ns0:nvPr/>
        </ns0:nvSpPr>
        <ns0:spPr>
          <a:xfrm>
            <a:off x="5349240" y="3794760"/>
            <a:ext cx="320040" cy="3200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94A3B8"/>
            </a:solidFill>
            <a:prstDash val="solid"/>
          </a:ln>
        </ns0:spPr>
      </ns0:sp>
      <ns0:sp>
        <ns0:nvSpPr>
          <ns0:cNvPr id="23" name="Text 21"/>
          <ns0:cNvSpPr/>
          <ns0:nvPr/>
        </ns0:nvSpPr>
        <ns0:spPr>
          <a:xfrm>
            <a:off x="5760720" y="3813048"/>
            <a:ext cx="292608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cita</a:t>
            </a:r>
            <a:endParaRPr lang="en-US" sz="1200" dirty="0"/>
          </a:p>
        </ns0:txBody>
      </ns0:sp>
      <ns0:sp>
        <ns0:nvSpPr>
          <ns0:cNvPr id="24" name="Shape 22"/>
          <ns0:cNvSpPr/>
          <ns0:nvPr/>
        </ns0:nvSpPr>
        <ns0:spPr>
          <a:xfrm>
            <a:off x="5349240" y="4270248"/>
            <a:ext cx="320040" cy="3200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94A3B8"/>
            </a:solidFill>
            <a:prstDash val="solid"/>
          </a:ln>
        </ns0:spPr>
      </ns0:sp>
      <ns0:sp>
        <ns0:nvSpPr>
          <ns0:cNvPr id="25" name="Text 23"/>
          <ns0:cNvSpPr/>
          <ns0:nvPr/>
        </ns0:nvSpPr>
        <ns0:spPr>
          <a:xfrm>
            <a:off x="5760720" y="4288536"/>
            <a:ext cx="292608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General: Aprobado / Revisar</a:t>
            </a:r>
            <a:endParaRPr lang="en-US" sz="1200" dirty="0"/>
          </a:p>
        </ns0:txBody>
      </ns0:sp>
    </ns0:spTree>
  </ns0:cSld>
  <ns0:clrMapOvr>
    <a:masterClrMapping/>
  </ns0:clrMapOvr>
</ns0:sld>
</file>

<file path=ppt/slides/slide44.xml><?xml version="1.0" encoding="utf-8"?>
<ns0:sld xmlns:a="http://schemas.openxmlformats.org/drawingml/2006/main" xmlns:ns0="http://schemas.openxmlformats.org/presentationml/2006/main">
  <ns0:cSld name="Slide 44">
    <ns0:bg>
      <ns0:bgPr>
        <a:solidFill>
          <a:srgbClr val="0D1F3C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164592" cy="51435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457200" y="1097280"/>
            <a:ext cx="82296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2.11</a:t>
            </a:r>
            <a:endParaRPr lang="en-US" sz="1300" dirty="0"/>
          </a:p>
        </ns0:txBody>
      </ns0:sp>
      <ns0:sp>
        <ns0:nvSpPr>
          <ns0:cNvPr id="4" name="Text 2"/>
          <ns0:cNvSpPr/>
          <ns0:nvPr/>
        </ns0:nvSpPr>
        <ns0:spPr>
          <a:xfrm>
            <a:off x="457200" y="1554480"/>
            <a:ext cx="8229600" cy="10972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del Día 2</a:t>
            </a:r>
            <a:endParaRPr lang="en-US" sz="3800" dirty="0"/>
          </a:p>
        </ns0:txBody>
      </ns0:sp>
      <ns0:sp>
        <ns0:nvSpPr>
          <ns0:cNvPr id="5" name="Text 3"/>
          <ns0:cNvSpPr/>
          <ns0:nvPr/>
        </ns0:nvSpPr>
        <ns0:spPr>
          <a:xfrm>
            <a:off x="457200" y="2697480"/>
            <a:ext cx="82296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Ha Dominado  ·  10 min</a:t>
            </a:r>
            <a:endParaRPr lang="en-US" sz="1600" dirty="0"/>
          </a:p>
        </ns0:txBody>
      </ns0:sp>
    </ns0:spTree>
  </ns0:cSld>
  <ns0:clrMapOvr>
    <a:masterClrMapping/>
  </ns0:clrMapOvr>
</ns0:sld>
</file>

<file path=ppt/slides/slide45.xml><?xml version="1.0" encoding="utf-8"?>
<ns0:sld xmlns:a="http://schemas.openxmlformats.org/drawingml/2006/main" xmlns:ns0="http://schemas.openxmlformats.org/presentationml/2006/main">
  <ns0:cSld name="Slide 45"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274320" y="0"/>
            <a:ext cx="777240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Logros del Día 2</a:t>
            </a:r>
            <a:endParaRPr lang="en-US" sz="2000" dirty="0"/>
          </a:p>
        </ns0:txBody>
      </ns0:sp>
      <ns0:sp>
        <ns0:nvSpPr>
          <ns0:cNvPr id="4" name="Shape 2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5" name="Text 3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2.11</a:t>
            </a:r>
            <a:endParaRPr lang="en-US" sz="900" dirty="0"/>
          </a:p>
        </ns0:txBody>
      </ns0:sp>
      <ns0:sp>
        <ns0:nvSpPr>
          <ns0:cNvPr id="6" name="Shape 4"/>
          <ns0:cNvSpPr/>
          <ns0:nvPr/>
        </ns0:nvSpPr>
        <ns0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ns0:spPr>
      </ns0:sp>
      <ns0:sp>
        <ns0:nvSpPr>
          <ns0:cNvPr id="7" name="Shape 5"/>
          <ns0:cNvSpPr/>
          <ns0:nvPr/>
        </ns0:nvSpPr>
        <ns0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8" name="Text 6"/>
          <ns0:cNvSpPr/>
          <ns0:nvPr/>
        </ns0:nvSpPr>
        <ns0:spPr>
          <a:xfrm>
            <a:off x="365760" y="749808"/>
            <a:ext cx="841248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construido la base de un representante solar de alto nivel.</a:t>
            </a:r>
            <a:endParaRPr lang="en-US" sz="1800" dirty="0"/>
          </a:p>
        </ns0:txBody>
      </ns0:sp>
      <ns0:sp>
        <ns0:nvSpPr>
          <ns0:cNvPr id="9" name="Shape 7"/>
          <ns0:cNvSpPr/>
          <ns0:nvPr/>
        </ns0:nvSpPr>
        <ns0:spPr>
          <a:xfrm>
            <a:off x="274320" y="1371600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ns0:spPr>
      </ns0:sp>
      <ns0:sp>
        <ns0:nvSpPr>
          <ns0:cNvPr id="10" name="Shape 8"/>
          <ns0:cNvSpPr/>
          <ns0:nvPr/>
        </ns0:nvSpPr>
        <ns0:spPr>
          <a:xfrm>
            <a:off x="274320" y="1371600"/>
            <a:ext cx="64008" cy="150876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11" name="Text 9"/>
          <ns0:cNvSpPr/>
          <ns0:nvPr/>
        </ns0:nvSpPr>
        <ns0:spPr>
          <a:xfrm>
            <a:off x="438912" y="1481328"/>
            <a:ext cx="3950208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Psicología del Propietario</a:t>
            </a:r>
            <a:endParaRPr lang="en-US" sz="1300" dirty="0"/>
          </a:p>
        </ns0:txBody>
      </ns0:sp>
      <ns0:sp>
        <ns0:nvSpPr>
          <ns0:cNvPr id="12" name="Text 10"/>
          <ns0:cNvSpPr/>
          <ns0:nvPr/>
        </ns0:nvSpPr>
        <ns0:spPr>
          <a:xfrm>
            <a:off x="438912" y="1828800"/>
            <a:ext cx="3950208" cy="94183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Entiende por qué ocurre la resistencia — y cómo trabajar con ella, no contra ella.</a:t>
            </a:r>
            <a:endParaRPr lang="en-US" sz="1200" dirty="0"/>
          </a:p>
        </ns0:txBody>
      </ns0:sp>
      <ns0:sp>
        <ns0:nvSpPr>
          <ns0:cNvPr id="13" name="Shape 11"/>
          <ns0:cNvSpPr/>
          <ns0:nvPr/>
        </ns0:nvSpPr>
        <ns0:spPr>
          <a:xfrm>
            <a:off x="4663440" y="1371600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ns0:spPr>
      </ns0:sp>
      <ns0:sp>
        <ns0:nvSpPr>
          <ns0:cNvPr id="14" name="Shape 12"/>
          <ns0:cNvSpPr/>
          <ns0:nvPr/>
        </ns0:nvSpPr>
        <ns0:spPr>
          <a:xfrm>
            <a:off x="4663440" y="1371600"/>
            <a:ext cx="64008" cy="1508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ns0:spPr>
      </ns0:sp>
      <ns0:sp>
        <ns0:nvSpPr>
          <ns0:cNvPr id="15" name="Text 13"/>
          <ns0:cNvSpPr/>
          <ns0:nvPr/>
        </ns0:nvSpPr>
        <ns0:spPr>
          <a:xfrm>
            <a:off x="4828032" y="1481328"/>
            <a:ext cx="3950208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Estrategia de Territorio</a:t>
            </a:r>
            <a:endParaRPr lang="en-US" sz="1300" dirty="0"/>
          </a:p>
        </ns0:txBody>
      </ns0:sp>
      <ns0:sp>
        <ns0:nvSpPr>
          <ns0:cNvPr id="16" name="Text 14"/>
          <ns0:cNvSpPr/>
          <ns0:nvPr/>
        </ns0:nvSpPr>
        <ns0:spPr>
          <a:xfrm>
            <a:off x="4828032" y="1828800"/>
            <a:ext cx="3950208" cy="94183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 cómo elegir vecindarios de alta probabilidad y aprovechar la prueba social.</a:t>
            </a:r>
            <a:endParaRPr lang="en-US" sz="1200" dirty="0"/>
          </a:p>
        </ns0:txBody>
      </ns0:sp>
      <ns0:sp>
        <ns0:nvSpPr>
          <ns0:cNvPr id="17" name="Shape 15"/>
          <ns0:cNvSpPr/>
          <ns0:nvPr/>
        </ns0:nvSpPr>
        <ns0:spPr>
          <a:xfrm>
            <a:off x="274320" y="3017520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ns0:spPr>
      </ns0:sp>
      <ns0:sp>
        <ns0:nvSpPr>
          <ns0:cNvPr id="18" name="Shape 16"/>
          <ns0:cNvSpPr/>
          <ns0:nvPr/>
        </ns0:nvSpPr>
        <ns0:spPr>
          <a:xfrm>
            <a:off x="274320" y="3017520"/>
            <a:ext cx="64008" cy="150876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19" name="Text 17"/>
          <ns0:cNvSpPr/>
          <ns0:nvPr/>
        </ns0:nvSpPr>
        <ns0:spPr>
          <a:xfrm>
            <a:off x="438912" y="3127248"/>
            <a:ext cx="3950208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Conversaciones de Puerta</a:t>
            </a:r>
            <a:endParaRPr lang="en-US" sz="1300" dirty="0"/>
          </a:p>
        </ns0:txBody>
      </ns0:sp>
      <ns0:sp>
        <ns0:nvSpPr>
          <ns0:cNvPr id="20" name="Text 18"/>
          <ns0:cNvSpPr/>
          <ns0:nvPr/>
        </ns0:nvSpPr>
        <ns0:spPr>
          <a:xfrm>
            <a:off x="438912" y="3474720"/>
            <a:ext cx="3950208" cy="94183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un marco de 7 pasos y un discurso de 30 segundos listo para desplegar.</a:t>
            </a:r>
            <a:endParaRPr lang="en-US" sz="1200" dirty="0"/>
          </a:p>
        </ns0:txBody>
      </ns0:sp>
      <ns0:sp>
        <ns0:nvSpPr>
          <ns0:cNvPr id="21" name="Shape 19"/>
          <ns0:cNvSpPr/>
          <ns0:nvPr/>
        </ns0:nvSpPr>
        <ns0:spPr>
          <a:xfrm>
            <a:off x="4663440" y="3017520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ns0:spPr>
      </ns0:sp>
      <ns0:sp>
        <ns0:nvSpPr>
          <ns0:cNvPr id="22" name="Shape 20"/>
          <ns0:cNvSpPr/>
          <ns0:nvPr/>
        </ns0:nvSpPr>
        <ns0:spPr>
          <a:xfrm>
            <a:off x="4663440" y="3017520"/>
            <a:ext cx="64008" cy="1508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ns0:spPr>
      </ns0:sp>
      <ns0:sp>
        <ns0:nvSpPr>
          <ns0:cNvPr id="23" name="Text 21"/>
          <ns0:cNvSpPr/>
          <ns0:nvPr/>
        </ns0:nvSpPr>
        <ns0:spPr>
          <a:xfrm>
            <a:off x="4828032" y="3127248"/>
            <a:ext cx="3950208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Manejo de Objeciones</a:t>
            </a:r>
            <a:endParaRPr lang="en-US" sz="1300" dirty="0"/>
          </a:p>
        </ns0:txBody>
      </ns0:sp>
      <ns0:sp>
        <ns0:nvSpPr>
          <ns0:cNvPr id="24" name="Text 22"/>
          <ns0:cNvSpPr/>
          <ns0:nvPr/>
        </ns0:nvSpPr>
        <ns0:spPr>
          <a:xfrm>
            <a:off x="4828032" y="3474720"/>
            <a:ext cx="3950208" cy="94183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manejar los rechazos con curiosidad en lugar de presión.</a:t>
            </a:r>
            <a:endParaRPr lang="en-US" sz="1200" dirty="0"/>
          </a:p>
        </ns0:txBody>
      </ns0:sp>
    </ns0:spTree>
  </ns0:cSld>
  <ns0:clrMapOvr>
    <a:masterClrMapping/>
  </ns0:clrMapOvr>
</ns0:sld>
</file>

<file path=ppt/slides/slide46.xml><?xml version="1.0" encoding="utf-8"?>
<ns0:sld xmlns:a="http://schemas.openxmlformats.org/drawingml/2006/main" xmlns:ns0="http://schemas.openxmlformats.org/presentationml/2006/main">
  <ns0:cSld name="Slide 46"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274320" y="0"/>
            <a:ext cx="777240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Tarea: El Reto '20/20'</a:t>
            </a:r>
            <a:endParaRPr lang="en-US" sz="2000" dirty="0"/>
          </a:p>
        </ns0:txBody>
      </ns0:sp>
      <ns0:sp>
        <ns0:nvSpPr>
          <ns0:cNvPr id="4" name="Shape 2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5" name="Text 3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2.11</a:t>
            </a:r>
            <a:endParaRPr lang="en-US" sz="900" dirty="0"/>
          </a:p>
        </ns0:txBody>
      </ns0:sp>
      <ns0:sp>
        <ns0:nvSpPr>
          <ns0:cNvPr id="6" name="Shape 4"/>
          <ns0:cNvSpPr/>
          <ns0:nvPr/>
        </ns0:nvSpPr>
        <ns0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ns0:spPr>
      </ns0:sp>
      <ns0:sp>
        <ns0:nvSpPr>
          <ns0:cNvPr id="7" name="Shape 5"/>
          <ns0:cNvSpPr/>
          <ns0:nvPr/>
        </ns0:nvSpPr>
        <ns0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8" name="Shape 6"/>
          <ns0:cNvSpPr/>
          <ns0:nvPr/>
        </ns0:nvSpPr>
        <ns0:spPr>
          <a:xfrm>
            <a:off x="274320" y="777240"/>
            <a:ext cx="4206240" cy="3108960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  <a:prstDash val="solid"/>
          </a:ln>
        </ns0:spPr>
      </ns0:sp>
      <ns0:sp>
        <ns0:nvSpPr>
          <ns0:cNvPr id="9" name="Text 7"/>
          <ns0:cNvSpPr/>
          <ns0:nvPr/>
        </ns0:nvSpPr>
        <ns0:spPr>
          <a:xfrm>
            <a:off x="411480" y="896112"/>
            <a:ext cx="3840480" cy="384048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Tarea para Esta Noche</a:t>
            </a:r>
            <a:endParaRPr lang="en-US" sz="1500" dirty="0"/>
          </a:p>
        </ns0:txBody>
      </ns0:sp>
      <ns0:sp>
        <ns0:nvSpPr>
          <ns0:cNvPr id="10" name="Text 8"/>
          <ns0:cNvSpPr/>
          <ns0:nvPr/>
        </ns0:nvSpPr>
        <ns0:spPr>
          <a:xfrm>
            <a:off x="457200" y="1371600"/>
            <a:ext cx="3840480" cy="22860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Toque 20 puertas de práctica (sin presión — solo repeticiones)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Grabe su Interrupción de Patrón de 30 segundos en su teléfono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el módulo de Psicología de Aversión a la Pérdida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Escriba su plan de territorio (3 vecindarios)</a:t>
            </a:r>
            <a:endParaRPr lang="en-US" sz="1300" dirty="0"/>
          </a:p>
        </ns0:txBody>
      </ns0:sp>
      <ns0:sp>
        <ns0:nvSpPr>
          <ns0:cNvPr id="11" name="Shape 9"/>
          <ns0:cNvSpPr/>
          <ns0:nvPr/>
        </ns0:nvSpPr>
        <ns0:spPr>
          <a:xfrm>
            <a:off x="4663440" y="777240"/>
            <a:ext cx="4206240" cy="31089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ns0:spPr>
      </ns0:sp>
      <ns0:sp>
        <ns0:nvSpPr>
          <ns0:cNvPr id="12" name="Shape 10"/>
          <ns0:cNvSpPr/>
          <ns0:nvPr/>
        </ns0:nvSpPr>
        <ns0:spPr>
          <a:xfrm>
            <a:off x="4663440" y="777240"/>
            <a:ext cx="4206240" cy="73152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13" name="Text 11"/>
          <ns0:cNvSpPr/>
          <ns0:nvPr/>
        </ns0:nvSpPr>
        <ns0:spPr>
          <a:xfrm>
            <a:off x="4800600" y="896112"/>
            <a:ext cx="3840480" cy="384048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 Vista Previa del Día 3: Dominio en el Hogar</a:t>
            </a:r>
            <a:endParaRPr lang="en-US" sz="1400" dirty="0"/>
          </a:p>
        </ns0:txBody>
      </ns0:sp>
      <ns0:sp>
        <ns0:nvSpPr>
          <ns0:cNvPr id="14" name="Text 12"/>
          <ns0:cNvSpPr/>
          <ns0:nvPr/>
        </ns0:nvSpPr>
        <ns0:spPr>
          <a:xfrm>
            <a:off x="4846320" y="1371600"/>
            <a:ext cx="3840480" cy="22860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flujo de trabajo de la 'Mesa de Cocina'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Diseñando el sistema en tiempo real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Hoja de Ruta del Cierre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psicológico — leer tipos de propietarios</a:t>
            </a:r>
            <a:endParaRPr lang="en-US" sz="1300" dirty="0"/>
          </a:p>
        </ns0:txBody>
      </ns0:sp>
      <ns0:sp>
        <ns0:nvSpPr>
          <ns0:cNvPr id="15" name="Shape 13"/>
          <ns0:cNvSpPr/>
          <ns0:nvPr/>
        </ns0:nvSpPr>
        <ns0:spPr>
          <a:xfrm>
            <a:off x="274320" y="4069080"/>
            <a:ext cx="8595360" cy="73152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16" name="Text 14"/>
          <ns0:cNvSpPr/>
          <ns0:nvPr/>
        </ns0:nvSpPr>
        <ns0:spPr>
          <a:xfrm>
            <a:off x="365760" y="4069080"/>
            <a:ext cx="8412480" cy="7315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conocimiento sin acción es solo trivia. Vaya y siéntase cómodo siendo incómodo. 🚀</a:t>
            </a:r>
            <a:endParaRPr lang="en-US" sz="1600" dirty="0"/>
          </a:p>
        </ns0:txBody>
      </ns0:sp>
      <ns0:sp>
        <ns0:nvSpPr>
          <ns0:cNvPr id="17" name="Shape 15"/>
          <ns0:cNvSpPr/>
          <ns0:nvPr/>
        </ns0:nvSpPr>
        <ns0:spPr>
          <a:xfrm>
            <a:off x="274320" y="4160520"/>
            <a:ext cx="8595360" cy="685800"/>
          </a:xfrm>
          <a:prstGeom prst="rect">
            <a:avLst/>
          </a:prstGeom>
          <a:solidFill>
            <a:srgbClr val="FFF3CD"/>
          </a:solidFill>
          <a:ln w="12700">
            <a:solidFill>
              <a:srgbClr val="F5C842"/>
            </a:solidFill>
            <a:prstDash val="solid"/>
          </a:ln>
        </ns0:spPr>
      </ns0:sp>
      <ns0:sp>
        <ns0:nvSpPr>
          <ns0:cNvPr id="18" name="Text 16"/>
          <ns0:cNvSpPr/>
          <ns0:nvPr/>
        </ns0:nvSpPr>
        <ns0:spPr>
          <a:xfrm>
            <a:off x="411480" y="4187952"/>
            <a:ext cx="8321040" cy="5943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TRAINER: </a:t>
            </a:r>
            <a:pPr indent="0" marL="0">
              <a:buNone/>
            </a:pPr>
            <a:r>
              <a:rPr lang="en-US" sz="1100" i="1" dirty="0">
                <a:solidFill>
                  <a:srgbClr val="5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conocimiento sin acción es solo trivia. Salga y siéntase cómodo siendo incómodo.</a:t>
            </a:r>
            <a:endParaRPr lang="en-US" sz="1100" dirty="0"/>
          </a:p>
        </ns0:txBody>
      </ns0:sp>
    </ns0:spTree>
  </ns0:cSld>
  <ns0:clrMapOvr>
    <a:masterClrMapping/>
  </ns0:clrMapOvr>
</ns0:sld>
</file>

<file path=ppt/slides/slide47.xml><?xml version="1.0" encoding="utf-8"?>
<ns0:sld xmlns:a="http://schemas.openxmlformats.org/drawingml/2006/main" xmlns:ns0="http://schemas.openxmlformats.org/presentationml/2006/main">
  <ns0:cSld name="Slide 47"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274320" y="0"/>
            <a:ext cx="777240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de Cumplimiento del Día 2</a:t>
            </a:r>
            <a:endParaRPr lang="en-US" sz="2000" dirty="0"/>
          </a:p>
        </ns0:txBody>
      </ns0:sp>
      <ns0:sp>
        <ns0:nvSpPr>
          <ns0:cNvPr id="4" name="Shape 2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5" name="Text 3"/>
          <ns0:cNvSpPr/>
          <ns0:nvPr/>
        </ns0:nvSpPr>
        <ns0:spPr>
          <a:xfrm>
            <a:off x="7863840" y="91440"/>
            <a:ext cx="109728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900" dirty="0"/>
          </a:p>
        </ns0:txBody>
      </ns0:sp>
      <ns0:sp>
        <ns0:nvSpPr>
          <ns0:cNvPr id="6" name="Shape 4"/>
          <ns0:cNvSpPr/>
          <ns0:nvPr/>
        </ns0:nvSpPr>
        <ns0:spPr>
          <a:xfrm>
            <a:off x="0" y="4983480"/>
            <a:ext cx="9144000" cy="1554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ns0:spPr>
      </ns0:sp>
      <ns0:sp>
        <ns0:nvSpPr>
          <ns0:cNvPr id="7" name="Shape 5"/>
          <ns0:cNvSpPr/>
          <ns0:nvPr/>
        </ns0:nvSpPr>
        <ns0:spPr>
          <a:xfrm>
            <a:off x="0" y="4983480"/>
            <a:ext cx="1371600" cy="1554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8" name="Shape 6"/>
          <ns0:cNvSpPr/>
          <ns0:nvPr/>
        </ns0:nvSpPr>
        <ns0:spPr>
          <a:xfrm>
            <a:off x="274320" y="777240"/>
            <a:ext cx="8595360" cy="4754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ns0:spPr>
      </ns0:sp>
      <ns0:sp>
        <ns0:nvSpPr>
          <ns0:cNvPr id="9" name="Text 7"/>
          <ns0:cNvSpPr/>
          <ns0:nvPr/>
        </ns0:nvSpPr>
        <ns0:spPr>
          <a:xfrm>
            <a:off x="457200" y="777240"/>
            <a:ext cx="8229600" cy="475488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Cada representante es responsable de conocer y seguir estas reglas en el campo.</a:t>
            </a:r>
            <a:endParaRPr lang="en-US" sz="1300" dirty="0"/>
          </a:p>
        </ns0:txBody>
      </ns0:sp>
      <ns0:sp>
        <ns0:nvSpPr>
          <ns0:cNvPr id="10" name="Shape 8"/>
          <ns0:cNvSpPr/>
          <ns0:nvPr/>
        </ns0:nvSpPr>
        <ns0:spPr>
          <a:xfrm>
            <a:off x="274320" y="1371600"/>
            <a:ext cx="8595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ns0:spPr>
      </ns0:sp>
      <ns0:sp>
        <ns0:nvSpPr>
          <ns0:cNvPr id="11" name="Shape 9"/>
          <ns0:cNvSpPr/>
          <ns0:nvPr/>
        </ns0:nvSpPr>
        <ns0:spPr>
          <a:xfrm>
            <a:off x="274320" y="1371600"/>
            <a:ext cx="64008" cy="1234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ns0:spPr>
      </ns0:sp>
      <ns0:sp>
        <ns0:nvSpPr>
          <ns0:cNvPr id="12" name="Text 10"/>
          <ns0:cNvSpPr/>
          <ns0:nvPr/>
        </ns0:nvSpPr>
        <ns0:spPr>
          <a:xfrm>
            <a:off x="457200" y="1444752"/>
            <a:ext cx="365760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No Llamar / Solicitud</a:t>
            </a:r>
            <a:endParaRPr lang="en-US" sz="1400" dirty="0"/>
          </a:p>
        </ns0:txBody>
      </ns0:sp>
      <ns0:sp>
        <ns0:nvSpPr>
          <ns0:cNvPr id="13" name="Text 11"/>
          <ns0:cNvSpPr/>
          <ns0:nvPr/>
        </ns0:nvSpPr>
        <ns0:spPr>
          <a:xfrm>
            <a:off x="457200" y="1810512"/>
            <a:ext cx="8229600" cy="658368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verifique letreros de 'No Solicitar' antes de tocar. Investigue los requisitos de permisos locales para canvassing en cada municipio antes de trabajar un territorio.</a:t>
            </a:r>
            <a:endParaRPr lang="en-US" sz="1200" dirty="0"/>
          </a:p>
        </ns0:txBody>
      </ns0:sp>
      <ns0:sp>
        <ns0:nvSpPr>
          <ns0:cNvPr id="14" name="Shape 12"/>
          <ns0:cNvSpPr/>
          <ns0:nvPr/>
        </ns0:nvSpPr>
        <ns0:spPr>
          <a:xfrm>
            <a:off x="274320" y="2724912"/>
            <a:ext cx="8595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ns0:spPr>
      </ns0:sp>
      <ns0:sp>
        <ns0:nvSpPr>
          <ns0:cNvPr id="15" name="Shape 13"/>
          <ns0:cNvSpPr/>
          <ns0:nvPr/>
        </ns0:nvSpPr>
        <ns0:spPr>
          <a:xfrm>
            <a:off x="274320" y="2724912"/>
            <a:ext cx="64008" cy="123444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ns0:spPr>
      </ns0:sp>
      <ns0:sp>
        <ns0:nvSpPr>
          <ns0:cNvPr id="16" name="Text 14"/>
          <ns0:cNvSpPr/>
          <ns0:nvPr/>
        </ns0:nvSpPr>
        <ns0:spPr>
          <a:xfrm>
            <a:off x="457200" y="2798064"/>
            <a:ext cx="411480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Privacidad y Cumplimiento de PII</a:t>
            </a:r>
            <a:endParaRPr lang="en-US" sz="1400" dirty="0"/>
          </a:p>
        </ns0:txBody>
      </ns0:sp>
      <ns0:sp>
        <ns0:nvSpPr>
          <ns0:cNvPr id="17" name="Text 15"/>
          <ns0:cNvSpPr/>
          <ns0:nvPr/>
        </ns0:nvSpPr>
        <ns0:spPr>
          <a:xfrm>
            <a:off x="457200" y="3163824"/>
            <a:ext cx="8229600" cy="658368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comparta la factura real de un vecino, cifras específicas de ahorros, o cualquier detalle financiero personal con otro propietario. Los datos de cada cliente son privados.</a:t>
            </a:r>
            <a:endParaRPr lang="en-US" sz="1200" dirty="0"/>
          </a:p>
        </ns0:txBody>
      </ns0:sp>
      <ns0:sp>
        <ns0:nvSpPr>
          <ns0:cNvPr id="18" name="Shape 16"/>
          <ns0:cNvSpPr/>
          <ns0:nvPr/>
        </ns0:nvSpPr>
        <ns0:spPr>
          <a:xfrm>
            <a:off x="274320" y="4078224"/>
            <a:ext cx="8595360" cy="82296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ns0:spPr>
      </ns0:sp>
      <ns0:sp>
        <ns0:nvSpPr>
          <ns0:cNvPr id="19" name="Shape 17"/>
          <ns0:cNvSpPr/>
          <ns0:nvPr/>
        </ns0:nvSpPr>
        <ns0:spPr>
          <a:xfrm>
            <a:off x="274320" y="4078224"/>
            <a:ext cx="64008" cy="822960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ns0:spPr>
      </ns0:sp>
      <ns0:sp>
        <ns0:nvSpPr>
          <ns0:cNvPr id="20" name="Text 18"/>
          <ns0:cNvSpPr/>
          <ns0:nvPr/>
        </ns0:nvSpPr>
        <ns0:spPr>
          <a:xfrm>
            <a:off x="457200" y="4114800"/>
            <a:ext cx="182880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Nunca Diga:</a:t>
            </a:r>
            <a:endParaRPr lang="en-US" sz="1300" dirty="0"/>
          </a:p>
        </ns0:txBody>
      </ns0:sp>
      <ns0:sp>
        <ns0:nvSpPr>
          <ns0:cNvPr id="21" name="Text 19"/>
          <ns0:cNvSpPr/>
          <ns0:nvPr/>
        </ns0:nvSpPr>
        <ns0:spPr>
          <a:xfrm>
            <a:off x="2377440" y="4114800"/>
            <a:ext cx="6309360" cy="71323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gobierno está pagando su solar"   ·   "Nunca tendrá una factura eléctrica de nuevo"</a:t>
            </a:r>
            <a:endParaRPr lang="en-US" sz="1200" dirty="0"/>
          </a:p>
        </ns0:txBody>
      </ns0:sp>
    </ns0:spTree>
  </ns0:cSld>
  <ns0:clrMapOvr>
    <a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Solar Sales Training – Day 2</dc:title>
  <dc:subject>PptxGenJS Presentation</dc:subject>
  <dc:creator>PptxGenJS</dc:creator>
  <cp:lastModifiedBy>PptxGenJS</cp:lastModifiedBy>
  <cp:revision>1</cp:revision>
  <dcterms:created xsi:type="dcterms:W3CDTF">2026-03-08T12:40:08Z</dcterms:created>
  <dcterms:modified xsi:type="dcterms:W3CDTF">2026-03-08T12:40:08Z</dcterms:modified>
</cp:coreProperties>
</file>