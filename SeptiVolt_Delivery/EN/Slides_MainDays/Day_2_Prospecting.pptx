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notesMasterIdLst>
    <p:notesMasterId r:id="rId4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114800" cy="4114800"/>
          </a:xfrm>
          <a:prstGeom prst="ellipse">
            <a:avLst/>
          </a:prstGeom>
          <a:solidFill>
            <a:srgbClr val="F4821F">
              <a:alpha val="25000"/>
            </a:srgbClr>
          </a:solidFill>
          <a:ln w="12700">
            <a:solidFill>
              <a:srgbClr val="F4821F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822960"/>
            <a:ext cx="3017520" cy="3017520"/>
          </a:xfrm>
          <a:prstGeom prst="ellipse">
            <a:avLst/>
          </a:prstGeom>
          <a:solidFill>
            <a:srgbClr val="F5C842">
              <a:alpha val="40000"/>
            </a:srgbClr>
          </a:solidFill>
          <a:ln w="12700">
            <a:solidFill>
              <a:srgbClr val="F5C842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-274320"/>
            <a:ext cx="1920240" cy="1920240"/>
          </a:xfrm>
          <a:prstGeom prst="ellipse">
            <a:avLst/>
          </a:prstGeom>
          <a:solidFill>
            <a:srgbClr val="F5C842">
              <a:alpha val="70000"/>
            </a:srgbClr>
          </a:solidFill>
          <a:ln w="12700">
            <a:solidFill>
              <a:srgbClr val="F5C842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6400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Sales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7200" y="3246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Skills · Psychology · Territory · Objections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886200"/>
            <a:ext cx="8229600" cy="36576"/>
          </a:xfrm>
          <a:prstGeom prst="rect">
            <a:avLst/>
          </a:prstGeom>
          <a:solidFill>
            <a:srgbClr val="94A3B8">
              <a:alpha val="40000"/>
            </a:srgbClr>
          </a:solidFill>
          <a:ln w="12700">
            <a:solidFill>
              <a:srgbClr val="94A3B8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0233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Modules  ·  ~4.5 Hours  ·  Roleplays, Drills &amp; Certification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Agenda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863840" y="91440"/>
            <a:ext cx="1097280" cy="41148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0" y="914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5544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83480"/>
            <a:ext cx="1371600" cy="155448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822960"/>
            <a:ext cx="502920" cy="438912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822960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8686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Homeowner Psychology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0" y="86868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481328"/>
            <a:ext cx="502920" cy="438912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481328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152704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Territory Strategy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0" y="1527048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139696"/>
            <a:ext cx="502920" cy="438912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139696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2185416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Math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0" y="2185416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2798064"/>
            <a:ext cx="502920" cy="438912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798064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" y="2843784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Framework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114800" y="2843784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456432"/>
            <a:ext cx="502920" cy="438912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456432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68680" y="350215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Knocking Mastery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114800" y="3502152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4114800"/>
            <a:ext cx="502920" cy="438912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114800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68680" y="416052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 Objection Handling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114800" y="416052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937760" y="822960"/>
            <a:ext cx="502920" cy="43891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37760" y="822960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532120" y="8686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&amp; Virtual Appt Setting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183880" y="868680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937760" y="1481328"/>
            <a:ext cx="502920" cy="43891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37760" y="1481328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532120" y="152704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Anti-Sales Framing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183880" y="1527048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937760" y="2139696"/>
            <a:ext cx="502920" cy="43891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37760" y="2139696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532120" y="218541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Prospecting Workflow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8183880" y="2185416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937760" y="2798064"/>
            <a:ext cx="502920" cy="43891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37760" y="2798064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2.10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532120" y="284378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Roleplay Certification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8183880" y="2843784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937760" y="3456432"/>
            <a:ext cx="502920" cy="43891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37760" y="3456432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2.11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532120" y="350215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Wrap-Up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8183880" y="3502152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500" kern="0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2.1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Homeowner Psychology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People Resist Solar  ·  Understanding the 'Why' before the 'How'  ·  35 min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Homeowner Psychology Matters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863840" y="91440"/>
            <a:ext cx="1097280" cy="41148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0" y="914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5544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83480"/>
            <a:ext cx="1371600" cy="155448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7772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solar reps understand people first, product second.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74320" y="1463040"/>
            <a:ext cx="8595360" cy="43891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087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08960" y="1508760"/>
            <a:ext cx="5577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psychological barriers  ·  Leverage persuasion triggers  ·  Build instant trust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057400"/>
            <a:ext cx="4023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057400"/>
            <a:ext cx="64008" cy="132588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2167128"/>
            <a:ext cx="3767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Resistance is Normal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0352" y="2514600"/>
            <a:ext cx="3767328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homeowners didn't ask you to knock. Their first reaction is self-protective—not personal.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057400"/>
            <a:ext cx="4023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057400"/>
            <a:ext cx="64008" cy="132588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9472" y="2167128"/>
            <a:ext cx="3767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Psychology = Persuasion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19472" y="2514600"/>
            <a:ext cx="3767328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understand why people resist, you can craft conversations that feel helpful—not pushy.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493008"/>
            <a:ext cx="4023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93008"/>
            <a:ext cx="64008" cy="123444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3602736"/>
            <a:ext cx="3767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Drives Decisions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0352" y="3950208"/>
            <a:ext cx="3767328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are driven by emotion and bias, not logic. The best reps sell to the emotional brain.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3493008"/>
            <a:ext cx="4023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493008"/>
            <a:ext cx="64008" cy="1234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9472" y="3602736"/>
            <a:ext cx="3767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Trust First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19472" y="3950208"/>
            <a:ext cx="3767328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is the gateway to every sale. Without it, the best pitch fails.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 Check: You Are an Interruption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863840" y="91440"/>
            <a:ext cx="1097280" cy="41148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0" y="914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5544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83480"/>
            <a:ext cx="1371600" cy="155448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777240"/>
            <a:ext cx="8595360" cy="9144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7772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homeowners are NOT looking for solar today.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74320" y="1874520"/>
            <a:ext cx="42062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874520"/>
            <a:ext cx="64008" cy="160020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1984248"/>
            <a:ext cx="39502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The Brain Defaults to 'Protection Mode'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8912" y="2331720"/>
            <a:ext cx="3950208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stranger knocks, the brain's threat-detection fires immediately. Every response — including 'Not interested' — is a reflex, not a real decision.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1874520"/>
            <a:ext cx="42062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874520"/>
            <a:ext cx="64008" cy="1600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28032" y="1984248"/>
            <a:ext cx="39502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Status Quo = Safety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28032" y="2331720"/>
            <a:ext cx="3950208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homeowner's brain equates change with risk. Doing nothing feels safe by default — even when doing nothing is quietly costing them money.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3611880"/>
            <a:ext cx="8595360" cy="1188720"/>
          </a:xfrm>
          <a:prstGeom prst="rect">
            <a:avLst/>
          </a:prstGeom>
          <a:solidFill>
            <a:srgbClr val="EEF2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703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take it personally — it's biology.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57200" y="4114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interrupting dinner, a movie, or a nap. Your job: earn 30 more seconds at a time.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4160520"/>
            <a:ext cx="8595360" cy="685800"/>
          </a:xfrm>
          <a:prstGeom prst="rect">
            <a:avLst/>
          </a:prstGeom>
          <a:solidFill>
            <a:srgbClr val="FFF3CD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187952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TRAINER: </a:t>
            </a:r>
            <a:pPr indent="0" marL="0">
              <a:buNone/>
            </a:pPr>
            <a:r>
              <a:rPr lang="en-US" sz="1100" i="1" dirty="0">
                <a:solidFill>
                  <a:srgbClr val="5A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interrupting dinner, a movie, or a nap. Their brain is wired to get rid of you as fast as possible to return to status quo.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Quo Bias: The Silent Objection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863840" y="91440"/>
            <a:ext cx="1097280" cy="41148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0" y="914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5544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83480"/>
            <a:ext cx="1371600" cy="155448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822960"/>
            <a:ext cx="5029200" cy="3383280"/>
          </a:xfrm>
          <a:prstGeom prst="rect">
            <a:avLst/>
          </a:prstGeom>
          <a:solidFill>
            <a:srgbClr val="EEF2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914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1325880"/>
            <a:ext cx="45720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strongly prefer the current situation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feels risky — even beneficial change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 nothing feels safe by default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"My bill is fine" = avoiding the unknown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0" y="822960"/>
            <a:ext cx="3383280" cy="338328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77840" y="9601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Job: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577840" y="141732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force change.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 the cost of staying the same.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577840" y="31089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would it mean to keep paying your utility $3,000 every year?"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4160520"/>
            <a:ext cx="8595360" cy="685800"/>
          </a:xfrm>
          <a:prstGeom prst="rect">
            <a:avLst/>
          </a:prstGeom>
          <a:solidFill>
            <a:srgbClr val="FFF3CD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4187952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TRAINER: </a:t>
            </a:r>
            <a:pPr indent="0" marL="0">
              <a:buNone/>
            </a:pPr>
            <a:r>
              <a:rPr lang="en-US" sz="1100" i="1" dirty="0">
                <a:solidFill>
                  <a:srgbClr val="5A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homeowners to calculate what they've already paid the utility this year. Loss aversion kicks in fast.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Avoidance &amp; Delay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863840" y="91440"/>
            <a:ext cx="1097280" cy="41148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0" y="914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5544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83480"/>
            <a:ext cx="1371600" cy="155448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7772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"I'll think about it"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65760" y="13258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...is rarely the truth. It's pressure relief.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65760" y="1874520"/>
            <a:ext cx="3931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874520"/>
            <a:ext cx="64008" cy="137160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1984248"/>
            <a:ext cx="3675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happens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0352" y="2331720"/>
            <a:ext cx="367588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create cognitive anxiety. The brain uses delay as a shortcut to avoid uncertainty.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34840" y="1874520"/>
            <a:ext cx="4343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34840" y="1874520"/>
            <a:ext cx="64008" cy="13716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99432" y="1984248"/>
            <a:ext cx="4087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'Think About It' really means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99432" y="2331720"/>
            <a:ext cx="408736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 don't see enough value yet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Something felt unclear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 wasn't ready to commit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383280"/>
            <a:ext cx="8412480" cy="11887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50215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 strategy: Guide understanding, not pressure. Help them see what staying costs.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48640" y="40050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'What info would help you feel confident about this decision?'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Contractor Trust Barrier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863840" y="91440"/>
            <a:ext cx="1097280" cy="41148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0" y="914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5544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83480"/>
            <a:ext cx="1371600" cy="155448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2296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homeowners have been burned by contractors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negative experiences color current perception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Homeowners evaluate YOU before they evaluate solar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395728"/>
            <a:ext cx="5029200" cy="169164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48716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of Distrust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2852928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Crossed arms / closed body language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one-word answers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Angled body (ready to close the door)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577840" y="822960"/>
            <a:ext cx="3337560" cy="329184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15000" y="9601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715000" y="1371600"/>
            <a:ext cx="30632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They're not rejecting solar.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They're protecting themselves from a stranger.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job is to become a trusted person — not a salesperson.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4320" y="4160520"/>
            <a:ext cx="8595360" cy="685800"/>
          </a:xfrm>
          <a:prstGeom prst="rect">
            <a:avLst/>
          </a:prstGeom>
          <a:solidFill>
            <a:srgbClr val="FFF3CD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4187952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TRAINER: </a:t>
            </a:r>
            <a:pPr indent="0" marL="0">
              <a:buNone/>
            </a:pPr>
            <a:r>
              <a:rPr lang="en-US" sz="1100" i="1" dirty="0">
                <a:solidFill>
                  <a:srgbClr val="5A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class: 'Think of a time YOU were skeptical of a salesperson. What would have changed your mind?'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Addressing Skepticism Directly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863840" y="91440"/>
            <a:ext cx="1097280" cy="41148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0" y="914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5544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83480"/>
            <a:ext cx="1371600" cy="155448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777240"/>
            <a:ext cx="8595360" cy="192024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86868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Script: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261872"/>
            <a:ext cx="8046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know solar reps have a certain reputation, and I get it. That's why I start with the numbers first. If it doesn't make sense for your home, I'll tell you."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74320" y="283464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834640"/>
            <a:ext cx="64008" cy="150876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2944368"/>
            <a:ext cx="3858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Why This Works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38912" y="3291840"/>
            <a:ext cx="3858768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the 'elephant in the room' disarms resistance before it builds. You're no longer a threat — you're someone who gets it.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283464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2834640"/>
            <a:ext cx="64008" cy="1508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28032" y="2944368"/>
            <a:ext cx="3858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The Principle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28032" y="3291840"/>
            <a:ext cx="3858768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admit that some people in this industry are pushy, you instantly separate yourself from them. Vulnerability = trust.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4160520"/>
            <a:ext cx="8595360" cy="685800"/>
          </a:xfrm>
          <a:prstGeom prst="rect">
            <a:avLst/>
          </a:prstGeom>
          <a:solidFill>
            <a:srgbClr val="FFF3CD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4187952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TRAINER: </a:t>
            </a:r>
            <a:pPr indent="0" marL="0">
              <a:buNone/>
            </a:pPr>
            <a:r>
              <a:rPr lang="en-US" sz="1100" i="1" dirty="0">
                <a:solidFill>
                  <a:srgbClr val="5A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admit some reps are pushy, you instantly separate yourself from them. Practice saying this out loud — it must sound natural.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Aversion: The Strongest Motivator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863840" y="91440"/>
            <a:ext cx="1097280" cy="41148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0" y="914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5544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83480"/>
            <a:ext cx="1371600" cy="155448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777240"/>
            <a:ext cx="8595360" cy="54864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7955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fear losses more than they value equivalent gains.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274320" y="1508760"/>
            <a:ext cx="4114800" cy="2103120"/>
          </a:xfrm>
          <a:prstGeom prst="rect">
            <a:avLst/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6002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Framing (Weak)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1480" y="201168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could save $200/month with solar."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" y="26517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urgency. No threat. Easy to postpone.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1508760"/>
            <a:ext cx="4114800" cy="2103120"/>
          </a:xfrm>
          <a:prstGeom prst="rect">
            <a:avLst/>
          </a:prstGeom>
          <a:solidFill>
            <a:srgbClr val="FFF1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6002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Framing (Powerful)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92040" y="201168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"You're losing $200/month to the utility company."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92040" y="26517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urgency. Current pain. Hard to ignore.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4320" y="374904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Frame solar as stopping a loss, not creating a gain.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74320" y="4160520"/>
            <a:ext cx="8595360" cy="685800"/>
          </a:xfrm>
          <a:prstGeom prst="rect">
            <a:avLst/>
          </a:prstGeom>
          <a:solidFill>
            <a:srgbClr val="FFF3CD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4187952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TRAINER: </a:t>
            </a:r>
            <a:pPr indent="0" marL="0">
              <a:buNone/>
            </a:pPr>
            <a:r>
              <a:rPr lang="en-US" sz="1100" i="1" dirty="0">
                <a:solidFill>
                  <a:srgbClr val="5A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'How much have you paid your utility in the last 10 years?' The number shocks them.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Psychological Factors: Quick Reference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863840" y="91440"/>
            <a:ext cx="1097280" cy="41148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0" y="914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5544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83480"/>
            <a:ext cx="1371600" cy="155448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8595360" cy="4160520"/>
        </p:xfrm>
        <a:graphic>
          <a:graphicData uri="http://schemas.openxmlformats.org/drawingml/2006/table">
            <a:tbl>
              <a:tblPr/>
              <a:tblGrid>
                <a:gridCol w="2286000"/>
                <a:gridCol w="2926080"/>
                <a:gridCol w="33832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Psychological Factor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Looks Like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 Strategy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Quo Bias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"My bill is fine"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 the true cost of staying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Avoidance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"I'll think about it"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Guide clarity, not pressure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Contractor Distrust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Crossed arms, short answers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 it, build rapport slowly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Solar Skepticism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"Reps always exaggerate"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 it openly and directly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 Aversion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Responds to $$ paid out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 savings as stopping loss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Fatigue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Evening monosyllabic replies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pitch short, ask small steps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Simulation: Guarded Gloria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863840" y="91440"/>
            <a:ext cx="1097280" cy="41148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0" y="914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5544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83480"/>
            <a:ext cx="1371600" cy="155448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777240"/>
            <a:ext cx="8595360" cy="15544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868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2344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Gloria opens the door with: "I've heard this pitch before. Not interested."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74320" y="25146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Focus: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292608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and name the distrust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Disarm skepticism without arguing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calm, curious tone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30 more seconds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120640" y="2468880"/>
            <a:ext cx="3749040" cy="233172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57800" y="26060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Goal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57800" y="3017520"/>
            <a:ext cx="3474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conversation open.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pitch — just connect and earn the right to speak.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500" kern="0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2.2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Territory Strategy &amp; Planning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High-Probability Neighborhoods  ·  20 min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Cloverleaf Strategy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863840" y="91440"/>
            <a:ext cx="1097280" cy="41148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0" y="914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5544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83480"/>
            <a:ext cx="1371600" cy="155448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74980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where trust already exists.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74320" y="1261872"/>
            <a:ext cx="8595360" cy="38404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26187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4 houses LEFT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46120" y="126187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INSTALL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72200" y="126187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houses RIGHT →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749040" y="1755648"/>
            <a:ext cx="1645920" cy="1645920"/>
          </a:xfrm>
          <a:prstGeom prst="ellipse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49040" y="1755648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103120" y="1600200"/>
            <a:ext cx="1371600" cy="914400"/>
          </a:xfrm>
          <a:prstGeom prst="ellipse">
            <a:avLst/>
          </a:prstGeom>
          <a:solidFill>
            <a:srgbClr val="0D1F3C">
              <a:alpha val="7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03120" y="16002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0" y="1600200"/>
            <a:ext cx="1371600" cy="914400"/>
          </a:xfrm>
          <a:prstGeom prst="ellipse">
            <a:avLst/>
          </a:prstGeom>
          <a:solidFill>
            <a:srgbClr val="0D1F3C">
              <a:alpha val="7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0" y="16002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280160" y="2651760"/>
            <a:ext cx="1371600" cy="914400"/>
          </a:xfrm>
          <a:prstGeom prst="ellipse">
            <a:avLst/>
          </a:prstGeom>
          <a:solidFill>
            <a:srgbClr val="0D1F3C">
              <a:alpha val="7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80160" y="265176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309360" y="2651760"/>
            <a:ext cx="1371600" cy="914400"/>
          </a:xfrm>
          <a:prstGeom prst="ellipse">
            <a:avLst/>
          </a:prstGeom>
          <a:solidFill>
            <a:srgbClr val="0D1F3C">
              <a:alpha val="7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265176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103120" y="3474720"/>
            <a:ext cx="1371600" cy="914400"/>
          </a:xfrm>
          <a:prstGeom prst="ellipse">
            <a:avLst/>
          </a:prstGeom>
          <a:solidFill>
            <a:srgbClr val="0D1F3C">
              <a:alpha val="7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03120" y="347472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0" y="3474720"/>
            <a:ext cx="1371600" cy="914400"/>
          </a:xfrm>
          <a:prstGeom prst="ellipse">
            <a:avLst/>
          </a:prstGeom>
          <a:solidFill>
            <a:srgbClr val="0D1F3C">
              <a:alpha val="7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0" y="347472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74320" y="365760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  8 houses ACROSS the street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74320" y="4160520"/>
            <a:ext cx="8595360" cy="685800"/>
          </a:xfrm>
          <a:prstGeom prst="rect">
            <a:avLst/>
          </a:prstGeom>
          <a:solidFill>
            <a:srgbClr val="FFF3CD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4187952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TRAINER: </a:t>
            </a:r>
            <a:pPr indent="0" marL="0">
              <a:buNone/>
            </a:pPr>
            <a:r>
              <a:rPr lang="en-US" sz="1100" i="1" dirty="0">
                <a:solidFill>
                  <a:srgbClr val="5A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Neighbors don't want to be the first to go solar — but they definitely don't want to be the last. Use yard signs as proof.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High-Probability Pockets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863840" y="91440"/>
            <a:ext cx="1097280" cy="41148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0" y="914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5544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83480"/>
            <a:ext cx="1371600" cy="155448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777240"/>
            <a:ext cx="4206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777240"/>
            <a:ext cx="4206240" cy="64008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9144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Values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834640" y="9144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$250K+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128016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home value = higher bills = stronger ROI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777240"/>
            <a:ext cx="4206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777240"/>
            <a:ext cx="4206240" cy="64008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9144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Roof Age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269480" y="9144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5–15 years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92040" y="128016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enough to be stable, young enough for 25yr system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240280"/>
            <a:ext cx="4206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240280"/>
            <a:ext cx="420624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377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Roof Orientation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834640" y="23774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South-facing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274320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South-facing planes get max sun exposure year-round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2240280"/>
            <a:ext cx="4206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2240280"/>
            <a:ext cx="420624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2377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Type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269480" y="23774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co-op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92040" y="274320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Co-ops often block net metering incentives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3703320"/>
            <a:ext cx="4206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3703320"/>
            <a:ext cx="4206240" cy="64008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840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EVs in Driveway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834640" y="38404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signal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7200" y="420624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owners already pay high energy bills — perfect fit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09160" y="3703320"/>
            <a:ext cx="4206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09160" y="3703320"/>
            <a:ext cx="4206240" cy="64008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3840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HOA Status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269480" y="38404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Solar-friendly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892040" y="420624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HOA rules before knocking the whole block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Prospecting Tools &amp; Deliverable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863840" y="91440"/>
            <a:ext cx="1097280" cy="41148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0" y="914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5544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83480"/>
            <a:ext cx="1371600" cy="155448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822960"/>
            <a:ext cx="4114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822960"/>
            <a:ext cx="64008" cy="2011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932688"/>
            <a:ext cx="3858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Tools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8912" y="1280160"/>
            <a:ext cx="3858768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routing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install data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Zillow home values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County property records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822960"/>
            <a:ext cx="4114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822960"/>
            <a:ext cx="64008" cy="201168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9472" y="932688"/>
            <a:ext cx="3858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Proof Tools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19472" y="1280160"/>
            <a:ext cx="3858768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Yard signs near installs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 name drops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install list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Street-level familiarity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3017520"/>
            <a:ext cx="8595360" cy="17373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1546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DELIVERABLE: Written Territory Plan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94360" y="361188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target neighborhoods with rationale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knock routes mapped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proximity strategy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500" kern="0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2.3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Efficiency Math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Don't Lie  ·  15 min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Prospecting Math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863840" y="91440"/>
            <a:ext cx="1097280" cy="41148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0" y="914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5544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83480"/>
            <a:ext cx="1371600" cy="155448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74980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beats talent.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65760" y="1371600"/>
            <a:ext cx="2560320" cy="13716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4630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knocks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5760" y="2011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" y="23317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conversation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971800" y="182880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3291840" y="1371600"/>
            <a:ext cx="2560320" cy="13716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14630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convos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291840" y="2011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291840" y="23317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appointment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897880" y="182880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217920" y="1371600"/>
            <a:ext cx="2560320" cy="13716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14630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appts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217920" y="2011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217920" y="23317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sale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65760" y="2971800"/>
            <a:ext cx="8412480" cy="91440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297180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doors = 1 close</a:t>
            </a:r>
            <a:endParaRPr lang="en-US" sz="3200" dirty="0"/>
          </a:p>
        </p:txBody>
      </p:sp>
      <p:sp>
        <p:nvSpPr>
          <p:cNvPr id="25" name="Shape 23"/>
          <p:cNvSpPr/>
          <p:nvPr/>
        </p:nvSpPr>
        <p:spPr>
          <a:xfrm>
            <a:off x="274320" y="4160520"/>
            <a:ext cx="8595360" cy="685800"/>
          </a:xfrm>
          <a:prstGeom prst="rect">
            <a:avLst/>
          </a:prstGeom>
          <a:solidFill>
            <a:srgbClr val="FFF3CD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4187952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TRAINER: </a:t>
            </a:r>
            <a:pPr indent="0" marL="0">
              <a:buNone/>
            </a:pPr>
            <a:r>
              <a:rPr lang="en-US" sz="1100" i="1" dirty="0">
                <a:solidFill>
                  <a:srgbClr val="5A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this on the whiteboard. Have reps calculate how many doors they knocked last week.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Hour &amp; The $78 Door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863840" y="91440"/>
            <a:ext cx="1097280" cy="41148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0" y="914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5544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83480"/>
            <a:ext cx="1371600" cy="155448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822960"/>
            <a:ext cx="2011680" cy="12801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822960"/>
            <a:ext cx="2011680" cy="64008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9601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$3,500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65760" y="16002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Commission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0" y="822960"/>
            <a:ext cx="2011680" cy="12801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60320" y="822960"/>
            <a:ext cx="2011680" cy="64008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0" y="9601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÷ 9hrs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2560320" y="16002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Day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822960"/>
            <a:ext cx="2011680" cy="12801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822960"/>
            <a:ext cx="2011680" cy="64008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9601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$389/hr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4754880" y="16002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Hourly Rate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49440" y="822960"/>
            <a:ext cx="2011680" cy="12801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49440" y="822960"/>
            <a:ext cx="2011680" cy="64008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0" y="9601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$78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6949440" y="16002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Door Value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2331720"/>
            <a:ext cx="8412480" cy="2286000"/>
          </a:xfrm>
          <a:prstGeom prst="rect">
            <a:avLst/>
          </a:prstGeom>
          <a:solidFill>
            <a:srgbClr val="EEF2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246888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Reframe Every 'No'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40080" y="2926080"/>
            <a:ext cx="7863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door you knock — whether they answer or not — is worth approximately $78 to you. The no's fund the yeses. Each rejection is a payment toward your next commission.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274320" y="4160520"/>
            <a:ext cx="8595360" cy="685800"/>
          </a:xfrm>
          <a:prstGeom prst="rect">
            <a:avLst/>
          </a:prstGeom>
          <a:solidFill>
            <a:srgbClr val="FFF3CD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4187952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TRAINER: </a:t>
            </a:r>
            <a:pPr indent="0" marL="0">
              <a:buNone/>
            </a:pPr>
            <a:r>
              <a:rPr lang="en-US" sz="1100" i="1" dirty="0">
                <a:solidFill>
                  <a:srgbClr val="5A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reps: 'If someone offered you $78 to walk to a door, would you do it 100 times today?' When someone slams a door, say 'Thank you for the $78!' — it takes the sting out of No.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Hours &amp; Daily Non-Negotiables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863840" y="91440"/>
            <a:ext cx="1097280" cy="41148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0" y="914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5544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83480"/>
            <a:ext cx="1371600" cy="155448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777240"/>
            <a:ext cx="4206240" cy="2560320"/>
          </a:xfrm>
          <a:prstGeom prst="rect">
            <a:avLst/>
          </a:prstGeom>
          <a:solidFill>
            <a:srgbClr val="F5C842">
              <a:alpha val="80000"/>
            </a:srgbClr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89611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GOLDEN HOURS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141732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2:00 PM – 7:00 PM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7200" y="210312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errands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admin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social media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distractions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777240"/>
            <a:ext cx="4206240" cy="25603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89611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Non-Negotiables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141732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doors per day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calls if dialing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2 appointments set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updated before end of day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74320" y="3520440"/>
            <a:ext cx="8595360" cy="1188720"/>
          </a:xfrm>
          <a:prstGeom prst="rect">
            <a:avLst/>
          </a:prstGeom>
          <a:solidFill>
            <a:srgbClr val="EEF2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611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Schedule: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" y="3950208"/>
            <a:ext cx="1965960" cy="621792"/>
          </a:xfrm>
          <a:prstGeom prst="rect">
            <a:avLst/>
          </a:prstGeom>
          <a:solidFill>
            <a:srgbClr val="F4821F">
              <a:alpha val="20000"/>
            </a:srgbClr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950208"/>
            <a:ext cx="1965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 prep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587752" y="3950208"/>
            <a:ext cx="1965960" cy="621792"/>
          </a:xfrm>
          <a:prstGeom prst="rect">
            <a:avLst/>
          </a:prstGeom>
          <a:solidFill>
            <a:srgbClr val="0891B2">
              <a:alpha val="2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87752" y="3950208"/>
            <a:ext cx="1965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Midday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/ route plan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64024" y="3950208"/>
            <a:ext cx="1965960" cy="621792"/>
          </a:xfrm>
          <a:prstGeom prst="rect">
            <a:avLst/>
          </a:prstGeom>
          <a:solidFill>
            <a:srgbClr val="F4821F">
              <a:alpha val="20000"/>
            </a:srgbClr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64024" y="3950208"/>
            <a:ext cx="1965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Afternoon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940296" y="3950208"/>
            <a:ext cx="1965960" cy="621792"/>
          </a:xfrm>
          <a:prstGeom prst="rect">
            <a:avLst/>
          </a:prstGeom>
          <a:solidFill>
            <a:srgbClr val="0891B2">
              <a:alpha val="2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0296" y="3950208"/>
            <a:ext cx="1965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Follow-ups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500" kern="0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2.4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Solar Conversation Framework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Steps to Every Interaction  ·  20 min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7-Step Framework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863840" y="91440"/>
            <a:ext cx="1097280" cy="41148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0" y="914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5544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83480"/>
            <a:ext cx="1371600" cy="155448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804672"/>
            <a:ext cx="457200" cy="713232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804672"/>
            <a:ext cx="457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804672"/>
            <a:ext cx="3840480" cy="713232"/>
          </a:xfrm>
          <a:prstGeom prst="rect">
            <a:avLst/>
          </a:prstGeom>
          <a:solidFill>
            <a:srgbClr val="EEF2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85039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Interrupt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1188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something unexpected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1700784"/>
            <a:ext cx="457200" cy="7132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700784"/>
            <a:ext cx="457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31520" y="1700784"/>
            <a:ext cx="3840480" cy="713232"/>
          </a:xfrm>
          <a:prstGeom prst="rect">
            <a:avLst/>
          </a:prstGeom>
          <a:solidFill>
            <a:srgbClr val="EEF2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174650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208483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moment before solar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596896"/>
            <a:ext cx="457200" cy="713232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596896"/>
            <a:ext cx="457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31520" y="2596896"/>
            <a:ext cx="3840480" cy="713232"/>
          </a:xfrm>
          <a:prstGeom prst="rect">
            <a:avLst/>
          </a:prstGeom>
          <a:solidFill>
            <a:srgbClr val="EEF2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264261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Curiosity Question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68680" y="298094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them talking about solar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493008"/>
            <a:ext cx="457200" cy="7132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3493008"/>
            <a:ext cx="457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31520" y="3493008"/>
            <a:ext cx="3840480" cy="713232"/>
          </a:xfrm>
          <a:prstGeom prst="rect">
            <a:avLst/>
          </a:prstGeom>
          <a:solidFill>
            <a:srgbClr val="EEF2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353872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Awareness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68680" y="387705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rising energy costs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804672"/>
            <a:ext cx="457200" cy="713232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804672"/>
            <a:ext cx="457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5212080" y="804672"/>
            <a:ext cx="3840480" cy="713232"/>
          </a:xfrm>
          <a:prstGeom prst="rect">
            <a:avLst/>
          </a:prstGeom>
          <a:solidFill>
            <a:srgbClr val="EEF2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49240" y="85039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Discovery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49240" y="1188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their actual number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1700784"/>
            <a:ext cx="457200" cy="7132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1700784"/>
            <a:ext cx="457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5212080" y="1700784"/>
            <a:ext cx="3840480" cy="713232"/>
          </a:xfrm>
          <a:prstGeom prst="rect">
            <a:avLst/>
          </a:prstGeom>
          <a:solidFill>
            <a:srgbClr val="EEF2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49240" y="174650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Qualification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349240" y="208483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they're the right fit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54880" y="2596896"/>
            <a:ext cx="457200" cy="713232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2596896"/>
            <a:ext cx="457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5212080" y="2596896"/>
            <a:ext cx="3840480" cy="713232"/>
          </a:xfrm>
          <a:prstGeom prst="rect">
            <a:avLst/>
          </a:prstGeom>
          <a:solidFill>
            <a:srgbClr val="EEF2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49240" y="264261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349240" y="298094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for the appointment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74320" y="4160520"/>
            <a:ext cx="8595360" cy="685800"/>
          </a:xfrm>
          <a:prstGeom prst="rect">
            <a:avLst/>
          </a:prstGeom>
          <a:solidFill>
            <a:srgbClr val="FFF3CD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1480" y="4187952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TRAINER: </a:t>
            </a:r>
            <a:pPr indent="0" marL="0">
              <a:buNone/>
            </a:pPr>
            <a:r>
              <a:rPr lang="en-US" sz="1100" i="1" dirty="0">
                <a:solidFill>
                  <a:srgbClr val="5A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skip steps. If you try to see the bill (Step 5) before you build rapport (Step 2), they will kick you off the porch.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in Action: Key Scripts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863840" y="91440"/>
            <a:ext cx="1097280" cy="41148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0" y="914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5544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83480"/>
            <a:ext cx="1371600" cy="155448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804672"/>
            <a:ext cx="42062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804672"/>
            <a:ext cx="64008" cy="160020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914400"/>
            <a:ext cx="39502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Interrupt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8912" y="1261872"/>
            <a:ext cx="3950208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"Your neighbor on Maple just went solar and wanted me to hit a few nearby homes."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804672"/>
            <a:ext cx="42062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804672"/>
            <a:ext cx="64008" cy="1600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28032" y="914400"/>
            <a:ext cx="39502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Curiosity Question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28032" y="1261872"/>
            <a:ext cx="3950208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"Have you looked into solar before, or just haven't gotten around to it?"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651760"/>
            <a:ext cx="42062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651760"/>
            <a:ext cx="64008" cy="160020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2761488"/>
            <a:ext cx="39502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Awareness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38912" y="3108960"/>
            <a:ext cx="3950208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"Most homeowners in this zip are seeing their bills go up 4–6% every year."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2651760"/>
            <a:ext cx="42062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2651760"/>
            <a:ext cx="64008" cy="1600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28032" y="2761488"/>
            <a:ext cx="39502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 (Binary Close)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28032" y="3108960"/>
            <a:ext cx="3950208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have Thursday at 6pm or Saturday morning — which works better?"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4160520"/>
            <a:ext cx="8595360" cy="685800"/>
          </a:xfrm>
          <a:prstGeom prst="rect">
            <a:avLst/>
          </a:prstGeom>
          <a:solidFill>
            <a:srgbClr val="FFF3CD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4187952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TRAINER: </a:t>
            </a:r>
            <a:pPr indent="0" marL="0">
              <a:buNone/>
            </a:pPr>
            <a:r>
              <a:rPr lang="en-US" sz="1100" i="1" dirty="0">
                <a:solidFill>
                  <a:srgbClr val="5A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binary close removes the 'yes/no' dynamic. It assumes forward movement and creates micro-commitment.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The Pattern Interrupt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863840" y="91440"/>
            <a:ext cx="1097280" cy="41148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0" y="914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5544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83480"/>
            <a:ext cx="1371600" cy="155448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777240"/>
            <a:ext cx="8595360" cy="50292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Stop the homeowner's auto-pilot rejection reflex.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74320" y="1463040"/>
            <a:ext cx="4114800" cy="219456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57276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Standard Opener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199339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"Hi, how are you today?"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251460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Homeowner thinks: Salesman. Brain goes to 'get rid of this person' mode before you finish the sentence.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1463040"/>
            <a:ext cx="4114800" cy="2194560"/>
          </a:xfrm>
          <a:prstGeom prst="rect">
            <a:avLst/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157276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Pattern Interrupt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7760" y="199339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"Hey, sorry to bother you — I was just looking at your neighbor John's roof..."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37760" y="265176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curiosity instead of defense. They pause the auto-pilot and actually listen.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3794760"/>
            <a:ext cx="8595360" cy="100584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85876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key: Lead with curiosity, not a pitch.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" y="422452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a neighbor, a local install, or something specific to their street.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4160520"/>
            <a:ext cx="8595360" cy="685800"/>
          </a:xfrm>
          <a:prstGeom prst="rect">
            <a:avLst/>
          </a:prstGeom>
          <a:solidFill>
            <a:srgbClr val="FFF3CD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187952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TRAINER: </a:t>
            </a:r>
            <a:pPr indent="0" marL="0">
              <a:buNone/>
            </a:pPr>
            <a:r>
              <a:rPr lang="en-US" sz="1100" i="1" dirty="0">
                <a:solidFill>
                  <a:srgbClr val="5A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reps practice 3 different pattern interrupts out loud right now. Specificity is what makes it work.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500" kern="0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2.5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Knocking Mastery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Art of the First 30 Seconds  ·  30 min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Mindset, Preparation &amp; Approach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863840" y="91440"/>
            <a:ext cx="1097280" cy="41148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0" y="914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5544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83480"/>
            <a:ext cx="1371600" cy="155448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804672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804672"/>
            <a:ext cx="64008" cy="182880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914400"/>
            <a:ext cx="39502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Mindset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8912" y="1261872"/>
            <a:ext cx="3950208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 rejection as the default.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Celebrate conversations — not just appointments.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door is a $78 opportunity.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804672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804672"/>
            <a:ext cx="64008" cy="18288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28032" y="914400"/>
            <a:ext cx="39502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Pre-Knock Preparation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28032" y="1261872"/>
            <a:ext cx="3950208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professional appearance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or identifier visible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ready (tablet or printed)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energy — genuinely smile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788920"/>
            <a:ext cx="8595360" cy="4114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8163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" y="3246120"/>
            <a:ext cx="82296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6 feet back — give the homeowner space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Smile BEFORE the door opens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hands visible — open and relaxed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 contact without staring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30-Second Pitch Structure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863840" y="91440"/>
            <a:ext cx="1097280" cy="41148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0" y="914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5544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83480"/>
            <a:ext cx="1371600" cy="155448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914400"/>
            <a:ext cx="566928" cy="566928"/>
          </a:xfrm>
          <a:prstGeom prst="ellipse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9144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85039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118872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"Hey, I'm [Name] — I work with a team helping homeowners in this area."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57784" y="1517904"/>
            <a:ext cx="0" cy="201168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274320" y="1773936"/>
            <a:ext cx="566928" cy="566928"/>
          </a:xfrm>
          <a:prstGeom prst="ellipse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7739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170992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 Reference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2048256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"Your neighbor on Oak just went solar and wanted us to let nearby homes know."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57784" y="2377440"/>
            <a:ext cx="0" cy="201168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274320" y="2633472"/>
            <a:ext cx="566928" cy="566928"/>
          </a:xfrm>
          <a:prstGeom prst="ellipse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63347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05840" y="256946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Awareness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5840" y="2907792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"Most folks here are seeing electric bills climb every year."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57784" y="3236976"/>
            <a:ext cx="0" cy="201168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274320" y="3493008"/>
            <a:ext cx="566928" cy="566928"/>
          </a:xfrm>
          <a:prstGeom prst="ellipse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349300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05840" y="3429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05840" y="3767328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"Would it be worth 10 minutes to see if your home qualifies?"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74320" y="4160520"/>
            <a:ext cx="8595360" cy="685800"/>
          </a:xfrm>
          <a:prstGeom prst="rect">
            <a:avLst/>
          </a:prstGeom>
          <a:solidFill>
            <a:srgbClr val="FFF3CD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4187952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TRAINER: </a:t>
            </a:r>
            <a:pPr indent="0" marL="0">
              <a:buNone/>
            </a:pPr>
            <a:r>
              <a:rPr lang="en-US" sz="1100" i="1" dirty="0">
                <a:solidFill>
                  <a:srgbClr val="5A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this. It must be under 30 seconds. Homeowners decide in 7 seconds whether to stay or close the door.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Play Exercise &amp; Deliverable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863840" y="91440"/>
            <a:ext cx="1097280" cy="41148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0" y="914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5544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83480"/>
            <a:ext cx="1371600" cy="155448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804672"/>
            <a:ext cx="8595360" cy="2286000"/>
          </a:xfrm>
          <a:prstGeom prst="rect">
            <a:avLst/>
          </a:prstGeom>
          <a:solidFill>
            <a:srgbClr val="EEF2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9144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🎭  PAIR PRACTICE: 5 Rounds Each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1371600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rep knocks, one plays homeowner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Homeowner starts neutral, then escalates resistance in rounds 3–5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observes and calls out energy, eye contact, and timing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after 5 rounds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3246120"/>
            <a:ext cx="8595360" cy="15544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38328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📹  DELIVERABLE: Record Your Pitch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94360" y="379476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 30-second door pitch on your phone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to your trainer for feedback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Criteria: Energy, structure, speed, appointment close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500" kern="0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2.6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 Objection Handling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the Door from Closing  ·  30 min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Golden Rule of Objections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863840" y="91440"/>
            <a:ext cx="1097280" cy="41148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0" y="914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5544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83480"/>
            <a:ext cx="1371600" cy="155448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777240"/>
            <a:ext cx="8595360" cy="118872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82296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Argue.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4572000" y="82296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Curious.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457200" y="139903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Resistance is a request for more information — not a hard no.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121408"/>
            <a:ext cx="8595360" cy="420624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121408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Formula:  AGREE  →  DISTRACT  →  ASK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263347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"That makes sense — most people feel that way until they see the data. Quick question..."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31546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3438144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first — never dismiss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ONE follow-up question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 — close for small next step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3127248"/>
            <a:ext cx="4206240" cy="1005840"/>
          </a:xfrm>
          <a:prstGeom prst="rect">
            <a:avLst/>
          </a:prstGeom>
          <a:solidFill>
            <a:srgbClr val="EEF2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32004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most reps do wrong: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00600" y="349300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back → they push back harder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defensive / accept brush-off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4160520"/>
            <a:ext cx="8595360" cy="685800"/>
          </a:xfrm>
          <a:prstGeom prst="rect">
            <a:avLst/>
          </a:prstGeom>
          <a:solidFill>
            <a:srgbClr val="FFF3CD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4187952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TRAINER: </a:t>
            </a:r>
            <a:pPr indent="0" marL="0">
              <a:buNone/>
            </a:pPr>
            <a:r>
              <a:rPr lang="en-US" sz="1100" i="1" dirty="0">
                <a:solidFill>
                  <a:srgbClr val="5A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push, they push back. If you pull, they fall toward you. Use their energy — like Aikido.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Brush-Offs: Scripts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863840" y="91440"/>
            <a:ext cx="1097280" cy="41148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0" y="914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5544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83480"/>
            <a:ext cx="1371600" cy="155448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804672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804672"/>
            <a:ext cx="4206240" cy="438912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804672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"Not interested"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4048" y="1307592"/>
            <a:ext cx="3977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"Totally fair. Quick question — have you looked into solar before, or just haven't gotten around to it?"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804672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804672"/>
            <a:ext cx="4206240" cy="438912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3168" y="804672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"Leave info"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73168" y="1307592"/>
            <a:ext cx="3977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"Happy to — but the savings depend on your specific bill and roof. Mind if I ask one quick question?"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697480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697480"/>
            <a:ext cx="4206240" cy="438912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2697480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"I'm busy"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84048" y="3200400"/>
            <a:ext cx="3977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"I completely understand, I'm actually on my way to another neighbor's house. I'm not here to pitch you now — just seeing if you're even eligible for the state program."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2697480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2697480"/>
            <a:ext cx="4206240" cy="438912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73168" y="2697480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"Need to talk to spouse"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73168" y="3200400"/>
            <a:ext cx="3977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"That's smart — I actually prefer both homeowners there. When are you both home?"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4160520"/>
            <a:ext cx="8595360" cy="685800"/>
          </a:xfrm>
          <a:prstGeom prst="rect">
            <a:avLst/>
          </a:prstGeom>
          <a:solidFill>
            <a:srgbClr val="FFF3CD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4187952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TRAINER: </a:t>
            </a:r>
            <a:pPr indent="0" marL="0">
              <a:buNone/>
            </a:pPr>
            <a:r>
              <a:rPr lang="en-US" sz="1100" i="1" dirty="0">
                <a:solidFill>
                  <a:srgbClr val="5A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Fire Drill: Trainer shouts objections. Reps respond within 3 seconds. Speed builds confidence.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500" kern="0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2.7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&amp; Virtual Appointment Setting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Speed, Tone &amp; Confirmation  ·  25 min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to Lead &amp; Phone Framework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863840" y="91440"/>
            <a:ext cx="1097280" cy="41148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0" y="914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5544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83480"/>
            <a:ext cx="1371600" cy="155448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777240"/>
            <a:ext cx="8595360" cy="73152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7772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within 5 minutes of a lead — or lose them to a competitor.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274320" y="1801368"/>
            <a:ext cx="530352" cy="5303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80136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17099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20574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"Hey [Name], this is [Your Name] with [Company]. Quick question for you—"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697480"/>
            <a:ext cx="530352" cy="5303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69748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2606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2953512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"What's your average electric bill? / How long have you been in the home? / Looked into solar before?"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3593592"/>
            <a:ext cx="530352" cy="5303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59359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05840" y="350215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Close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5840" y="3849624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have Tuesday at 7 or Thursday at 6. Which works better?"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4160520"/>
            <a:ext cx="8595360" cy="685800"/>
          </a:xfrm>
          <a:prstGeom prst="rect">
            <a:avLst/>
          </a:prstGeom>
          <a:solidFill>
            <a:srgbClr val="FFF3CD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4187952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TRAINER: </a:t>
            </a:r>
            <a:pPr indent="0" marL="0">
              <a:buNone/>
            </a:pPr>
            <a:r>
              <a:rPr lang="en-US" sz="1100" i="1" dirty="0">
                <a:solidFill>
                  <a:srgbClr val="5A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Smile while talking. The homeowner can hear it. Slow down — urgency reads as desperation.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Tonality Rules &amp; Phone Objections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863840" y="91440"/>
            <a:ext cx="1097280" cy="41148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0" y="914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5544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83480"/>
            <a:ext cx="1371600" cy="155448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804672"/>
            <a:ext cx="4206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804672"/>
            <a:ext cx="64008" cy="1463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914400"/>
            <a:ext cx="39502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Smile While Talking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8912" y="1261872"/>
            <a:ext cx="395020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homeowner hears your energy. A genuine smile changes your tone—they can feel it through the phone.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804672"/>
            <a:ext cx="4206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804672"/>
            <a:ext cx="64008" cy="146304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28032" y="914400"/>
            <a:ext cx="39502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Your Pace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28032" y="1261872"/>
            <a:ext cx="395020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= nervous = salesy. Slow, deliberate pace = confident = trusted.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423160"/>
            <a:ext cx="4206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423160"/>
            <a:ext cx="64008" cy="146304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2532888"/>
            <a:ext cx="39502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 Tone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38912" y="2880360"/>
            <a:ext cx="395020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uptalk (questions at end of statements). Declarative statements inspire confidence.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2423160"/>
            <a:ext cx="4206240" cy="2423160"/>
          </a:xfrm>
          <a:prstGeom prst="rect">
            <a:avLst/>
          </a:prstGeom>
          <a:solidFill>
            <a:srgbClr val="EEF2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54203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Objection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00600" y="294436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"Just send me information."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00600" y="341071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Response: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00600" y="374904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information won't make sense without your specific bill and roof data — that's why a quick 10-minute call is so much more valuable than a brochure."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500" kern="0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2.8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Anti-Sales Framing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Consultant Approach  ·  20 min</a:t>
            </a:r>
            <a:endParaRPr lang="en-US" sz="1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Anti-Pitch Strategy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863840" y="91440"/>
            <a:ext cx="1097280" cy="41148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0" y="914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5544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83480"/>
            <a:ext cx="1371600" cy="155448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777240"/>
            <a:ext cx="8595360" cy="9144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7772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"I'm not here to sell you anything."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274320" y="182880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828800"/>
            <a:ext cx="64008" cy="1554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1938528"/>
            <a:ext cx="3858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Permission-Based Language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8912" y="2286000"/>
            <a:ext cx="3858768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"Is it cool if I ask one quick question?"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"Mind if I pull your roof up?"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182880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828800"/>
            <a:ext cx="64008" cy="155448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28032" y="1938528"/>
            <a:ext cx="3858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Disqualification Strategy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28032" y="2286000"/>
            <a:ext cx="3858768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"Solar doesn't make sense for everyone — let me first check if your home even qualifies."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3520440"/>
            <a:ext cx="8595360" cy="1234440"/>
          </a:xfrm>
          <a:prstGeom prst="rect">
            <a:avLst/>
          </a:prstGeom>
          <a:solidFill>
            <a:srgbClr val="EEF2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63016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 Commitments Build Compliance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4005072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"Does that make sense?" → "Fair enough?" → "Sound good so far?"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small yes builds toward the big yes</a:t>
            </a:r>
            <a:endParaRPr lang="en-US" sz="13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Consultant Energy vs. Salesperson Energy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863840" y="91440"/>
            <a:ext cx="1097280" cy="41148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0" y="914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5544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83480"/>
            <a:ext cx="1371600" cy="155448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8595360" cy="4160520"/>
        </p:xfrm>
        <a:graphic>
          <a:graphicData uri="http://schemas.openxmlformats.org/drawingml/2006/table">
            <a:tbl>
              <a:tblPr/>
              <a:tblGrid>
                <a:gridCol w="2286000"/>
                <a:gridCol w="2926080"/>
                <a:gridCol w="33832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Salesperson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Consultant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F4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Fast, urgent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Slow, deliberate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Body language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Leaning in, crowding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Relaxed, 6 feet back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"You need solar"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"Let me see if it makes sense for you"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Overcome / push through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Acknowledge and redirect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 the sale today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 the appointment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expert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 advisor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500" kern="0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2.9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Prospecting Workflow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Rhythm &amp; KPIs  ·  15 min</a:t>
            </a:r>
            <a:endParaRPr lang="en-US" sz="1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Rhythm &amp; KPI Targets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863840" y="91440"/>
            <a:ext cx="1097280" cy="41148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0" y="914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5544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83480"/>
            <a:ext cx="1371600" cy="155448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74980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gets measured gets managed.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74320" y="1325880"/>
            <a:ext cx="2560320" cy="65836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325880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8–12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926080" y="1325880"/>
            <a:ext cx="5943600" cy="658368"/>
          </a:xfrm>
          <a:prstGeom prst="rect">
            <a:avLst/>
          </a:prstGeom>
          <a:solidFill>
            <a:srgbClr val="EEF2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1325880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 prep / training / route planning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2130552"/>
            <a:ext cx="2560320" cy="65836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13055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Midday 12–2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926080" y="2130552"/>
            <a:ext cx="5943600" cy="658368"/>
          </a:xfrm>
          <a:prstGeom prst="rect">
            <a:avLst/>
          </a:prstGeom>
          <a:solidFill>
            <a:srgbClr val="EEF2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08960" y="2130552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updates / team huddle / lunch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2935224"/>
            <a:ext cx="2560320" cy="658368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935224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Afternoon 2–7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26080" y="2935224"/>
            <a:ext cx="5943600" cy="658368"/>
          </a:xfrm>
          <a:prstGeom prst="rect">
            <a:avLst/>
          </a:prstGeom>
          <a:solidFill>
            <a:srgbClr val="FFF3C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08960" y="2935224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GOLDEN HOURS — Prospecting only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3739896"/>
            <a:ext cx="2560320" cy="65836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739896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 7–9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926080" y="3739896"/>
            <a:ext cx="5943600" cy="658368"/>
          </a:xfrm>
          <a:prstGeom prst="rect">
            <a:avLst/>
          </a:prstGeom>
          <a:solidFill>
            <a:srgbClr val="EEF2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08960" y="3739896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Follow-ups / confirmation calls / CRM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74320" y="4572000"/>
            <a:ext cx="8595360" cy="438912"/>
          </a:xfrm>
          <a:prstGeom prst="rect">
            <a:avLst/>
          </a:prstGeom>
          <a:solidFill>
            <a:srgbClr val="EEF2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4572000"/>
            <a:ext cx="2377440" cy="438912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57200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doors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743200" y="4572000"/>
            <a:ext cx="2377440" cy="438912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0" y="457200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conversations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486400" y="4572000"/>
            <a:ext cx="2377440" cy="438912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0" y="457200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appointments</a:t>
            </a:r>
            <a:endParaRPr lang="en-US" sz="13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 Systems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863840" y="91440"/>
            <a:ext cx="1097280" cy="41148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0" y="914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5544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83480"/>
            <a:ext cx="1371600" cy="155448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804672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804672"/>
            <a:ext cx="64008" cy="18288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914400"/>
            <a:ext cx="3858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Reporting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8912" y="1261872"/>
            <a:ext cx="3858768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every knock, conversation, and appointment in real time. If it's not in the CRM, it didn't happen.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804672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804672"/>
            <a:ext cx="64008" cy="182880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28032" y="914400"/>
            <a:ext cx="3858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Check-Ins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28032" y="1261872"/>
            <a:ext cx="3858768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end-of-day check-in. Share KPIs, wins, and one thing to improve tomorrow.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78892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788920"/>
            <a:ext cx="64008" cy="182880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2898648"/>
            <a:ext cx="3858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38912" y="3246120"/>
            <a:ext cx="3858768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scoreboards drive healthy competition. Top performers by doors, appointments, and closes.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278892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2788920"/>
            <a:ext cx="64008" cy="18288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28032" y="2898648"/>
            <a:ext cx="3858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Reviews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28032" y="3246120"/>
            <a:ext cx="3858768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conversion rates weekly. Adjust territory, timing, and scripts based on data.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500" kern="0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2.10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Roleplay Certification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Real-World Skills  ·  30 min</a:t>
            </a:r>
            <a:endParaRPr lang="en-US" sz="16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Certification: What You're Being Tested 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863840" y="91440"/>
            <a:ext cx="1097280" cy="41148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0" y="914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5544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83480"/>
            <a:ext cx="1371600" cy="155448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7772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isn't practice anymore. This is your proof of readiness.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74320" y="1371600"/>
            <a:ext cx="822960" cy="713232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371600"/>
            <a:ext cx="822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188720" y="1371600"/>
            <a:ext cx="7680960" cy="713232"/>
          </a:xfrm>
          <a:prstGeom prst="rect">
            <a:avLst/>
          </a:prstGeom>
          <a:solidFill>
            <a:srgbClr val="EEF2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0" y="1417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Knock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17556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interrupt → rapport → qualification → appointment close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267712"/>
            <a:ext cx="822960" cy="713232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267712"/>
            <a:ext cx="822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188720" y="2267712"/>
            <a:ext cx="7680960" cy="713232"/>
          </a:xfrm>
          <a:prstGeom prst="rect">
            <a:avLst/>
          </a:prstGeom>
          <a:solidFill>
            <a:srgbClr val="EEF2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23134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Call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265176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opener → discovery questions → appointment close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3163824"/>
            <a:ext cx="822960" cy="713232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163824"/>
            <a:ext cx="822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3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188720" y="3163824"/>
            <a:ext cx="7680960" cy="713232"/>
          </a:xfrm>
          <a:prstGeom prst="rect">
            <a:avLst/>
          </a:prstGeom>
          <a:solidFill>
            <a:srgbClr val="EEF2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71600" y="320954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 Drill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71600" y="354787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rapid-fire objections — respond within 3 seconds each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4059936"/>
            <a:ext cx="822960" cy="713232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059936"/>
            <a:ext cx="822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4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188720" y="4059936"/>
            <a:ext cx="7680960" cy="713232"/>
          </a:xfrm>
          <a:prstGeom prst="rect">
            <a:avLst/>
          </a:prstGeom>
          <a:solidFill>
            <a:srgbClr val="EEF2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71600" y="410565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Framework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371600" y="4443984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7-step conversation with a resistant homeowner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74320" y="4754880"/>
            <a:ext cx="8595360" cy="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Criteria &amp; Manager Evaluation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863840" y="91440"/>
            <a:ext cx="1097280" cy="41148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0" y="914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5544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83480"/>
            <a:ext cx="1371600" cy="155448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0467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Criteria: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261872"/>
            <a:ext cx="47548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Calm, confident energy throughout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Qualifies homeowner (bill, ownership, time in home)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 binary close for appointment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at least 2 objections without arguing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in consultant (not salesperson) mode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212080" y="777240"/>
            <a:ext cx="3657600" cy="40233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49240" y="89611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Eval Checklist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349240" y="1417320"/>
            <a:ext cx="320040" cy="3200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0" y="143560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/ presence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349240" y="1892808"/>
            <a:ext cx="320040" cy="3200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0" y="1911096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interrupt quality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349240" y="2368296"/>
            <a:ext cx="320040" cy="3200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0" y="238658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(genuine?)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349240" y="2843784"/>
            <a:ext cx="320040" cy="3200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0" y="286207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Qualification questions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349240" y="3319272"/>
            <a:ext cx="320040" cy="3200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0" y="33375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 response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349240" y="3794760"/>
            <a:ext cx="320040" cy="3200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0" y="381304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close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349240" y="4270248"/>
            <a:ext cx="320040" cy="3200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60720" y="4288536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Overall: Pass / Revise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500" kern="0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2.11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Wrap-Up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You've Mastered  ·  10 min</a:t>
            </a:r>
            <a:endParaRPr lang="en-US" sz="16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Achievements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863840" y="91440"/>
            <a:ext cx="1097280" cy="41148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0" y="914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5544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83480"/>
            <a:ext cx="1371600" cy="155448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74980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built the foundation of a top solar rep.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74320" y="1371600"/>
            <a:ext cx="4206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371600"/>
            <a:ext cx="64008" cy="150876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481328"/>
            <a:ext cx="39502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Homeowner Psychology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38912" y="1828800"/>
            <a:ext cx="3950208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understand why resistance happens — and how to work with it, not against it.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371600"/>
            <a:ext cx="4206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371600"/>
            <a:ext cx="64008" cy="1508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28032" y="1481328"/>
            <a:ext cx="39502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Territory Strategy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28032" y="1828800"/>
            <a:ext cx="3950208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know how to pick high-probability neighborhoods and leverage social proof.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017520"/>
            <a:ext cx="4206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017520"/>
            <a:ext cx="64008" cy="150876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3127248"/>
            <a:ext cx="39502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Door Conversations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38912" y="3474720"/>
            <a:ext cx="3950208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a 7-step framework and a 30-second pitch ready to deploy.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63440" y="3017520"/>
            <a:ext cx="4206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3017520"/>
            <a:ext cx="64008" cy="1508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8032" y="3127248"/>
            <a:ext cx="39502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Objection Handling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28032" y="3474720"/>
            <a:ext cx="3950208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handle brush-offs with curiosity instead of pressure.</a:t>
            </a:r>
            <a:endParaRPr lang="en-US" sz="1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Homework: The '20/20' Challenge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863840" y="91440"/>
            <a:ext cx="1097280" cy="41148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0" y="914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5544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83480"/>
            <a:ext cx="1371600" cy="155448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777240"/>
            <a:ext cx="4206240" cy="3108960"/>
          </a:xfrm>
          <a:prstGeom prst="rect">
            <a:avLst/>
          </a:prstGeom>
          <a:solidFill>
            <a:srgbClr val="EEF2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89611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Tonight's Homework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1371600"/>
            <a:ext cx="38404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Knock 20 practice doors (no pressure — just reps)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your 30-second Pattern Interrupt on your phone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Psychology of Loss Aversion module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territory plan (3 neighborhoods)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777240"/>
            <a:ext cx="4206240" cy="31089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777240"/>
            <a:ext cx="4206240" cy="73152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89611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  Day 3 Preview: In-Home Mastery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1371600"/>
            <a:ext cx="38404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'Kitchen Table' workflow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the system in real-time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Closing Roadmap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Psychological profiling — reading homeowner types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4320" y="4069080"/>
            <a:ext cx="8595360" cy="73152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06908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without action is just trivia. Go get comfortable being uncomfortable. 🚀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74320" y="4160520"/>
            <a:ext cx="8595360" cy="685800"/>
          </a:xfrm>
          <a:prstGeom prst="rect">
            <a:avLst/>
          </a:prstGeom>
          <a:solidFill>
            <a:srgbClr val="FFF3CD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4187952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TRAINER: </a:t>
            </a:r>
            <a:pPr indent="0" marL="0">
              <a:buNone/>
            </a:pPr>
            <a:r>
              <a:rPr lang="en-US" sz="1100" i="1" dirty="0">
                <a:solidFill>
                  <a:srgbClr val="5A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without action is just trivia. Go out there and get comfortable being uncomfortable.</a:t>
            </a:r>
            <a:endParaRPr lang="en-US" sz="11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Compliance Requirements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863840" y="91440"/>
            <a:ext cx="1097280" cy="41148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0" y="914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5544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83480"/>
            <a:ext cx="1371600" cy="155448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777240"/>
            <a:ext cx="8595360" cy="4754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7772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Every rep is responsible for knowing and following these rules in the field.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1371600"/>
            <a:ext cx="8595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371600"/>
            <a:ext cx="64008" cy="1234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44475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DNC / Solicitation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181051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check for 'No Soliciting' signs before knocking. Research local permit requirements for canvassing in each municipality before working a territory.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724912"/>
            <a:ext cx="8595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724912"/>
            <a:ext cx="64008" cy="123444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79806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Privacy &amp; PII Compliance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3163824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share a neighbor's actual bill, specific savings figures, or any personal financial details with another homeowner. Each customer's data is private.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4078224"/>
            <a:ext cx="8595360" cy="82296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4078224"/>
            <a:ext cx="64008" cy="822960"/>
          </a:xfrm>
          <a:prstGeom prst="rect">
            <a:avLst/>
          </a:prstGeom>
          <a:solidFill>
            <a:srgbClr val="9B1C1C"/>
          </a:solidFill>
          <a:ln w="12700">
            <a:solidFill>
              <a:srgbClr val="9B1C1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114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Never Say: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377440" y="4114800"/>
            <a:ext cx="6309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government is paying for your solar"   ·   "You will never have an electric bill again"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Solar Sales Training – Day 2</dc:title>
  <dc:subject>PptxGenJS Presentation</dc:subject>
  <dc:creator>PptxGenJS</dc:creator>
  <cp:lastModifiedBy>PptxGenJS</cp:lastModifiedBy>
  <cp:revision>1</cp:revision>
  <dcterms:created xsi:type="dcterms:W3CDTF">2026-03-08T12:40:08Z</dcterms:created>
  <dcterms:modified xsi:type="dcterms:W3CDTF">2026-03-08T12:40:08Z</dcterms:modified>
</cp:coreProperties>
</file>