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Process timeline with survey step highlighted as the critical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Homeowner prep checklist with clear visual icons.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SMS sequence mockups showing the three-touch confirmation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Project timeline Gantt chart showing full post-survey process with communication touchpoints.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891B2"/>
          </a:solidFill>
          <a:ln w="12700">
            <a:solidFill>
              <a:srgbClr val="0891B2"/>
            </a:solidFill>
            <a:prstDash val="solid"/>
          </a:ln>
        </p:spPr>
      </p:sp>
      <p:sp>
        <p:nvSpPr>
          <p:cNvPr id="3" name="Shape 1"/>
          <p:cNvSpPr/>
          <p:nvPr/>
        </p:nvSpPr>
        <p:spPr>
          <a:xfrm>
            <a:off x="128016" y="0"/>
            <a:ext cx="9015984" cy="50292"/>
          </a:xfrm>
          <a:prstGeom prst="rect">
            <a:avLst/>
          </a:prstGeom>
          <a:solidFill>
            <a:srgbClr val="F4A61D"/>
          </a:solidFill>
          <a:ln w="12700">
            <a:solidFill>
              <a:srgbClr val="F4A61D"/>
            </a:solidFill>
            <a:prstDash val="solid"/>
          </a:ln>
        </p:spPr>
      </p:sp>
      <p:sp>
        <p:nvSpPr>
          <p:cNvPr id="4" name="Shape 2"/>
          <p:cNvSpPr/>
          <p:nvPr/>
        </p:nvSpPr>
        <p:spPr>
          <a:xfrm>
            <a:off x="365760" y="274320"/>
            <a:ext cx="2103120" cy="329184"/>
          </a:xfrm>
          <a:prstGeom prst="rect">
            <a:avLst/>
          </a:prstGeom>
          <a:solidFill>
            <a:srgbClr val="F4A61D"/>
          </a:solidFill>
          <a:ln w="12700">
            <a:solidFill>
              <a:srgbClr val="F4A61D"/>
            </a:solidFill>
            <a:prstDash val="solid"/>
          </a:ln>
        </p:spPr>
      </p:sp>
      <p:sp>
        <p:nvSpPr>
          <p:cNvPr id="5" name="Text 3"/>
          <p:cNvSpPr/>
          <p:nvPr/>
        </p:nvSpPr>
        <p:spPr>
          <a:xfrm>
            <a:off x="365760" y="274320"/>
            <a:ext cx="2103120" cy="329184"/>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MODULE 3.7b</a:t>
            </a:r>
            <a:endParaRPr lang="en-US" sz="1100" dirty="0"/>
          </a:p>
        </p:txBody>
      </p:sp>
      <p:sp>
        <p:nvSpPr>
          <p:cNvPr id="6" name="Text 4"/>
          <p:cNvSpPr/>
          <p:nvPr/>
        </p:nvSpPr>
        <p:spPr>
          <a:xfrm>
            <a:off x="6583680" y="137160"/>
            <a:ext cx="2377440" cy="228600"/>
          </a:xfrm>
          <a:prstGeom prst="rect">
            <a:avLst/>
          </a:prstGeom>
          <a:noFill/>
          <a:ln/>
        </p:spPr>
        <p:txBody>
          <a:bodyPr wrap="square" rtlCol="0" anchor="ctr"/>
          <a:lstStyle/>
          <a:p>
            <a:pPr algn="r" indent="0" marL="0">
              <a:buNone/>
            </a:pPr>
            <a:r>
              <a:rPr lang="en-US" sz="900" b="1" spc="500" kern="0" dirty="0">
                <a:solidFill>
                  <a:srgbClr val="64748B"/>
                </a:solidFill>
                <a:latin typeface="Calibri" pitchFamily="34" charset="0"/>
                <a:ea typeface="Calibri" pitchFamily="34" charset="-122"/>
                <a:cs typeface="Calibri" pitchFamily="34" charset="-120"/>
              </a:rPr>
              <a:t>SEPTIVOLT</a:t>
            </a:r>
            <a:endParaRPr lang="en-US" sz="900" dirty="0"/>
          </a:p>
        </p:txBody>
      </p:sp>
      <p:sp>
        <p:nvSpPr>
          <p:cNvPr id="7" name="Text 5"/>
          <p:cNvSpPr/>
          <p:nvPr/>
        </p:nvSpPr>
        <p:spPr>
          <a:xfrm>
            <a:off x="365760" y="804672"/>
            <a:ext cx="8412480" cy="1920240"/>
          </a:xfrm>
          <a:prstGeom prst="rect">
            <a:avLst/>
          </a:prstGeom>
          <a:noFill/>
          <a:ln/>
        </p:spPr>
        <p:txBody>
          <a:bodyPr wrap="square" rtlCol="0" anchor="t"/>
          <a:lstStyle/>
          <a:p>
            <a:pPr algn="l" indent="0" marL="0">
              <a:buNone/>
            </a:pPr>
            <a:r>
              <a:rPr lang="en-US" sz="3600" b="1" dirty="0">
                <a:solidFill>
                  <a:srgbClr val="FFFFFF"/>
                </a:solidFill>
                <a:latin typeface="Calibri" pitchFamily="34" charset="0"/>
                <a:ea typeface="Calibri" pitchFamily="34" charset="-122"/>
                <a:cs typeface="Calibri" pitchFamily="34" charset="-120"/>
              </a:rPr>
              <a:t>Survey Prep &amp; Setting Expectations:</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Total Transparency From Day One</a:t>
            </a:r>
            <a:endParaRPr lang="en-US" sz="3600" dirty="0"/>
          </a:p>
        </p:txBody>
      </p:sp>
      <p:sp>
        <p:nvSpPr>
          <p:cNvPr id="8" name="Text 6"/>
          <p:cNvSpPr/>
          <p:nvPr/>
        </p:nvSpPr>
        <p:spPr>
          <a:xfrm>
            <a:off x="365760" y="2834640"/>
            <a:ext cx="7772400" cy="502920"/>
          </a:xfrm>
          <a:prstGeom prst="rect">
            <a:avLst/>
          </a:prstGeom>
          <a:noFill/>
          <a:ln/>
        </p:spPr>
        <p:txBody>
          <a:bodyPr wrap="square" rtlCol="0" anchor="ctr"/>
          <a:lstStyle/>
          <a:p>
            <a:pPr algn="l" indent="0" marL="0">
              <a:buNone/>
            </a:pPr>
            <a:r>
              <a:rPr lang="en-US" sz="1500" dirty="0">
                <a:solidFill>
                  <a:srgbClr val="0891B2"/>
                </a:solidFill>
                <a:latin typeface="Calibri" pitchFamily="34" charset="0"/>
                <a:ea typeface="Calibri" pitchFamily="34" charset="-122"/>
                <a:cs typeface="Calibri" pitchFamily="34" charset="-120"/>
              </a:rPr>
              <a:t>Homeowner Preparation · No-Show Prevention · Post-Survey Next Steps</a:t>
            </a:r>
            <a:endParaRPr lang="en-US" sz="1500" dirty="0"/>
          </a:p>
        </p:txBody>
      </p:sp>
      <p:sp>
        <p:nvSpPr>
          <p:cNvPr id="9" name="Shape 7"/>
          <p:cNvSpPr/>
          <p:nvPr/>
        </p:nvSpPr>
        <p:spPr>
          <a:xfrm>
            <a:off x="365760" y="3456432"/>
            <a:ext cx="8412480" cy="713232"/>
          </a:xfrm>
          <a:prstGeom prst="rect">
            <a:avLst/>
          </a:prstGeom>
          <a:solidFill>
            <a:srgbClr val="1A2E3F"/>
          </a:solidFill>
          <a:ln w="12700">
            <a:solidFill>
              <a:srgbClr val="F4A61D"/>
            </a:solidFill>
            <a:prstDash val="solid"/>
          </a:ln>
        </p:spPr>
      </p:sp>
      <p:sp>
        <p:nvSpPr>
          <p:cNvPr id="10" name="Shape 8"/>
          <p:cNvSpPr/>
          <p:nvPr/>
        </p:nvSpPr>
        <p:spPr>
          <a:xfrm>
            <a:off x="365760" y="3456432"/>
            <a:ext cx="54864" cy="713232"/>
          </a:xfrm>
          <a:prstGeom prst="rect">
            <a:avLst/>
          </a:prstGeom>
          <a:solidFill>
            <a:srgbClr val="F4A61D"/>
          </a:solidFill>
          <a:ln w="12700">
            <a:solidFill>
              <a:srgbClr val="F4A61D"/>
            </a:solidFill>
            <a:prstDash val="solid"/>
          </a:ln>
        </p:spPr>
      </p:sp>
      <p:sp>
        <p:nvSpPr>
          <p:cNvPr id="11" name="Text 9"/>
          <p:cNvSpPr/>
          <p:nvPr/>
        </p:nvSpPr>
        <p:spPr>
          <a:xfrm>
            <a:off x="548640" y="3456432"/>
            <a:ext cx="8138160" cy="713232"/>
          </a:xfrm>
          <a:prstGeom prst="rect">
            <a:avLst/>
          </a:prstGeom>
          <a:noFill/>
          <a:ln/>
        </p:spPr>
        <p:txBody>
          <a:bodyPr wrap="square" rtlCol="0" anchor="ctr"/>
          <a:lstStyle/>
          <a:p>
            <a:pPr algn="l" indent="0" marL="0">
              <a:buNone/>
            </a:pPr>
            <a:r>
              <a:rPr lang="en-US" sz="1200" i="1" dirty="0">
                <a:solidFill>
                  <a:srgbClr val="F4A61D"/>
                </a:solidFill>
                <a:latin typeface="Calibri" pitchFamily="34" charset="0"/>
                <a:ea typeface="Calibri" pitchFamily="34" charset="-122"/>
                <a:cs typeface="Calibri" pitchFamily="34" charset="-120"/>
              </a:rPr>
              <a:t>"A well-prepared homeowner is a cooperative homeowner. Surprise kills momentum."</a:t>
            </a:r>
            <a:endParaRPr lang="en-US" sz="1200" dirty="0"/>
          </a:p>
        </p:txBody>
      </p:sp>
      <p:sp>
        <p:nvSpPr>
          <p:cNvPr id="12" name="Shape 10"/>
          <p:cNvSpPr/>
          <p:nvPr/>
        </p:nvSpPr>
        <p:spPr>
          <a:xfrm>
            <a:off x="128016" y="4956048"/>
            <a:ext cx="9015984" cy="187452"/>
          </a:xfrm>
          <a:prstGeom prst="rect">
            <a:avLst/>
          </a:prstGeom>
          <a:solidFill>
            <a:srgbClr val="065A82"/>
          </a:solidFill>
          <a:ln w="12700">
            <a:solidFill>
              <a:srgbClr val="065A82"/>
            </a:solidFill>
            <a:prstDash val="solid"/>
          </a:ln>
        </p:spPr>
      </p:sp>
      <p:sp>
        <p:nvSpPr>
          <p:cNvPr id="13" name="Text 11"/>
          <p:cNvSpPr/>
          <p:nvPr/>
        </p:nvSpPr>
        <p:spPr>
          <a:xfrm>
            <a:off x="182880" y="4956048"/>
            <a:ext cx="8778240" cy="187452"/>
          </a:xfrm>
          <a:prstGeom prst="rect">
            <a:avLst/>
          </a:prstGeom>
          <a:noFill/>
          <a:ln/>
        </p:spPr>
        <p:txBody>
          <a:bodyPr wrap="square" rtlCol="0" anchor="ctr"/>
          <a:lstStyle/>
          <a:p>
            <a:pPr algn="ctr" indent="0" marL="0">
              <a:buNone/>
            </a:pPr>
            <a:r>
              <a:rPr lang="en-US" sz="800" dirty="0">
                <a:solidFill>
                  <a:srgbClr val="F0F4F8"/>
                </a:solidFill>
                <a:latin typeface="Calibri" pitchFamily="34" charset="0"/>
                <a:ea typeface="Calibri" pitchFamily="34" charset="-122"/>
                <a:cs typeface="Calibri" pitchFamily="34" charset="-120"/>
              </a:rPr>
              <a:t>SeptiVolt Solar Sales Accelerator™  |  Energy Independence Education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3.7b</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Setting Expectations: The Total Transparency Standard</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What the Survey Is: A technical site assessment by our engineering partner — not a second sales visit</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Who Comes: Licensed engineer or site assessment technician (not always the sales rep)</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Duration: Typically 30–45 minutes — attic, panel, exterior, roof measurements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What to Expect: Some disruption — panel access, attic hatch opened, roof inspection</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Promise: 'By the end of the survey, we'll have everything needed to finalize your system design and submit permits — this is the step that makes your install date possible.'</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Step-by-step process timeline graphic: (1) Agreement Signed → (2) Site Survey Scheduled → (3) Engineering Design → (4) Permit Submitted → (5) Install Scheduled. Survey step highlighted with a pin/location icon. Clean horizontal flow.</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Say exactly: 'The survey is the most important step between today and your installation. Our team will be respectful, professional, and in and out in under an hour. Your job is just to be home.'</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3.7b</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Homeowner Prep Checklist: Access &amp; Logistics</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Attic Access: Identify and clear the attic hatch — typically in a hallway closet or garage ceiling</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Gate Codes &amp; Locks: Backyard gate access is required for roof measurement if applicable</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Pets: Dogs must be secured inside or out — survey tech cannot safely work with loose dogs in the path</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Main Panel: Homeowner should know where the electrical panel is and confirm it's accessible (not blocked by furniture)</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Point of Contact: Confirm who will be home during the survey window — a decision-maker preferred, not just a family member</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Clean checklist graphic with 5 items using icons: dog (crossed out), attic hatch (open), gate (unlocked), panel door (open), person silhouette (home). Each item has a green checkmark when complete. Friendly, simple design.</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Send the Homeowner Prep Text 24 hours before the survey: 'Quick reminder — please clear attic access, secure any pets, and make sure the electrical panel is accessible. See you [Day] at [Time]!'</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3.7b</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The Survey No-Show Prevention Script</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72-Hour Confirmation: Call or text 3 days before — confirm time, confirm access, re-explain what survey team needs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24-Hour Reminder: Text message with prep checklist + name of surveyor (if known) — personalizes the experience</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2-Hour Pre-Call: 'We're on our way — just confirming you're home and everything is accessible.' Prevents silent cancellations.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If No Answer at Door: Call the homeowner immediately — do not leave without attempting contact twice</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Reschedule Protocol: 'We want to keep your timeline on track — next available window is [X]. Should I hold that for you now?' Urgency without pressure.</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Three mobile phone mockups showing: (1) 72hr confirmation text, (2) 24hr reminder text with checklist, (3) 2hr pre-arrival text. Messages shown in clean bubble format. Green 'Delivered' checkmarks visible. SeptiVolt branded.</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The rep who confirms the survey is the rep who gets credit for the install. Never hand off the confirmation process entirely to a scheduling team — stay in the loop on your own pipeline.</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3.7b</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Post-Survey Next Steps: The Timeline Handoff</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Immediately After Survey: Send 'Survey Complete' message to homeowner — acknowledge their time and set next expectation</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Engineering Timeline: 'Our engineers have everything they need — you'll receive your finalized system design within 5–7 business days.'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Permit Submission: 'Once design is approved, permits are submitted to your local AHJ — typical processing is 2–6 weeks depending on your city.'</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Check-In Protocol: Contact homeowner every 7 days during the silent permit phase — do not go dark on your customers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Install Scheduling: 'Once permit is approved, we'll call you to schedule — expect a 1–2 week lead time for install crew availability.'</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Gantt-style project timeline showing phases: Survey → Engineering (5-7 days) → Permit (2-6 weeks) → Install Scheduling (1-2 weeks) → Installation → PTO. Each phase bar color-coded. Customer-facing communication touchpoints marked with envelope icons.</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Send a post-survey text within 2 hours: 'Great news — your survey is complete! I'll be in touch as soon as engineering finalizes your design. You're officially in the pipeline. 🌞'</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Module_3.7b_Site_Survey_Prep</dc:title>
  <dc:subject>PptxGenJS Presentation</dc:subject>
  <dc:creator>SeptiVolt</dc:creator>
  <cp:lastModifiedBy>SeptiVolt</cp:lastModifiedBy>
  <cp:revision>1</cp:revision>
  <dcterms:created xsi:type="dcterms:W3CDTF">2026-04-16T02:30:01Z</dcterms:created>
  <dcterms:modified xsi:type="dcterms:W3CDTF">2026-04-16T02:30:01Z</dcterms:modified>
</cp:coreProperties>
</file>