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stop being \'salespeople\' and start being \'behavioral psychologists.\' If you don\'t understand why they say \'No,\' you\'ll never hear \'Yes.\'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interrupting dinner, a movie, or a nap. Their brain is wired to get rid of you as fast as possible to return to the status quo. Don\'t take it personally—it\'s biology.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job isn\'t to sell panels; it\'s to show them that their \'safe\' island is actually sinking due to utility rate hikes.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saying \'You\'ll save $2,000,\' try \'You are currently losing $2,000 to the utility company.\' It hits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admit that some people in this industry are pushy, you instantly separate yourself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Neighbors don\'t want to be the first to go solar, but they definitely don\'t want to be the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someone slams a door on you, say \'Thank you for the $78!\' It takes the sting out of \'No.\'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steps. If you try to see the bill (Step 5) before you build rapport (Step 2), they will kick you off the porch.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push, they push back. If you pull, they fall toward you. Use their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without action is just trivia. Go out there and get comfortable being uncomfortable.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084213"/>
            <a:ext cx="829066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2.1 – Homeowner Psychology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609469" y="2493913"/>
            <a:ext cx="39250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People Resist Solar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3211264"/>
            <a:ext cx="8128099" cy="848023"/>
          </a:xfrm>
          <a:prstGeom prst="roundRect">
            <a:avLst>
              <a:gd name="adj" fmla="val 11981"/>
            </a:avLst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3211264"/>
            <a:ext cx="0" cy="848023"/>
          </a:xfrm>
          <a:prstGeom prst="line">
            <a:avLst/>
          </a:prstGeom>
          <a:noFill/>
          <a:ln w="95250">
            <a:solidFill>
              <a:srgbClr val="6A9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182" y="3338215"/>
            <a:ext cx="780488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Objectives:</a:t>
            </a:r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Identify psychological barriers and leverage persuasion triggers.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Check: You Are an Interruption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993725"/>
            <a:ext cx="3951021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homeowners are </a:t>
            </a:r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</a:t>
            </a:r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looking for solar today.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752898"/>
            <a:ext cx="3873550" cy="848023"/>
          </a:xfrm>
          <a:prstGeom prst="roundRect">
            <a:avLst>
              <a:gd name="adj" fmla="val 11981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1752898"/>
            <a:ext cx="0" cy="848023"/>
          </a:xfrm>
          <a:prstGeom prst="line">
            <a:avLst/>
          </a:prstGeom>
          <a:noFill/>
          <a:ln w="95250">
            <a:solidFill>
              <a:srgbClr val="6A9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3700" y="1879848"/>
            <a:ext cx="346524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 defaults to "Protection Mode."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50" y="2727871"/>
            <a:ext cx="3873550" cy="550962"/>
          </a:xfrm>
          <a:prstGeom prst="roundRect">
            <a:avLst>
              <a:gd name="adj" fmla="val 18441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55575" y="2727871"/>
            <a:ext cx="0" cy="550962"/>
          </a:xfrm>
          <a:prstGeom prst="line">
            <a:avLst/>
          </a:prstGeom>
          <a:noFill/>
          <a:ln w="952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3700" y="2854821"/>
            <a:ext cx="346524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Quo = Safety.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0" y="2752427"/>
            <a:ext cx="3951021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[Image: Homeowner looking through peephole]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Status Quo Bias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955625"/>
            <a:ext cx="395102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390501"/>
            <a:ext cx="395102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for the current state.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1852612"/>
            <a:ext cx="395102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Perception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287488"/>
            <a:ext cx="395102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= Risk.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50" y="2749600"/>
            <a:ext cx="395102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3184475"/>
            <a:ext cx="3951021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Doing nothing feels free, but it's actually the most expensive option.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62500" y="2752427"/>
            <a:ext cx="3951021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[Diagram: Status Quo island vs Solar treasure island]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Avoidance &amp; Loss Aversion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851" y="993725"/>
            <a:ext cx="7874198" cy="67032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create "Cognitive Load" (Anxiety).</a:t>
            </a:r>
            <a:endParaRPr lang="en-US" sz="1800" dirty="0"/>
          </a:p>
          <a:p>
            <a:pPr algn="l" marL="190500" indent="-1905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"I'll think about it" is a survival mechanism.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892647"/>
            <a:ext cx="8128099" cy="1561505"/>
          </a:xfrm>
          <a:prstGeom prst="roundRect">
            <a:avLst>
              <a:gd name="adj" fmla="val 6507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1892647"/>
            <a:ext cx="0" cy="1561505"/>
          </a:xfrm>
          <a:prstGeom prst="line">
            <a:avLst/>
          </a:prstGeom>
          <a:noFill/>
          <a:ln w="9525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51" y="2146548"/>
            <a:ext cx="767554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Aversion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81851" y="2771180"/>
            <a:ext cx="7675549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hate losing $100 more than we love gaining $100.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Barrier (Contractor PTSD)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993725"/>
            <a:ext cx="395102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Homeowners have been burned before.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940719"/>
            <a:ext cx="3873550" cy="848023"/>
          </a:xfrm>
          <a:prstGeom prst="roundRect">
            <a:avLst>
              <a:gd name="adj" fmla="val 11981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1940719"/>
            <a:ext cx="0" cy="848023"/>
          </a:xfrm>
          <a:prstGeom prst="line">
            <a:avLst/>
          </a:prstGeom>
          <a:noFill/>
          <a:ln w="95250">
            <a:solidFill>
              <a:srgbClr val="6A9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3700" y="2067669"/>
            <a:ext cx="346524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evaluate YOU before the PRODUCT.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50" y="2915692"/>
            <a:ext cx="39510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Signs of Distrust: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1851" y="3302943"/>
            <a:ext cx="3619649" cy="130254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Crossed arms</a:t>
            </a:r>
            <a:endParaRPr lang="en-US" sz="1800" dirty="0"/>
          </a:p>
          <a:p>
            <a:pPr algn="l" marL="190500" indent="-1905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answers</a:t>
            </a:r>
            <a:endParaRPr lang="en-US" sz="1800" dirty="0"/>
          </a:p>
          <a:p>
            <a:pPr algn="l" marL="190500" indent="-1905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Angled body (ready to close door)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62500" y="2752427"/>
            <a:ext cx="3951021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[Photo: Skeptical homeowner with crossed arms]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Skepticism Directly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955625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Script: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479352"/>
            <a:ext cx="8128099" cy="1680716"/>
          </a:xfrm>
          <a:prstGeom prst="roundRect">
            <a:avLst>
              <a:gd name="adj" fmla="val 6045"/>
            </a:avLst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1479352"/>
            <a:ext cx="0" cy="1680716"/>
          </a:xfrm>
          <a:prstGeom prst="line">
            <a:avLst/>
          </a:prstGeom>
          <a:noFill/>
          <a:ln w="95250">
            <a:solidFill>
              <a:srgbClr val="788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101" y="1733252"/>
            <a:ext cx="7675549" cy="1172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i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know solar reps have a certain reputation, and I get it. That's why I start with the numbers first. If it doesn't make sense, I'll tell you."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950" y="3350568"/>
            <a:ext cx="8128099" cy="644872"/>
          </a:xfrm>
          <a:prstGeom prst="roundRect">
            <a:avLst>
              <a:gd name="adj" fmla="val 15755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55575" y="3350568"/>
            <a:ext cx="0" cy="644872"/>
          </a:xfrm>
          <a:prstGeom prst="line">
            <a:avLst/>
          </a:prstGeom>
          <a:noFill/>
          <a:ln w="95250">
            <a:solidFill>
              <a:srgbClr val="6A9B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182" y="3477518"/>
            <a:ext cx="7804886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the "Elephant in the room" builds instant rapport.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9B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866900"/>
            <a:ext cx="829066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2.2 – Territory Strategy &amp; Planning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6A9B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Cloverleaf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851" y="993725"/>
            <a:ext cx="3619649" cy="156150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recent install/customer.</a:t>
            </a:r>
            <a:endParaRPr lang="en-US" sz="1800" dirty="0"/>
          </a:p>
          <a:p>
            <a:pPr algn="l" marL="190500" indent="-1905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Knock the 4 houses to the left, 4 to the right, and 8 across the street.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720280"/>
            <a:ext cx="3873550" cy="848023"/>
          </a:xfrm>
          <a:prstGeom prst="roundRect">
            <a:avLst>
              <a:gd name="adj" fmla="val 11981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2720280"/>
            <a:ext cx="0" cy="848023"/>
          </a:xfrm>
          <a:prstGeom prst="line">
            <a:avLst/>
          </a:prstGeom>
          <a:noFill/>
          <a:ln w="95250">
            <a:solidFill>
              <a:srgbClr val="788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3700" y="2847231"/>
            <a:ext cx="346524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proof is higher within 500 feet of an install.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500" y="2752427"/>
            <a:ext cx="3951021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[Diagram: Cloverleaf "petals" around an install]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6A9B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6A9B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High-Probability Pockets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955625"/>
            <a:ext cx="395102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1851" y="1390501"/>
            <a:ext cx="3619649" cy="207228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values $250k+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Roofs 5-15 years old
</a:t>
            </a:r>
            <a:pPr algn="l" indent="0" marL="0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brand new, not failing)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South-facing roof planes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Electric vehicles in the driveway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75263" y="1441549"/>
            <a:ext cx="208883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[Photo: Perfect roof]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18063" y="2837408"/>
            <a:ext cx="302152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[Photo: Heavy shade (Avoid)]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94313" y="4233416"/>
            <a:ext cx="204997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[Photo: EV charger]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6A9B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507950"/>
            <a:ext cx="829066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$78 Door: Reframing Rejection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20701" y="2171551"/>
            <a:ext cx="6502450" cy="2578447"/>
          </a:xfrm>
          <a:prstGeom prst="roundRect">
            <a:avLst>
              <a:gd name="adj" fmla="val 3940"/>
            </a:avLst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68326" y="2171551"/>
            <a:ext cx="0" cy="2578447"/>
          </a:xfrm>
          <a:prstGeom prst="line">
            <a:avLst/>
          </a:prstGeom>
          <a:noFill/>
          <a:ln w="95250">
            <a:solidFill>
              <a:srgbClr val="1414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0858" y="2425452"/>
            <a:ext cx="6017386" cy="1172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Knocks = 1 Sale</a:t>
            </a:r>
            <a:endParaRPr lang="en-US" sz="2200" dirty="0"/>
          </a:p>
          <a:p>
            <a:pPr algn="ctr" indent="0" marL="0">
              <a:lnSpc>
                <a:spcPts val="3080"/>
              </a:lnSpc>
              <a:buNone/>
            </a:pPr>
            <a:endParaRPr lang="en-US" sz="2200" dirty="0"/>
          </a:p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Sale = $3,500 Commission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69852" y="3798391"/>
            <a:ext cx="5899398" cy="0"/>
          </a:xfrm>
          <a:prstGeom prst="line">
            <a:avLst/>
          </a:prstGeom>
          <a:noFill/>
          <a:ln w="19050">
            <a:solidFill>
              <a:srgbClr val="B0A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0858" y="3998416"/>
            <a:ext cx="601738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of 1 Knock = $77.77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7-Step Door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851" y="993725"/>
            <a:ext cx="4394299" cy="250656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Interrupt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Rapport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Curiosity Question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Awareness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 Discovery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Qualification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spcAft>
                <a:spcPts val="300"/>
              </a:spcAft>
              <a:buSzPct val="100000"/>
              <a:buChar char="•"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Close</a:t>
            </a:r>
            <a:pPr algn="l" indent="0" marL="0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(Appointment)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50719" y="2689027"/>
            <a:ext cx="2671763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[Graphic: 7-step staircase</a:t>
            </a:r>
            <a:endParaRPr lang="en-US" sz="1800" dirty="0"/>
          </a:p>
          <a:p>
            <a:pPr algn="ctr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to Calendar icon]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The Pattern Interrupt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955625"/>
            <a:ext cx="8128099" cy="1232743"/>
          </a:xfrm>
          <a:prstGeom prst="roundRect">
            <a:avLst>
              <a:gd name="adj" fmla="val 8242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5575" y="955625"/>
            <a:ext cx="0" cy="1232743"/>
          </a:xfrm>
          <a:prstGeom prst="line">
            <a:avLst/>
          </a:prstGeom>
          <a:noFill/>
          <a:ln w="9525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3700" y="1082576"/>
            <a:ext cx="78048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3700" y="1431727"/>
            <a:ext cx="780488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"Hi, how are you today?"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3700" y="1792188"/>
            <a:ext cx="7804886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(Homeowner thinks: Salesman!)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2378869"/>
            <a:ext cx="8128099" cy="1235273"/>
          </a:xfrm>
          <a:prstGeom prst="roundRect">
            <a:avLst>
              <a:gd name="adj" fmla="val 8225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55575" y="2378869"/>
            <a:ext cx="0" cy="1235273"/>
          </a:xfrm>
          <a:prstGeom prst="line">
            <a:avLst/>
          </a:prstGeom>
          <a:noFill/>
          <a:ln w="95250">
            <a:solidFill>
              <a:srgbClr val="6A9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3700" y="2505819"/>
            <a:ext cx="78048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Interrupt: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3700" y="2854970"/>
            <a:ext cx="7804886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"Hey, sorry to bother you, I was just looking at your neighbor John's roof..."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950" y="3804642"/>
            <a:ext cx="8128099" cy="644872"/>
          </a:xfrm>
          <a:prstGeom prst="roundRect">
            <a:avLst>
              <a:gd name="adj" fmla="val 15755"/>
            </a:avLst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55575" y="3804642"/>
            <a:ext cx="0" cy="644872"/>
          </a:xfrm>
          <a:prstGeom prst="line">
            <a:avLst/>
          </a:prstGeom>
          <a:noFill/>
          <a:ln w="95250">
            <a:solidFill>
              <a:srgbClr val="1414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182" y="3931593"/>
            <a:ext cx="7804886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Goal: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Stop the "Auto-pilot" rejection.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Rule: Don't Argue, Get Curious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955625"/>
            <a:ext cx="8128099" cy="644872"/>
          </a:xfrm>
          <a:prstGeom prst="roundRect">
            <a:avLst>
              <a:gd name="adj" fmla="val 15755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5575" y="955625"/>
            <a:ext cx="0" cy="644872"/>
          </a:xfrm>
          <a:prstGeom prst="line">
            <a:avLst/>
          </a:prstGeom>
          <a:noFill/>
          <a:ln w="9525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182" y="1082576"/>
            <a:ext cx="7804886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Resistance is a request for more information.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6669" y="1854398"/>
            <a:ext cx="829066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+ Distract + Ask.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950" y="2568625"/>
            <a:ext cx="8128099" cy="1035844"/>
          </a:xfrm>
          <a:prstGeom prst="roundRect">
            <a:avLst>
              <a:gd name="adj" fmla="val 9808"/>
            </a:avLst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55575" y="2568625"/>
            <a:ext cx="0" cy="1035844"/>
          </a:xfrm>
          <a:prstGeom prst="line">
            <a:avLst/>
          </a:prstGeom>
          <a:noFill/>
          <a:ln w="95250">
            <a:solidFill>
              <a:srgbClr val="788C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182" y="2695575"/>
            <a:ext cx="7804886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i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"That makes sense, most people feel that way until they see the data..."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Brush-Off: "I'm Busy"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955625"/>
            <a:ext cx="3892600" cy="4060924"/>
          </a:xfrm>
          <a:prstGeom prst="roundRect">
            <a:avLst>
              <a:gd name="adj" fmla="val 2610"/>
            </a:avLst>
          </a:prstGeom>
          <a:solidFill>
            <a:srgbClr val="E8E6DC"/>
          </a:solidFill>
          <a:ln w="19050">
            <a:solidFill>
              <a:srgbClr val="D9775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2765" y="1165175"/>
            <a:ext cx="35429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mean: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2765" y="1663601"/>
            <a:ext cx="3542970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don't value this enough to stop what I'm doing."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81550" y="955625"/>
            <a:ext cx="3854500" cy="4060924"/>
          </a:xfrm>
          <a:prstGeom prst="roundRect">
            <a:avLst>
              <a:gd name="adj" fmla="val 2636"/>
            </a:avLst>
          </a:prstGeom>
          <a:solidFill>
            <a:srgbClr val="6A9B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7315" y="1146125"/>
            <a:ext cx="35429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72050" y="1644551"/>
            <a:ext cx="3542970" cy="27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i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completely understand, I'm actually on my way to another neighbor's house. I'm not here to pitch you now—just seeing if you're even eligible for the state program."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292001"/>
            <a:ext cx="829066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 The "20/20" Challenge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20701" y="2082701"/>
            <a:ext cx="6502450" cy="2768798"/>
          </a:xfrm>
          <a:prstGeom prst="roundRect">
            <a:avLst>
              <a:gd name="adj" fmla="val 5504"/>
            </a:avLst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55602" y="2501801"/>
            <a:ext cx="5486549" cy="19305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2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Knock 20 practice doors (no pressure).</a:t>
            </a:r>
            <a:endParaRPr lang="en-US" sz="2000" dirty="0"/>
          </a:p>
          <a:p>
            <a:pPr algn="l" marL="127000" indent="-127000">
              <a:lnSpc>
                <a:spcPts val="32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your 30-second "Pattern Interrupt" on your phone.</a:t>
            </a:r>
            <a:endParaRPr lang="en-US" sz="2000" dirty="0"/>
          </a:p>
          <a:p>
            <a:pPr algn="l" marL="127000" indent="-127000">
              <a:lnSpc>
                <a:spcPts val="32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Psychology of Loss Aversion.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17791" y="507950"/>
            <a:ext cx="790841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Preview: In-Home Mastery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1898749"/>
            <a:ext cx="4495949" cy="2527102"/>
          </a:xfrm>
          <a:prstGeom prst="roundRect">
            <a:avLst>
              <a:gd name="adj" fmla="val 6031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8950" y="2152650"/>
            <a:ext cx="3733949" cy="19812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"Kitchen Table" workflow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the system in real-time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Closing Roadmap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47690" y="2716709"/>
            <a:ext cx="2979471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[Photo: Family with sales rep</a:t>
            </a:r>
            <a:endParaRPr lang="en-US" sz="1800" dirty="0"/>
          </a:p>
          <a:p>
            <a:pPr algn="ctr" indent="0" marL="0">
              <a:lnSpc>
                <a:spcPts val="23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kitchen table]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5016550"/>
            <a:ext cx="9144000" cy="126950"/>
          </a:xfrm>
          <a:prstGeom prst="rect">
            <a:avLst/>
          </a:prstGeom>
          <a:solidFill>
            <a:srgbClr val="788C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2.1: Homeowner Psychology</dc:title>
  <dc:subject>PptxGenJS Presentation</dc:subject>
  <dc:creator>Antigravity Training</dc:creator>
  <cp:lastModifiedBy>Antigravity Training</cp:lastModifiedBy>
  <cp:revision>1</cp:revision>
  <dcterms:created xsi:type="dcterms:W3CDTF">2026-03-08T13:04:52Z</dcterms:created>
  <dcterms:modified xsi:type="dcterms:W3CDTF">2026-03-08T13:04:52Z</dcterms:modified>
</cp:coreProperties>
</file>