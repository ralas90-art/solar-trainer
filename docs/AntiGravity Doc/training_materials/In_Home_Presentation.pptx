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55163" y="431602"/>
            <a:ext cx="64122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[LOGO]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924526" y="1291382"/>
            <a:ext cx="529494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Independence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637919" y="2154882"/>
            <a:ext cx="586816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1992"/>
              </a:spcAft>
              <a:buNone/>
            </a:pPr>
            <a:r>
              <a:rPr lang="en-US" sz="24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[Homeowner Last Name] Family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59575" y="3455343"/>
            <a:ext cx="22248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[Agent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01" y="823764"/>
            <a:ext cx="8636198" cy="0"/>
          </a:xfrm>
          <a:prstGeom prst="line">
            <a:avLst/>
          </a:prstGeom>
          <a:noFill/>
          <a:ln w="28575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3901" y="253901"/>
            <a:ext cx="880892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Rent Your Power?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3901" y="1028402"/>
            <a:ext cx="5181600" cy="139050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160"/>
              </a:lnSpc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pay the Utility Company forever.</a:t>
            </a:r>
            <a:endParaRPr lang="en-US" sz="1800" dirty="0"/>
          </a:p>
          <a:p>
            <a:pPr algn="l" marL="190500" indent="-190500">
              <a:lnSpc>
                <a:spcPts val="2160"/>
              </a:lnSpc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have increased by </a:t>
            </a:r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last 10 years.</a:t>
            </a:r>
            <a:endParaRPr lang="en-US" sz="1800" dirty="0"/>
          </a:p>
          <a:p>
            <a:pPr algn="l" marL="190500" indent="-190500">
              <a:lnSpc>
                <a:spcPts val="2160"/>
              </a:lnSpc>
              <a:buSzPct val="100000"/>
              <a:buChar char="•"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Return on Investment</a:t>
            </a:r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(It's just an expense).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827663" y="965002"/>
            <a:ext cx="2669977" cy="1917502"/>
          </a:xfrm>
          <a:prstGeom prst="roundRect">
            <a:avLst>
              <a:gd name="adj" fmla="val 662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59942" y="1218902"/>
            <a:ext cx="22054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059942" y="2285702"/>
            <a:ext cx="22054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01" y="890439"/>
            <a:ext cx="8636198" cy="0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3901" y="253901"/>
            <a:ext cx="88089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Renting. Start Owning.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53901" y="1158627"/>
            <a:ext cx="5181600" cy="11620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 a </a:t>
            </a:r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rate.</a:t>
            </a:r>
            <a:endParaRPr lang="en-US" sz="2000" dirty="0"/>
          </a:p>
          <a:p>
            <a:pPr algn="l" marL="190500" indent="-1905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equity in your home.</a:t>
            </a:r>
            <a:endParaRPr lang="en-US" sz="2000" dirty="0"/>
          </a:p>
          <a:p>
            <a:pPr algn="l" marL="190500" indent="-1905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an </a:t>
            </a:r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Date</a:t>
            </a:r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your payments.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346799" y="1031677"/>
            <a:ext cx="3632002" cy="1650802"/>
          </a:xfrm>
          <a:prstGeom prst="roundRect">
            <a:avLst>
              <a:gd name="adj" fmla="val 7693"/>
            </a:avLst>
          </a:prstGeom>
          <a:solidFill>
            <a:srgbClr val="E8F8F5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8889" y="1304627"/>
            <a:ext cx="314782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588889" y="2066627"/>
            <a:ext cx="31478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vs Liability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01" y="890439"/>
            <a:ext cx="8636198" cy="0"/>
          </a:xfrm>
          <a:prstGeom prst="line">
            <a:avLst/>
          </a:prstGeom>
          <a:noFill/>
          <a:ln w="28575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3901" y="253901"/>
            <a:ext cx="88089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Net Metering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53901" y="1260277"/>
            <a:ext cx="8808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roof acts as your battery.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97818" y="1882527"/>
            <a:ext cx="2590800" cy="1997273"/>
          </a:xfrm>
          <a:prstGeom prst="roundRect">
            <a:avLst>
              <a:gd name="adj" fmla="val 5087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6220" y="2251323"/>
            <a:ext cx="225399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4"/>
              </a:spcBef>
              <a:spcAft>
                <a:spcPts val="1000"/>
              </a:spcAft>
              <a:buNone/>
            </a:pPr>
            <a:r>
              <a:rPr lang="en-US" sz="1404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Daytime</a:t>
            </a:r>
            <a:endParaRPr lang="en-US" sz="1404" dirty="0"/>
          </a:p>
        </p:txBody>
      </p:sp>
      <p:sp>
        <p:nvSpPr>
          <p:cNvPr id="7" name="Text 5"/>
          <p:cNvSpPr/>
          <p:nvPr/>
        </p:nvSpPr>
        <p:spPr>
          <a:xfrm>
            <a:off x="566220" y="2648099"/>
            <a:ext cx="225399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excess energy.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220" y="3121075"/>
            <a:ext cx="22539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to Grid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76451" y="1882527"/>
            <a:ext cx="2590800" cy="1997273"/>
          </a:xfrm>
          <a:prstGeom prst="roundRect">
            <a:avLst>
              <a:gd name="adj" fmla="val 5087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44853" y="2251323"/>
            <a:ext cx="225399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4"/>
              </a:spcBef>
              <a:spcAft>
                <a:spcPts val="1000"/>
              </a:spcAft>
              <a:buNone/>
            </a:pPr>
            <a:r>
              <a:rPr lang="en-US" sz="1404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Nighttime</a:t>
            </a:r>
            <a:endParaRPr lang="en-US" sz="1404" dirty="0"/>
          </a:p>
        </p:txBody>
      </p:sp>
      <p:sp>
        <p:nvSpPr>
          <p:cNvPr id="11" name="Text 9"/>
          <p:cNvSpPr/>
          <p:nvPr/>
        </p:nvSpPr>
        <p:spPr>
          <a:xfrm>
            <a:off x="3444853" y="2648099"/>
            <a:ext cx="225399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is down.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44853" y="3121075"/>
            <a:ext cx="22539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Credits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55085" y="1882527"/>
            <a:ext cx="2590800" cy="1997273"/>
          </a:xfrm>
          <a:prstGeom prst="roundRect">
            <a:avLst>
              <a:gd name="adj" fmla="val 5087"/>
            </a:avLst>
          </a:prstGeom>
          <a:solidFill>
            <a:srgbClr val="EAFA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23487" y="2251323"/>
            <a:ext cx="225399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4"/>
              </a:spcBef>
              <a:spcAft>
                <a:spcPts val="1000"/>
              </a:spcAft>
              <a:buNone/>
            </a:pPr>
            <a:r>
              <a:rPr lang="en-US" sz="1404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404" dirty="0"/>
          </a:p>
        </p:txBody>
      </p:sp>
      <p:sp>
        <p:nvSpPr>
          <p:cNvPr id="15" name="Text 13"/>
          <p:cNvSpPr/>
          <p:nvPr/>
        </p:nvSpPr>
        <p:spPr>
          <a:xfrm>
            <a:off x="6323487" y="2648099"/>
            <a:ext cx="225399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only pay the difference.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23487" y="3121075"/>
            <a:ext cx="22539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Zero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01" y="890439"/>
            <a:ext cx="8636198" cy="0"/>
          </a:xfrm>
          <a:prstGeom prst="line">
            <a:avLst/>
          </a:prstGeom>
          <a:noFill/>
          <a:ln w="28575">
            <a:solidFill>
              <a:srgbClr val="349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3901" y="253901"/>
            <a:ext cx="88089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53901" y="1412528"/>
            <a:ext cx="4064198" cy="155287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4000"/>
              </a:lnSpc>
              <a:buSzPct val="100000"/>
              <a:buChar char="•"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</a:t>
            </a:r>
            <a:pPr algn="l"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Premium Panels</a:t>
            </a:r>
            <a:endParaRPr lang="en-US" sz="2000" dirty="0"/>
          </a:p>
          <a:p>
            <a:pPr algn="l" marL="190500" indent="-190500">
              <a:lnSpc>
                <a:spcPts val="4000"/>
              </a:lnSpc>
              <a:buSzPct val="100000"/>
              <a:buChar char="•"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algn="l"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Energy Offset</a:t>
            </a:r>
            <a:endParaRPr lang="en-US" sz="2000" dirty="0"/>
          </a:p>
          <a:p>
            <a:pPr algn="l" marL="190500" indent="-190500">
              <a:lnSpc>
                <a:spcPts val="4000"/>
              </a:lnSpc>
              <a:buSzPct val="100000"/>
              <a:buChar char="•"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25-Year</a:t>
            </a:r>
            <a:pPr algn="l"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Guarantee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0" y="1158627"/>
            <a:ext cx="4318099" cy="3174950"/>
          </a:xfrm>
          <a:prstGeom prst="rect">
            <a:avLst/>
          </a:prstGeom>
          <a:solidFill>
            <a:srgbClr val="EEEEEE"/>
          </a:solidFill>
          <a:ln w="19050">
            <a:solidFill>
              <a:srgbClr val="AAAA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54725" y="2655540"/>
            <a:ext cx="21957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[Place CAD Design Image Here]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01" y="890439"/>
            <a:ext cx="8636198" cy="0"/>
          </a:xfrm>
          <a:prstGeom prst="line">
            <a:avLst/>
          </a:prstGeom>
          <a:noFill/>
          <a:ln w="28575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3901" y="253901"/>
            <a:ext cx="88089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Bill Swap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69850" y="1158627"/>
            <a:ext cx="3886200" cy="2946053"/>
          </a:xfrm>
          <a:prstGeom prst="roundRect">
            <a:avLst>
              <a:gd name="adj" fmla="val 4311"/>
            </a:avLst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9398" y="1634728"/>
            <a:ext cx="34071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(OLD WAY)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9398" y="2380804"/>
            <a:ext cx="340710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4000"/>
              </a:spcAft>
              <a:buNone/>
            </a:pPr>
            <a:r>
              <a:rPr lang="en-US" sz="4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09398" y="3498354"/>
            <a:ext cx="34071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Forever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87950" y="1158627"/>
            <a:ext cx="3886200" cy="2946053"/>
          </a:xfrm>
          <a:prstGeom prst="roundRect">
            <a:avLst>
              <a:gd name="adj" fmla="val 4311"/>
            </a:avLst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7497" y="1634728"/>
            <a:ext cx="34071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(NEW WAY)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7497" y="2380804"/>
            <a:ext cx="340710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4000"/>
              </a:spcAft>
              <a:buNone/>
            </a:pPr>
            <a:r>
              <a:rPr lang="en-US" sz="4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027497" y="3498354"/>
            <a:ext cx="34071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Rate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01" y="890439"/>
            <a:ext cx="8636198" cy="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3901" y="253901"/>
            <a:ext cx="88089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53901" y="1412677"/>
            <a:ext cx="8636198" cy="1655266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4320"/>
              </a:lnSpc>
              <a:buSzPct val="100000"/>
              <a:buChar char="•"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algn="l" indent="0" marL="0">
              <a:lnSpc>
                <a:spcPts val="4320"/>
              </a:lnSpc>
              <a:buNone/>
            </a:pPr>
            <a:r>
              <a:rPr lang="en-US" sz="2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Federal Tax Credit.</a:t>
            </a:r>
            <a:endParaRPr lang="en-US" sz="2400" dirty="0"/>
          </a:p>
          <a:p>
            <a:pPr algn="l" marL="190500" indent="-190500">
              <a:lnSpc>
                <a:spcPts val="4320"/>
              </a:lnSpc>
              <a:buSzPct val="100000"/>
              <a:buChar char="•"/>
            </a:pPr>
            <a:r>
              <a:rPr lang="en-US" sz="2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Home Value (Avg 4.1%).</a:t>
            </a:r>
            <a:endParaRPr lang="en-US" sz="2400" dirty="0"/>
          </a:p>
          <a:p>
            <a:pPr algn="l" marL="190500" indent="-190500">
              <a:lnSpc>
                <a:spcPts val="4320"/>
              </a:lnSpc>
              <a:buSzPct val="100000"/>
              <a:buChar char="•"/>
            </a:pPr>
            <a:r>
              <a:rPr lang="en-US" sz="2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against Inflation.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01" y="890439"/>
            <a:ext cx="8636198" cy="0"/>
          </a:xfrm>
          <a:prstGeom prst="line">
            <a:avLst/>
          </a:prstGeom>
          <a:noFill/>
          <a:ln w="28575">
            <a:solidFill>
              <a:srgbClr val="3449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3901" y="253901"/>
            <a:ext cx="88089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53901" y="1158627"/>
            <a:ext cx="1554510" cy="1860352"/>
          </a:xfrm>
          <a:prstGeom prst="roundRect">
            <a:avLst>
              <a:gd name="adj" fmla="val 4085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7845" y="1666577"/>
            <a:ext cx="132662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7845" y="2495252"/>
            <a:ext cx="132662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24211" y="1158627"/>
            <a:ext cx="1554510" cy="1860352"/>
          </a:xfrm>
          <a:prstGeom prst="roundRect">
            <a:avLst>
              <a:gd name="adj" fmla="val 408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38156" y="1666577"/>
            <a:ext cx="132662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30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38156" y="2495252"/>
            <a:ext cx="132662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Survey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94522" y="1158627"/>
            <a:ext cx="1554510" cy="1860352"/>
          </a:xfrm>
          <a:prstGeom prst="roundRect">
            <a:avLst>
              <a:gd name="adj" fmla="val 408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08466" y="1666577"/>
            <a:ext cx="132662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30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908466" y="2495252"/>
            <a:ext cx="132662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64832" y="1158627"/>
            <a:ext cx="1554510" cy="1860352"/>
          </a:xfrm>
          <a:prstGeom prst="roundRect">
            <a:avLst>
              <a:gd name="adj" fmla="val 408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78777" y="1666577"/>
            <a:ext cx="132662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30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678777" y="2495252"/>
            <a:ext cx="132662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35143" y="1158627"/>
            <a:ext cx="1554510" cy="1860352"/>
          </a:xfrm>
          <a:prstGeom prst="roundRect">
            <a:avLst>
              <a:gd name="adj" fmla="val 408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49087" y="1666577"/>
            <a:ext cx="132662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30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49087" y="2495252"/>
            <a:ext cx="132662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In-Home Presentation</dc:title>
  <dc:subject>PptxGenJS Presentation</dc:subject>
  <dc:creator>Antigravity Solar</dc:creator>
  <cp:lastModifiedBy>Antigravity Solar</cp:lastModifiedBy>
  <cp:revision>1</cp:revision>
  <dcterms:created xsi:type="dcterms:W3CDTF">2026-01-22T01:50:19Z</dcterms:created>
  <dcterms:modified xsi:type="dcterms:W3CDTF">2026-01-22T01:50:19Z</dcterms:modified>
</cp:coreProperties>
</file>