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Earnings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6+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2500</c:v>
                </c:pt>
                <c:pt idx="1">
                  <c:v>6500</c:v>
                </c:pt>
                <c:pt idx="2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C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 &amp; Competence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Start</c:v>
                  </c:pt>
                  <c:pt idx="1">
                    <c:v>Stage 1</c:v>
                  </c:pt>
                  <c:pt idx="2">
                    <c:v>The Dip</c:v>
                  </c:pt>
                  <c:pt idx="3">
                    <c:v>Stage 3</c:v>
                  </c:pt>
                  <c:pt idx="4">
                    <c:v>Stage 4</c:v>
                  </c:pt>
                  <c:pt idx="5">
                    <c:v>Mastery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70</c:v>
                </c:pt>
                <c:pt idx="2">
                  <c:v>20</c:v>
                </c:pt>
                <c:pt idx="3">
                  <c:v>45</c:v>
                </c:pt>
                <c:pt idx="4">
                  <c:v>75</c:v>
                </c:pt>
                <c:pt idx="5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C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64008" cy="5029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640080"/>
            <a:ext cx="2560320" cy="2560320"/>
          </a:xfrm>
          <a:prstGeom prst="ellipse">
            <a:avLst/>
          </a:prstGeom>
          <a:solidFill>
            <a:srgbClr val="1E335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960120"/>
            <a:ext cx="1920240" cy="1920240"/>
          </a:xfrm>
          <a:prstGeom prst="ellipse">
            <a:avLst/>
          </a:prstGeom>
          <a:solidFill>
            <a:srgbClr val="1B2C3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6400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5A623"/>
                </a:solidFill>
              </a:rPr>
              <a:t>☀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Sales Training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Foundation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3200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COMPANY]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foundation for a $100K+ career in solar energy sales.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Casting: The Path to $100K+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earning trajectory over the first 6 months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188720"/>
            <a:ext cx="2743200" cy="960120"/>
          </a:xfrm>
          <a:prstGeom prst="rect">
            <a:avLst/>
          </a:prstGeom>
          <a:solidFill>
            <a:srgbClr val="1E3350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0" y="1188720"/>
            <a:ext cx="73152" cy="9601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234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~$2,500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09360" y="1664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Learning the ropes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26480" y="2377440"/>
            <a:ext cx="2743200" cy="960120"/>
          </a:xfrm>
          <a:prstGeom prst="rect">
            <a:avLst/>
          </a:prstGeom>
          <a:solidFill>
            <a:srgbClr val="1E335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2377440"/>
            <a:ext cx="73152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423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~$6,500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309360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Hitting your stride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3566160"/>
            <a:ext cx="2743200" cy="960120"/>
          </a:xfrm>
          <a:prstGeom prst="rect">
            <a:avLst/>
          </a:prstGeom>
          <a:solidFill>
            <a:srgbClr val="1E335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3566160"/>
            <a:ext cx="73152" cy="960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$10,000+/mo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309360" y="40416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 — Full production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A623"/>
                </a:solidFill>
              </a:rPr>
              <a:t>Annual potential at Month 6+ pace: $120,000+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Stages of Competence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 performer goes through The Dip — expect it, push through 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148840" y="3291840"/>
            <a:ext cx="914400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48840" y="3291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DIP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1554480" cy="1508760"/>
          </a:xfrm>
          <a:prstGeom prst="rect">
            <a:avLst/>
          </a:prstGeom>
          <a:solidFill>
            <a:srgbClr val="1E3350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36208" y="1143000"/>
            <a:ext cx="411480" cy="41148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36208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15000" y="1627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Incompetence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what you don't know. High enthusiasm.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360920" y="1097280"/>
            <a:ext cx="1554480" cy="1508760"/>
          </a:xfrm>
          <a:prstGeom prst="rect">
            <a:avLst/>
          </a:prstGeom>
          <a:solidFill>
            <a:srgbClr val="1E3350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27848" y="1143000"/>
            <a:ext cx="411480" cy="4114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7848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06640" y="16276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Incompetence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0664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hits. The Dip. Most people quit here.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669280" y="2788920"/>
            <a:ext cx="1554480" cy="1508760"/>
          </a:xfrm>
          <a:prstGeom prst="rect">
            <a:avLst/>
          </a:prstGeom>
          <a:solidFill>
            <a:srgbClr val="1E335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36208" y="283464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15000" y="33192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715000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develop. Effort required. Results emerging.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360920" y="2788920"/>
            <a:ext cx="1554480" cy="1508760"/>
          </a:xfrm>
          <a:prstGeom prst="rect">
            <a:avLst/>
          </a:prstGeom>
          <a:solidFill>
            <a:srgbClr val="1E335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27848" y="2834640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27848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06640" y="33192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06640" y="3703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Mastery. Selling becomes natural. $100K+ territory.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onboarding steps before your first day in the field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120640" cy="347472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offer letter &amp; independent contractor agreement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99616"/>
            <a:ext cx="5120640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99616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9961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W-9 / direct deposit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5120640" cy="347472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01952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9019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ID + background check consent submitted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5120640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04288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30428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log into CRM platform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5120640" cy="347472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06624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7066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log into HR portal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5120640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08960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1089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log into team communications app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11296"/>
            <a:ext cx="5120640" cy="347472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11296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511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company compliance training 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13632"/>
            <a:ext cx="5120640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913632"/>
            <a:ext cx="347472" cy="347472"/>
          </a:xfrm>
          <a:prstGeom prst="rect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9136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virtual or in-person orientation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0" y="1097280"/>
            <a:ext cx="914400" cy="914400"/>
          </a:xfrm>
          <a:prstGeom prst="rect">
            <a:avLst/>
          </a:prstGeom>
          <a:solidFill>
            <a:srgbClr val="1E3350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1188720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1188720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1188720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435608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1435608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1682496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90488" y="1682496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37376" y="1682496"/>
            <a:ext cx="201168" cy="2011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2057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App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</a:rPr>
              <a:t>Scan to Download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03720" y="1097280"/>
            <a:ext cx="914400" cy="914400"/>
          </a:xfrm>
          <a:prstGeom prst="rect">
            <a:avLst/>
          </a:prstGeom>
          <a:solidFill>
            <a:srgbClr val="1E335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95160" y="118872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2048" y="118872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88936" y="1188720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95160" y="143560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88936" y="1435608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5160" y="168249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42048" y="168249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88936" y="1682496"/>
            <a:ext cx="20116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2057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0372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</a:rPr>
              <a:t>Scan to Download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955280" y="1097280"/>
            <a:ext cx="914400" cy="914400"/>
          </a:xfrm>
          <a:prstGeom prst="rect">
            <a:avLst/>
          </a:prstGeom>
          <a:solidFill>
            <a:srgbClr val="1E335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46720" y="1188720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93608" y="1188720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40496" y="1188720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46720" y="1435608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0496" y="1435608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46720" y="1682496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93608" y="1682496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40496" y="1682496"/>
            <a:ext cx="201168" cy="2011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0" y="20574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App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55280" y="22860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4D8"/>
                </a:solidFill>
              </a:rPr>
              <a:t>Scan to Download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⚠  All items must be completed before entering the field. See your onboarding coordinator with questions.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Schedule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Golden Hours — they drive your income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21208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 – 10:00 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155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Routine &amp; Mindset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8412480" cy="521208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 – 12:00 PM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691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Role-play &amp; Lead Review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8412480" cy="521208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677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PM – 1:00 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677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Break &amp; Travel Prep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07208"/>
            <a:ext cx="8412480" cy="521208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4378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 – 2:00 PM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8437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CRM Updates, Prospecting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521208"/>
          </a:xfrm>
          <a:prstGeom prst="rect">
            <a:avLst/>
          </a:prstGeom>
          <a:solidFill>
            <a:srgbClr val="1B3A0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83280"/>
            <a:ext cx="91440" cy="521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PM – 7:00 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4198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THE GOLDEN HOURS  — Door Knocking &amp; Appointments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959352"/>
            <a:ext cx="8412480" cy="521208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95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PM – 8:00 PM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9959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Debrief, CRM Entry &amp; Pipeline 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</a:rPr>
              <a:t>The 2 PM – 7 PM window is when decision-makers are HOME. Guard this time aggressively.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Breakdown: The Numbers Game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conversion ratios is the key to consistent income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097280"/>
            <a:ext cx="5486400" cy="7132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1430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DOORS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Knocked Per Week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920240"/>
            <a:ext cx="411480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LEADS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2304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Homeowners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2057400"/>
            <a:ext cx="502920" cy="41148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0574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10%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2743200"/>
            <a:ext cx="2926080" cy="7132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788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08960" y="31272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In-Home Presentations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880360"/>
            <a:ext cx="502920" cy="41148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880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5.3%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3566160"/>
            <a:ext cx="182880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611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CLOSES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Contracts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3703320"/>
            <a:ext cx="502920" cy="41148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703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1.3%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1810512"/>
            <a:ext cx="182880" cy="10972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633472"/>
            <a:ext cx="182880" cy="10972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456432"/>
            <a:ext cx="182880" cy="109728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Avg. deal value: $8,000–$12,000 commission  •  2 closes/wk = $16K–$24K/mo potential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Overview: Why Solar, 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forces create urgency that works in your favor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657600" cy="2560320"/>
          </a:xfrm>
          <a:prstGeom prst="rect">
            <a:avLst/>
          </a:prstGeom>
          <a:solidFill>
            <a:srgbClr val="1E335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Utility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Inflation (YOY)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A9A"/>
                </a:solidFill>
              </a:rPr>
              <a:t>Source: U.S. Energy Information Administration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206240" cy="566928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51560"/>
            <a:ext cx="64008" cy="5669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8813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homes go solar each year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709928"/>
            <a:ext cx="4206240" cy="566928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709928"/>
            <a:ext cx="64008" cy="5669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4650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18013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industry job growth (2022–2032)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368296"/>
            <a:ext cx="4206240" cy="566928"/>
          </a:xfrm>
          <a:prstGeom prst="rect">
            <a:avLst/>
          </a:prstGeom>
          <a:solidFill>
            <a:srgbClr val="152537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368296"/>
            <a:ext cx="64008" cy="5669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0487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$500B+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245973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solar market by 2030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026664"/>
            <a:ext cx="4206240" cy="566928"/>
          </a:xfrm>
          <a:prstGeom prst="rect">
            <a:avLst/>
          </a:prstGeom>
          <a:solidFill>
            <a:srgbClr val="1E335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026664"/>
            <a:ext cx="64008" cy="5669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63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25–30yr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43600" y="31181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solar system lifespan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C4D8"/>
                </a:solidFill>
              </a:rPr>
              <a:t>Every year a homeowner delays, they pay ~8% more to the utility company. You offer them a way out.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Solar Works: Technology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system earns homeowner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2103120"/>
          </a:xfrm>
          <a:prstGeom prst="rect">
            <a:avLst/>
          </a:prstGeom>
          <a:solidFill>
            <a:srgbClr val="1E335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1463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572768"/>
            <a:ext cx="548640" cy="54864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</a:rPr>
              <a:t>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Photons strike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surface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0" y="2240280"/>
            <a:ext cx="210312" cy="54864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21305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371600"/>
            <a:ext cx="1463040" cy="2103120"/>
          </a:xfrm>
          <a:prstGeom prst="rect">
            <a:avLst/>
          </a:prstGeom>
          <a:solidFill>
            <a:srgbClr val="1E3350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371600"/>
            <a:ext cx="14630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572768"/>
            <a:ext cx="548640" cy="54864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96F3"/>
                </a:solidFill>
              </a:rPr>
              <a:t>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8600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PANEL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convert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→ DC electricity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94760" y="2240280"/>
            <a:ext cx="210312" cy="54864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21305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69080" y="1371600"/>
            <a:ext cx="1463040" cy="2103120"/>
          </a:xfrm>
          <a:prstGeom prst="rect">
            <a:avLst/>
          </a:prstGeom>
          <a:solidFill>
            <a:srgbClr val="1E3350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1371600"/>
            <a:ext cx="146304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1572768"/>
            <a:ext cx="548640" cy="54864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27B0"/>
                </a:solidFill>
              </a:rPr>
              <a:t>⇄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6908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 current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2240280"/>
            <a:ext cx="210312" cy="54864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41848" y="21305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1371600"/>
            <a:ext cx="1463040" cy="2103120"/>
          </a:xfrm>
          <a:prstGeom prst="rect">
            <a:avLst/>
          </a:prstGeom>
          <a:solidFill>
            <a:srgbClr val="1E3350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1371600"/>
            <a:ext cx="14630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1572768"/>
            <a:ext cx="548640" cy="54864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</a:rPr>
              <a:t>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85216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PANEL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power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home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60920" y="2240280"/>
            <a:ext cx="210312" cy="54864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21305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35240" y="1371600"/>
            <a:ext cx="1463040" cy="2103120"/>
          </a:xfrm>
          <a:prstGeom prst="rect">
            <a:avLst/>
          </a:prstGeom>
          <a:solidFill>
            <a:srgbClr val="1E335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1371600"/>
            <a:ext cx="146304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92440" y="1572768"/>
            <a:ext cx="548640" cy="548640"/>
          </a:xfrm>
          <a:prstGeom prst="ellipse">
            <a:avLst/>
          </a:prstGeom>
          <a:solidFill>
            <a:srgbClr val="1E33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</a:rPr>
              <a:t>⌂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63524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GRID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home;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sold back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794760"/>
            <a:ext cx="8321040" cy="530352"/>
          </a:xfrm>
          <a:prstGeom prst="rect">
            <a:avLst/>
          </a:prstGeom>
          <a:solidFill>
            <a:srgbClr val="1B3A0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3794760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Net Metering: When your solar system produces more electricity than the home uses, the excess is fed back to the grid — and the utility company credits your bill.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Myths vs. Reality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objections before homeowners raise them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MYTH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931920" cy="475488"/>
          </a:xfrm>
          <a:prstGeom prst="rect">
            <a:avLst/>
          </a:prstGeom>
          <a:solidFill>
            <a:srgbClr val="152537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961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is too expensive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931920" cy="475488"/>
          </a:xfrm>
          <a:prstGeom prst="rect">
            <a:avLst/>
          </a:prstGeom>
          <a:solidFill>
            <a:srgbClr val="152537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9961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homeowners pay $0 down with financing options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75104"/>
            <a:ext cx="3931920" cy="475488"/>
          </a:xfrm>
          <a:prstGeom prst="rect">
            <a:avLst/>
          </a:prstGeom>
          <a:solidFill>
            <a:srgbClr val="1E3350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work in cloudy climates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975104"/>
            <a:ext cx="3931920" cy="475488"/>
          </a:xfrm>
          <a:prstGeom prst="rect">
            <a:avLst/>
          </a:prstGeom>
          <a:solidFill>
            <a:srgbClr val="1E335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0116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generate power in diffuse light; Germany is #1 solar per capita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3931920" cy="475488"/>
          </a:xfrm>
          <a:prstGeom prst="rect">
            <a:avLst/>
          </a:prstGeom>
          <a:solidFill>
            <a:srgbClr val="152537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237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 ruin the roof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487168"/>
            <a:ext cx="3931920" cy="475488"/>
          </a:xfrm>
          <a:prstGeom prst="rect">
            <a:avLst/>
          </a:prstGeom>
          <a:solidFill>
            <a:srgbClr val="152537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5237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Professionally installed panels actually protect the roof surface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99232"/>
            <a:ext cx="3931920" cy="475488"/>
          </a:xfrm>
          <a:prstGeom prst="rect">
            <a:avLst/>
          </a:prstGeom>
          <a:solidFill>
            <a:srgbClr val="1E3350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358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payback period is too long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999232"/>
            <a:ext cx="3931920" cy="475488"/>
          </a:xfrm>
          <a:prstGeom prst="rect">
            <a:avLst/>
          </a:prstGeom>
          <a:solidFill>
            <a:srgbClr val="1E335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0358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break even in 5–8 years; warranties are 25+ years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511296"/>
            <a:ext cx="3931920" cy="475488"/>
          </a:xfrm>
          <a:prstGeom prst="rect">
            <a:avLst/>
          </a:prstGeom>
          <a:solidFill>
            <a:srgbClr val="152537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478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have to deal with the utility still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511296"/>
            <a:ext cx="3931920" cy="475488"/>
          </a:xfrm>
          <a:prstGeom prst="rect">
            <a:avLst/>
          </a:prstGeom>
          <a:solidFill>
            <a:srgbClr val="152537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5478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Grid-tied systems stay connected; net metering earns bill credits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3931920" cy="475488"/>
          </a:xfrm>
          <a:prstGeom prst="rect">
            <a:avLst/>
          </a:prstGeom>
          <a:solidFill>
            <a:srgbClr val="1E3350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599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 move?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4023360"/>
            <a:ext cx="3931920" cy="475488"/>
          </a:xfrm>
          <a:prstGeom prst="rect">
            <a:avLst/>
          </a:prstGeom>
          <a:solidFill>
            <a:srgbClr val="1E3350"/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05993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increases home value by ~4% (Zillow Research)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vs. Salesperson Mindset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reps in solar think like advisors, not closers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37474F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SALESPERSON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1A237E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CONSULTANT  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931920" cy="411480"/>
          </a:xfrm>
          <a:prstGeom prst="rect">
            <a:avLst/>
          </a:prstGeom>
          <a:solidFill>
            <a:srgbClr val="15253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0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product features &amp;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931920" cy="411480"/>
          </a:xfrm>
          <a:prstGeom prst="rect">
            <a:avLst/>
          </a:prstGeom>
          <a:solidFill>
            <a:srgbClr val="1A2B4E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90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homeowner's energy problem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11096"/>
            <a:ext cx="3931920" cy="411480"/>
          </a:xfrm>
          <a:prstGeom prst="rect">
            <a:avLst/>
          </a:prstGeom>
          <a:solidFill>
            <a:srgbClr val="1C2B3A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closing the deal 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911096"/>
            <a:ext cx="3931920" cy="411480"/>
          </a:xfrm>
          <a:prstGeom prst="rect">
            <a:avLst/>
          </a:prstGeom>
          <a:solidFill>
            <a:srgbClr val="162240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9385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long-term trust &amp; referral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59152"/>
            <a:ext cx="3931920" cy="411480"/>
          </a:xfrm>
          <a:prstGeom prst="rect">
            <a:avLst/>
          </a:prstGeom>
          <a:solidFill>
            <a:srgbClr val="15253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865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scripted objection handling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59152"/>
            <a:ext cx="3931920" cy="411480"/>
          </a:xfrm>
          <a:prstGeom prst="rect">
            <a:avLst/>
          </a:prstGeom>
          <a:solidFill>
            <a:srgbClr val="1A2B4E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3865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 to understand real concerns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07208"/>
            <a:ext cx="3931920" cy="411480"/>
          </a:xfrm>
          <a:prstGeom prst="rect">
            <a:avLst/>
          </a:prstGeom>
          <a:solidFill>
            <a:srgbClr val="1C2B3A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70% of the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807208"/>
            <a:ext cx="3931920" cy="411480"/>
          </a:xfrm>
          <a:prstGeom prst="rect">
            <a:avLst/>
          </a:prstGeom>
          <a:solidFill>
            <a:srgbClr val="162240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70% of the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55264"/>
            <a:ext cx="3931920" cy="411480"/>
          </a:xfrm>
          <a:prstGeom prst="rect">
            <a:avLst/>
          </a:prstGeom>
          <a:solidFill>
            <a:srgbClr val="15253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826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homeowner the same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255264"/>
            <a:ext cx="3931920" cy="411480"/>
          </a:xfrm>
          <a:prstGeom prst="rect">
            <a:avLst/>
          </a:prstGeom>
          <a:solidFill>
            <a:srgbClr val="1A2B4E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2826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Customizes the conversation to each home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3931920" cy="411480"/>
          </a:xfrm>
          <a:prstGeom prst="rect">
            <a:avLst/>
          </a:prstGeom>
          <a:solidFill>
            <a:srgbClr val="1C2B3A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next door after a 'No'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3931920" cy="411480"/>
          </a:xfrm>
          <a:prstGeom prst="rect">
            <a:avLst/>
          </a:prstGeom>
          <a:solidFill>
            <a:srgbClr val="162240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30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up, educates, stays in touch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151376"/>
            <a:ext cx="3931920" cy="411480"/>
          </a:xfrm>
          <a:prstGeom prst="rect">
            <a:avLst/>
          </a:prstGeom>
          <a:solidFill>
            <a:srgbClr val="152537"/>
          </a:solidFill>
          <a:ln w="6350">
            <a:solidFill>
              <a:srgbClr val="546E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78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commission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151376"/>
            <a:ext cx="3931920" cy="411480"/>
          </a:xfrm>
          <a:prstGeom prst="rect">
            <a:avLst/>
          </a:prstGeom>
          <a:solidFill>
            <a:srgbClr val="1A2B4E"/>
          </a:solidFill>
          <a:ln w="6350">
            <a:solidFill>
              <a:srgbClr val="3949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4178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impact + income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Utility Bill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you're looking at — and what to look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754880" cy="3474720"/>
          </a:xfrm>
          <a:prstGeom prst="rect">
            <a:avLst/>
          </a:prstGeom>
          <a:solidFill>
            <a:srgbClr val="152537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LOCAL UTILITY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SNAPSHOT HERE]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109728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97880" y="1078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325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utility authorization form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94960" y="1773936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7739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1755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kWh Usage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002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the solar system accurately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245059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24323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Tier / Rate Schedule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6791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exposure to future increases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0" y="312724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31089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Bill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3355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savings baseline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94960" y="3803904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97880" y="37856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Metering Eligibility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40325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credit for excess generation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623"/>
                </a:solidFill>
              </a:rPr>
              <a:t>Pro tip: Ask to see the last 12 months of bills to calculate an accurate annual usage figure.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Wrap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these 3 steps before our next session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78992"/>
          </a:xfrm>
          <a:prstGeom prst="rect">
            <a:avLst/>
          </a:prstGeom>
          <a:solidFill>
            <a:srgbClr val="1E33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91440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63040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Admin Items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CRM, HR portal, and communications app. Submit all required documents to your onboarding coordinator. Confirm your compliance training is complete before your first field day.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078992"/>
          </a:xfrm>
          <a:prstGeom prst="rect">
            <a:avLst/>
          </a:prstGeom>
          <a:solidFill>
            <a:srgbClr val="1E33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77440"/>
            <a:ext cx="91440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651760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468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Tech Flow &amp; Myths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slides 8 and 9. Practice explaining how solar works in under 60 seconds — out loud, to a friend or in the mirror. You should be able to answer the top 5 myths without hesitation.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8412480" cy="1078992"/>
          </a:xfrm>
          <a:prstGeom prst="rect">
            <a:avLst/>
          </a:prstGeom>
          <a:solidFill>
            <a:srgbClr val="1E335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66160"/>
            <a:ext cx="91440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840480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40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&amp; Analyze Your Own Utility Bill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your own home's utility bill (or a family member's). Identify the 5 key data points from slide 11. Come to the next session ready to role-play using a real bill as your prop.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4818888"/>
            <a:ext cx="6858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COMPANY]  •  Solar Sales Training Program  •  Day 1 of Onboarding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A7A9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74320" y="4526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[INSERT COMPANY LOGO HERE]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Sales Training — Day 1</dc:title>
  <dc:subject>PptxGenJS Presentation</dc:subject>
  <dc:creator>PptxGenJS</dc:creator>
  <cp:lastModifiedBy>PptxGenJS</cp:lastModifiedBy>
  <cp:revision>1</cp:revision>
  <dcterms:created xsi:type="dcterms:W3CDTF">2026-02-22T15:28:23Z</dcterms:created>
  <dcterms:modified xsi:type="dcterms:W3CDTF">2026-02-22T15:28:23Z</dcterms:modified>
</cp:coreProperties>
</file>