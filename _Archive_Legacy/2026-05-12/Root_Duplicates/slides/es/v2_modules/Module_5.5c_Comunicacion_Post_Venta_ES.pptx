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28600"/>
            <a:ext cx="11430000" cy="320040"/>
          </a:xfrm>
          <a:prstGeom prst="rect">
            <a:avLst/>
          </a:prstGeom>
          <a:noFill/>
          <a:ln/>
        </p:spPr>
        <p:txBody>
          <a:bodyPr wrap="square" rtlCol="0" anchor="ctr"/>
          <a:lstStyle/>
          <a:p>
            <a:pPr algn="ctr" indent="0" marL="0">
              <a:buNone/>
            </a:pPr>
            <a:r>
              <a:rPr lang="en-US" sz="1100" b="1" spc="500" kern="0" dirty="0">
                <a:solidFill>
                  <a:srgbClr val="F4A62A"/>
                </a:solidFill>
              </a:rPr>
              <a:t>SEPTIVOLT</a:t>
            </a:r>
            <a:endParaRPr lang="en-US" sz="1100" dirty="0"/>
          </a:p>
        </p:txBody>
      </p:sp>
      <p:sp>
        <p:nvSpPr>
          <p:cNvPr id="3" name="Text 1"/>
          <p:cNvSpPr/>
          <p:nvPr/>
        </p:nvSpPr>
        <p:spPr>
          <a:xfrm>
            <a:off x="365760" y="658368"/>
            <a:ext cx="11430000" cy="365760"/>
          </a:xfrm>
          <a:prstGeom prst="rect">
            <a:avLst/>
          </a:prstGeom>
          <a:noFill/>
          <a:ln/>
        </p:spPr>
        <p:txBody>
          <a:bodyPr wrap="square" rtlCol="0" anchor="ctr"/>
          <a:lstStyle/>
          <a:p>
            <a:pPr algn="ctr" indent="0" marL="0">
              <a:buNone/>
            </a:pPr>
            <a:r>
              <a:rPr lang="en-US" sz="1300" b="1" dirty="0">
                <a:solidFill>
                  <a:srgbClr val="028090"/>
                </a:solidFill>
              </a:rPr>
              <a:t>MÓDULO 5.5c</a:t>
            </a:r>
            <a:endParaRPr lang="en-US" sz="1300" dirty="0"/>
          </a:p>
        </p:txBody>
      </p:sp>
      <p:sp>
        <p:nvSpPr>
          <p:cNvPr id="4" name="Text 2"/>
          <p:cNvSpPr/>
          <p:nvPr/>
        </p:nvSpPr>
        <p:spPr>
          <a:xfrm>
            <a:off x="914400" y="1097280"/>
            <a:ext cx="10332720" cy="1645920"/>
          </a:xfrm>
          <a:prstGeom prst="rect">
            <a:avLst/>
          </a:prstGeom>
          <a:noFill/>
          <a:ln/>
        </p:spPr>
        <p:txBody>
          <a:bodyPr wrap="square" rtlCol="0" anchor="ctr"/>
          <a:lstStyle/>
          <a:p>
            <a:pPr algn="ctr" indent="0" marL="0">
              <a:buNone/>
            </a:pPr>
            <a:r>
              <a:rPr lang="en-US" sz="3600" b="1" dirty="0">
                <a:solidFill>
                  <a:srgbClr val="FFFFFF"/>
                </a:solidFill>
              </a:rPr>
              <a:t>La Experiencia de 5 Estrellas Comienza</a:t>
            </a:r>
            <a:endParaRPr lang="en-US" sz="3600" dirty="0"/>
          </a:p>
          <a:p>
            <a:pPr algn="ctr" indent="0" marL="0">
              <a:buNone/>
            </a:pPr>
            <a:r>
              <a:rPr lang="en-US" sz="3600" b="1" dirty="0">
                <a:solidFill>
                  <a:srgbClr val="FFFFFF"/>
                </a:solidFill>
              </a:rPr>
              <a:t>Después de la Firma</a:t>
            </a:r>
            <a:endParaRPr lang="en-US" sz="3600" dirty="0"/>
          </a:p>
        </p:txBody>
      </p:sp>
      <p:sp>
        <p:nvSpPr>
          <p:cNvPr id="5" name="Text 3"/>
          <p:cNvSpPr/>
          <p:nvPr/>
        </p:nvSpPr>
        <p:spPr>
          <a:xfrm>
            <a:off x="914400" y="2834640"/>
            <a:ext cx="10332720" cy="457200"/>
          </a:xfrm>
          <a:prstGeom prst="rect">
            <a:avLst/>
          </a:prstGeom>
          <a:noFill/>
          <a:ln/>
        </p:spPr>
        <p:txBody>
          <a:bodyPr wrap="square" rtlCol="0" anchor="ctr"/>
          <a:lstStyle/>
          <a:p>
            <a:pPr algn="ctr" indent="0" marL="0">
              <a:buNone/>
            </a:pPr>
            <a:r>
              <a:rPr lang="en-US" sz="1300" i="1" dirty="0">
                <a:solidFill>
                  <a:srgbClr val="CBD5E0"/>
                </a:solidFill>
              </a:rPr>
              <a:t>Prevención del Arrepentimiento del Comprador · Actualizaciones de Hitos · Gestión del Silencio · Cosecha de Reseñas</a:t>
            </a:r>
            <a:endParaRPr lang="en-US" sz="1300" dirty="0"/>
          </a:p>
        </p:txBody>
      </p:sp>
      <p:sp>
        <p:nvSpPr>
          <p:cNvPr id="6" name="Shape 4"/>
          <p:cNvSpPr/>
          <p:nvPr/>
        </p:nvSpPr>
        <p:spPr>
          <a:xfrm>
            <a:off x="1828800" y="3520440"/>
            <a:ext cx="8531352" cy="731520"/>
          </a:xfrm>
          <a:prstGeom prst="rect">
            <a:avLst/>
          </a:prstGeom>
          <a:solidFill>
            <a:srgbClr val="028090">
              <a:alpha val="20000"/>
            </a:srgbClr>
          </a:solidFill>
          <a:ln w="12700">
            <a:solidFill>
              <a:srgbClr val="028090"/>
            </a:solidFill>
            <a:prstDash val="solid"/>
          </a:ln>
        </p:spPr>
      </p:sp>
      <p:sp>
        <p:nvSpPr>
          <p:cNvPr id="7" name="Text 5"/>
          <p:cNvSpPr/>
          <p:nvPr/>
        </p:nvSpPr>
        <p:spPr>
          <a:xfrm>
            <a:off x="1920240" y="3566160"/>
            <a:ext cx="8321040" cy="640080"/>
          </a:xfrm>
          <a:prstGeom prst="rect">
            <a:avLst/>
          </a:prstGeom>
          <a:noFill/>
          <a:ln/>
        </p:spPr>
        <p:txBody>
          <a:bodyPr wrap="square" rtlCol="0" anchor="ctr"/>
          <a:lstStyle/>
          <a:p>
            <a:pPr algn="ctr" indent="0" marL="0">
              <a:buNone/>
            </a:pPr>
            <a:r>
              <a:rPr lang="en-US" sz="1200" i="1" dirty="0">
                <a:solidFill>
                  <a:srgbClr val="FFFFFF"/>
                </a:solidFill>
              </a:rPr>
              <a:t>"Cualquiera puede vender solar. El representante que retiene al cliente y gana el referido es el que mantiene contacto después de que la tinta se seca."</a:t>
            </a:r>
            <a:endParaRPr lang="en-US" sz="1200" dirty="0"/>
          </a:p>
        </p:txBody>
      </p:sp>
      <p:sp>
        <p:nvSpPr>
          <p:cNvPr id="8" name="Text 6"/>
          <p:cNvSpPr/>
          <p:nvPr/>
        </p:nvSpPr>
        <p:spPr>
          <a:xfrm>
            <a:off x="914400" y="4434840"/>
            <a:ext cx="10332720" cy="365760"/>
          </a:xfrm>
          <a:prstGeom prst="rect">
            <a:avLst/>
          </a:prstGeom>
          <a:noFill/>
          <a:ln/>
        </p:spPr>
        <p:txBody>
          <a:bodyPr wrap="square" rtlCol="0" anchor="ctr"/>
          <a:lstStyle/>
          <a:p>
            <a:pPr algn="ctr" indent="0" marL="0">
              <a:buNone/>
            </a:pPr>
            <a:r>
              <a:rPr lang="en-US" sz="1000" dirty="0">
                <a:solidFill>
                  <a:srgbClr val="CBD5E0"/>
                </a:solidFill>
              </a:rPr>
              <a:t>SeptiVolt Solar Sales Accelerator™  |  Educación en Independencia Energética</a:t>
            </a:r>
            <a:endParaRPr lang="en-US" sz="1000" dirty="0"/>
          </a:p>
        </p:txBody>
      </p:sp>
      <p:sp>
        <p:nvSpPr>
          <p:cNvPr id="9" name="Text 7"/>
          <p:cNvSpPr/>
          <p:nvPr/>
        </p:nvSpPr>
        <p:spPr>
          <a:xfrm>
            <a:off x="365760" y="6400800"/>
            <a:ext cx="11430000" cy="274320"/>
          </a:xfrm>
          <a:prstGeom prst="rect">
            <a:avLst/>
          </a:prstGeom>
          <a:noFill/>
          <a:ln/>
        </p:spPr>
        <p:txBody>
          <a:bodyPr wrap="square" rtlCol="0" anchor="ctr"/>
          <a:lstStyle/>
          <a:p>
            <a:pPr algn="ctr" indent="0" marL="0">
              <a:buNone/>
            </a:pPr>
            <a:r>
              <a:rPr lang="en-US" sz="800" dirty="0">
                <a:solidFill>
                  <a:srgbClr val="CBD5E0"/>
                </a:solidFill>
              </a:rPr>
              <a:t>SeptiVolt Solar Sales Accelerator™  |  Educación en Independencia Energética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5.5c</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La Llamada de Inoculación de 48 Horas: Deteniendo el Arrepentimiento del Comprador</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Qué Es: Una llamada proactiva 24–48 horas después de la firma para prevenir las dudas antes de que se conviertan en una cancelación</a:t>
            </a:r>
            <a:endParaRPr lang="en-US" sz="1300" dirty="0"/>
          </a:p>
          <a:p>
            <a:pPr marL="342900" indent="-342900">
              <a:lnSpc>
                <a:spcPct val="130000"/>
              </a:lnSpc>
              <a:spcAft>
                <a:spcPts val="600"/>
              </a:spcAft>
              <a:buSzPct val="100000"/>
              <a:buChar char="●"/>
            </a:pPr>
            <a:r>
              <a:rPr lang="en-US" sz="1300" dirty="0">
                <a:solidFill>
                  <a:srgbClr val="2D3748"/>
                </a:solidFill>
              </a:rPr>
              <a:t>Razón del Timing: La investigación muestra que el arrepentimiento del comprador alcanza su pico a las 24–72 horas post-decisión importante — llegar primero lo neutraliza</a:t>
            </a:r>
            <a:endParaRPr lang="en-US" sz="1300" dirty="0"/>
          </a:p>
          <a:p>
            <a:pPr marL="342900" indent="-342900">
              <a:lnSpc>
                <a:spcPct val="130000"/>
              </a:lnSpc>
              <a:spcAft>
                <a:spcPts val="600"/>
              </a:spcAft>
              <a:buSzPct val="100000"/>
              <a:buChar char="●"/>
            </a:pPr>
            <a:r>
              <a:rPr lang="en-US" sz="1300" dirty="0">
                <a:solidFill>
                  <a:srgbClr val="2D3748"/>
                </a:solidFill>
              </a:rPr>
              <a:t>Script: "Hola [Nombre], quería comunicarme personalmente y agradecerte por tu confianza. Tomaste una gran decisión. ¿Hay algo que hayas pensado desde que hablamos que pueda aclarar?"</a:t>
            </a:r>
            <a:endParaRPr lang="en-US" sz="1300" dirty="0"/>
          </a:p>
          <a:p>
            <a:pPr marL="342900" indent="-342900">
              <a:lnSpc>
                <a:spcPct val="130000"/>
              </a:lnSpc>
              <a:spcAft>
                <a:spcPts val="600"/>
              </a:spcAft>
              <a:buSzPct val="100000"/>
              <a:buChar char="●"/>
            </a:pPr>
            <a:r>
              <a:rPr lang="en-US" sz="1300" dirty="0">
                <a:solidFill>
                  <a:srgbClr val="2D3748"/>
                </a:solidFill>
              </a:rPr>
              <a:t>Dudas Comunes a Abordar: Preocupaciones del cónyuge, presión familiar, reseñas en línea, anécdotas de "mi vecino dijo"</a:t>
            </a:r>
            <a:endParaRPr lang="en-US" sz="1300" dirty="0"/>
          </a:p>
          <a:p>
            <a:pPr marL="342900" indent="-342900">
              <a:lnSpc>
                <a:spcPct val="130000"/>
              </a:lnSpc>
              <a:spcAft>
                <a:spcPts val="600"/>
              </a:spcAft>
              <a:buSzPct val="100000"/>
              <a:buChar char="●"/>
            </a:pPr>
            <a:r>
              <a:rPr lang="en-US" sz="1300" dirty="0">
                <a:solidFill>
                  <a:srgbClr val="2D3748"/>
                </a:solidFill>
              </a:rPr>
              <a:t>El Objetivo: No re-venderles — reforzar la confianza y darles lenguaje para explicar su decisión a familiares escépticos</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Esta llamada previene del 60–70% de las cancelaciones por arrepentimiento del comprador. Bloquea 30 minutos cada mañana para hacer llamadas de 48 horas de los cierres del día anterior. Es la actividad de mayor ROI en tu proceso post-venta.</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5.5c</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Actualizaciones de Hitos: La Cadencia de Comunicación</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Visita Técnica Programada: "Buenas noticias — tu visita técnica está programada para [Fecha/Hora]. Recibirás una confirmación de nuestro equipo. Aquí está lo que esperar..."</a:t>
            </a:r>
            <a:endParaRPr lang="en-US" sz="1300" dirty="0"/>
          </a:p>
          <a:p>
            <a:pPr marL="342900" indent="-342900">
              <a:lnSpc>
                <a:spcPct val="130000"/>
              </a:lnSpc>
              <a:spcAft>
                <a:spcPts val="600"/>
              </a:spcAft>
              <a:buSzPct val="100000"/>
              <a:buChar char="●"/>
            </a:pPr>
            <a:r>
              <a:rPr lang="en-US" sz="1300" dirty="0">
                <a:solidFill>
                  <a:srgbClr val="2D3748"/>
                </a:solidFill>
              </a:rPr>
              <a:t>Visita Técnica Completada: "Tu visita técnica está terminada — nuestro equipo de ingeniería tiene todo lo que necesita. Diseño y permiso llegando en 5–7 días hábiles."</a:t>
            </a:r>
            <a:endParaRPr lang="en-US" sz="1300" dirty="0"/>
          </a:p>
          <a:p>
            <a:pPr marL="342900" indent="-342900">
              <a:lnSpc>
                <a:spcPct val="130000"/>
              </a:lnSpc>
              <a:spcAft>
                <a:spcPts val="600"/>
              </a:spcAft>
              <a:buSzPct val="100000"/>
              <a:buChar char="●"/>
            </a:pPr>
            <a:r>
              <a:rPr lang="en-US" sz="1300" dirty="0">
                <a:solidFill>
                  <a:srgbClr val="2D3748"/>
                </a:solidFill>
              </a:rPr>
              <a:t>Permiso Presentado: "Tu permiso ha sido presentado a la ciudad. Este proceso típicamente toma 2–6 semanas. Te mantendré informado sobre el progreso."</a:t>
            </a:r>
            <a:endParaRPr lang="en-US" sz="1300" dirty="0"/>
          </a:p>
          <a:p>
            <a:pPr marL="342900" indent="-342900">
              <a:lnSpc>
                <a:spcPct val="130000"/>
              </a:lnSpc>
              <a:spcAft>
                <a:spcPts val="600"/>
              </a:spcAft>
              <a:buSzPct val="100000"/>
              <a:buChar char="●"/>
            </a:pPr>
            <a:r>
              <a:rPr lang="en-US" sz="1300" dirty="0">
                <a:solidFill>
                  <a:srgbClr val="2D3748"/>
                </a:solidFill>
              </a:rPr>
              <a:t>Fecha de Instalación Programada: "Tu instalación está confirmada para [Fecha]. Tu equipo llegará entre [Ventana de Tiempo]. Aquí está cómo será tu día de instalación..."</a:t>
            </a:r>
            <a:endParaRPr lang="en-US" sz="1300" dirty="0"/>
          </a:p>
          <a:p>
            <a:pPr marL="342900" indent="-342900">
              <a:lnSpc>
                <a:spcPct val="130000"/>
              </a:lnSpc>
              <a:spcAft>
                <a:spcPts val="600"/>
              </a:spcAft>
              <a:buSzPct val="100000"/>
              <a:buChar char="●"/>
            </a:pPr>
            <a:r>
              <a:rPr lang="en-US" sz="1300" dirty="0">
                <a:solidFill>
                  <a:srgbClr val="2D3748"/>
                </a:solidFill>
              </a:rPr>
              <a:t>PTO (Permiso para Operar): "¡Felicitaciones — tu sistema está activo y oficialmente produciendo energía! Aquí te explico cómo leer tu app de monitoreo."</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Establece un recordatorio en el CRM para cada disparador de hito. Cuando ingeniería registre la presentación de un permiso, tú envías al cliente un texto dentro de 2 horas. La velocidad de comunicación = calidad percibida del servicio.</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5.5c</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Gestionando la "Brecha de Silencio": La Fase del Permiso</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La Brecha de Silencio: El período de espera del permiso de 2–6 semanas es la fase de mayor riesgo para la ansiedad del cliente y la cancelación</a:t>
            </a:r>
            <a:endParaRPr lang="en-US" sz="1300" dirty="0"/>
          </a:p>
          <a:p>
            <a:pPr marL="342900" indent="-342900">
              <a:lnSpc>
                <a:spcPct val="130000"/>
              </a:lnSpc>
              <a:spcAft>
                <a:spcPts val="600"/>
              </a:spcAft>
              <a:buSzPct val="100000"/>
              <a:buChar char="●"/>
            </a:pPr>
            <a:r>
              <a:rPr lang="en-US" sz="1300" dirty="0">
                <a:solidFill>
                  <a:srgbClr val="2D3748"/>
                </a:solidFill>
              </a:rPr>
              <a:t>Lo que los Propietarios Piensan: "No está pasando nada." (Ingeniería está trabajando — pero ellos no pueden verlo.)</a:t>
            </a:r>
            <a:endParaRPr lang="en-US" sz="1300" dirty="0"/>
          </a:p>
          <a:p>
            <a:pPr marL="342900" indent="-342900">
              <a:lnSpc>
                <a:spcPct val="130000"/>
              </a:lnSpc>
              <a:spcAft>
                <a:spcPts val="600"/>
              </a:spcAft>
              <a:buSzPct val="100000"/>
              <a:buChar char="●"/>
            </a:pPr>
            <a:r>
              <a:rPr lang="en-US" sz="1300" dirty="0">
                <a:solidFill>
                  <a:srgbClr val="2D3748"/>
                </a:solidFill>
              </a:rPr>
              <a:t>Script de Seguimiento Semanal: "Hola [Nombre], quería estar en contacto — tu permiso está en proceso con la ciudad. Todo va según lo programado. La aprobación esperada es alrededor de [Fecha]. ¿Alguna pregunta?"</a:t>
            </a:r>
            <a:endParaRPr lang="en-US" sz="1300" dirty="0"/>
          </a:p>
          <a:p>
            <a:pPr marL="342900" indent="-342900">
              <a:lnSpc>
                <a:spcPct val="130000"/>
              </a:lnSpc>
              <a:spcAft>
                <a:spcPts val="600"/>
              </a:spcAft>
              <a:buSzPct val="100000"/>
              <a:buChar char="●"/>
            </a:pPr>
            <a:r>
              <a:rPr lang="en-US" sz="1300" dirty="0">
                <a:solidFill>
                  <a:srgbClr val="2D3748"/>
                </a:solidFill>
              </a:rPr>
              <a:t>Regla de Malas Noticias Proactivas: Si el permiso tarda más de lo esperado, tú llamas primero. No dejes que los clientes descubran retrasos por su cuenta.</a:t>
            </a:r>
            <a:endParaRPr lang="en-US" sz="1300" dirty="0"/>
          </a:p>
          <a:p>
            <a:pPr marL="342900" indent="-342900">
              <a:lnSpc>
                <a:spcPct val="130000"/>
              </a:lnSpc>
              <a:spcAft>
                <a:spcPts val="600"/>
              </a:spcAft>
              <a:buSzPct val="100000"/>
              <a:buChar char="●"/>
            </a:pPr>
            <a:r>
              <a:rPr lang="en-US" sz="1300" dirty="0">
                <a:solidFill>
                  <a:srgbClr val="2D3748"/>
                </a:solidFill>
              </a:rPr>
              <a:t>Valor Agregado Durante el Silencio: Envía contenido relevante — "Aquí hay una guía para sacar el máximo provecho de tu app de monitoreo" o "Tu vecino acaba de obtener su PTO — aquí está lo que esperar en esa etapa"</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El representante que se comunica durante el silencio retiene clientes. El representante que desaparece los pierde ante la competencia, ventanas de rescisión o simplemente erosión de la confianza. Un texto por semana toma 2 minutos y protege tu comisión.</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5.5c</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Cosechando Reseñas en el PTO</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El PTO (Permiso para Operar) es el pico emocional de todo el proceso — el sistema se enciende por primera vez</a:t>
            </a:r>
            <a:endParaRPr lang="en-US" sz="1300" dirty="0"/>
          </a:p>
          <a:p>
            <a:pPr marL="342900" indent="-342900">
              <a:lnSpc>
                <a:spcPct val="130000"/>
              </a:lnSpc>
              <a:spcAft>
                <a:spcPts val="600"/>
              </a:spcAft>
              <a:buSzPct val="100000"/>
              <a:buChar char="●"/>
            </a:pPr>
            <a:r>
              <a:rPr lang="en-US" sz="1300" dirty="0">
                <a:solidFill>
                  <a:srgbClr val="2D3748"/>
                </a:solidFill>
              </a:rPr>
              <a:t>Este es el único mejor momento para solicitar una reseña — el cliente está en máxima satisfacción</a:t>
            </a:r>
            <a:endParaRPr lang="en-US" sz="1300" dirty="0"/>
          </a:p>
          <a:p>
            <a:pPr marL="342900" indent="-342900">
              <a:lnSpc>
                <a:spcPct val="130000"/>
              </a:lnSpc>
              <a:spcAft>
                <a:spcPts val="600"/>
              </a:spcAft>
              <a:buSzPct val="100000"/>
              <a:buChar char="●"/>
            </a:pPr>
            <a:r>
              <a:rPr lang="en-US" sz="1300" dirty="0">
                <a:solidFill>
                  <a:srgbClr val="2D3748"/>
                </a:solidFill>
              </a:rPr>
              <a:t>El Script de Reseña PTO: "Tu sistema está activo — este es el momento por el que he estado trabajando para ti. Me gustaría pedirte un pequeño favor — si estás dispuesto, una reseña rápida en Google/[plataforma] significaría mucho para mí."</a:t>
            </a:r>
            <a:endParaRPr lang="en-US" sz="1300" dirty="0"/>
          </a:p>
          <a:p>
            <a:pPr marL="342900" indent="-342900">
              <a:lnSpc>
                <a:spcPct val="130000"/>
              </a:lnSpc>
              <a:spcAft>
                <a:spcPts val="600"/>
              </a:spcAft>
              <a:buSzPct val="100000"/>
              <a:buChar char="●"/>
            </a:pPr>
            <a:r>
              <a:rPr lang="en-US" sz="1300" dirty="0">
                <a:solidFill>
                  <a:srgbClr val="2D3748"/>
                </a:solidFill>
              </a:rPr>
              <a:t>Haz que Sea Fácil: Envía un enlace directo por texto de inmediato — cada clic de fricción reduce la tasa de finalización de reseñas en un 20%</a:t>
            </a:r>
            <a:endParaRPr lang="en-US" sz="1300" dirty="0"/>
          </a:p>
          <a:p>
            <a:pPr marL="342900" indent="-342900">
              <a:lnSpc>
                <a:spcPct val="130000"/>
              </a:lnSpc>
              <a:spcAft>
                <a:spcPts val="600"/>
              </a:spcAft>
              <a:buSzPct val="100000"/>
              <a:buChar char="●"/>
            </a:pPr>
            <a:r>
              <a:rPr lang="en-US" sz="1300" dirty="0">
                <a:solidFill>
                  <a:srgbClr val="2D3748"/>
                </a:solidFill>
              </a:rPr>
              <a:t>Criterio de 5 Estrellas: Responde a todas las reseñas (positivas y negativas) dentro de las 24 horas — muestra gestión activa de reputación</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Envía la solicitud de reseña al mismo tiempo que el mensaje de felicitación por el PTO. Mismo mensaje, dos solicitudes: "Tu sistema está activo Y aquí está el enlace de reseña si tienes 2 minutos." Duplica la acción, unifica el momento.</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2026-04-25T03:25:06Z</dcterms:created>
  <dcterms:modified xsi:type="dcterms:W3CDTF">2026-04-25T03:25:06Z</dcterms:modified>
</cp:coreProperties>
</file>