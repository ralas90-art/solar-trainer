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28600"/>
            <a:ext cx="11430000" cy="320040"/>
          </a:xfrm>
          <a:prstGeom prst="rect">
            <a:avLst/>
          </a:prstGeom>
          <a:noFill/>
          <a:ln/>
        </p:spPr>
        <p:txBody>
          <a:bodyPr wrap="square" rtlCol="0" anchor="ctr"/>
          <a:lstStyle/>
          <a:p>
            <a:pPr algn="ctr" indent="0" marL="0">
              <a:buNone/>
            </a:pPr>
            <a:r>
              <a:rPr lang="en-US" sz="1100" b="1" spc="500" kern="0" dirty="0">
                <a:solidFill>
                  <a:srgbClr val="F4A62A"/>
                </a:solidFill>
              </a:rPr>
              <a:t>SEPTIVOLT</a:t>
            </a:r>
            <a:endParaRPr lang="en-US" sz="1100" dirty="0"/>
          </a:p>
        </p:txBody>
      </p:sp>
      <p:sp>
        <p:nvSpPr>
          <p:cNvPr id="3" name="Text 1"/>
          <p:cNvSpPr/>
          <p:nvPr/>
        </p:nvSpPr>
        <p:spPr>
          <a:xfrm>
            <a:off x="365760" y="658368"/>
            <a:ext cx="11430000" cy="365760"/>
          </a:xfrm>
          <a:prstGeom prst="rect">
            <a:avLst/>
          </a:prstGeom>
          <a:noFill/>
          <a:ln/>
        </p:spPr>
        <p:txBody>
          <a:bodyPr wrap="square" rtlCol="0" anchor="ctr"/>
          <a:lstStyle/>
          <a:p>
            <a:pPr algn="ctr" indent="0" marL="0">
              <a:buNone/>
            </a:pPr>
            <a:r>
              <a:rPr lang="en-US" sz="1300" b="1" dirty="0">
                <a:solidFill>
                  <a:srgbClr val="028090"/>
                </a:solidFill>
              </a:rPr>
              <a:t>MÓDULO 1.7a</a:t>
            </a:r>
            <a:endParaRPr lang="en-US" sz="1300" dirty="0"/>
          </a:p>
        </p:txBody>
      </p:sp>
      <p:sp>
        <p:nvSpPr>
          <p:cNvPr id="4" name="Text 2"/>
          <p:cNvSpPr/>
          <p:nvPr/>
        </p:nvSpPr>
        <p:spPr>
          <a:xfrm>
            <a:off x="914400" y="1097280"/>
            <a:ext cx="10332720" cy="1645920"/>
          </a:xfrm>
          <a:prstGeom prst="rect">
            <a:avLst/>
          </a:prstGeom>
          <a:noFill/>
          <a:ln/>
        </p:spPr>
        <p:txBody>
          <a:bodyPr wrap="square" rtlCol="0" anchor="ctr"/>
          <a:lstStyle/>
          <a:p>
            <a:pPr algn="ctr" indent="0" marL="0">
              <a:buNone/>
            </a:pPr>
            <a:r>
              <a:rPr lang="en-US" sz="3600" b="1" dirty="0">
                <a:solidFill>
                  <a:srgbClr val="FFFFFF"/>
                </a:solidFill>
              </a:rPr>
              <a:t>Piensa Como Ingeniero:</a:t>
            </a:r>
            <a:endParaRPr lang="en-US" sz="3600" dirty="0"/>
          </a:p>
          <a:p>
            <a:pPr algn="ctr" indent="0" marL="0">
              <a:buNone/>
            </a:pPr>
            <a:r>
              <a:rPr lang="en-US" sz="3600" b="1" dirty="0">
                <a:solidFill>
                  <a:srgbClr val="FFFFFF"/>
                </a:solidFill>
              </a:rPr>
              <a:t>Conciencia de Ingeniería del Sitio para Representantes de Ventas</a:t>
            </a:r>
            <a:endParaRPr lang="en-US" sz="3600" dirty="0"/>
          </a:p>
        </p:txBody>
      </p:sp>
      <p:sp>
        <p:nvSpPr>
          <p:cNvPr id="5" name="Text 3"/>
          <p:cNvSpPr/>
          <p:nvPr/>
        </p:nvSpPr>
        <p:spPr>
          <a:xfrm>
            <a:off x="914400" y="2834640"/>
            <a:ext cx="10332720" cy="457200"/>
          </a:xfrm>
          <a:prstGeom prst="rect">
            <a:avLst/>
          </a:prstGeom>
          <a:noFill/>
          <a:ln/>
        </p:spPr>
        <p:txBody>
          <a:bodyPr wrap="square" rtlCol="0" anchor="ctr"/>
          <a:lstStyle/>
          <a:p>
            <a:pPr algn="ctr" indent="0" marL="0">
              <a:buNone/>
            </a:pPr>
            <a:r>
              <a:rPr lang="en-US" sz="1300" i="1" dirty="0">
                <a:solidFill>
                  <a:srgbClr val="CBD5E0"/>
                </a:solidFill>
              </a:rPr>
              <a:t>Señales de Alerta de MPU · Integridad del Techo · Sombreado y Retranqueos · Comunicación con el Propietario</a:t>
            </a:r>
            <a:endParaRPr lang="en-US" sz="1300" dirty="0"/>
          </a:p>
        </p:txBody>
      </p:sp>
      <p:sp>
        <p:nvSpPr>
          <p:cNvPr id="6" name="Shape 4"/>
          <p:cNvSpPr/>
          <p:nvPr/>
        </p:nvSpPr>
        <p:spPr>
          <a:xfrm>
            <a:off x="1828800" y="3520440"/>
            <a:ext cx="8531352" cy="731520"/>
          </a:xfrm>
          <a:prstGeom prst="rect">
            <a:avLst/>
          </a:prstGeom>
          <a:solidFill>
            <a:srgbClr val="028090">
              <a:alpha val="20000"/>
            </a:srgbClr>
          </a:solidFill>
          <a:ln w="12700">
            <a:solidFill>
              <a:srgbClr val="028090"/>
            </a:solidFill>
            <a:prstDash val="solid"/>
          </a:ln>
        </p:spPr>
      </p:sp>
      <p:sp>
        <p:nvSpPr>
          <p:cNvPr id="7" name="Text 5"/>
          <p:cNvSpPr/>
          <p:nvPr/>
        </p:nvSpPr>
        <p:spPr>
          <a:xfrm>
            <a:off x="1920240" y="3566160"/>
            <a:ext cx="8321040" cy="640080"/>
          </a:xfrm>
          <a:prstGeom prst="rect">
            <a:avLst/>
          </a:prstGeom>
          <a:noFill/>
          <a:ln/>
        </p:spPr>
        <p:txBody>
          <a:bodyPr wrap="square" rtlCol="0" anchor="ctr"/>
          <a:lstStyle/>
          <a:p>
            <a:pPr algn="ctr" indent="0" marL="0">
              <a:buNone/>
            </a:pPr>
            <a:r>
              <a:rPr lang="en-US" sz="1200" i="1" dirty="0">
                <a:solidFill>
                  <a:srgbClr val="FFFFFF"/>
                </a:solidFill>
              </a:rPr>
              <a:t>"El representante que detecta el problema del MPU antes de la visita técnica salva el negocio de morir en ingeniería."</a:t>
            </a:r>
            <a:endParaRPr lang="en-US" sz="1200" dirty="0"/>
          </a:p>
        </p:txBody>
      </p:sp>
      <p:sp>
        <p:nvSpPr>
          <p:cNvPr id="8" name="Text 6"/>
          <p:cNvSpPr/>
          <p:nvPr/>
        </p:nvSpPr>
        <p:spPr>
          <a:xfrm>
            <a:off x="914400" y="4434840"/>
            <a:ext cx="10332720" cy="365760"/>
          </a:xfrm>
          <a:prstGeom prst="rect">
            <a:avLst/>
          </a:prstGeom>
          <a:noFill/>
          <a:ln/>
        </p:spPr>
        <p:txBody>
          <a:bodyPr wrap="square" rtlCol="0" anchor="ctr"/>
          <a:lstStyle/>
          <a:p>
            <a:pPr algn="ctr" indent="0" marL="0">
              <a:buNone/>
            </a:pPr>
            <a:r>
              <a:rPr lang="en-US" sz="1000" dirty="0">
                <a:solidFill>
                  <a:srgbClr val="CBD5E0"/>
                </a:solidFill>
              </a:rPr>
              <a:t>SeptiVolt Solar Sales Accelerator™  |  Educación en Independencia Energética</a:t>
            </a:r>
            <a:endParaRPr lang="en-US" sz="1000" dirty="0"/>
          </a:p>
        </p:txBody>
      </p:sp>
      <p:sp>
        <p:nvSpPr>
          <p:cNvPr id="9" name="Text 7"/>
          <p:cNvSpPr/>
          <p:nvPr/>
        </p:nvSpPr>
        <p:spPr>
          <a:xfrm>
            <a:off x="365760" y="6400800"/>
            <a:ext cx="11430000" cy="274320"/>
          </a:xfrm>
          <a:prstGeom prst="rect">
            <a:avLst/>
          </a:prstGeom>
          <a:noFill/>
          <a:ln/>
        </p:spPr>
        <p:txBody>
          <a:bodyPr wrap="square" rtlCol="0" anchor="ctr"/>
          <a:lstStyle/>
          <a:p>
            <a:pPr algn="ctr" indent="0" marL="0">
              <a:buNone/>
            </a:pPr>
            <a:r>
              <a:rPr lang="en-US" sz="800" dirty="0">
                <a:solidFill>
                  <a:srgbClr val="CBD5E0"/>
                </a:solidFill>
              </a:rPr>
              <a:t>SeptiVolt Solar Sales Accelerator™  |  Educación en Independencia Energética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1.7a</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Señales de Alerta de MPU: Detección de Actualización del Panel Principal</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La Actualización del Panel Principal (MPU) es requerida cuando el tablero existente no tiene capacidad para agregar solar/batería de forma segura</a:t>
            </a:r>
            <a:endParaRPr lang="en-US" sz="1300" dirty="0"/>
          </a:p>
          <a:p>
            <a:pPr marL="342900" indent="-342900">
              <a:lnSpc>
                <a:spcPct val="130000"/>
              </a:lnSpc>
              <a:spcAft>
                <a:spcPts val="600"/>
              </a:spcAft>
              <a:buSzPct val="100000"/>
              <a:buChar char="●"/>
            </a:pPr>
            <a:r>
              <a:rPr lang="en-US" sz="1300" dirty="0">
                <a:solidFill>
                  <a:srgbClr val="2D3748"/>
                </a:solidFill>
              </a:rPr>
              <a:t>Señal #1: Tableros calificados a 100A o menos — la mayoría de las instalaciones solar+batería requieren mínimo 200A</a:t>
            </a:r>
            <a:endParaRPr lang="en-US" sz="1300" dirty="0"/>
          </a:p>
          <a:p>
            <a:pPr marL="342900" indent="-342900">
              <a:lnSpc>
                <a:spcPct val="130000"/>
              </a:lnSpc>
              <a:spcAft>
                <a:spcPts val="600"/>
              </a:spcAft>
              <a:buSzPct val="100000"/>
              <a:buChar char="●"/>
            </a:pPr>
            <a:r>
              <a:rPr lang="en-US" sz="1300" dirty="0">
                <a:solidFill>
                  <a:srgbClr val="2D3748"/>
                </a:solidFill>
              </a:rPr>
              <a:t>Señal #2: Tableros Federal Pacific "Stab-Lok" o Zinsco — riesgo de incendio, las aseguradoras pueden requerir la actualización independientemente</a:t>
            </a:r>
            <a:endParaRPr lang="en-US" sz="1300" dirty="0"/>
          </a:p>
          <a:p>
            <a:pPr marL="342900" indent="-342900">
              <a:lnSpc>
                <a:spcPct val="130000"/>
              </a:lnSpc>
              <a:spcAft>
                <a:spcPts val="600"/>
              </a:spcAft>
              <a:buSzPct val="100000"/>
              <a:buChar char="●"/>
            </a:pPr>
            <a:r>
              <a:rPr lang="en-US" sz="1300" dirty="0">
                <a:solidFill>
                  <a:srgbClr val="2D3748"/>
                </a:solidFill>
              </a:rPr>
              <a:t>Señal #3: Espacios de breakers llenos sin ranuras disponibles para el breaker de interconexión solar</a:t>
            </a:r>
            <a:endParaRPr lang="en-US" sz="1300" dirty="0"/>
          </a:p>
          <a:p>
            <a:pPr marL="342900" indent="-342900">
              <a:lnSpc>
                <a:spcPct val="130000"/>
              </a:lnSpc>
              <a:spcAft>
                <a:spcPts val="600"/>
              </a:spcAft>
              <a:buSzPct val="100000"/>
              <a:buChar char="●"/>
            </a:pPr>
            <a:r>
              <a:rPr lang="en-US" sz="1300" dirty="0">
                <a:solidFill>
                  <a:srgbClr val="2D3748"/>
                </a:solidFill>
              </a:rPr>
              <a:t>Regla de Declaración: Si detectas un riesgo de MPU, documéntalo y notifícalo a tu ingeniero — nunca prometas al propietario que "no tendrá costo extra" sin confirmación de ingeniería</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Durante el recorrido, di: "Déjame echar un vistazo a tu tablero eléctrico — esto me ayuda a asegurar que el diseño de tu sistema sea preciso." Luego fotografía la puerta del tablero, la etiqueta y la distribución de breakers.</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1.7a</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Integridad Estructural del Techo: Qué Buscar</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Espaciado de Vigas: El estándar es 16" o 24" entre centros — un espaciado mayor puede requerir hardware adicional de montaje</a:t>
            </a:r>
            <a:endParaRPr lang="en-US" sz="1300" dirty="0"/>
          </a:p>
          <a:p>
            <a:pPr marL="342900" indent="-342900">
              <a:lnSpc>
                <a:spcPct val="130000"/>
              </a:lnSpc>
              <a:spcAft>
                <a:spcPts val="600"/>
              </a:spcAft>
              <a:buSzPct val="100000"/>
              <a:buChar char="●"/>
            </a:pPr>
            <a:r>
              <a:rPr lang="en-US" sz="1300" dirty="0">
                <a:solidFill>
                  <a:srgbClr val="2D3748"/>
                </a:solidFill>
              </a:rPr>
              <a:t>Detección de Madera Podrida: Busca puntos blandos, decoloración en los aleros o secciones hundidas — indica descomposición de la madera</a:t>
            </a:r>
            <a:endParaRPr lang="en-US" sz="1300" dirty="0"/>
          </a:p>
          <a:p>
            <a:pPr marL="342900" indent="-342900">
              <a:lnSpc>
                <a:spcPct val="130000"/>
              </a:lnSpc>
              <a:spcAft>
                <a:spcPts val="600"/>
              </a:spcAft>
              <a:buSzPct val="100000"/>
              <a:buChar char="●"/>
            </a:pPr>
            <a:r>
              <a:rPr lang="en-US" sz="1300" dirty="0">
                <a:solidFill>
                  <a:srgbClr val="2D3748"/>
                </a:solidFill>
              </a:rPr>
              <a:t>Antigüedad y Material del Techo: Las tejas de asfalto con más de 15 años pueden necesitar reemplazo antes de la instalación</a:t>
            </a:r>
            <a:endParaRPr lang="en-US" sz="1300" dirty="0"/>
          </a:p>
          <a:p>
            <a:pPr marL="342900" indent="-342900">
              <a:lnSpc>
                <a:spcPct val="130000"/>
              </a:lnSpc>
              <a:spcAft>
                <a:spcPts val="600"/>
              </a:spcAft>
              <a:buSzPct val="100000"/>
              <a:buChar char="●"/>
            </a:pPr>
            <a:r>
              <a:rPr lang="en-US" sz="1300" dirty="0">
                <a:solidFill>
                  <a:srgbClr val="2D3748"/>
                </a:solidFill>
              </a:rPr>
              <a:t>Inclinación y Complejidad: Pendientes pronunciadas (&gt;35°) y líneas de techo complejas aumentan el costo de mano de obra</a:t>
            </a:r>
            <a:endParaRPr lang="en-US" sz="1300" dirty="0"/>
          </a:p>
          <a:p>
            <a:pPr marL="342900" indent="-342900">
              <a:lnSpc>
                <a:spcPct val="130000"/>
              </a:lnSpc>
              <a:spcAft>
                <a:spcPts val="600"/>
              </a:spcAft>
              <a:buSzPct val="100000"/>
              <a:buChar char="●"/>
            </a:pPr>
            <a:r>
              <a:rPr lang="en-US" sz="1300" dirty="0">
                <a:solidFill>
                  <a:srgbClr val="2D3748"/>
                </a:solidFill>
              </a:rPr>
              <a:t>Regla de Coordinación: Notifica cualquier preocupación estructural a ingeniería ANTES de revelar el costo al propietario — evita crear alarma antes de tener los hechos</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Di: "Quiero ver el estado del techo hoy para poder darte el alcance del proyecto más preciso. Cualquier sorpresa en la instalación es una sorpresa que no logramos prevenir para ti."</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1.7a</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Sombreado, Retranqueos y la Regla de Separación de 3 Pies contra Incendios</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Impacto del Sombreado: Incluso un 10% de sombra en un panel puede reducir la producción total de la cadena en un 30-50% sin optimizadores</a:t>
            </a:r>
            <a:endParaRPr lang="en-US" sz="1300" dirty="0"/>
          </a:p>
          <a:p>
            <a:pPr marL="342900" indent="-342900">
              <a:lnSpc>
                <a:spcPct val="130000"/>
              </a:lnSpc>
              <a:spcAft>
                <a:spcPts val="600"/>
              </a:spcAft>
              <a:buSzPct val="100000"/>
              <a:buChar char="●"/>
            </a:pPr>
            <a:r>
              <a:rPr lang="en-US" sz="1300" dirty="0">
                <a:solidFill>
                  <a:srgbClr val="2D3748"/>
                </a:solidFill>
              </a:rPr>
              <a:t>Regla de Retranqueo (Código de Incendios de California): Se requiere una separación de 3 pies de todas las crestas, caderas y valles del techo</a:t>
            </a:r>
            <a:endParaRPr lang="en-US" sz="1300" dirty="0"/>
          </a:p>
          <a:p>
            <a:pPr marL="342900" indent="-342900">
              <a:lnSpc>
                <a:spcPct val="130000"/>
              </a:lnSpc>
              <a:spcAft>
                <a:spcPts val="600"/>
              </a:spcAft>
              <a:buSzPct val="100000"/>
              <a:buChar char="●"/>
            </a:pPr>
            <a:r>
              <a:rPr lang="en-US" sz="1300" dirty="0">
                <a:solidFill>
                  <a:srgbClr val="2D3748"/>
                </a:solidFill>
              </a:rPr>
              <a:t>Paneles Orientados al Norte: Evitar en CA — la producción cae un 25–35% vs. los orientados al sur</a:t>
            </a:r>
            <a:endParaRPr lang="en-US" sz="1300" dirty="0"/>
          </a:p>
          <a:p>
            <a:pPr marL="342900" indent="-342900">
              <a:lnSpc>
                <a:spcPct val="130000"/>
              </a:lnSpc>
              <a:spcAft>
                <a:spcPts val="600"/>
              </a:spcAft>
              <a:buSzPct val="100000"/>
              <a:buChar char="●"/>
            </a:pPr>
            <a:r>
              <a:rPr lang="en-US" sz="1300" dirty="0">
                <a:solidFill>
                  <a:srgbClr val="2D3748"/>
                </a:solidFill>
              </a:rPr>
              <a:t>Árboles y Obstrucciones: El crecimiento futuro de árboles es tan importante como el sombreado actual — pregunta sobre planes de jardinería</a:t>
            </a:r>
            <a:endParaRPr lang="en-US" sz="1300" dirty="0"/>
          </a:p>
          <a:p>
            <a:pPr marL="342900" indent="-342900">
              <a:lnSpc>
                <a:spcPct val="130000"/>
              </a:lnSpc>
              <a:spcAft>
                <a:spcPts val="600"/>
              </a:spcAft>
              <a:buSzPct val="100000"/>
              <a:buChar char="●"/>
            </a:pPr>
            <a:r>
              <a:rPr lang="en-US" sz="1300" dirty="0">
                <a:solidFill>
                  <a:srgbClr val="2D3748"/>
                </a:solidFill>
              </a:rPr>
              <a:t>Herramienta: Usa herramientas satelitales (Aurora, Nearmap) para pre-visualizar retranqueos y sombreados antes de la visita</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Camina por el perímetro de la casa y mira hacia arriba: "Estoy revisando los retranqueos del código de incendios — esto determina exactamente cuántos paneles podemos colocar y dónde. Esto es lo que mantiene tu sistema en cumplimiento y maximiza tu producción."</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B2A4A"/>
          </a:solidFill>
          <a:ln/>
        </p:spPr>
      </p:sp>
      <p:sp>
        <p:nvSpPr>
          <p:cNvPr id="3" name="Text 1"/>
          <p:cNvSpPr/>
          <p:nvPr/>
        </p:nvSpPr>
        <p:spPr>
          <a:xfrm>
            <a:off x="274320" y="73152"/>
            <a:ext cx="2011680" cy="320040"/>
          </a:xfrm>
          <a:prstGeom prst="rect">
            <a:avLst/>
          </a:prstGeom>
          <a:noFill/>
          <a:ln/>
        </p:spPr>
        <p:txBody>
          <a:bodyPr wrap="square" rtlCol="0" anchor="ctr"/>
          <a:lstStyle/>
          <a:p>
            <a:pPr indent="0" marL="0">
              <a:buNone/>
            </a:pPr>
            <a:r>
              <a:rPr lang="en-US" sz="1000" b="1" dirty="0">
                <a:solidFill>
                  <a:srgbClr val="F4A62A"/>
                </a:solidFill>
              </a:rPr>
              <a:t>MÓDULO 1.7a</a:t>
            </a:r>
            <a:endParaRPr lang="en-US" sz="1000" dirty="0"/>
          </a:p>
        </p:txBody>
      </p:sp>
      <p:sp>
        <p:nvSpPr>
          <p:cNvPr id="4" name="Text 2"/>
          <p:cNvSpPr/>
          <p:nvPr/>
        </p:nvSpPr>
        <p:spPr>
          <a:xfrm>
            <a:off x="274320" y="393192"/>
            <a:ext cx="11612880" cy="347472"/>
          </a:xfrm>
          <a:prstGeom prst="rect">
            <a:avLst/>
          </a:prstGeom>
          <a:noFill/>
          <a:ln/>
        </p:spPr>
        <p:txBody>
          <a:bodyPr wrap="square" rtlCol="0" anchor="ctr"/>
          <a:lstStyle/>
          <a:p>
            <a:pPr indent="0" marL="0">
              <a:buNone/>
            </a:pPr>
            <a:r>
              <a:rPr lang="en-US" sz="1500" b="1" dirty="0">
                <a:solidFill>
                  <a:srgbClr val="FFFFFF"/>
                </a:solidFill>
              </a:rPr>
              <a:t>Comunicar Descubrimientos de Ingeniería Sin Matar el Negocio</a:t>
            </a:r>
            <a:endParaRPr lang="en-US" sz="1500" dirty="0"/>
          </a:p>
        </p:txBody>
      </p:sp>
      <p:sp>
        <p:nvSpPr>
          <p:cNvPr id="5" name="Shape 3"/>
          <p:cNvSpPr/>
          <p:nvPr/>
        </p:nvSpPr>
        <p:spPr>
          <a:xfrm>
            <a:off x="0" y="777240"/>
            <a:ext cx="12188952" cy="54864"/>
          </a:xfrm>
          <a:prstGeom prst="rect">
            <a:avLst/>
          </a:prstGeom>
          <a:solidFill>
            <a:srgbClr val="028090"/>
          </a:solidFill>
          <a:ln/>
        </p:spPr>
      </p:sp>
      <p:sp>
        <p:nvSpPr>
          <p:cNvPr id="6" name="Text 4"/>
          <p:cNvSpPr/>
          <p:nvPr/>
        </p:nvSpPr>
        <p:spPr>
          <a:xfrm>
            <a:off x="365760" y="960120"/>
            <a:ext cx="11430000" cy="3931920"/>
          </a:xfrm>
          <a:prstGeom prst="rect">
            <a:avLst/>
          </a:prstGeom>
          <a:noFill/>
          <a:ln/>
        </p:spPr>
        <p:txBody>
          <a:bodyPr wrap="square" rtlCol="0" anchor="ctr"/>
          <a:lstStyle/>
          <a:p>
            <a:pPr marL="342900" indent="-342900">
              <a:lnSpc>
                <a:spcPct val="130000"/>
              </a:lnSpc>
              <a:spcAft>
                <a:spcPts val="600"/>
              </a:spcAft>
              <a:buSzPct val="100000"/>
              <a:buChar char="●"/>
            </a:pPr>
            <a:r>
              <a:rPr lang="en-US" sz="1300" dirty="0">
                <a:solidFill>
                  <a:srgbClr val="2D3748"/>
                </a:solidFill>
              </a:rPr>
              <a:t>La Regla de Oro: Lidera con soluciones, no con problemas. "Encontramos X — así lo abordamos" no "hay un problema con tu techo."</a:t>
            </a:r>
            <a:endParaRPr lang="en-US" sz="1300" dirty="0"/>
          </a:p>
          <a:p>
            <a:pPr marL="342900" indent="-342900">
              <a:lnSpc>
                <a:spcPct val="130000"/>
              </a:lnSpc>
              <a:spcAft>
                <a:spcPts val="600"/>
              </a:spcAft>
              <a:buSzPct val="100000"/>
              <a:buChar char="●"/>
            </a:pPr>
            <a:r>
              <a:rPr lang="en-US" sz="1300" dirty="0">
                <a:solidFill>
                  <a:srgbClr val="2D3748"/>
                </a:solidFill>
              </a:rPr>
              <a:t>Usa el Método Sándwich: Contexto positivo → hallazgo técnico → camino a seguir. Nunca presentes un descubrimiento de forma aislada.</a:t>
            </a:r>
            <a:endParaRPr lang="en-US" sz="1300" dirty="0"/>
          </a:p>
          <a:p>
            <a:pPr marL="342900" indent="-342900">
              <a:lnSpc>
                <a:spcPct val="130000"/>
              </a:lnSpc>
              <a:spcAft>
                <a:spcPts val="600"/>
              </a:spcAft>
              <a:buSzPct val="100000"/>
              <a:buChar char="●"/>
            </a:pPr>
            <a:r>
              <a:rPr lang="en-US" sz="1300" dirty="0">
                <a:solidFill>
                  <a:srgbClr val="2D3748"/>
                </a:solidFill>
              </a:rPr>
              <a:t>Script de MPU: "Buenas noticias — tu sistema está diseñado. Lo que ingeniería identificó es que tu tablero puede necesitar actualización para soportar el almacenamiento de batería de forma segura. Esto es común en casas construidas antes del año 2000."</a:t>
            </a:r>
            <a:endParaRPr lang="en-US" sz="1300" dirty="0"/>
          </a:p>
          <a:p>
            <a:pPr marL="342900" indent="-342900">
              <a:lnSpc>
                <a:spcPct val="130000"/>
              </a:lnSpc>
              <a:spcAft>
                <a:spcPts val="600"/>
              </a:spcAft>
              <a:buSzPct val="100000"/>
              <a:buChar char="●"/>
            </a:pPr>
            <a:r>
              <a:rPr lang="en-US" sz="1300" dirty="0">
                <a:solidFill>
                  <a:srgbClr val="2D3748"/>
                </a:solidFill>
              </a:rPr>
              <a:t>Script de Techo: "Encontramos un desgaste en la cara este que nuestro socio de techado debe evaluar antes de finalizar la instalación. Esto protege la garantía de tu techo y la garantía de tu solar."</a:t>
            </a:r>
            <a:endParaRPr lang="en-US" sz="1300" dirty="0"/>
          </a:p>
          <a:p>
            <a:pPr marL="342900" indent="-342900">
              <a:lnSpc>
                <a:spcPct val="130000"/>
              </a:lnSpc>
              <a:spcAft>
                <a:spcPts val="600"/>
              </a:spcAft>
              <a:buSzPct val="100000"/>
              <a:buChar char="●"/>
            </a:pPr>
            <a:r>
              <a:rPr lang="en-US" sz="1300" dirty="0">
                <a:solidFill>
                  <a:srgbClr val="2D3748"/>
                </a:solidFill>
              </a:rPr>
              <a:t>Cierra el Ciclo: Siempre termina con un plazo: "Ingeniería tendrá un informe completo en 48 horas — déjame explicarte qué sigue para que no haya sorpresas."</a:t>
            </a:r>
            <a:endParaRPr lang="en-US" sz="1300" dirty="0"/>
          </a:p>
        </p:txBody>
      </p:sp>
      <p:sp>
        <p:nvSpPr>
          <p:cNvPr id="7" name="Shape 5"/>
          <p:cNvSpPr/>
          <p:nvPr/>
        </p:nvSpPr>
        <p:spPr>
          <a:xfrm>
            <a:off x="365760" y="5029200"/>
            <a:ext cx="11430000" cy="749808"/>
          </a:xfrm>
          <a:prstGeom prst="rect">
            <a:avLst/>
          </a:prstGeom>
          <a:solidFill>
            <a:srgbClr val="1B2A4A"/>
          </a:solidFill>
          <a:ln w="19050">
            <a:solidFill>
              <a:srgbClr val="F4A62A"/>
            </a:solidFill>
            <a:prstDash val="solid"/>
          </a:ln>
        </p:spPr>
      </p:sp>
      <p:sp>
        <p:nvSpPr>
          <p:cNvPr id="8" name="Text 6"/>
          <p:cNvSpPr/>
          <p:nvPr/>
        </p:nvSpPr>
        <p:spPr>
          <a:xfrm>
            <a:off x="502920" y="5047488"/>
            <a:ext cx="11155680" cy="713232"/>
          </a:xfrm>
          <a:prstGeom prst="rect">
            <a:avLst/>
          </a:prstGeom>
          <a:noFill/>
          <a:ln/>
        </p:spPr>
        <p:txBody>
          <a:bodyPr wrap="square" rtlCol="0" anchor="ctr"/>
          <a:lstStyle/>
          <a:p>
            <a:pPr indent="0" marL="0">
              <a:buNone/>
            </a:pPr>
            <a:r>
              <a:rPr lang="en-US" sz="1100" dirty="0">
                <a:solidFill>
                  <a:srgbClr val="F4A62A"/>
                </a:solidFill>
              </a:rPr>
              <a:t>⚡ PRO TIP: Tu tono lo es todo. Si suenas preocupado, ellos se preocupan. Si suenas directo y orientado a soluciones, confían en tu proceso. Practica tu script de descubrimiento hasta que suene natural — porque deberías decirlo todos los días.</a:t>
            </a:r>
            <a:endParaRPr lang="en-US" sz="1100" dirty="0"/>
          </a:p>
        </p:txBody>
      </p:sp>
      <p:sp>
        <p:nvSpPr>
          <p:cNvPr id="9" name="Text 7"/>
          <p:cNvSpPr/>
          <p:nvPr/>
        </p:nvSpPr>
        <p:spPr>
          <a:xfrm>
            <a:off x="365760" y="6492240"/>
            <a:ext cx="11430000" cy="256032"/>
          </a:xfrm>
          <a:prstGeom prst="rect">
            <a:avLst/>
          </a:prstGeom>
          <a:noFill/>
          <a:ln/>
        </p:spPr>
        <p:txBody>
          <a:bodyPr wrap="square" rtlCol="0" anchor="ctr"/>
          <a:lstStyle/>
          <a:p>
            <a:pPr algn="ctr" indent="0" marL="0">
              <a:buNone/>
            </a:pPr>
            <a:r>
              <a:rPr lang="en-US" sz="800" dirty="0">
                <a:solidFill>
                  <a:srgbClr val="CBD5E0"/>
                </a:solidFill>
              </a:rPr>
              <a:t>SeptiVolt Solar Sales Accelerator™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2026-04-25T03:25:04Z</dcterms:created>
  <dcterms:modified xsi:type="dcterms:W3CDTF">2026-04-25T03:25:04Z</dcterms:modified>
</cp:coreProperties>
</file>