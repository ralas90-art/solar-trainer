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43352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 Í A  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Descubrimiento,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Psicología y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Dominio en el Hogar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en Ventas de Energía Solar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538728"/>
            <a:ext cx="20116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6758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preguntas correctas construyen la propuesta que se cierra sola.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[TU EMPRESA]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0" y="4937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Posicionamiento en el Hogar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el entorno — la confianza comienza antes de mostrar números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91440" cy="17190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430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Llegar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47218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Confirma la cita 2 horas antes (texto + llamada)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185623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Llega 5 minutos temprano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22402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Evalúa el techo desde el auto — sombra, inclinación, estado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97180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971800"/>
            <a:ext cx="91440" cy="17190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0632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Estrategia del Asiento de Poder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" y="339242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Cocina o comedor — NUNCA el sofa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" y="377647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Siéntate en la cabecera o esquina (dinámica colaborativa)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" y="416052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Pide que apaguen TV, mascota y niños fuera del area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1051560"/>
            <a:ext cx="4160520" cy="17190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051560"/>
            <a:ext cx="91440" cy="17190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1612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Marco de Apertura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15087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"Voy a hacer muchas preguntas primero, luego les muestro los números. Si tiene sentido, perfecto. Si no, se los digo."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97180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971800"/>
            <a:ext cx="91440" cy="17190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30815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Importa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19472" y="342900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reps que pierden el control del entorno pierden el hilo de la presentación. El entorno = autoridad subconsciente.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4937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Perfiles de Personalidad BOLT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el tipo en 2 minutos — adapta todo lo demás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993392" cy="3749040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1993392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1234440"/>
            <a:ext cx="822960" cy="8229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234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176272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BULL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2523744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Dominante, directo, rápido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3054096"/>
            <a:ext cx="1719072" cy="18288"/>
          </a:xfrm>
          <a:prstGeom prst="rect">
            <a:avLst/>
          </a:prstGeom>
          <a:solidFill>
            <a:srgbClr val="3A5490"/>
          </a:solidFill>
          <a:ln w="12700">
            <a:solidFill>
              <a:srgbClr val="3A5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3127248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ADAPTAR: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3346704"/>
            <a:ext cx="1773936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al grano. Muestra ROI de inmediato. Cierra rápido.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50592" y="1051560"/>
            <a:ext cx="1993392" cy="3749040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50592" y="1051560"/>
            <a:ext cx="1993392" cy="7315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35808" y="1234440"/>
            <a:ext cx="822960" cy="82296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35808" y="1234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542032" y="2176272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6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60320" y="2523744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Analítico, detallista, escéptico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87752" y="3054096"/>
            <a:ext cx="1719072" cy="18288"/>
          </a:xfrm>
          <a:prstGeom prst="rect">
            <a:avLst/>
          </a:prstGeom>
          <a:solidFill>
            <a:srgbClr val="3A5490"/>
          </a:solidFill>
          <a:ln w="12700">
            <a:solidFill>
              <a:srgbClr val="3A5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3127248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ADAPTAR: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60320" y="3346704"/>
            <a:ext cx="1773936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datos. Muestra garantías, curva de degradación, especificaciones.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1051560"/>
            <a:ext cx="1993392" cy="3749040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1051560"/>
            <a:ext cx="199339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2080" y="1234440"/>
            <a:ext cx="822960" cy="8229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1234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718304" y="2176272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36592" y="2523744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Entusiasta, social, emocional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64024" y="3054096"/>
            <a:ext cx="1719072" cy="18288"/>
          </a:xfrm>
          <a:prstGeom prst="rect">
            <a:avLst/>
          </a:prstGeom>
          <a:solidFill>
            <a:srgbClr val="3A5490"/>
          </a:solidFill>
          <a:ln w="12700">
            <a:solidFill>
              <a:srgbClr val="3A54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3127248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ADAPTAR: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36592" y="3346704"/>
            <a:ext cx="1773936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por la familia. Personaliza. Celebra el impacto ambiental.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03136" y="1051560"/>
            <a:ext cx="1993392" cy="3749040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03136" y="1051560"/>
            <a:ext cx="1993392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88352" y="1234440"/>
            <a:ext cx="822960" cy="8229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88352" y="1234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894576" y="2176272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TURTLE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12864" y="2523744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Estable, averso al riesgo, cauteloso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40296" y="3054096"/>
            <a:ext cx="1719072" cy="18288"/>
          </a:xfrm>
          <a:prstGeom prst="rect">
            <a:avLst/>
          </a:prstGeom>
          <a:solidFill>
            <a:srgbClr val="3A5490"/>
          </a:solidFill>
          <a:ln w="12700">
            <a:solidFill>
              <a:srgbClr val="3A54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12864" y="3127248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ADAPTAR: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912864" y="3346704"/>
            <a:ext cx="1773936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Muévete despacio. Prueba social. Cero presión. Déjalo sentirse en control.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parejas suelen ser una mezcla — adáptate a ambos, comenzando por quien resiste más.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046720" y="4937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Empatía Táctica y Espejeo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que el propietario se sienta escuchado — la confianza sigue automáticamente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1280160" cy="117043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9903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ESPEJO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91640" y="1124712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Repite las últimas 3 palabras como pregunta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91640" y="1417320"/>
            <a:ext cx="7040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Propietario: "Estoy preocupado por el costo."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Tú: "¿Preocupado por el costo?" — Ellos elaboran. Tú aprendes.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350008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350008"/>
            <a:ext cx="1280160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697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ETIQUETA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91640" y="2423160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 la emoción que observas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91640" y="2715768"/>
            <a:ext cx="7040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"Parece que está frustrado con su compañía eléctrica."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 nota que le preocupa el compromiso."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648456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48456"/>
            <a:ext cx="1280160" cy="11704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9959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PREGUNTAS CALIBRADAS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91640" y="3721608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abiertas que construyen motivación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91640" y="4014216"/>
            <a:ext cx="7040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"¿Qué le permitiría ahorrar $100 al mes?"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"¿Qué le hace considerarlo ahora?"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"¿Cómo afecta eso a su familia?"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46720" y="4937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de Preguntas: La Secuencia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12 preguntas son tu checklist pre-presentación completo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2697480" cy="2852928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2697480" cy="31089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ESTADO ACTUAL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2336" y="1389888"/>
            <a:ext cx="24414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¿Cuánto paga de luz en promedio?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" y="1956816"/>
            <a:ext cx="24414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¿Ha ido subiendo los últimos años?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" y="2523744"/>
            <a:ext cx="24414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¿Cuánto es lo más que ha pagado en un solo mes?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2336" y="3090672"/>
            <a:ext cx="24414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¿Qué es lo que más le molesta de su compañía eléctrica?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024128"/>
            <a:ext cx="2697480" cy="2267712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24128"/>
            <a:ext cx="269748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02412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ESTADO FUTURO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28416" y="1389888"/>
            <a:ext cx="24414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¿Qué pasa si las tarifas suben otro 6% el próximo año?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28416" y="1956816"/>
            <a:ext cx="24414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¿Cuánto tiempo planea quedarse en esta casa?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28416" y="2523744"/>
            <a:ext cx="24414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¿Está pensando en un vehículo eléctrico?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024128"/>
            <a:ext cx="2743200" cy="3438144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24128"/>
            <a:ext cx="2743200" cy="31089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02412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TOMA DE DECISIONES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54496" y="1389888"/>
            <a:ext cx="2487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¿Quién más necesita participar en esta decisión?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54496" y="1956816"/>
            <a:ext cx="2487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 los números tienen sentido, ¿habría alguna razón para no continuar?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54496" y="2523744"/>
            <a:ext cx="2487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¿En qué rango de crédito se encuentra aproximadamente?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54496" y="3090672"/>
            <a:ext cx="2487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¿Cuál sería su cronograma ideal?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54496" y="3657600"/>
            <a:ext cx="2487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¿Le interesa explorar almacenamiento de batería?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saltes al diseño hasta que hayas hecho todas las preguntas de toma de decisiones — evita cancelaciones.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046720" y="4937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Dinámica de Cónyuge y Tomadores de Decisión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 oro que evita cancelaciones al día siguiente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9536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109728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REGLA DE ORO: Nunca presentes a un solo cónyuge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4264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única excepción: un tomador de decisiones confirmado y soltero. Si hay dos, ambos deben estar presentes.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65960"/>
            <a:ext cx="91440" cy="12618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057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cónyuge no está en casa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2368296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presentes. Reagenda. Di: "No me gusta avanzar sin que ambos estén — ¿cuándo es un buen momento?"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96596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965960"/>
            <a:ext cx="91440" cy="126187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2057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Iguala a ambos cónyuges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64608" y="2368296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visual con ambos. Dirige preguntas al más callado. "¿Tiene sentido para ti también?" — espera que ambos asientan.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38328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383280"/>
            <a:ext cx="91440" cy="12618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474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 al cónyuge escéptico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" y="3785616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"Puedo ver que eres el cuidadoso aquí — eso es bueno. ¿Cuál es tu mayor preocupación?" — trátalo directamente, en frente de su pareja.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38328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383280"/>
            <a:ext cx="91440" cy="12618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3474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64608" y="3785616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cónyuge ausente escucha un resumen incompleto, se preocupa y cancela. El rep que presentó igual causó esa cancelación.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0" y="4937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Evaluación del Techo y Sitio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los obstáculos antes de construir la propuesta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663440" cy="841248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Sombra: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Menos del 40% del área útil del techo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591056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Mas del 40% — puede no ser viable económicamente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993392"/>
            <a:ext cx="4663440" cy="841248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482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Estado: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340864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Techo con 5-15 años de vida restante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560320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Reemplazo en &lt;5 años — requiere acción previa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962656"/>
            <a:ext cx="4663440" cy="841248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017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Inclinación: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310128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15-40 grados, orientación sur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529584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Techo plano o muy empinado — reduce producción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931920"/>
            <a:ext cx="4663440" cy="841248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9867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Material: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427939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Teja asfáltica — instalación estándar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4498848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Tejas de madera, azulejos — costo adicional de instalación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66360" y="1024128"/>
            <a:ext cx="3703320" cy="1783080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66360" y="1024128"/>
            <a:ext cx="91440" cy="1783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76672" y="11155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Eléctrico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76672" y="1444752"/>
            <a:ext cx="33832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200A = ideal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100A = posible actualización ($2K–$5K)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Zinsco o Federal Pacific = reemplazo requerido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verlo — normalmente en el garage o sótano.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66360" y="2990088"/>
            <a:ext cx="3703320" cy="1783080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166360" y="2990088"/>
            <a:ext cx="91440" cy="1783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76672" y="30815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Consideraciones de HOA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76672" y="3410712"/>
            <a:ext cx="33832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que el solar esté permitido.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sobre restricciones estéticas.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HOAs no pueden negar el solar legalmente — pero pueden controlar la ubicación.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0" y="4937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Preparación para la Inspección: Las 5 Fotos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trato limpio pasa la inspección sin cambios de orden — protege tu comisión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61872"/>
            <a:ext cx="621792" cy="621792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6187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70432" y="111556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Eléctrico Principal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70432" y="1426464"/>
            <a:ext cx="3154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clara del disyuntor principal con la clasificación de amperaje visible.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2412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61872"/>
            <a:ext cx="621792" cy="621792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26187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59552" y="111556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Medidor de Servicios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59552" y="1426464"/>
            <a:ext cx="3154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digital o diales del medidor de la compañía eléctrica.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30428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542032"/>
            <a:ext cx="621792" cy="621792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5420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70432" y="239572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Ático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70432" y="2706624"/>
            <a:ext cx="3154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Vigas y condición de la cubierta — confirmación de integridad estructural.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30428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542032"/>
            <a:ext cx="621792" cy="621792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5420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59552" y="239572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del Hogar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59552" y="2706624"/>
            <a:ext cx="3154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 grandes u obstrucciones que afecten la producción solar.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68880" y="3584448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606040" y="3822192"/>
            <a:ext cx="621792" cy="621792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06040" y="382219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364992" y="367588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Calle-Hogar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64992" y="3986784"/>
            <a:ext cx="3154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entra el servicio eléctrico de la empresa al hogar.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736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estas fotos en CADA visita de ventas. Un envío perfecto = comisión protegida.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0" y="4937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Maestría en Descalificación: Saber Cuándo Retirarse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Retirarse de un mal trato es uno de los movimientos de mayor integridad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530352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Descalifica cuando veas alguno de estos: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4160520" cy="914400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27632"/>
            <a:ext cx="91440" cy="9144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7007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Se muda en &lt;3 años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02996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recuperará la inversión antes de vender.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627632"/>
            <a:ext cx="4160520" cy="914400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627632"/>
            <a:ext cx="91440" cy="9144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7007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Crédito &lt; 600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64608" y="202996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califica para financiamiento estándar.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670048"/>
            <a:ext cx="4160520" cy="914400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670048"/>
            <a:ext cx="91440" cy="9144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Techo necesita reemplazo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307238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paneles se deben remover durante el re-techo — costo adicional.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670048"/>
            <a:ext cx="4160520" cy="914400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670048"/>
            <a:ext cx="91440" cy="9144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Sombra &gt;40% del techo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64608" y="307238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producción no justifica económicamente el sistema.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712464"/>
            <a:ext cx="4160520" cy="914400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712464"/>
            <a:ext cx="91440" cy="9144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7856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Uso &lt; 400 kWh/mes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" y="411480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facturas son demasiado bajas — el ahorro es mínimo.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712464"/>
            <a:ext cx="4160520" cy="914400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3712464"/>
            <a:ext cx="91440" cy="9144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37856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Expectativas irrealistas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64608" y="411480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"Quiero eliminar completamente mi factura" — educalos o descalifica.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directo. Recomienda la ruta correcta. Pide seguimiento cuando cambien las condiciones. Eso construye referencias.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046720" y="4937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 del Día 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descubrimiento profundo construye propuestas que se cierran solas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88720"/>
            <a:ext cx="475488" cy="475488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887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1704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el Entorno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46120" y="1152144"/>
            <a:ext cx="5532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preparado. Siéntate en la mesa. Elimina distracciones. La autoridad comienza antes de abrir la boca.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82112" y="1170432"/>
            <a:ext cx="36576" cy="512064"/>
          </a:xfrm>
          <a:prstGeom prst="rect">
            <a:avLst/>
          </a:prstGeom>
          <a:solidFill>
            <a:srgbClr val="E0E4ED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865376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1975104"/>
            <a:ext cx="475488" cy="475488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9751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87552" y="19568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el Perfil BOLT en 2 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1938528"/>
            <a:ext cx="5532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= rapidez. Owl = datos. Lion = conexión. Turtle = seguridad. Adáptate a ambos cónyuges.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82112" y="1956816"/>
            <a:ext cx="36576" cy="512064"/>
          </a:xfrm>
          <a:prstGeom prst="rect">
            <a:avLst/>
          </a:prstGeom>
          <a:solidFill>
            <a:srgbClr val="E0E4ED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651760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761488"/>
            <a:ext cx="475488" cy="475488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7614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87552" y="27432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Espejo + Etiqueta + Preguntas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46120" y="2724912"/>
            <a:ext cx="5532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Repite, nombra emociones, haz preguntas calibradas. El propietario que se siente escuchado confía.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82112" y="2743200"/>
            <a:ext cx="36576" cy="512064"/>
          </a:xfrm>
          <a:prstGeom prst="rect">
            <a:avLst/>
          </a:prstGeom>
          <a:solidFill>
            <a:srgbClr val="E0E4ED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438144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3547872"/>
            <a:ext cx="475488" cy="475488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547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87552" y="352958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12 Preguntas de Descubrimiento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46120" y="3511296"/>
            <a:ext cx="5532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→ Estado futuro → Toma de decisiones. Nunca saltes al diseño antes de terminar.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182112" y="3529584"/>
            <a:ext cx="36576" cy="512064"/>
          </a:xfrm>
          <a:prstGeom prst="rect">
            <a:avLst/>
          </a:prstGeom>
          <a:solidFill>
            <a:srgbClr val="E0E4ED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224528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" y="4334256"/>
            <a:ext cx="475488" cy="475488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3342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87552" y="43159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Cónyuges o Reagenda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46120" y="4297680"/>
            <a:ext cx="5532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excepciones. Una presentación a un solo cónyuge = cancelación mañana.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182112" y="4315968"/>
            <a:ext cx="36576" cy="512064"/>
          </a:xfrm>
          <a:prstGeom prst="rect">
            <a:avLst/>
          </a:prstGeom>
          <a:solidFill>
            <a:srgbClr val="E0E4ED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0" y="4937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6400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Tarea y Cierre del Día 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estos 3 pasos antes de nuestra próxima sesión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138160" cy="1170432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109728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972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09728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 las 12 Preguntas de Descubrimiento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463040"/>
            <a:ext cx="7132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Memoriza las 12 preguntas en orden. Practica con un compañero — uno hace de propietario, el otro de rep. Deben fluir naturalmente, sin pausas.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8138160" cy="1170432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04288"/>
            <a:ext cx="109728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395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239572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Tu Propio Hogar o el de un Familiar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761488"/>
            <a:ext cx="7132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el checklist de evaluación de techo y sitio. Toma las 5 fotos críticas. Identifica el tipo de panel eléctrico. Lleva el reporte a la próxima sesión.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602736"/>
            <a:ext cx="8138160" cy="1170432"/>
          </a:xfrm>
          <a:prstGeom prst="rect">
            <a:avLst/>
          </a:prstGeom>
          <a:solidFill>
            <a:srgbClr val="2D4472"/>
          </a:solidFill>
          <a:ln w="12700">
            <a:solidFill>
              <a:srgbClr val="3A54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602736"/>
            <a:ext cx="109728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694176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3694176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Tu Propio Perfil BOLT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4059936"/>
            <a:ext cx="7132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Reflexiona: ¿Eres Bull, Owl, Lion o Turtle? ¿Cómo afecta eso tu estilo de venta? Escribe 3 formas en que adaptarías tu comunicación según el tipo del propietario.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[TU EMPRESA]  •  Programa de Capacitación en Ventas de Energía Solar  •  Día 3 de Descubrimiento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4937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Día 3 — Descubrimiento, Psicología y Dominio en el Hogar</dc:title>
  <dc:subject>PptxGenJS Presentation</dc:subject>
  <dc:creator>PptxGenJS</dc:creator>
  <cp:lastModifiedBy>PptxGenJS</cp:lastModifiedBy>
  <cp:revision>1</cp:revision>
  <dcterms:created xsi:type="dcterms:W3CDTF">2026-05-10T14:05:39Z</dcterms:created>
  <dcterms:modified xsi:type="dcterms:W3CDTF">2026-05-10T14:05:39Z</dcterms:modified>
</cp:coreProperties>
</file>