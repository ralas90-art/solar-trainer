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Ingresos Mensuales</c:v>
                </c:pt>
              </c:strCache>
            </c:strRef>
          </c:tx>
          <c:spPr>
            <a:solidFill>
              <a:srgbClr val="4A6F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6FA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6FA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Mes 1</c:v>
                  </c:pt>
                  <c:pt idx="1">
                    <c:v>Mes 3</c:v>
                  </c:pt>
                  <c:pt idx="2">
                    <c:v>Mes 6+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2500</c:v>
                </c:pt>
                <c:pt idx="1">
                  <c:v>6500</c:v>
                </c:pt>
                <c:pt idx="2">
                  <c:v>10000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6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Confianza y Competencia</c:v>
                </c:pt>
              </c:strCache>
            </c:strRef>
          </c:tx>
          <c:spPr>
            <a:solidFill>
              <a:srgbClr val="4A6FA5"/>
            </a:solidFill>
            <a:ln w="38100" cap="flat">
              <a:solidFill>
                <a:srgbClr val="4A6FA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A6FA5"/>
              </a:solidFill>
              <a:ln w="9525" cap="flat">
                <a:solidFill>
                  <a:srgbClr val="4A6FA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Inicio</c:v>
                  </c:pt>
                  <c:pt idx="1">
                    <c:v>Etapa 1</c:v>
                  </c:pt>
                  <c:pt idx="2">
                    <c:v>El Valle</c:v>
                  </c:pt>
                  <c:pt idx="3">
                    <c:v>Etapa 3</c:v>
                  </c:pt>
                  <c:pt idx="4">
                    <c:v>Etapa 4</c:v>
                  </c:pt>
                  <c:pt idx="5">
                    <c:v>Maestría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</c:v>
                </c:pt>
                <c:pt idx="1">
                  <c:v>70</c:v>
                </c:pt>
                <c:pt idx="2">
                  <c:v>20</c:v>
                </c:pt>
                <c:pt idx="3">
                  <c:v>45</c:v>
                </c:pt>
                <c:pt idx="4">
                  <c:v>75</c:v>
                </c:pt>
                <c:pt idx="5">
                  <c:v>95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6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731520"/>
            <a:ext cx="3840480" cy="3840480"/>
          </a:xfrm>
          <a:prstGeom prst="ellipse">
            <a:avLst/>
          </a:prstGeom>
          <a:solidFill>
            <a:srgbClr val="F5A623">
              <a:alpha val="18000"/>
            </a:srgbClr>
          </a:solidFill>
          <a:ln w="12700">
            <a:solidFill>
              <a:srgbClr val="F5A623">
                <a:alpha val="1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Incorporación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 Fundamentos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en Ventas de Energía Solar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32004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38328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Construyendo la base para una carrera de $100K+ en ventas de energía solar.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160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[TU EMPRESA]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0" y="4663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109728" cy="4297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Proyección de Ingresos: El Camino a $100K+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6583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trayectoria de ingresos durante los primeros 6 meses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05840"/>
          <a:ext cx="50292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051560"/>
            <a:ext cx="3291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77840" y="1051560"/>
            <a:ext cx="91440" cy="91440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60720" y="112471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~$2,500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760720" y="152704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 — Aprendiendo las bases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577840" y="2240280"/>
            <a:ext cx="3291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77840" y="2240280"/>
            <a:ext cx="91440" cy="91440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60720" y="231343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~$6,500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760720" y="27157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 — Tomando velocidad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577840" y="3429000"/>
            <a:ext cx="3291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577840" y="3429000"/>
            <a:ext cx="91440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60720" y="350215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$10,000+/mes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5760720" y="390448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6+ — Producción total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28600" y="46177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anual al ritmo del Mes 6+: $120,000+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72400" y="4663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109728" cy="4297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 4 Etapas de la Competencia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6583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profesional de alto rendimiento pasa por El Valle — espéralo y supéralo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60120"/>
          <a:ext cx="53035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1920240" y="3291840"/>
            <a:ext cx="1371600" cy="2926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920240" y="32918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VALLE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715000" y="1005840"/>
            <a:ext cx="1600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217920" y="1097280"/>
            <a:ext cx="502920" cy="502920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788152" y="166420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Incompetencia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Inconsciente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788152" y="2212848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sabes lo que no sabes. Alto entusiasmo.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406640" y="1005840"/>
            <a:ext cx="1600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909560" y="1097280"/>
            <a:ext cx="502920" cy="50292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0956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479792" y="166420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Incompetencia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Consciente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479792" y="2212848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realidad golpea. El Valle. La mayoría abandona aquí.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715000" y="2926080"/>
            <a:ext cx="1600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17920" y="3017520"/>
            <a:ext cx="502920" cy="502920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1792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788152" y="358444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Consciente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788152" y="4133088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habilidades se desarrollan. Se requiere esfuerzo. Resultados emergentes.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7406640" y="2926080"/>
            <a:ext cx="1600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909560" y="3017520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90956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479792" y="358444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Inconsciente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479792" y="4133088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Maestría. Vender se vuelve natural. Territorio de $100K+.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772400" y="4663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109728" cy="4297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Lista de Verificación Administrativa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6583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todos los pasos de incorporación antes de tu primer día en el campo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206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8328" y="1097280"/>
            <a:ext cx="329184" cy="32918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097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8952" y="103327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Firmar carta de oferta y acuerdo de contratista independiente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206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73168" y="1097280"/>
            <a:ext cx="329184" cy="32918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097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93792" y="103327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formulario W-9 / configuración de depósito directo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28600" y="1709928"/>
            <a:ext cx="4206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" y="1847088"/>
            <a:ext cx="329184" cy="32918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8952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ID con foto + consentimiento para verificación de antecedentes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1709928"/>
            <a:ext cx="4206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73168" y="1847088"/>
            <a:ext cx="329184" cy="32918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93792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e iniciar sesión en la plataforma CRM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28600" y="2459736"/>
            <a:ext cx="4206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8328" y="2596896"/>
            <a:ext cx="329184" cy="32918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" y="2596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8952" y="253288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e iniciar sesión en el portal de RRHH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63440" y="2459736"/>
            <a:ext cx="4206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73168" y="2596896"/>
            <a:ext cx="329184" cy="32918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2596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93792" y="253288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e iniciar sesión en la app de comunicaciones del equipo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28600" y="3209544"/>
            <a:ext cx="4206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8328" y="3346704"/>
            <a:ext cx="329184" cy="32918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" y="3346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58952" y="328269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el módulo de capacitación de cumplimiento de la empresa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663440" y="3209544"/>
            <a:ext cx="4206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73168" y="3346704"/>
            <a:ext cx="329184" cy="329184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3346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93792" y="328269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Asistir a la orientación virtual o presencial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28600" y="4041648"/>
            <a:ext cx="8686800" cy="530352"/>
          </a:xfrm>
          <a:prstGeom prst="rect">
            <a:avLst/>
          </a:prstGeom>
          <a:solidFill>
            <a:srgbClr val="F5A623">
              <a:alpha val="15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04164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Todos los elementos deben completarse antes de ingresar al campo. Consulta con tu coordinador de incorporación si tienes preguntas.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772400" y="4663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Horario Diario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tus Horas Doradas — ellas impulsan tus ingresos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66928"/>
          </a:xfrm>
          <a:prstGeom prst="rect">
            <a:avLst/>
          </a:prstGeom>
          <a:solidFill>
            <a:srgbClr val="2D4472"/>
          </a:solidFill>
          <a:ln w="12700">
            <a:solidFill>
              <a:srgbClr val="3A5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8:00 AM – 10:00 AM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80360" y="1097280"/>
            <a:ext cx="4572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1005840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Rutina Matutina y Mentalidad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36776"/>
            <a:ext cx="8229600" cy="566928"/>
          </a:xfrm>
          <a:prstGeom prst="rect">
            <a:avLst/>
          </a:prstGeom>
          <a:solidFill>
            <a:srgbClr val="2D4472"/>
          </a:solidFill>
          <a:ln w="12700">
            <a:solidFill>
              <a:srgbClr val="3A5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63677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 AM – 12:00 PM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80360" y="1728216"/>
            <a:ext cx="4572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1636776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Capacitación, Role-play y Revisión de Leads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267712"/>
            <a:ext cx="8229600" cy="566928"/>
          </a:xfrm>
          <a:prstGeom prst="rect">
            <a:avLst/>
          </a:prstGeom>
          <a:solidFill>
            <a:srgbClr val="2D4472"/>
          </a:solidFill>
          <a:ln w="12700">
            <a:solidFill>
              <a:srgbClr val="3A54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67712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 PM – 1:00 PM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80360" y="2359152"/>
            <a:ext cx="4572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2267712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Almuerzo y Preparación de Traslado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898648"/>
            <a:ext cx="8229600" cy="566928"/>
          </a:xfrm>
          <a:prstGeom prst="rect">
            <a:avLst/>
          </a:prstGeom>
          <a:solidFill>
            <a:srgbClr val="2D4472"/>
          </a:solidFill>
          <a:ln w="12700">
            <a:solidFill>
              <a:srgbClr val="3A54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89864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 PM – 2:00 PM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880360" y="2990088"/>
            <a:ext cx="4572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0" y="2898648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CRM, Prospección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529584"/>
            <a:ext cx="8229600" cy="5669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52958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 PM – 7:00 PM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880360" y="3621024"/>
            <a:ext cx="4572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0" y="3529584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LAS HORAS DORADAS — Toque de Puertas y Citas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160520"/>
            <a:ext cx="8229600" cy="566928"/>
          </a:xfrm>
          <a:prstGeom prst="rect">
            <a:avLst/>
          </a:prstGeom>
          <a:solidFill>
            <a:srgbClr val="2D4472"/>
          </a:solidFill>
          <a:ln w="12700">
            <a:solidFill>
              <a:srgbClr val="3A54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16052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7:00 PM – 8:00 PM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880360" y="4251960"/>
            <a:ext cx="4572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0" y="4160520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Cierre, Actualización de CRM y Revisión de Pipeline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ventana de 2 PM a 7 PM es cuando los tomadores de decisiones están EN CASA. Protege este tiempo con determinación.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0" y="4663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109728" cy="4297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KPIs: El Juego de los Números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6583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tus ratios de conversión es la clave para ingresos consistentes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9202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1920240" cy="10972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A6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150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27432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26060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Puertas tocadas por semana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23160" y="1005840"/>
            <a:ext cx="19202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1005840"/>
            <a:ext cx="1920240" cy="10972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118872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A6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242316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96312" y="26060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Propietarios interesados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88920" y="3200400"/>
            <a:ext cx="1188720" cy="292608"/>
          </a:xfrm>
          <a:prstGeom prst="rect">
            <a:avLst/>
          </a:prstGeom>
          <a:solidFill>
            <a:srgbClr val="F4F6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88920" y="3200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0" y="1005840"/>
            <a:ext cx="19202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1005840"/>
            <a:ext cx="1920240" cy="10972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18872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A6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5400" dirty="0"/>
          </a:p>
        </p:txBody>
      </p:sp>
      <p:sp>
        <p:nvSpPr>
          <p:cNvPr id="20" name="Text 18"/>
          <p:cNvSpPr/>
          <p:nvPr/>
        </p:nvSpPr>
        <p:spPr>
          <a:xfrm>
            <a:off x="457200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45152" y="26060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Presentaciones en el hogar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37760" y="3200400"/>
            <a:ext cx="1188720" cy="292608"/>
          </a:xfrm>
          <a:prstGeom prst="rect">
            <a:avLst/>
          </a:prstGeom>
          <a:solidFill>
            <a:srgbClr val="F4F6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200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5.3%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720840" y="1005840"/>
            <a:ext cx="19202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20840" y="1005840"/>
            <a:ext cx="192024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118872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5400" dirty="0"/>
          </a:p>
        </p:txBody>
      </p:sp>
      <p:sp>
        <p:nvSpPr>
          <p:cNvPr id="27" name="Text 25"/>
          <p:cNvSpPr/>
          <p:nvPr/>
        </p:nvSpPr>
        <p:spPr>
          <a:xfrm>
            <a:off x="672084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93992" y="26060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firmados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086600" y="3200400"/>
            <a:ext cx="1188720" cy="292608"/>
          </a:xfrm>
          <a:prstGeom prst="rect">
            <a:avLst/>
          </a:prstGeom>
          <a:solidFill>
            <a:srgbClr val="F4F6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86600" y="3200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1.3%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28600" y="434340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promedio por trato: $8,000–$12,000 de comisión  •  2 cierres/semana = $16K–$24K/mes de potencial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72400" y="4663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Panorama de la Industria: Por Qué Solar, Por Qué Ahora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fuerzas del mercado crean urgencia que trabaja a tu favor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2606040" cy="1600200"/>
          </a:xfrm>
          <a:prstGeom prst="rect">
            <a:avLst/>
          </a:prstGeom>
          <a:solidFill>
            <a:srgbClr val="243352"/>
          </a:solidFill>
          <a:ln w="12700">
            <a:solidFill>
              <a:srgbClr val="2E3F6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05840"/>
            <a:ext cx="260604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3M+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hogares en EE.UU. adoptan solar cada año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606040" cy="1600200"/>
          </a:xfrm>
          <a:prstGeom prst="rect">
            <a:avLst/>
          </a:prstGeom>
          <a:solidFill>
            <a:srgbClr val="243352"/>
          </a:solidFill>
          <a:ln w="12700">
            <a:solidFill>
              <a:srgbClr val="2E3F6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05840"/>
            <a:ext cx="260604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143000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91840" y="1828800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Inflación anual promedio de tarifas eléctricas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89320" y="1005840"/>
            <a:ext cx="2606040" cy="1600200"/>
          </a:xfrm>
          <a:prstGeom prst="rect">
            <a:avLst/>
          </a:prstGeom>
          <a:solidFill>
            <a:srgbClr val="243352"/>
          </a:solidFill>
          <a:ln w="12700">
            <a:solidFill>
              <a:srgbClr val="2E3F6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89320" y="1005840"/>
            <a:ext cx="260604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143000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080760" y="1828800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de empleos en la industria solar (2022–2032)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01368" y="2834640"/>
            <a:ext cx="2606040" cy="1600200"/>
          </a:xfrm>
          <a:prstGeom prst="rect">
            <a:avLst/>
          </a:prstGeom>
          <a:solidFill>
            <a:srgbClr val="243352"/>
          </a:solidFill>
          <a:ln w="12700">
            <a:solidFill>
              <a:srgbClr val="2E3F6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01368" y="2834640"/>
            <a:ext cx="260604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92808" y="2971800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$500B+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892808" y="3657600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solar global para 2030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90288" y="2834640"/>
            <a:ext cx="2606040" cy="1600200"/>
          </a:xfrm>
          <a:prstGeom prst="rect">
            <a:avLst/>
          </a:prstGeom>
          <a:solidFill>
            <a:srgbClr val="243352"/>
          </a:solidFill>
          <a:ln w="12700">
            <a:solidFill>
              <a:srgbClr val="2E3F6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90288" y="2834640"/>
            <a:ext cx="260604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1728" y="2971800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25-30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años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681728" y="3657600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 útil promedio de un sistema solar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año que un propietario espera, paga ~8% más a la compañía eléctrica. Tú le ofreces una salida.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90118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U.S. Energy Information Administration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772400" y="4663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109728" cy="4297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Cómo Funciona el Sistema Solar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6583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el sistema genera confianza con el propietario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30936" y="1005840"/>
            <a:ext cx="914400" cy="9144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☀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28600" y="2029968"/>
            <a:ext cx="1719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" y="2377440"/>
            <a:ext cx="17190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fotones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impactan el panel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45920" y="1417320"/>
            <a:ext cx="50292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50008" y="1005840"/>
            <a:ext cx="914400" cy="9144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⬡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947672" y="2029968"/>
            <a:ext cx="1719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47672" y="2377440"/>
            <a:ext cx="17190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Paneles convierten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luz → electricidad DC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64992" y="1417320"/>
            <a:ext cx="50292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69080" y="1005840"/>
            <a:ext cx="914400" cy="9144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69080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⇄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666744" y="2029968"/>
            <a:ext cx="1719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66744" y="2377440"/>
            <a:ext cx="17190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DC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corriente AC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84064" y="1417320"/>
            <a:ext cx="50292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88152" y="1005840"/>
            <a:ext cx="914400" cy="9144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88152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385816" y="2029968"/>
            <a:ext cx="1719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AC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85816" y="2377440"/>
            <a:ext cx="17190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Distribuye energía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el hogar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03136" y="1417320"/>
            <a:ext cx="50292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07224" y="1005840"/>
            <a:ext cx="914400" cy="9144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⌂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104888" y="2029968"/>
            <a:ext cx="1719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HOGAR/RED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04888" y="2377440"/>
            <a:ext cx="17190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 el hogar;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excedente regresa a la red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3291840"/>
            <a:ext cx="8503920" cy="1325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3291840"/>
            <a:ext cx="109728" cy="1325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364992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Medición Neta (NEM):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3730752"/>
            <a:ext cx="8138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tu sistema solar produce más electricidad de la que consume el hogar, el excedente se envía a la red — y la compañía eléctrica te acredita en tu factura.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772400" y="4663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109728" cy="4297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Mitos del Solar vs. Realidad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6583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 las objeciones antes de que las plantee el propietario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11480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60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MITO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960120"/>
            <a:ext cx="416052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9601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REALIDAD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1371600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371600"/>
            <a:ext cx="4160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37160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solar es demasiado caro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09160" y="1371600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los propietarios pagan $0 de entrada con opciones de financiamiento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1965960"/>
            <a:ext cx="4114800" cy="530352"/>
          </a:xfrm>
          <a:prstGeom prst="rect">
            <a:avLst/>
          </a:prstGeom>
          <a:solidFill>
            <a:srgbClr val="EEF2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965960"/>
            <a:ext cx="4160520" cy="530352"/>
          </a:xfrm>
          <a:prstGeom prst="rect">
            <a:avLst/>
          </a:prstGeom>
          <a:solidFill>
            <a:srgbClr val="EEF2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96596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funcionará en climas nublados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1965960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paneles generan energía con luz difusa; Alemania es líder mundial en solar per cápita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2560320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2560320"/>
            <a:ext cx="4160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56032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paneles dañan el techo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2560320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paneles instalados profesionalmente protegen la superficie del techo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" y="3154680"/>
            <a:ext cx="4114800" cy="530352"/>
          </a:xfrm>
          <a:prstGeom prst="rect">
            <a:avLst/>
          </a:prstGeom>
          <a:solidFill>
            <a:srgbClr val="EEF2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3154680"/>
            <a:ext cx="4160520" cy="530352"/>
          </a:xfrm>
          <a:prstGeom prst="rect">
            <a:avLst/>
          </a:prstGeom>
          <a:solidFill>
            <a:srgbClr val="EEF2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15468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período de recuperación es muy largo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09160" y="3154680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los sistemas recuperan la inversión en 5–8 años; las garantías son de 25+ años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" y="3749040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3749040"/>
            <a:ext cx="4160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74904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Tendré que seguir pagando a la eléctrica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09160" y="3749040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sistemas conectados a la red permiten la medición neta y créditos en la factura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8600" y="4343400"/>
            <a:ext cx="4114800" cy="530352"/>
          </a:xfrm>
          <a:prstGeom prst="rect">
            <a:avLst/>
          </a:prstGeom>
          <a:solidFill>
            <a:srgbClr val="EEF2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4343400"/>
            <a:ext cx="4160520" cy="530352"/>
          </a:xfrm>
          <a:prstGeom prst="rect">
            <a:avLst/>
          </a:prstGeom>
          <a:solidFill>
            <a:srgbClr val="EEF2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34340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si me mudo?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09160" y="4343400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solar aumenta el valor de la vivienda ~4% (Zillow Research)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772400" y="4663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Mentalidad: Consultor vs. Vendedor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mejores asesores en solar piensan como consejeros, no como cerradores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384048"/>
          </a:xfrm>
          <a:prstGeom prst="rect">
            <a:avLst/>
          </a:prstGeom>
          <a:solidFill>
            <a:srgbClr val="2E3F60"/>
          </a:solidFill>
          <a:ln w="12700">
            <a:solidFill>
              <a:srgbClr val="2E3F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VENDEDOR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17720" y="1005840"/>
            <a:ext cx="416052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17720" y="10058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CONSULTOR  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3931920" cy="438912"/>
          </a:xfrm>
          <a:prstGeom prst="rect">
            <a:avLst/>
          </a:prstGeom>
          <a:solidFill>
            <a:srgbClr val="1E2E47"/>
          </a:solidFill>
          <a:ln w="12700">
            <a:solidFill>
              <a:srgbClr val="1E2E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1463040"/>
            <a:ext cx="4160520" cy="438912"/>
          </a:xfrm>
          <a:prstGeom prst="rect">
            <a:avLst/>
          </a:prstGeom>
          <a:solidFill>
            <a:srgbClr val="1E2E47"/>
          </a:solidFill>
          <a:ln w="12700">
            <a:solidFill>
              <a:srgbClr val="1E2E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6304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Empuja características y precio del producto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1463040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 el problema de energía del propietario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956816"/>
            <a:ext cx="3931920" cy="438912"/>
          </a:xfrm>
          <a:prstGeom prst="rect">
            <a:avLst/>
          </a:prstGeom>
          <a:solidFill>
            <a:srgbClr val="243352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1956816"/>
            <a:ext cx="4160520" cy="438912"/>
          </a:xfrm>
          <a:prstGeom prst="rect">
            <a:avLst/>
          </a:prstGeom>
          <a:solidFill>
            <a:srgbClr val="243352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95681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enfoca en cerrar el trato hoy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956816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confianza a largo plazo y pipeline de referidos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450592"/>
            <a:ext cx="3931920" cy="438912"/>
          </a:xfrm>
          <a:prstGeom prst="rect">
            <a:avLst/>
          </a:prstGeom>
          <a:solidFill>
            <a:srgbClr val="1E2E47"/>
          </a:solidFill>
          <a:ln w="12700">
            <a:solidFill>
              <a:srgbClr val="1E2E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2450592"/>
            <a:ext cx="4160520" cy="438912"/>
          </a:xfrm>
          <a:prstGeom prst="rect">
            <a:avLst/>
          </a:prstGeom>
          <a:solidFill>
            <a:srgbClr val="1E2E47"/>
          </a:solidFill>
          <a:ln w="12700">
            <a:solidFill>
              <a:srgbClr val="1E2E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45059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manejo de objeciones con script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450592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preguntas para entender las preocupaciones reales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944368"/>
            <a:ext cx="3931920" cy="438912"/>
          </a:xfrm>
          <a:prstGeom prst="rect">
            <a:avLst/>
          </a:prstGeom>
          <a:solidFill>
            <a:srgbClr val="243352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2944368"/>
            <a:ext cx="4160520" cy="438912"/>
          </a:xfrm>
          <a:prstGeom prst="rect">
            <a:avLst/>
          </a:prstGeom>
          <a:solidFill>
            <a:srgbClr val="243352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94436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Habla el 70% del tiempo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2944368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Escucha el 70% del tiempo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438144"/>
            <a:ext cx="3931920" cy="438912"/>
          </a:xfrm>
          <a:prstGeom prst="rect">
            <a:avLst/>
          </a:prstGeom>
          <a:solidFill>
            <a:srgbClr val="1E2E47"/>
          </a:solidFill>
          <a:ln w="12700">
            <a:solidFill>
              <a:srgbClr val="1E2E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7720" y="3438144"/>
            <a:ext cx="4160520" cy="438912"/>
          </a:xfrm>
          <a:prstGeom prst="rect">
            <a:avLst/>
          </a:prstGeom>
          <a:solidFill>
            <a:srgbClr val="1E2E47"/>
          </a:solidFill>
          <a:ln w="12700">
            <a:solidFill>
              <a:srgbClr val="1E2E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438144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 a todos los propietarios igual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3438144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 la conversación para cada hogar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931920"/>
            <a:ext cx="3931920" cy="438912"/>
          </a:xfrm>
          <a:prstGeom prst="rect">
            <a:avLst/>
          </a:prstGeom>
          <a:solidFill>
            <a:srgbClr val="243352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17720" y="3931920"/>
            <a:ext cx="4160520" cy="438912"/>
          </a:xfrm>
          <a:prstGeom prst="rect">
            <a:avLst/>
          </a:prstGeom>
          <a:solidFill>
            <a:srgbClr val="243352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93192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 a la siguiente puerta tras un "No"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3931920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seguimiento, educa y mantiene el contacto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425696"/>
            <a:ext cx="3931920" cy="438912"/>
          </a:xfrm>
          <a:prstGeom prst="rect">
            <a:avLst/>
          </a:prstGeom>
          <a:solidFill>
            <a:srgbClr val="1E2E47"/>
          </a:solidFill>
          <a:ln w="12700">
            <a:solidFill>
              <a:srgbClr val="1E2E4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17720" y="4425696"/>
            <a:ext cx="4160520" cy="438912"/>
          </a:xfrm>
          <a:prstGeom prst="rect">
            <a:avLst/>
          </a:prstGeom>
          <a:solidFill>
            <a:srgbClr val="1E2E47"/>
          </a:solidFill>
          <a:ln w="12700">
            <a:solidFill>
              <a:srgbClr val="1E2E4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42569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Motivado solo por la comisión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54880" y="4425696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Motivado por el impacto + los ingresos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772400" y="4663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109728" cy="4297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Anatomía de una Factura Eléctrica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6583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 lo que estás viendo — y lo que debes buscar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3474720" cy="3520440"/>
          </a:xfrm>
          <a:prstGeom prst="rect">
            <a:avLst/>
          </a:prstGeom>
          <a:solidFill>
            <a:srgbClr val="EEF2F7"/>
          </a:solidFill>
          <a:ln w="1905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960120"/>
            <a:ext cx="347472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[INSERTAR AQUÍ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 ELÉCTRICA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931920" y="1069848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0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34840" y="10058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cuenta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34840" y="128930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Necesario para el formulario de autorización de la empresa eléctrica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931920" y="1773936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34840" y="170992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consumo 12 meses (kWh)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34840" y="199339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 el sistema solar con precisión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931920" y="2478024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0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34840" y="241401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 / Plan tarifario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34840" y="26974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la exposición a futuros aumentos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931920" y="3182112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0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34840" y="311810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 mensual actual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34840" y="340156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 la línea base de ahorro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931920" y="3886200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434840" y="382219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Elegibilidad de Medición Neta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34840" y="410565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crédito por generación excedente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28600" y="46177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Consejo: Pide ver las facturas de los últimos 12 meses para calcular con precisión el consumo anual.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772400" y="4663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2286000"/>
            <a:ext cx="3200400" cy="3200400"/>
          </a:xfrm>
          <a:prstGeom prst="ellipse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Tarea y Cierre del Día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estos 3 pasos antes de nuestra próxima sesión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138160" cy="1170432"/>
          </a:xfrm>
          <a:prstGeom prst="rect">
            <a:avLst/>
          </a:prstGeom>
          <a:solidFill>
            <a:srgbClr val="2D4472"/>
          </a:solidFill>
          <a:ln w="12700">
            <a:solidFill>
              <a:srgbClr val="3A549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109728" cy="1170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0972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109728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todos los elementos administrativos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1463040"/>
            <a:ext cx="7132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 sesión en CRM, portal de RRHH y app de comunicaciones. Envía todos los documentos requeridos a tu coordinador de incorporación. Confirma que tu capacitación de cumplimiento está completa antes de tu primer día en el campo.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8138160" cy="1170432"/>
          </a:xfrm>
          <a:prstGeom prst="rect">
            <a:avLst/>
          </a:prstGeom>
          <a:solidFill>
            <a:srgbClr val="2D4472"/>
          </a:solidFill>
          <a:ln w="12700">
            <a:solidFill>
              <a:srgbClr val="3A549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304288"/>
            <a:ext cx="109728" cy="1170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39572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71600" y="2395728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 el Flujo Tecnológico y los Mitos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2761488"/>
            <a:ext cx="7132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Repasa las diapositivas 8 y 9. Practica explicar cómo funciona el solar en menos de 60 segundos — en voz alta, a un amigo o frente al espejo. Debes poder responder los 5 principales mitos sin dudar.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602736"/>
            <a:ext cx="8138160" cy="1170432"/>
          </a:xfrm>
          <a:prstGeom prst="rect">
            <a:avLst/>
          </a:prstGeom>
          <a:solidFill>
            <a:srgbClr val="2D4472"/>
          </a:solidFill>
          <a:ln w="12700">
            <a:solidFill>
              <a:srgbClr val="3A549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602736"/>
            <a:ext cx="109728" cy="1170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694176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71600" y="3694176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Obtén y Analiza Tu Propia Factura Eléctrica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4059936"/>
            <a:ext cx="7132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Consigue la factura eléctrica de tu hogar (o de un familiar). Identifica los 5 puntos clave de la diapositiva 11. Ven a la próxima sesión listo para hacer un role-play usando una factura real como apoyo.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[TU EMPRESA]  •  Programa de Capacitación en Ventas de Energía Solar  •  Día 1 de Incorporación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663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Día 1 — Incorporación y Fundamentos</dc:title>
  <dc:subject>PptxGenJS Presentation</dc:subject>
  <dc:creator>PptxGenJS</dc:creator>
  <cp:lastModifiedBy>PptxGenJS</cp:lastModifiedBy>
  <cp:revision>1</cp:revision>
  <dcterms:created xsi:type="dcterms:W3CDTF">2026-05-10T13:58:23Z</dcterms:created>
  <dcterms:modified xsi:type="dcterms:W3CDTF">2026-05-10T13:58:23Z</dcterms:modified>
</cp:coreProperties>
</file>