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5A623"/>
          </a:solidFill>
          <a:ln w="12700">
            <a:solidFill>
              <a:srgbClr val="F5A623"/>
            </a:solidFill>
            <a:prstDash val="solid"/>
          </a:ln>
        </p:spPr>
      </p:sp>
      <p:sp>
        <p:nvSpPr>
          <p:cNvPr id="3" name="Text 1"/>
          <p:cNvSpPr/>
          <p:nvPr/>
        </p:nvSpPr>
        <p:spPr>
          <a:xfrm>
            <a:off x="347472" y="1901952"/>
            <a:ext cx="2743200" cy="274320"/>
          </a:xfrm>
          <a:prstGeom prst="rect">
            <a:avLst/>
          </a:prstGeom>
          <a:noFill/>
          <a:ln/>
        </p:spPr>
        <p:txBody>
          <a:bodyPr wrap="square" rtlCol="0" anchor="ctr"/>
          <a:lstStyle/>
          <a:p>
            <a:pPr indent="0" marL="0">
              <a:buNone/>
            </a:pPr>
            <a:r>
              <a:rPr lang="en-US" sz="1400" b="1" dirty="0">
                <a:solidFill>
                  <a:srgbClr val="F5A623"/>
                </a:solidFill>
                <a:latin typeface="Trebuchet MS" pitchFamily="34" charset="0"/>
                <a:ea typeface="Trebuchet MS" pitchFamily="34" charset="-122"/>
                <a:cs typeface="Trebuchet MS" pitchFamily="34" charset="-120"/>
              </a:rPr>
              <a:t>DIA 6</a:t>
            </a:r>
            <a:endParaRPr lang="en-US" sz="1400" dirty="0"/>
          </a:p>
        </p:txBody>
      </p:sp>
      <p:sp>
        <p:nvSpPr>
          <p:cNvPr id="4" name="Text 2"/>
          <p:cNvSpPr/>
          <p:nvPr/>
        </p:nvSpPr>
        <p:spPr>
          <a:xfrm>
            <a:off x="347472" y="2231136"/>
            <a:ext cx="7315200" cy="150876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Post-Venta, Reputacion</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y Crecimiento de Carrera</a:t>
            </a:r>
            <a:endParaRPr lang="en-US" sz="4000" dirty="0"/>
          </a:p>
        </p:txBody>
      </p:sp>
      <p:sp>
        <p:nvSpPr>
          <p:cNvPr id="5" name="Text 3"/>
          <p:cNvSpPr/>
          <p:nvPr/>
        </p:nvSpPr>
        <p:spPr>
          <a:xfrm>
            <a:off x="347472" y="3840480"/>
            <a:ext cx="6858000" cy="53035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Convierte cada cliente en una maquina de referidos y construye una carrera de seis cifras</a:t>
            </a:r>
            <a:endParaRPr lang="en-US" sz="1400" dirty="0"/>
          </a:p>
        </p:txBody>
      </p:sp>
      <p:sp>
        <p:nvSpPr>
          <p:cNvPr id="6" name="Shape 4"/>
          <p:cNvSpPr/>
          <p:nvPr/>
        </p:nvSpPr>
        <p:spPr>
          <a:xfrm>
            <a:off x="6949440" y="5760720"/>
            <a:ext cx="1920240" cy="658368"/>
          </a:xfrm>
          <a:prstGeom prst="rect">
            <a:avLst/>
          </a:prstGeom>
          <a:solidFill>
            <a:srgbClr val="F5A623"/>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7" name="Text 5"/>
          <p:cNvSpPr/>
          <p:nvPr/>
        </p:nvSpPr>
        <p:spPr>
          <a:xfrm>
            <a:off x="6949440" y="5760720"/>
            <a:ext cx="1920240" cy="658368"/>
          </a:xfrm>
          <a:prstGeom prst="rect">
            <a:avLst/>
          </a:prstGeom>
          <a:noFill/>
          <a:ln/>
        </p:spPr>
        <p:txBody>
          <a:bodyPr wrap="square" rtlCol="0" anchor="ctr"/>
          <a:lstStyle/>
          <a:p>
            <a:pPr algn="ctr" indent="0" marL="0">
              <a:buNone/>
            </a:pPr>
            <a:r>
              <a:rPr lang="en-US" sz="1400" b="1" dirty="0">
                <a:solidFill>
                  <a:srgbClr val="1B2A4A"/>
                </a:solidFill>
                <a:latin typeface="Trebuchet MS" pitchFamily="34" charset="0"/>
                <a:ea typeface="Trebuchet MS" pitchFamily="34" charset="-122"/>
                <a:cs typeface="Trebuchet MS" pitchFamily="34" charset="-120"/>
              </a:rPr>
              <a:t>Modulo 6 de 7</a:t>
            </a:r>
            <a:endParaRPr lang="en-US" sz="1400" dirty="0"/>
          </a:p>
        </p:txBody>
      </p:sp>
      <p:sp>
        <p:nvSpPr>
          <p:cNvPr id="8" name="Text 6"/>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1B2A4A"/>
                </a:solidFill>
                <a:latin typeface="Trebuchet MS" pitchFamily="34" charset="0"/>
                <a:ea typeface="Trebuchet MS" pitchFamily="34" charset="-122"/>
                <a:cs typeface="Trebuchet MS" pitchFamily="34" charset="-120"/>
              </a:rPr>
              <a:t>El Sistema de Referidos</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4A6FA5"/>
                </a:solidFill>
                <a:latin typeface="Calibri" pitchFamily="34" charset="0"/>
                <a:ea typeface="Calibri" pitchFamily="34" charset="-122"/>
                <a:cs typeface="Calibri" pitchFamily="34" charset="-120"/>
              </a:rPr>
              <a:t>Convierte cada cierre en una fuente de pipeline — gratis</a:t>
            </a:r>
            <a:endParaRPr lang="en-US" sz="1400" dirty="0"/>
          </a:p>
        </p:txBody>
      </p:sp>
      <p:sp>
        <p:nvSpPr>
          <p:cNvPr id="5" name="Shape 3"/>
          <p:cNvSpPr/>
          <p:nvPr/>
        </p:nvSpPr>
        <p:spPr>
          <a:xfrm>
            <a:off x="274320" y="987552"/>
            <a:ext cx="8595360" cy="658368"/>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274320" y="987552"/>
            <a:ext cx="8595360" cy="658368"/>
          </a:xfrm>
          <a:prstGeom prst="rect">
            <a:avLst/>
          </a:prstGeom>
          <a:noFill/>
          <a:ln/>
        </p:spPr>
        <p:txBody>
          <a:bodyPr wrap="square" rtlCol="0" anchor="ctr"/>
          <a:lstStyle/>
          <a:p>
            <a:pPr algn="ctr" indent="0" marL="0">
              <a:buNone/>
            </a:pPr>
            <a:r>
              <a:rPr lang="en-US" sz="1500" b="1" dirty="0">
                <a:solidFill>
                  <a:srgbClr val="F5A623"/>
                </a:solidFill>
                <a:latin typeface="Trebuchet MS" pitchFamily="34" charset="0"/>
                <a:ea typeface="Trebuchet MS" pitchFamily="34" charset="-122"/>
                <a:cs typeface="Trebuchet MS" pitchFamily="34" charset="-120"/>
              </a:rPr>
              <a:t>Referidos cierran al 40-60%  vs.  Leads frios al 20-30%  |  Costo de adquisicion: $0</a:t>
            </a:r>
            <a:endParaRPr lang="en-US" sz="1500" dirty="0"/>
          </a:p>
        </p:txBody>
      </p:sp>
      <p:sp>
        <p:nvSpPr>
          <p:cNvPr id="7" name="Shape 5"/>
          <p:cNvSpPr/>
          <p:nvPr/>
        </p:nvSpPr>
        <p:spPr>
          <a:xfrm>
            <a:off x="274320" y="1783080"/>
            <a:ext cx="8595360" cy="13898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8" name="Shape 6"/>
          <p:cNvSpPr/>
          <p:nvPr/>
        </p:nvSpPr>
        <p:spPr>
          <a:xfrm>
            <a:off x="384048" y="2103120"/>
            <a:ext cx="658368" cy="658368"/>
          </a:xfrm>
          <a:prstGeom prst="ellipse">
            <a:avLst/>
          </a:prstGeom>
          <a:solidFill>
            <a:srgbClr val="F5A623"/>
          </a:solidFill>
          <a:ln w="12700">
            <a:solidFill>
              <a:srgbClr val="F5A623"/>
            </a:solidFill>
            <a:prstDash val="solid"/>
          </a:ln>
        </p:spPr>
      </p:sp>
      <p:sp>
        <p:nvSpPr>
          <p:cNvPr id="9" name="Text 7"/>
          <p:cNvSpPr/>
          <p:nvPr/>
        </p:nvSpPr>
        <p:spPr>
          <a:xfrm>
            <a:off x="384048" y="2103120"/>
            <a:ext cx="658368" cy="658368"/>
          </a:xfrm>
          <a:prstGeom prst="rect">
            <a:avLst/>
          </a:prstGeom>
          <a:noFill/>
          <a:ln/>
        </p:spPr>
        <p:txBody>
          <a:bodyPr wrap="square" rtlCol="0" anchor="ctr"/>
          <a:lstStyle/>
          <a:p>
            <a:pPr algn="ctr" indent="0" marL="0">
              <a:buNone/>
            </a:pPr>
            <a:r>
              <a:rPr lang="en-US" sz="2200" b="1" dirty="0">
                <a:solidFill>
                  <a:srgbClr val="1B2A4A"/>
                </a:solidFill>
                <a:latin typeface="Trebuchet MS" pitchFamily="34" charset="0"/>
                <a:ea typeface="Trebuchet MS" pitchFamily="34" charset="-122"/>
                <a:cs typeface="Trebuchet MS" pitchFamily="34" charset="-120"/>
              </a:rPr>
              <a:t>1</a:t>
            </a:r>
            <a:endParaRPr lang="en-US" sz="2200" dirty="0"/>
          </a:p>
        </p:txBody>
      </p:sp>
      <p:sp>
        <p:nvSpPr>
          <p:cNvPr id="10" name="Text 8"/>
          <p:cNvSpPr/>
          <p:nvPr/>
        </p:nvSpPr>
        <p:spPr>
          <a:xfrm>
            <a:off x="1143000" y="1892808"/>
            <a:ext cx="502920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Siembra la Semilla al Cierre</a:t>
            </a:r>
            <a:endParaRPr lang="en-US" sz="1600" dirty="0"/>
          </a:p>
        </p:txBody>
      </p:sp>
      <p:sp>
        <p:nvSpPr>
          <p:cNvPr id="11" name="Shape 9"/>
          <p:cNvSpPr/>
          <p:nvPr/>
        </p:nvSpPr>
        <p:spPr>
          <a:xfrm>
            <a:off x="6400800" y="1892808"/>
            <a:ext cx="2286000" cy="292608"/>
          </a:xfrm>
          <a:prstGeom prst="rect">
            <a:avLst/>
          </a:prstGeom>
          <a:solidFill>
            <a:srgbClr val="F5A623"/>
          </a:solidFill>
          <a:ln w="12700">
            <a:solidFill>
              <a:srgbClr val="F5A623"/>
            </a:solidFill>
            <a:prstDash val="solid"/>
          </a:ln>
        </p:spPr>
      </p:sp>
      <p:sp>
        <p:nvSpPr>
          <p:cNvPr id="12" name="Text 10"/>
          <p:cNvSpPr/>
          <p:nvPr/>
        </p:nvSpPr>
        <p:spPr>
          <a:xfrm>
            <a:off x="6400800" y="1892808"/>
            <a:ext cx="2286000" cy="292608"/>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En el momento del cierre</a:t>
            </a:r>
            <a:endParaRPr lang="en-US" sz="1100" dirty="0"/>
          </a:p>
        </p:txBody>
      </p:sp>
      <p:sp>
        <p:nvSpPr>
          <p:cNvPr id="13" name="Text 11"/>
          <p:cNvSpPr/>
          <p:nvPr/>
        </p:nvSpPr>
        <p:spPr>
          <a:xfrm>
            <a:off x="1143000" y="2286000"/>
            <a:ext cx="7406640" cy="804672"/>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Antes de salir: "El mayor agradecimiento es un referido. Si alguien que conoce se ha quejado de su factura electrica, me encantaria una presentacion."</a:t>
            </a:r>
            <a:endParaRPr lang="en-US" sz="1300" dirty="0"/>
          </a:p>
        </p:txBody>
      </p:sp>
      <p:sp>
        <p:nvSpPr>
          <p:cNvPr id="14" name="Shape 12"/>
          <p:cNvSpPr/>
          <p:nvPr/>
        </p:nvSpPr>
        <p:spPr>
          <a:xfrm>
            <a:off x="274320" y="3291840"/>
            <a:ext cx="8595360" cy="13898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15" name="Shape 13"/>
          <p:cNvSpPr/>
          <p:nvPr/>
        </p:nvSpPr>
        <p:spPr>
          <a:xfrm>
            <a:off x="384048" y="3611880"/>
            <a:ext cx="658368" cy="658368"/>
          </a:xfrm>
          <a:prstGeom prst="ellipse">
            <a:avLst/>
          </a:prstGeom>
          <a:solidFill>
            <a:srgbClr val="4A6FA5"/>
          </a:solidFill>
          <a:ln w="12700">
            <a:solidFill>
              <a:srgbClr val="4A6FA5"/>
            </a:solidFill>
            <a:prstDash val="solid"/>
          </a:ln>
        </p:spPr>
      </p:sp>
      <p:sp>
        <p:nvSpPr>
          <p:cNvPr id="16" name="Text 14"/>
          <p:cNvSpPr/>
          <p:nvPr/>
        </p:nvSpPr>
        <p:spPr>
          <a:xfrm>
            <a:off x="384048" y="3611880"/>
            <a:ext cx="658368" cy="658368"/>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7" name="Text 15"/>
          <p:cNvSpPr/>
          <p:nvPr/>
        </p:nvSpPr>
        <p:spPr>
          <a:xfrm>
            <a:off x="1143000" y="3401568"/>
            <a:ext cx="502920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Activa Post-Instalacion</a:t>
            </a:r>
            <a:endParaRPr lang="en-US" sz="1600" dirty="0"/>
          </a:p>
        </p:txBody>
      </p:sp>
      <p:sp>
        <p:nvSpPr>
          <p:cNvPr id="18" name="Shape 16"/>
          <p:cNvSpPr/>
          <p:nvPr/>
        </p:nvSpPr>
        <p:spPr>
          <a:xfrm>
            <a:off x="6400800" y="3401568"/>
            <a:ext cx="2286000" cy="292608"/>
          </a:xfrm>
          <a:prstGeom prst="rect">
            <a:avLst/>
          </a:prstGeom>
          <a:solidFill>
            <a:srgbClr val="4A6FA5"/>
          </a:solidFill>
          <a:ln w="12700">
            <a:solidFill>
              <a:srgbClr val="4A6FA5"/>
            </a:solidFill>
            <a:prstDash val="solid"/>
          </a:ln>
        </p:spPr>
      </p:sp>
      <p:sp>
        <p:nvSpPr>
          <p:cNvPr id="19" name="Text 17"/>
          <p:cNvSpPr/>
          <p:nvPr/>
        </p:nvSpPr>
        <p:spPr>
          <a:xfrm>
            <a:off x="6400800" y="3401568"/>
            <a:ext cx="22860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Cuando el sistema enciende</a:t>
            </a:r>
            <a:endParaRPr lang="en-US" sz="1100" dirty="0"/>
          </a:p>
        </p:txBody>
      </p:sp>
      <p:sp>
        <p:nvSpPr>
          <p:cNvPr id="20" name="Text 18"/>
          <p:cNvSpPr/>
          <p:nvPr/>
        </p:nvSpPr>
        <p:spPr>
          <a:xfrm>
            <a:off x="1143000" y="3794760"/>
            <a:ext cx="7406640" cy="804672"/>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Cuando el sistema entre en linea, envia un mensaje entusiasmado y pregunta: "A quien seria el primero que le diria sobre esto?"</a:t>
            </a:r>
            <a:endParaRPr lang="en-US" sz="1300" dirty="0"/>
          </a:p>
        </p:txBody>
      </p:sp>
      <p:sp>
        <p:nvSpPr>
          <p:cNvPr id="21" name="Shape 19"/>
          <p:cNvSpPr/>
          <p:nvPr/>
        </p:nvSpPr>
        <p:spPr>
          <a:xfrm>
            <a:off x="274320" y="4800600"/>
            <a:ext cx="8595360" cy="13898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22" name="Shape 20"/>
          <p:cNvSpPr/>
          <p:nvPr/>
        </p:nvSpPr>
        <p:spPr>
          <a:xfrm>
            <a:off x="384048" y="5120640"/>
            <a:ext cx="658368" cy="658368"/>
          </a:xfrm>
          <a:prstGeom prst="ellipse">
            <a:avLst/>
          </a:prstGeom>
          <a:solidFill>
            <a:srgbClr val="27AE60"/>
          </a:solidFill>
          <a:ln w="12700">
            <a:solidFill>
              <a:srgbClr val="27AE60"/>
            </a:solidFill>
            <a:prstDash val="solid"/>
          </a:ln>
        </p:spPr>
      </p:sp>
      <p:sp>
        <p:nvSpPr>
          <p:cNvPr id="23" name="Text 21"/>
          <p:cNvSpPr/>
          <p:nvPr/>
        </p:nvSpPr>
        <p:spPr>
          <a:xfrm>
            <a:off x="384048" y="5120640"/>
            <a:ext cx="658368" cy="658368"/>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4" name="Text 22"/>
          <p:cNvSpPr/>
          <p:nvPr/>
        </p:nvSpPr>
        <p:spPr>
          <a:xfrm>
            <a:off x="1143000" y="4910328"/>
            <a:ext cx="502920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Seguimiento Personalizado</a:t>
            </a:r>
            <a:endParaRPr lang="en-US" sz="1600" dirty="0"/>
          </a:p>
        </p:txBody>
      </p:sp>
      <p:sp>
        <p:nvSpPr>
          <p:cNvPr id="25" name="Shape 23"/>
          <p:cNvSpPr/>
          <p:nvPr/>
        </p:nvSpPr>
        <p:spPr>
          <a:xfrm>
            <a:off x="6400800" y="4910328"/>
            <a:ext cx="2286000" cy="292608"/>
          </a:xfrm>
          <a:prstGeom prst="rect">
            <a:avLst/>
          </a:prstGeom>
          <a:solidFill>
            <a:srgbClr val="27AE60"/>
          </a:solidFill>
          <a:ln w="12700">
            <a:solidFill>
              <a:srgbClr val="27AE60"/>
            </a:solidFill>
            <a:prstDash val="solid"/>
          </a:ln>
        </p:spPr>
      </p:sp>
      <p:sp>
        <p:nvSpPr>
          <p:cNvPr id="26" name="Text 24"/>
          <p:cNvSpPr/>
          <p:nvPr/>
        </p:nvSpPr>
        <p:spPr>
          <a:xfrm>
            <a:off x="6400800" y="4910328"/>
            <a:ext cx="22860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Dentro de 24 horas</a:t>
            </a:r>
            <a:endParaRPr lang="en-US" sz="1100" dirty="0"/>
          </a:p>
        </p:txBody>
      </p:sp>
      <p:sp>
        <p:nvSpPr>
          <p:cNvPr id="27" name="Text 25"/>
          <p:cNvSpPr/>
          <p:nvPr/>
        </p:nvSpPr>
        <p:spPr>
          <a:xfrm>
            <a:off x="1143000" y="5303520"/>
            <a:ext cx="7406640" cy="804672"/>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Comunicate con cada referido por nombre, mencionando la conexion mutua. "Tu vecino menciono que has pensado en solar." Abre diferente que una llamada fria.</a:t>
            </a:r>
            <a:endParaRPr lang="en-US" sz="1300" dirty="0"/>
          </a:p>
        </p:txBody>
      </p:sp>
      <p:sp>
        <p:nvSpPr>
          <p:cNvPr id="28" name="Text 26"/>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4A6FA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Reputacion &amp; Presencia Online</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Construye un activo digital que genera leads inbound</a:t>
            </a:r>
            <a:endParaRPr lang="en-US" sz="1400" dirty="0"/>
          </a:p>
        </p:txBody>
      </p:sp>
      <p:sp>
        <p:nvSpPr>
          <p:cNvPr id="5" name="Shape 3"/>
          <p:cNvSpPr/>
          <p:nvPr/>
        </p:nvSpPr>
        <p:spPr>
          <a:xfrm>
            <a:off x="274320" y="987552"/>
            <a:ext cx="4297680" cy="1627632"/>
          </a:xfrm>
          <a:prstGeom prst="rect">
            <a:avLst/>
          </a:prstGeom>
          <a:solidFill>
            <a:srgbClr val="2D4472"/>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411480" y="1078992"/>
            <a:ext cx="4023360" cy="320040"/>
          </a:xfrm>
          <a:prstGeom prst="rect">
            <a:avLst/>
          </a:prstGeom>
          <a:noFill/>
          <a:ln/>
        </p:spPr>
        <p:txBody>
          <a:bodyPr wrap="square" rtlCol="0" anchor="ctr"/>
          <a:lstStyle/>
          <a:p>
            <a:pPr indent="0" marL="0">
              <a:buNone/>
            </a:pPr>
            <a:r>
              <a:rPr lang="en-US" sz="1500" b="1" dirty="0">
                <a:solidFill>
                  <a:srgbClr val="F5A623"/>
                </a:solidFill>
                <a:latin typeface="Trebuchet MS" pitchFamily="34" charset="0"/>
                <a:ea typeface="Trebuchet MS" pitchFamily="34" charset="-122"/>
                <a:cs typeface="Trebuchet MS" pitchFamily="34" charset="-120"/>
              </a:rPr>
              <a:t>Pide Resenas Google</a:t>
            </a:r>
            <a:endParaRPr lang="en-US" sz="1500" dirty="0"/>
          </a:p>
        </p:txBody>
      </p:sp>
      <p:sp>
        <p:nvSpPr>
          <p:cNvPr id="7" name="Text 5"/>
          <p:cNvSpPr/>
          <p:nvPr/>
        </p:nvSpPr>
        <p:spPr>
          <a:xfrm>
            <a:off x="411480" y="1444752"/>
            <a:ext cx="4023360" cy="105156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Despues de cada cierre, envia el link directo. Hazlo tan facil como sea posible — cada resena es un activo permanente.</a:t>
            </a:r>
            <a:endParaRPr lang="en-US" sz="1300" dirty="0"/>
          </a:p>
        </p:txBody>
      </p:sp>
      <p:sp>
        <p:nvSpPr>
          <p:cNvPr id="8" name="Shape 6"/>
          <p:cNvSpPr/>
          <p:nvPr/>
        </p:nvSpPr>
        <p:spPr>
          <a:xfrm>
            <a:off x="274320" y="2724912"/>
            <a:ext cx="4297680" cy="1627632"/>
          </a:xfrm>
          <a:prstGeom prst="rect">
            <a:avLst/>
          </a:prstGeom>
          <a:solidFill>
            <a:srgbClr val="2D4472"/>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9" name="Text 7"/>
          <p:cNvSpPr/>
          <p:nvPr/>
        </p:nvSpPr>
        <p:spPr>
          <a:xfrm>
            <a:off x="411480" y="2816352"/>
            <a:ext cx="4023360" cy="320040"/>
          </a:xfrm>
          <a:prstGeom prst="rect">
            <a:avLst/>
          </a:prstGeom>
          <a:noFill/>
          <a:ln/>
        </p:spPr>
        <p:txBody>
          <a:bodyPr wrap="square" rtlCol="0" anchor="ctr"/>
          <a:lstStyle/>
          <a:p>
            <a:pPr indent="0" marL="0">
              <a:buNone/>
            </a:pPr>
            <a:r>
              <a:rPr lang="en-US" sz="1500" b="1" dirty="0">
                <a:solidFill>
                  <a:srgbClr val="F5A623"/>
                </a:solidFill>
                <a:latin typeface="Trebuchet MS" pitchFamily="34" charset="0"/>
                <a:ea typeface="Trebuchet MS" pitchFamily="34" charset="-122"/>
                <a:cs typeface="Trebuchet MS" pitchFamily="34" charset="-120"/>
              </a:rPr>
              <a:t>Senales de Patio</a:t>
            </a:r>
            <a:endParaRPr lang="en-US" sz="1500" dirty="0"/>
          </a:p>
        </p:txBody>
      </p:sp>
      <p:sp>
        <p:nvSpPr>
          <p:cNvPr id="10" name="Text 8"/>
          <p:cNvSpPr/>
          <p:nvPr/>
        </p:nvSpPr>
        <p:spPr>
          <a:xfrm>
            <a:off x="411480" y="3182112"/>
            <a:ext cx="4023360" cy="105156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Cada instalacion completada es un anuncio pasivo. Pide permiso para dejar una senal — construye autoridad de vecindario.</a:t>
            </a:r>
            <a:endParaRPr lang="en-US" sz="1300" dirty="0"/>
          </a:p>
        </p:txBody>
      </p:sp>
      <p:sp>
        <p:nvSpPr>
          <p:cNvPr id="11" name="Shape 9"/>
          <p:cNvSpPr/>
          <p:nvPr/>
        </p:nvSpPr>
        <p:spPr>
          <a:xfrm>
            <a:off x="274320" y="4462272"/>
            <a:ext cx="4297680" cy="1627632"/>
          </a:xfrm>
          <a:prstGeom prst="rect">
            <a:avLst/>
          </a:prstGeom>
          <a:solidFill>
            <a:srgbClr val="2D4472"/>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12" name="Text 10"/>
          <p:cNvSpPr/>
          <p:nvPr/>
        </p:nvSpPr>
        <p:spPr>
          <a:xfrm>
            <a:off x="411480" y="4553712"/>
            <a:ext cx="4023360" cy="320040"/>
          </a:xfrm>
          <a:prstGeom prst="rect">
            <a:avLst/>
          </a:prstGeom>
          <a:noFill/>
          <a:ln/>
        </p:spPr>
        <p:txBody>
          <a:bodyPr wrap="square" rtlCol="0" anchor="ctr"/>
          <a:lstStyle/>
          <a:p>
            <a:pPr indent="0" marL="0">
              <a:buNone/>
            </a:pPr>
            <a:r>
              <a:rPr lang="en-US" sz="1500" b="1" dirty="0">
                <a:solidFill>
                  <a:srgbClr val="F5A623"/>
                </a:solidFill>
                <a:latin typeface="Trebuchet MS" pitchFamily="34" charset="0"/>
                <a:ea typeface="Trebuchet MS" pitchFamily="34" charset="-122"/>
                <a:cs typeface="Trebuchet MS" pitchFamily="34" charset="-120"/>
              </a:rPr>
              <a:t>Prueba Social Activa</a:t>
            </a:r>
            <a:endParaRPr lang="en-US" sz="1500" dirty="0"/>
          </a:p>
        </p:txBody>
      </p:sp>
      <p:sp>
        <p:nvSpPr>
          <p:cNvPr id="13" name="Text 11"/>
          <p:cNvSpPr/>
          <p:nvPr/>
        </p:nvSpPr>
        <p:spPr>
          <a:xfrm>
            <a:off x="411480" y="4919472"/>
            <a:ext cx="4023360" cy="105156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Comparte fotos de instalaciones (con permiso). Los prospectos que ven a vecinos reales confian mas — antes de que toques su puerta.</a:t>
            </a:r>
            <a:endParaRPr lang="en-US" sz="1300" dirty="0"/>
          </a:p>
        </p:txBody>
      </p:sp>
      <p:sp>
        <p:nvSpPr>
          <p:cNvPr id="14" name="Shape 12"/>
          <p:cNvSpPr/>
          <p:nvPr/>
        </p:nvSpPr>
        <p:spPr>
          <a:xfrm>
            <a:off x="4800600" y="987552"/>
            <a:ext cx="4069080" cy="1508760"/>
          </a:xfrm>
          <a:prstGeom prst="rect">
            <a:avLst/>
          </a:prstGeom>
          <a:solidFill>
            <a:srgbClr val="4A6FA5"/>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15" name="Text 13"/>
          <p:cNvSpPr/>
          <p:nvPr/>
        </p:nvSpPr>
        <p:spPr>
          <a:xfrm>
            <a:off x="4800600" y="987552"/>
            <a:ext cx="4069080" cy="914400"/>
          </a:xfrm>
          <a:prstGeom prst="rect">
            <a:avLst/>
          </a:prstGeom>
          <a:noFill/>
          <a:ln/>
        </p:spPr>
        <p:txBody>
          <a:bodyPr wrap="square" rtlCol="0" anchor="b"/>
          <a:lstStyle/>
          <a:p>
            <a:pPr algn="ctr" indent="0" marL="0">
              <a:buNone/>
            </a:pPr>
            <a:r>
              <a:rPr lang="en-US" sz="7200" b="1" dirty="0">
                <a:solidFill>
                  <a:srgbClr val="FFFFFF"/>
                </a:solidFill>
                <a:latin typeface="Trebuchet MS" pitchFamily="34" charset="0"/>
                <a:ea typeface="Trebuchet MS" pitchFamily="34" charset="-122"/>
                <a:cs typeface="Trebuchet MS" pitchFamily="34" charset="-120"/>
              </a:rPr>
              <a:t>47</a:t>
            </a:r>
            <a:endParaRPr lang="en-US" sz="7200" dirty="0"/>
          </a:p>
        </p:txBody>
      </p:sp>
      <p:sp>
        <p:nvSpPr>
          <p:cNvPr id="16" name="Text 14"/>
          <p:cNvSpPr/>
          <p:nvPr/>
        </p:nvSpPr>
        <p:spPr>
          <a:xfrm>
            <a:off x="4800600" y="1783080"/>
            <a:ext cx="4069080" cy="566928"/>
          </a:xfrm>
          <a:prstGeom prst="rect">
            <a:avLst/>
          </a:prstGeom>
          <a:noFill/>
          <a:ln/>
        </p:spPr>
        <p:txBody>
          <a:bodyPr wrap="square" rtlCol="0" anchor="ctr"/>
          <a:lstStyle/>
          <a:p>
            <a:pPr algn="ctr" indent="0" marL="0">
              <a:buNone/>
            </a:pPr>
            <a:r>
              <a:rPr lang="en-US" sz="1300" dirty="0">
                <a:solidFill>
                  <a:srgbClr val="F4F6FA"/>
                </a:solidFill>
                <a:latin typeface="Calibri" pitchFamily="34" charset="0"/>
                <a:ea typeface="Calibri" pitchFamily="34" charset="-122"/>
                <a:cs typeface="Calibri" pitchFamily="34" charset="-120"/>
              </a:rPr>
              <a:t>resenas de 5 estrellas = confianza antes de tocar</a:t>
            </a:r>
            <a:endParaRPr lang="en-US" sz="1300" dirty="0"/>
          </a:p>
        </p:txBody>
      </p:sp>
      <p:sp>
        <p:nvSpPr>
          <p:cNvPr id="17" name="Shape 15"/>
          <p:cNvSpPr/>
          <p:nvPr/>
        </p:nvSpPr>
        <p:spPr>
          <a:xfrm>
            <a:off x="4800600" y="2633472"/>
            <a:ext cx="4069080" cy="2194560"/>
          </a:xfrm>
          <a:prstGeom prst="rect">
            <a:avLst/>
          </a:prstGeom>
          <a:solidFill>
            <a:srgbClr val="2D4472"/>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8" name="Text 16"/>
          <p:cNvSpPr/>
          <p:nvPr/>
        </p:nvSpPr>
        <p:spPr>
          <a:xfrm>
            <a:off x="4937760" y="2724912"/>
            <a:ext cx="3749040" cy="347472"/>
          </a:xfrm>
          <a:prstGeom prst="rect">
            <a:avLst/>
          </a:prstGeom>
          <a:noFill/>
          <a:ln/>
        </p:spPr>
        <p:txBody>
          <a:bodyPr wrap="square" rtlCol="0" anchor="ctr"/>
          <a:lstStyle/>
          <a:p>
            <a:pPr indent="0" marL="0">
              <a:buNone/>
            </a:pPr>
            <a:r>
              <a:rPr lang="en-US" sz="1400" b="1" dirty="0">
                <a:solidFill>
                  <a:srgbClr val="F5A623"/>
                </a:solidFill>
                <a:latin typeface="Trebuchet MS" pitchFamily="34" charset="0"/>
                <a:ea typeface="Trebuchet MS" pitchFamily="34" charset="-122"/>
                <a:cs typeface="Trebuchet MS" pitchFamily="34" charset="-120"/>
              </a:rPr>
              <a:t>La Ecuacion de Autoridad de Vecindario</a:t>
            </a:r>
            <a:endParaRPr lang="en-US" sz="1400" dirty="0"/>
          </a:p>
        </p:txBody>
      </p:sp>
      <p:sp>
        <p:nvSpPr>
          <p:cNvPr id="19" name="Text 17"/>
          <p:cNvSpPr/>
          <p:nvPr/>
        </p:nvSpPr>
        <p:spPr>
          <a:xfrm>
            <a:off x="4937760" y="3154680"/>
            <a:ext cx="3749040" cy="329184"/>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Resenas de vecinos conocidos</a:t>
            </a:r>
            <a:endParaRPr lang="en-US" sz="1300" dirty="0"/>
          </a:p>
        </p:txBody>
      </p:sp>
      <p:sp>
        <p:nvSpPr>
          <p:cNvPr id="20" name="Text 18"/>
          <p:cNvSpPr/>
          <p:nvPr/>
        </p:nvSpPr>
        <p:spPr>
          <a:xfrm>
            <a:off x="4937760" y="3520440"/>
            <a:ext cx="3749040" cy="329184"/>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 Senales en casas cercanas</a:t>
            </a:r>
            <a:endParaRPr lang="en-US" sz="1300" dirty="0"/>
          </a:p>
        </p:txBody>
      </p:sp>
      <p:sp>
        <p:nvSpPr>
          <p:cNvPr id="21" name="Text 19"/>
          <p:cNvSpPr/>
          <p:nvPr/>
        </p:nvSpPr>
        <p:spPr>
          <a:xfrm>
            <a:off x="4937760" y="3886200"/>
            <a:ext cx="3749040" cy="329184"/>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 Foto tuya en redes</a:t>
            </a:r>
            <a:endParaRPr lang="en-US" sz="1300" dirty="0"/>
          </a:p>
        </p:txBody>
      </p:sp>
      <p:sp>
        <p:nvSpPr>
          <p:cNvPr id="22" name="Text 20"/>
          <p:cNvSpPr/>
          <p:nvPr/>
        </p:nvSpPr>
        <p:spPr>
          <a:xfrm>
            <a:off x="4937760" y="4251960"/>
            <a:ext cx="3749040" cy="329184"/>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 Confianza antes de hablar</a:t>
            </a:r>
            <a:endParaRPr lang="en-US" sz="1300" dirty="0"/>
          </a:p>
        </p:txBody>
      </p:sp>
      <p:sp>
        <p:nvSpPr>
          <p:cNvPr id="23" name="Shape 21"/>
          <p:cNvSpPr/>
          <p:nvPr/>
        </p:nvSpPr>
        <p:spPr>
          <a:xfrm>
            <a:off x="4800600" y="4965192"/>
            <a:ext cx="4069080" cy="1170432"/>
          </a:xfrm>
          <a:prstGeom prst="rect">
            <a:avLst/>
          </a:prstGeom>
          <a:solidFill>
            <a:srgbClr val="1B2A4A"/>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24" name="Text 22"/>
          <p:cNvSpPr/>
          <p:nvPr/>
        </p:nvSpPr>
        <p:spPr>
          <a:xfrm>
            <a:off x="4937760" y="5029200"/>
            <a:ext cx="3840480" cy="1005840"/>
          </a:xfrm>
          <a:prstGeom prst="rect">
            <a:avLst/>
          </a:prstGeom>
          <a:noFill/>
          <a:ln/>
        </p:spPr>
        <p:txBody>
          <a:bodyPr wrap="square" rtlCol="0" anchor="ctr"/>
          <a:lstStyle/>
          <a:p>
            <a:pPr indent="0" marL="0">
              <a:buNone/>
            </a:pPr>
            <a:r>
              <a:rPr lang="en-US" sz="1300" i="1" dirty="0">
                <a:solidFill>
                  <a:srgbClr val="F4F6FA"/>
                </a:solidFill>
                <a:latin typeface="Calibri" pitchFamily="34" charset="0"/>
                <a:ea typeface="Calibri" pitchFamily="34" charset="-122"/>
                <a:cs typeface="Calibri" pitchFamily="34" charset="-120"/>
              </a:rPr>
              <a:t>Meta a 90 Dias: 10 resenas de 5 estrellas, 5 senales de patio activas, 1 post de redes por semana.</a:t>
            </a:r>
            <a:endParaRPr lang="en-US" sz="1300" dirty="0"/>
          </a:p>
        </p:txBody>
      </p:sp>
      <p:sp>
        <p:nvSpPr>
          <p:cNvPr id="25" name="Text 23"/>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1B2A4A"/>
                </a:solidFill>
                <a:latin typeface="Trebuchet MS" pitchFamily="34" charset="0"/>
                <a:ea typeface="Trebuchet MS" pitchFamily="34" charset="-122"/>
                <a:cs typeface="Trebuchet MS" pitchFamily="34" charset="-120"/>
              </a:rPr>
              <a:t>KPI Tracking &amp; Auto-Coaching</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4A6FA5"/>
                </a:solidFill>
                <a:latin typeface="Calibri" pitchFamily="34" charset="0"/>
                <a:ea typeface="Calibri" pitchFamily="34" charset="-122"/>
                <a:cs typeface="Calibri" pitchFamily="34" charset="-120"/>
              </a:rPr>
              <a:t>Sabe exactamente donde pierde dinero tu embudo</a:t>
            </a:r>
            <a:endParaRPr lang="en-US" sz="1400" dirty="0"/>
          </a:p>
        </p:txBody>
      </p:sp>
      <p:sp>
        <p:nvSpPr>
          <p:cNvPr id="5" name="Shape 3"/>
          <p:cNvSpPr/>
          <p:nvPr/>
        </p:nvSpPr>
        <p:spPr>
          <a:xfrm>
            <a:off x="274320" y="987552"/>
            <a:ext cx="8595360" cy="749808"/>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274320" y="987552"/>
            <a:ext cx="8595360" cy="74980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Puertas Tocadas  100%</a:t>
            </a:r>
            <a:endParaRPr lang="en-US" sz="1500" dirty="0"/>
          </a:p>
        </p:txBody>
      </p:sp>
      <p:sp>
        <p:nvSpPr>
          <p:cNvPr id="7" name="Shape 5"/>
          <p:cNvSpPr/>
          <p:nvPr/>
        </p:nvSpPr>
        <p:spPr>
          <a:xfrm>
            <a:off x="1097280" y="1993392"/>
            <a:ext cx="6858000" cy="749808"/>
          </a:xfrm>
          <a:prstGeom prst="rect">
            <a:avLst/>
          </a:prstGeom>
          <a:solidFill>
            <a:srgbClr val="4A6FA5"/>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8" name="Text 6"/>
          <p:cNvSpPr/>
          <p:nvPr/>
        </p:nvSpPr>
        <p:spPr>
          <a:xfrm>
            <a:off x="1097280" y="1993392"/>
            <a:ext cx="6858000" cy="74980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Conversaciones  25-35%</a:t>
            </a:r>
            <a:endParaRPr lang="en-US" sz="1500" dirty="0"/>
          </a:p>
        </p:txBody>
      </p:sp>
      <p:sp>
        <p:nvSpPr>
          <p:cNvPr id="9" name="Shape 7"/>
          <p:cNvSpPr/>
          <p:nvPr/>
        </p:nvSpPr>
        <p:spPr>
          <a:xfrm>
            <a:off x="2011680" y="2999232"/>
            <a:ext cx="5120640" cy="749808"/>
          </a:xfrm>
          <a:prstGeom prst="rect">
            <a:avLst/>
          </a:prstGeom>
          <a:solidFill>
            <a:srgbClr val="F5A623"/>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0" name="Text 8"/>
          <p:cNvSpPr/>
          <p:nvPr/>
        </p:nvSpPr>
        <p:spPr>
          <a:xfrm>
            <a:off x="2011680" y="2999232"/>
            <a:ext cx="5120640" cy="749808"/>
          </a:xfrm>
          <a:prstGeom prst="rect">
            <a:avLst/>
          </a:prstGeom>
          <a:noFill/>
          <a:ln/>
        </p:spPr>
        <p:txBody>
          <a:bodyPr wrap="square" rtlCol="0" anchor="ctr"/>
          <a:lstStyle/>
          <a:p>
            <a:pPr algn="ctr" indent="0" marL="0">
              <a:buNone/>
            </a:pPr>
            <a:r>
              <a:rPr lang="en-US" sz="1500" b="1" dirty="0">
                <a:solidFill>
                  <a:srgbClr val="1B2A4A"/>
                </a:solidFill>
                <a:latin typeface="Trebuchet MS" pitchFamily="34" charset="0"/>
                <a:ea typeface="Trebuchet MS" pitchFamily="34" charset="-122"/>
                <a:cs typeface="Trebuchet MS" pitchFamily="34" charset="-120"/>
              </a:rPr>
              <a:t>Citas Agendadas  15-20%</a:t>
            </a:r>
            <a:endParaRPr lang="en-US" sz="1500" dirty="0"/>
          </a:p>
        </p:txBody>
      </p:sp>
      <p:sp>
        <p:nvSpPr>
          <p:cNvPr id="11" name="Shape 9"/>
          <p:cNvSpPr/>
          <p:nvPr/>
        </p:nvSpPr>
        <p:spPr>
          <a:xfrm>
            <a:off x="2788920" y="4005072"/>
            <a:ext cx="3566160" cy="749808"/>
          </a:xfrm>
          <a:prstGeom prst="rect">
            <a:avLst/>
          </a:prstGeom>
          <a:solidFill>
            <a:srgbClr val="E67E22"/>
          </a:solidFill>
          <a:ln w="12700">
            <a:solidFill>
              <a:srgbClr val="E67E22"/>
            </a:solidFill>
            <a:prstDash val="solid"/>
          </a:ln>
          <a:effectLst>
            <a:outerShdw sx="100000" sy="100000" kx="0" ky="0" algn="bl" rotWithShape="0" blurRad="76200" dist="38100" dir="8100000">
              <a:srgbClr val="000000">
                <a:alpha val="18000"/>
              </a:srgbClr>
            </a:outerShdw>
          </a:effectLst>
        </p:spPr>
      </p:sp>
      <p:sp>
        <p:nvSpPr>
          <p:cNvPr id="12" name="Text 10"/>
          <p:cNvSpPr/>
          <p:nvPr/>
        </p:nvSpPr>
        <p:spPr>
          <a:xfrm>
            <a:off x="2788920" y="4005072"/>
            <a:ext cx="3566160" cy="749808"/>
          </a:xfrm>
          <a:prstGeom prst="rect">
            <a:avLst/>
          </a:prstGeom>
          <a:noFill/>
          <a:ln/>
        </p:spPr>
        <p:txBody>
          <a:bodyPr wrap="square" rtlCol="0" anchor="ctr"/>
          <a:lstStyle/>
          <a:p>
            <a:pPr algn="ctr" indent="0" marL="0">
              <a:buNone/>
            </a:pPr>
            <a:r>
              <a:rPr lang="en-US" sz="1500" b="1" dirty="0">
                <a:solidFill>
                  <a:srgbClr val="1B2A4A"/>
                </a:solidFill>
                <a:latin typeface="Trebuchet MS" pitchFamily="34" charset="0"/>
                <a:ea typeface="Trebuchet MS" pitchFamily="34" charset="-122"/>
                <a:cs typeface="Trebuchet MS" pitchFamily="34" charset="-120"/>
              </a:rPr>
              <a:t>Citas Realizadas  12-18%</a:t>
            </a:r>
            <a:endParaRPr lang="en-US" sz="1500" dirty="0"/>
          </a:p>
        </p:txBody>
      </p:sp>
      <p:sp>
        <p:nvSpPr>
          <p:cNvPr id="13" name="Shape 11"/>
          <p:cNvSpPr/>
          <p:nvPr/>
        </p:nvSpPr>
        <p:spPr>
          <a:xfrm>
            <a:off x="3566160" y="5010912"/>
            <a:ext cx="2011680" cy="749808"/>
          </a:xfrm>
          <a:prstGeom prst="rect">
            <a:avLst/>
          </a:prstGeom>
          <a:solidFill>
            <a:srgbClr val="27AE60"/>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14" name="Text 12"/>
          <p:cNvSpPr/>
          <p:nvPr/>
        </p:nvSpPr>
        <p:spPr>
          <a:xfrm>
            <a:off x="3566160" y="5010912"/>
            <a:ext cx="2011680" cy="74980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Cierres  3-6%</a:t>
            </a:r>
            <a:endParaRPr lang="en-US" sz="1500" dirty="0"/>
          </a:p>
        </p:txBody>
      </p:sp>
      <p:sp>
        <p:nvSpPr>
          <p:cNvPr id="15" name="Shape 13"/>
          <p:cNvSpPr/>
          <p:nvPr/>
        </p:nvSpPr>
        <p:spPr>
          <a:xfrm>
            <a:off x="274320" y="6080760"/>
            <a:ext cx="8595360" cy="566928"/>
          </a:xfrm>
          <a:prstGeom prst="rect">
            <a:avLst/>
          </a:prstGeom>
          <a:solidFill>
            <a:srgbClr val="2D4472"/>
          </a:solidFill>
          <a:ln w="12700">
            <a:solidFill>
              <a:srgbClr val="2D4472"/>
            </a:solidFill>
            <a:prstDash val="solid"/>
          </a:ln>
        </p:spPr>
      </p:sp>
      <p:sp>
        <p:nvSpPr>
          <p:cNvPr id="16" name="Text 14"/>
          <p:cNvSpPr/>
          <p:nvPr/>
        </p:nvSpPr>
        <p:spPr>
          <a:xfrm>
            <a:off x="274320" y="6080760"/>
            <a:ext cx="8595360" cy="566928"/>
          </a:xfrm>
          <a:prstGeom prst="rect">
            <a:avLst/>
          </a:prstGeom>
          <a:noFill/>
          <a:ln/>
        </p:spPr>
        <p:txBody>
          <a:bodyPr wrap="square" rtlCol="0" anchor="ctr"/>
          <a:lstStyle/>
          <a:p>
            <a:pPr algn="ctr" indent="0" marL="0">
              <a:buNone/>
            </a:pPr>
            <a:r>
              <a:rPr lang="en-US" sz="1200" i="1" dirty="0">
                <a:solidFill>
                  <a:srgbClr val="F4F6FA"/>
                </a:solidFill>
                <a:latin typeface="Calibri" pitchFamily="34" charset="0"/>
                <a:ea typeface="Calibri" pitchFamily="34" charset="-122"/>
                <a:cs typeface="Calibri" pitchFamily="34" charset="-120"/>
              </a:rPr>
              <a:t>Si el embudo cae en conversaciones: mejora tu opener.  Si cae en citas: mejora tu transicion.  Si cae en cierres: practica objeciones.</a:t>
            </a:r>
            <a:endParaRPr lang="en-US" sz="1200" dirty="0"/>
          </a:p>
        </p:txBody>
      </p:sp>
      <p:sp>
        <p:nvSpPr>
          <p:cNvPr id="17" name="Text 15"/>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4A6FA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Carrera vs. Trabajo</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El efecto compuesto de la reputacion</a:t>
            </a:r>
            <a:endParaRPr lang="en-US" sz="1400" dirty="0"/>
          </a:p>
        </p:txBody>
      </p:sp>
      <p:sp>
        <p:nvSpPr>
          <p:cNvPr id="5" name="Shape 3"/>
          <p:cNvSpPr/>
          <p:nvPr/>
        </p:nvSpPr>
        <p:spPr>
          <a:xfrm>
            <a:off x="274320" y="960120"/>
            <a:ext cx="4206240" cy="420624"/>
          </a:xfrm>
          <a:prstGeom prst="rect">
            <a:avLst/>
          </a:prstGeom>
          <a:solidFill>
            <a:srgbClr val="E74C3C"/>
          </a:solidFill>
          <a:ln w="12700">
            <a:solidFill>
              <a:srgbClr val="E74C3C"/>
            </a:solidFill>
            <a:prstDash val="solid"/>
          </a:ln>
        </p:spPr>
      </p:sp>
      <p:sp>
        <p:nvSpPr>
          <p:cNvPr id="6" name="Text 4"/>
          <p:cNvSpPr/>
          <p:nvPr/>
        </p:nvSpPr>
        <p:spPr>
          <a:xfrm>
            <a:off x="274320" y="960120"/>
            <a:ext cx="4206240" cy="420624"/>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Mentalidad de Trabajo</a:t>
            </a:r>
            <a:endParaRPr lang="en-US" sz="1600" dirty="0"/>
          </a:p>
        </p:txBody>
      </p:sp>
      <p:sp>
        <p:nvSpPr>
          <p:cNvPr id="7" name="Shape 5"/>
          <p:cNvSpPr/>
          <p:nvPr/>
        </p:nvSpPr>
        <p:spPr>
          <a:xfrm>
            <a:off x="274320" y="1463040"/>
            <a:ext cx="4206240" cy="749808"/>
          </a:xfrm>
          <a:prstGeom prst="rect">
            <a:avLst/>
          </a:prstGeom>
          <a:solidFill>
            <a:srgbClr val="2D4472"/>
          </a:solidFill>
          <a:ln w="12700">
            <a:solidFill>
              <a:srgbClr val="2D4472"/>
            </a:solidFill>
            <a:prstDash val="solid"/>
          </a:ln>
        </p:spPr>
      </p:sp>
      <p:sp>
        <p:nvSpPr>
          <p:cNvPr id="8" name="Text 6"/>
          <p:cNvSpPr/>
          <p:nvPr/>
        </p:nvSpPr>
        <p:spPr>
          <a:xfrm>
            <a:off x="365760" y="1463040"/>
            <a:ext cx="502920" cy="749808"/>
          </a:xfrm>
          <a:prstGeom prst="rect">
            <a:avLst/>
          </a:prstGeom>
          <a:noFill/>
          <a:ln/>
        </p:spPr>
        <p:txBody>
          <a:bodyPr wrap="square" rtlCol="0" anchor="ctr"/>
          <a:lstStyle/>
          <a:p>
            <a:pPr indent="0" marL="0">
              <a:buNone/>
            </a:pPr>
            <a:r>
              <a:rPr lang="en-US" sz="1400" b="1" dirty="0">
                <a:solidFill>
                  <a:srgbClr val="E74C3C"/>
                </a:solidFill>
                <a:latin typeface="Trebuchet MS" pitchFamily="34" charset="0"/>
                <a:ea typeface="Trebuchet MS" pitchFamily="34" charset="-122"/>
                <a:cs typeface="Trebuchet MS" pitchFamily="34" charset="-120"/>
              </a:rPr>
              <a:t>X  </a:t>
            </a:r>
            <a:endParaRPr lang="en-US" sz="1400" dirty="0"/>
          </a:p>
        </p:txBody>
      </p:sp>
      <p:sp>
        <p:nvSpPr>
          <p:cNvPr id="9" name="Text 7"/>
          <p:cNvSpPr/>
          <p:nvPr/>
        </p:nvSpPr>
        <p:spPr>
          <a:xfrm>
            <a:off x="841248" y="1463040"/>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Cierra cualquier trato — calificacion baja</a:t>
            </a:r>
            <a:endParaRPr lang="en-US" sz="1300" dirty="0"/>
          </a:p>
        </p:txBody>
      </p:sp>
      <p:sp>
        <p:nvSpPr>
          <p:cNvPr id="10" name="Shape 8"/>
          <p:cNvSpPr/>
          <p:nvPr/>
        </p:nvSpPr>
        <p:spPr>
          <a:xfrm>
            <a:off x="274320" y="2304288"/>
            <a:ext cx="4206240" cy="749808"/>
          </a:xfrm>
          <a:prstGeom prst="rect">
            <a:avLst/>
          </a:prstGeom>
          <a:solidFill>
            <a:srgbClr val="1B2A4A"/>
          </a:solidFill>
          <a:ln w="12700">
            <a:solidFill>
              <a:srgbClr val="1B2A4A"/>
            </a:solidFill>
            <a:prstDash val="solid"/>
          </a:ln>
        </p:spPr>
      </p:sp>
      <p:sp>
        <p:nvSpPr>
          <p:cNvPr id="11" name="Text 9"/>
          <p:cNvSpPr/>
          <p:nvPr/>
        </p:nvSpPr>
        <p:spPr>
          <a:xfrm>
            <a:off x="365760" y="2304288"/>
            <a:ext cx="502920" cy="749808"/>
          </a:xfrm>
          <a:prstGeom prst="rect">
            <a:avLst/>
          </a:prstGeom>
          <a:noFill/>
          <a:ln/>
        </p:spPr>
        <p:txBody>
          <a:bodyPr wrap="square" rtlCol="0" anchor="ctr"/>
          <a:lstStyle/>
          <a:p>
            <a:pPr indent="0" marL="0">
              <a:buNone/>
            </a:pPr>
            <a:r>
              <a:rPr lang="en-US" sz="1400" b="1" dirty="0">
                <a:solidFill>
                  <a:srgbClr val="E74C3C"/>
                </a:solidFill>
                <a:latin typeface="Trebuchet MS" pitchFamily="34" charset="0"/>
                <a:ea typeface="Trebuchet MS" pitchFamily="34" charset="-122"/>
                <a:cs typeface="Trebuchet MS" pitchFamily="34" charset="-120"/>
              </a:rPr>
              <a:t>X  </a:t>
            </a:r>
            <a:endParaRPr lang="en-US" sz="1400" dirty="0"/>
          </a:p>
        </p:txBody>
      </p:sp>
      <p:sp>
        <p:nvSpPr>
          <p:cNvPr id="12" name="Text 10"/>
          <p:cNvSpPr/>
          <p:nvPr/>
        </p:nvSpPr>
        <p:spPr>
          <a:xfrm>
            <a:off x="841248" y="2304288"/>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Sobrepromete para ganar la firma</a:t>
            </a:r>
            <a:endParaRPr lang="en-US" sz="1300" dirty="0"/>
          </a:p>
        </p:txBody>
      </p:sp>
      <p:sp>
        <p:nvSpPr>
          <p:cNvPr id="13" name="Shape 11"/>
          <p:cNvSpPr/>
          <p:nvPr/>
        </p:nvSpPr>
        <p:spPr>
          <a:xfrm>
            <a:off x="274320" y="3145536"/>
            <a:ext cx="4206240" cy="749808"/>
          </a:xfrm>
          <a:prstGeom prst="rect">
            <a:avLst/>
          </a:prstGeom>
          <a:solidFill>
            <a:srgbClr val="2D4472"/>
          </a:solidFill>
          <a:ln w="12700">
            <a:solidFill>
              <a:srgbClr val="2D4472"/>
            </a:solidFill>
            <a:prstDash val="solid"/>
          </a:ln>
        </p:spPr>
      </p:sp>
      <p:sp>
        <p:nvSpPr>
          <p:cNvPr id="14" name="Text 12"/>
          <p:cNvSpPr/>
          <p:nvPr/>
        </p:nvSpPr>
        <p:spPr>
          <a:xfrm>
            <a:off x="365760" y="3145536"/>
            <a:ext cx="502920" cy="749808"/>
          </a:xfrm>
          <a:prstGeom prst="rect">
            <a:avLst/>
          </a:prstGeom>
          <a:noFill/>
          <a:ln/>
        </p:spPr>
        <p:txBody>
          <a:bodyPr wrap="square" rtlCol="0" anchor="ctr"/>
          <a:lstStyle/>
          <a:p>
            <a:pPr indent="0" marL="0">
              <a:buNone/>
            </a:pPr>
            <a:r>
              <a:rPr lang="en-US" sz="1400" b="1" dirty="0">
                <a:solidFill>
                  <a:srgbClr val="E74C3C"/>
                </a:solidFill>
                <a:latin typeface="Trebuchet MS" pitchFamily="34" charset="0"/>
                <a:ea typeface="Trebuchet MS" pitchFamily="34" charset="-122"/>
                <a:cs typeface="Trebuchet MS" pitchFamily="34" charset="-120"/>
              </a:rPr>
              <a:t>X  </a:t>
            </a:r>
            <a:endParaRPr lang="en-US" sz="1400" dirty="0"/>
          </a:p>
        </p:txBody>
      </p:sp>
      <p:sp>
        <p:nvSpPr>
          <p:cNvPr id="15" name="Text 13"/>
          <p:cNvSpPr/>
          <p:nvPr/>
        </p:nvSpPr>
        <p:spPr>
          <a:xfrm>
            <a:off x="841248" y="3145536"/>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Ignora cancelaciones y quejas</a:t>
            </a:r>
            <a:endParaRPr lang="en-US" sz="1300" dirty="0"/>
          </a:p>
        </p:txBody>
      </p:sp>
      <p:sp>
        <p:nvSpPr>
          <p:cNvPr id="16" name="Shape 14"/>
          <p:cNvSpPr/>
          <p:nvPr/>
        </p:nvSpPr>
        <p:spPr>
          <a:xfrm>
            <a:off x="274320" y="3986784"/>
            <a:ext cx="4206240" cy="749808"/>
          </a:xfrm>
          <a:prstGeom prst="rect">
            <a:avLst/>
          </a:prstGeom>
          <a:solidFill>
            <a:srgbClr val="1B2A4A"/>
          </a:solidFill>
          <a:ln w="12700">
            <a:solidFill>
              <a:srgbClr val="1B2A4A"/>
            </a:solidFill>
            <a:prstDash val="solid"/>
          </a:ln>
        </p:spPr>
      </p:sp>
      <p:sp>
        <p:nvSpPr>
          <p:cNvPr id="17" name="Text 15"/>
          <p:cNvSpPr/>
          <p:nvPr/>
        </p:nvSpPr>
        <p:spPr>
          <a:xfrm>
            <a:off x="365760" y="3986784"/>
            <a:ext cx="502920" cy="749808"/>
          </a:xfrm>
          <a:prstGeom prst="rect">
            <a:avLst/>
          </a:prstGeom>
          <a:noFill/>
          <a:ln/>
        </p:spPr>
        <p:txBody>
          <a:bodyPr wrap="square" rtlCol="0" anchor="ctr"/>
          <a:lstStyle/>
          <a:p>
            <a:pPr indent="0" marL="0">
              <a:buNone/>
            </a:pPr>
            <a:r>
              <a:rPr lang="en-US" sz="1400" b="1" dirty="0">
                <a:solidFill>
                  <a:srgbClr val="E74C3C"/>
                </a:solidFill>
                <a:latin typeface="Trebuchet MS" pitchFamily="34" charset="0"/>
                <a:ea typeface="Trebuchet MS" pitchFamily="34" charset="-122"/>
                <a:cs typeface="Trebuchet MS" pitchFamily="34" charset="-120"/>
              </a:rPr>
              <a:t>X  </a:t>
            </a:r>
            <a:endParaRPr lang="en-US" sz="1400" dirty="0"/>
          </a:p>
        </p:txBody>
      </p:sp>
      <p:sp>
        <p:nvSpPr>
          <p:cNvPr id="18" name="Text 16"/>
          <p:cNvSpPr/>
          <p:nvPr/>
        </p:nvSpPr>
        <p:spPr>
          <a:xfrm>
            <a:off x="841248" y="3986784"/>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Empieza cada mes desde cero</a:t>
            </a:r>
            <a:endParaRPr lang="en-US" sz="1300" dirty="0"/>
          </a:p>
        </p:txBody>
      </p:sp>
      <p:sp>
        <p:nvSpPr>
          <p:cNvPr id="19" name="Shape 17"/>
          <p:cNvSpPr/>
          <p:nvPr/>
        </p:nvSpPr>
        <p:spPr>
          <a:xfrm>
            <a:off x="274320" y="4828032"/>
            <a:ext cx="4206240" cy="749808"/>
          </a:xfrm>
          <a:prstGeom prst="rect">
            <a:avLst/>
          </a:prstGeom>
          <a:solidFill>
            <a:srgbClr val="2D4472"/>
          </a:solidFill>
          <a:ln w="12700">
            <a:solidFill>
              <a:srgbClr val="2D4472"/>
            </a:solidFill>
            <a:prstDash val="solid"/>
          </a:ln>
        </p:spPr>
      </p:sp>
      <p:sp>
        <p:nvSpPr>
          <p:cNvPr id="20" name="Text 18"/>
          <p:cNvSpPr/>
          <p:nvPr/>
        </p:nvSpPr>
        <p:spPr>
          <a:xfrm>
            <a:off x="365760" y="4828032"/>
            <a:ext cx="502920" cy="749808"/>
          </a:xfrm>
          <a:prstGeom prst="rect">
            <a:avLst/>
          </a:prstGeom>
          <a:noFill/>
          <a:ln/>
        </p:spPr>
        <p:txBody>
          <a:bodyPr wrap="square" rtlCol="0" anchor="ctr"/>
          <a:lstStyle/>
          <a:p>
            <a:pPr indent="0" marL="0">
              <a:buNone/>
            </a:pPr>
            <a:r>
              <a:rPr lang="en-US" sz="1400" b="1" dirty="0">
                <a:solidFill>
                  <a:srgbClr val="E74C3C"/>
                </a:solidFill>
                <a:latin typeface="Trebuchet MS" pitchFamily="34" charset="0"/>
                <a:ea typeface="Trebuchet MS" pitchFamily="34" charset="-122"/>
                <a:cs typeface="Trebuchet MS" pitchFamily="34" charset="-120"/>
              </a:rPr>
              <a:t>X  </a:t>
            </a:r>
            <a:endParaRPr lang="en-US" sz="1400" dirty="0"/>
          </a:p>
        </p:txBody>
      </p:sp>
      <p:sp>
        <p:nvSpPr>
          <p:cNvPr id="21" name="Text 19"/>
          <p:cNvSpPr/>
          <p:nvPr/>
        </p:nvSpPr>
        <p:spPr>
          <a:xfrm>
            <a:off x="841248" y="4828032"/>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Quema relaciones para llegar a numeros</a:t>
            </a:r>
            <a:endParaRPr lang="en-US" sz="1300" dirty="0"/>
          </a:p>
        </p:txBody>
      </p:sp>
      <p:sp>
        <p:nvSpPr>
          <p:cNvPr id="22" name="Shape 20"/>
          <p:cNvSpPr/>
          <p:nvPr/>
        </p:nvSpPr>
        <p:spPr>
          <a:xfrm>
            <a:off x="4663440" y="960120"/>
            <a:ext cx="4206240" cy="420624"/>
          </a:xfrm>
          <a:prstGeom prst="rect">
            <a:avLst/>
          </a:prstGeom>
          <a:solidFill>
            <a:srgbClr val="27AE60"/>
          </a:solidFill>
          <a:ln w="12700">
            <a:solidFill>
              <a:srgbClr val="27AE60"/>
            </a:solidFill>
            <a:prstDash val="solid"/>
          </a:ln>
        </p:spPr>
      </p:sp>
      <p:sp>
        <p:nvSpPr>
          <p:cNvPr id="23" name="Text 21"/>
          <p:cNvSpPr/>
          <p:nvPr/>
        </p:nvSpPr>
        <p:spPr>
          <a:xfrm>
            <a:off x="4663440" y="960120"/>
            <a:ext cx="4206240" cy="420624"/>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Mentalidad de Carrera</a:t>
            </a:r>
            <a:endParaRPr lang="en-US" sz="1600" dirty="0"/>
          </a:p>
        </p:txBody>
      </p:sp>
      <p:sp>
        <p:nvSpPr>
          <p:cNvPr id="24" name="Shape 22"/>
          <p:cNvSpPr/>
          <p:nvPr/>
        </p:nvSpPr>
        <p:spPr>
          <a:xfrm>
            <a:off x="4663440" y="1463040"/>
            <a:ext cx="4206240" cy="749808"/>
          </a:xfrm>
          <a:prstGeom prst="rect">
            <a:avLst/>
          </a:prstGeom>
          <a:solidFill>
            <a:srgbClr val="2D4472"/>
          </a:solidFill>
          <a:ln w="12700">
            <a:solidFill>
              <a:srgbClr val="2D4472"/>
            </a:solidFill>
            <a:prstDash val="solid"/>
          </a:ln>
        </p:spPr>
      </p:sp>
      <p:sp>
        <p:nvSpPr>
          <p:cNvPr id="25" name="Text 23"/>
          <p:cNvSpPr/>
          <p:nvPr/>
        </p:nvSpPr>
        <p:spPr>
          <a:xfrm>
            <a:off x="4754880" y="1463040"/>
            <a:ext cx="502920" cy="749808"/>
          </a:xfrm>
          <a:prstGeom prst="rect">
            <a:avLst/>
          </a:prstGeom>
          <a:noFill/>
          <a:ln/>
        </p:spPr>
        <p:txBody>
          <a:bodyPr wrap="square" rtlCol="0" anchor="ctr"/>
          <a:lstStyle/>
          <a:p>
            <a:pPr indent="0" marL="0">
              <a:buNone/>
            </a:pPr>
            <a:r>
              <a:rPr lang="en-US" sz="1400" b="1" dirty="0">
                <a:solidFill>
                  <a:srgbClr val="27AE60"/>
                </a:solidFill>
                <a:latin typeface="Trebuchet MS" pitchFamily="34" charset="0"/>
                <a:ea typeface="Trebuchet MS" pitchFamily="34" charset="-122"/>
                <a:cs typeface="Trebuchet MS" pitchFamily="34" charset="-120"/>
              </a:rPr>
              <a:t>OK  </a:t>
            </a:r>
            <a:endParaRPr lang="en-US" sz="1400" dirty="0"/>
          </a:p>
        </p:txBody>
      </p:sp>
      <p:sp>
        <p:nvSpPr>
          <p:cNvPr id="26" name="Text 24"/>
          <p:cNvSpPr/>
          <p:nvPr/>
        </p:nvSpPr>
        <p:spPr>
          <a:xfrm>
            <a:off x="5230368" y="1463040"/>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Califica agresivamente — clientes correctos</a:t>
            </a:r>
            <a:endParaRPr lang="en-US" sz="1300" dirty="0"/>
          </a:p>
        </p:txBody>
      </p:sp>
      <p:sp>
        <p:nvSpPr>
          <p:cNvPr id="27" name="Shape 25"/>
          <p:cNvSpPr/>
          <p:nvPr/>
        </p:nvSpPr>
        <p:spPr>
          <a:xfrm>
            <a:off x="4663440" y="2304288"/>
            <a:ext cx="4206240" cy="749808"/>
          </a:xfrm>
          <a:prstGeom prst="rect">
            <a:avLst/>
          </a:prstGeom>
          <a:solidFill>
            <a:srgbClr val="1B2A4A"/>
          </a:solidFill>
          <a:ln w="12700">
            <a:solidFill>
              <a:srgbClr val="1B2A4A"/>
            </a:solidFill>
            <a:prstDash val="solid"/>
          </a:ln>
        </p:spPr>
      </p:sp>
      <p:sp>
        <p:nvSpPr>
          <p:cNvPr id="28" name="Text 26"/>
          <p:cNvSpPr/>
          <p:nvPr/>
        </p:nvSpPr>
        <p:spPr>
          <a:xfrm>
            <a:off x="4754880" y="2304288"/>
            <a:ext cx="502920" cy="749808"/>
          </a:xfrm>
          <a:prstGeom prst="rect">
            <a:avLst/>
          </a:prstGeom>
          <a:noFill/>
          <a:ln/>
        </p:spPr>
        <p:txBody>
          <a:bodyPr wrap="square" rtlCol="0" anchor="ctr"/>
          <a:lstStyle/>
          <a:p>
            <a:pPr indent="0" marL="0">
              <a:buNone/>
            </a:pPr>
            <a:r>
              <a:rPr lang="en-US" sz="1400" b="1" dirty="0">
                <a:solidFill>
                  <a:srgbClr val="27AE60"/>
                </a:solidFill>
                <a:latin typeface="Trebuchet MS" pitchFamily="34" charset="0"/>
                <a:ea typeface="Trebuchet MS" pitchFamily="34" charset="-122"/>
                <a:cs typeface="Trebuchet MS" pitchFamily="34" charset="-120"/>
              </a:rPr>
              <a:t>OK  </a:t>
            </a:r>
            <a:endParaRPr lang="en-US" sz="1400" dirty="0"/>
          </a:p>
        </p:txBody>
      </p:sp>
      <p:sp>
        <p:nvSpPr>
          <p:cNvPr id="29" name="Text 27"/>
          <p:cNvSpPr/>
          <p:nvPr/>
        </p:nvSpPr>
        <p:spPr>
          <a:xfrm>
            <a:off x="5230368" y="2304288"/>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Cumple exactamente lo que prometes</a:t>
            </a:r>
            <a:endParaRPr lang="en-US" sz="1300" dirty="0"/>
          </a:p>
        </p:txBody>
      </p:sp>
      <p:sp>
        <p:nvSpPr>
          <p:cNvPr id="30" name="Shape 28"/>
          <p:cNvSpPr/>
          <p:nvPr/>
        </p:nvSpPr>
        <p:spPr>
          <a:xfrm>
            <a:off x="4663440" y="3145536"/>
            <a:ext cx="4206240" cy="749808"/>
          </a:xfrm>
          <a:prstGeom prst="rect">
            <a:avLst/>
          </a:prstGeom>
          <a:solidFill>
            <a:srgbClr val="2D4472"/>
          </a:solidFill>
          <a:ln w="12700">
            <a:solidFill>
              <a:srgbClr val="2D4472"/>
            </a:solidFill>
            <a:prstDash val="solid"/>
          </a:ln>
        </p:spPr>
      </p:sp>
      <p:sp>
        <p:nvSpPr>
          <p:cNvPr id="31" name="Text 29"/>
          <p:cNvSpPr/>
          <p:nvPr/>
        </p:nvSpPr>
        <p:spPr>
          <a:xfrm>
            <a:off x="4754880" y="3145536"/>
            <a:ext cx="502920" cy="749808"/>
          </a:xfrm>
          <a:prstGeom prst="rect">
            <a:avLst/>
          </a:prstGeom>
          <a:noFill/>
          <a:ln/>
        </p:spPr>
        <p:txBody>
          <a:bodyPr wrap="square" rtlCol="0" anchor="ctr"/>
          <a:lstStyle/>
          <a:p>
            <a:pPr indent="0" marL="0">
              <a:buNone/>
            </a:pPr>
            <a:r>
              <a:rPr lang="en-US" sz="1400" b="1" dirty="0">
                <a:solidFill>
                  <a:srgbClr val="27AE60"/>
                </a:solidFill>
                <a:latin typeface="Trebuchet MS" pitchFamily="34" charset="0"/>
                <a:ea typeface="Trebuchet MS" pitchFamily="34" charset="-122"/>
                <a:cs typeface="Trebuchet MS" pitchFamily="34" charset="-120"/>
              </a:rPr>
              <a:t>OK  </a:t>
            </a:r>
            <a:endParaRPr lang="en-US" sz="1400" dirty="0"/>
          </a:p>
        </p:txBody>
      </p:sp>
      <p:sp>
        <p:nvSpPr>
          <p:cNvPr id="32" name="Text 30"/>
          <p:cNvSpPr/>
          <p:nvPr/>
        </p:nvSpPr>
        <p:spPr>
          <a:xfrm>
            <a:off x="5230368" y="3145536"/>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Protocolo post-cierre en cada trato</a:t>
            </a:r>
            <a:endParaRPr lang="en-US" sz="1300" dirty="0"/>
          </a:p>
        </p:txBody>
      </p:sp>
      <p:sp>
        <p:nvSpPr>
          <p:cNvPr id="33" name="Shape 31"/>
          <p:cNvSpPr/>
          <p:nvPr/>
        </p:nvSpPr>
        <p:spPr>
          <a:xfrm>
            <a:off x="4663440" y="3986784"/>
            <a:ext cx="4206240" cy="749808"/>
          </a:xfrm>
          <a:prstGeom prst="rect">
            <a:avLst/>
          </a:prstGeom>
          <a:solidFill>
            <a:srgbClr val="1B2A4A"/>
          </a:solidFill>
          <a:ln w="12700">
            <a:solidFill>
              <a:srgbClr val="1B2A4A"/>
            </a:solidFill>
            <a:prstDash val="solid"/>
          </a:ln>
        </p:spPr>
      </p:sp>
      <p:sp>
        <p:nvSpPr>
          <p:cNvPr id="34" name="Text 32"/>
          <p:cNvSpPr/>
          <p:nvPr/>
        </p:nvSpPr>
        <p:spPr>
          <a:xfrm>
            <a:off x="4754880" y="3986784"/>
            <a:ext cx="502920" cy="749808"/>
          </a:xfrm>
          <a:prstGeom prst="rect">
            <a:avLst/>
          </a:prstGeom>
          <a:noFill/>
          <a:ln/>
        </p:spPr>
        <p:txBody>
          <a:bodyPr wrap="square" rtlCol="0" anchor="ctr"/>
          <a:lstStyle/>
          <a:p>
            <a:pPr indent="0" marL="0">
              <a:buNone/>
            </a:pPr>
            <a:r>
              <a:rPr lang="en-US" sz="1400" b="1" dirty="0">
                <a:solidFill>
                  <a:srgbClr val="27AE60"/>
                </a:solidFill>
                <a:latin typeface="Trebuchet MS" pitchFamily="34" charset="0"/>
                <a:ea typeface="Trebuchet MS" pitchFamily="34" charset="-122"/>
                <a:cs typeface="Trebuchet MS" pitchFamily="34" charset="-120"/>
              </a:rPr>
              <a:t>OK  </a:t>
            </a:r>
            <a:endParaRPr lang="en-US" sz="1400" dirty="0"/>
          </a:p>
        </p:txBody>
      </p:sp>
      <p:sp>
        <p:nvSpPr>
          <p:cNvPr id="35" name="Text 33"/>
          <p:cNvSpPr/>
          <p:nvPr/>
        </p:nvSpPr>
        <p:spPr>
          <a:xfrm>
            <a:off x="5230368" y="3986784"/>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25 cierres = 25 fuentes de referidos</a:t>
            </a:r>
            <a:endParaRPr lang="en-US" sz="1300" dirty="0"/>
          </a:p>
        </p:txBody>
      </p:sp>
      <p:sp>
        <p:nvSpPr>
          <p:cNvPr id="36" name="Shape 34"/>
          <p:cNvSpPr/>
          <p:nvPr/>
        </p:nvSpPr>
        <p:spPr>
          <a:xfrm>
            <a:off x="4663440" y="4828032"/>
            <a:ext cx="4206240" cy="749808"/>
          </a:xfrm>
          <a:prstGeom prst="rect">
            <a:avLst/>
          </a:prstGeom>
          <a:solidFill>
            <a:srgbClr val="2D4472"/>
          </a:solidFill>
          <a:ln w="12700">
            <a:solidFill>
              <a:srgbClr val="2D4472"/>
            </a:solidFill>
            <a:prstDash val="solid"/>
          </a:ln>
        </p:spPr>
      </p:sp>
      <p:sp>
        <p:nvSpPr>
          <p:cNvPr id="37" name="Text 35"/>
          <p:cNvSpPr/>
          <p:nvPr/>
        </p:nvSpPr>
        <p:spPr>
          <a:xfrm>
            <a:off x="4754880" y="4828032"/>
            <a:ext cx="502920" cy="749808"/>
          </a:xfrm>
          <a:prstGeom prst="rect">
            <a:avLst/>
          </a:prstGeom>
          <a:noFill/>
          <a:ln/>
        </p:spPr>
        <p:txBody>
          <a:bodyPr wrap="square" rtlCol="0" anchor="ctr"/>
          <a:lstStyle/>
          <a:p>
            <a:pPr indent="0" marL="0">
              <a:buNone/>
            </a:pPr>
            <a:r>
              <a:rPr lang="en-US" sz="1400" b="1" dirty="0">
                <a:solidFill>
                  <a:srgbClr val="27AE60"/>
                </a:solidFill>
                <a:latin typeface="Trebuchet MS" pitchFamily="34" charset="0"/>
                <a:ea typeface="Trebuchet MS" pitchFamily="34" charset="-122"/>
                <a:cs typeface="Trebuchet MS" pitchFamily="34" charset="-120"/>
              </a:rPr>
              <a:t>OK  </a:t>
            </a:r>
            <a:endParaRPr lang="en-US" sz="1400" dirty="0"/>
          </a:p>
        </p:txBody>
      </p:sp>
      <p:sp>
        <p:nvSpPr>
          <p:cNvPr id="38" name="Text 36"/>
          <p:cNvSpPr/>
          <p:nvPr/>
        </p:nvSpPr>
        <p:spPr>
          <a:xfrm>
            <a:off x="5230368" y="4828032"/>
            <a:ext cx="3520440" cy="749808"/>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100 cierres = negocio inbound estable</a:t>
            </a:r>
            <a:endParaRPr lang="en-US" sz="1300" dirty="0"/>
          </a:p>
        </p:txBody>
      </p:sp>
      <p:sp>
        <p:nvSpPr>
          <p:cNvPr id="39" name="Shape 37"/>
          <p:cNvSpPr/>
          <p:nvPr/>
        </p:nvSpPr>
        <p:spPr>
          <a:xfrm>
            <a:off x="274320" y="5833872"/>
            <a:ext cx="8595360" cy="658368"/>
          </a:xfrm>
          <a:prstGeom prst="rect">
            <a:avLst/>
          </a:prstGeom>
          <a:solidFill>
            <a:srgbClr val="F5A623"/>
          </a:solidFill>
          <a:ln w="12700">
            <a:solidFill>
              <a:srgbClr val="F5A623"/>
            </a:solidFill>
            <a:prstDash val="solid"/>
          </a:ln>
        </p:spPr>
      </p:sp>
      <p:sp>
        <p:nvSpPr>
          <p:cNvPr id="40" name="Text 38"/>
          <p:cNvSpPr/>
          <p:nvPr/>
        </p:nvSpPr>
        <p:spPr>
          <a:xfrm>
            <a:off x="274320" y="5833872"/>
            <a:ext cx="8595360" cy="658368"/>
          </a:xfrm>
          <a:prstGeom prst="rect">
            <a:avLst/>
          </a:prstGeom>
          <a:noFill/>
          <a:ln/>
        </p:spPr>
        <p:txBody>
          <a:bodyPr wrap="square" rtlCol="0" anchor="ctr"/>
          <a:lstStyle/>
          <a:p>
            <a:pPr algn="ctr" indent="0" marL="0">
              <a:buNone/>
            </a:pPr>
            <a:r>
              <a:rPr lang="en-US" sz="1400" b="1" i="1" dirty="0">
                <a:solidFill>
                  <a:srgbClr val="1B2A4A"/>
                </a:solidFill>
                <a:latin typeface="Trebuchet MS" pitchFamily="34" charset="0"/>
                <a:ea typeface="Trebuchet MS" pitchFamily="34" charset="-122"/>
                <a:cs typeface="Trebuchet MS" pitchFamily="34" charset="-120"/>
              </a:rPr>
              <a:t>"Trata cada cliente como una relacion de 5 anos — porque los mejores se convierten exactamente en eso."</a:t>
            </a:r>
            <a:endParaRPr lang="en-US" sz="1400" dirty="0"/>
          </a:p>
        </p:txBody>
      </p:sp>
      <p:sp>
        <p:nvSpPr>
          <p:cNvPr id="41" name="Text 39"/>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1B2A4A"/>
                </a:solidFill>
                <a:latin typeface="Trebuchet MS" pitchFamily="34" charset="0"/>
                <a:ea typeface="Trebuchet MS" pitchFamily="34" charset="-122"/>
                <a:cs typeface="Trebuchet MS" pitchFamily="34" charset="-120"/>
              </a:rPr>
              <a:t>Practica Avanzada de Escenarios</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4A6FA5"/>
                </a:solidFill>
                <a:latin typeface="Calibri" pitchFamily="34" charset="0"/>
                <a:ea typeface="Calibri" pitchFamily="34" charset="-122"/>
                <a:cs typeface="Calibri" pitchFamily="34" charset="-120"/>
              </a:rPr>
              <a:t>3 situaciones reales — dominalas antes de entrar al campo</a:t>
            </a:r>
            <a:endParaRPr lang="en-US" sz="1400" dirty="0"/>
          </a:p>
        </p:txBody>
      </p:sp>
      <p:sp>
        <p:nvSpPr>
          <p:cNvPr id="5" name="Shape 3"/>
          <p:cNvSpPr/>
          <p:nvPr/>
        </p:nvSpPr>
        <p:spPr>
          <a:xfrm>
            <a:off x="274320" y="960120"/>
            <a:ext cx="8595360" cy="1691640"/>
          </a:xfrm>
          <a:prstGeom prst="rect">
            <a:avLst/>
          </a:prstGeom>
          <a:solidFill>
            <a:srgbClr val="2D4472"/>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6" name="Shape 4"/>
          <p:cNvSpPr/>
          <p:nvPr/>
        </p:nvSpPr>
        <p:spPr>
          <a:xfrm>
            <a:off x="274320" y="960120"/>
            <a:ext cx="658368" cy="384048"/>
          </a:xfrm>
          <a:prstGeom prst="rect">
            <a:avLst/>
          </a:prstGeom>
          <a:solidFill>
            <a:srgbClr val="1B2A4A"/>
          </a:solidFill>
          <a:ln w="12700">
            <a:solidFill>
              <a:srgbClr val="1B2A4A"/>
            </a:solidFill>
            <a:prstDash val="solid"/>
          </a:ln>
        </p:spPr>
      </p:sp>
      <p:sp>
        <p:nvSpPr>
          <p:cNvPr id="7" name="Text 5"/>
          <p:cNvSpPr/>
          <p:nvPr/>
        </p:nvSpPr>
        <p:spPr>
          <a:xfrm>
            <a:off x="274320" y="960120"/>
            <a:ext cx="658368" cy="38404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987552" y="1014984"/>
            <a:ext cx="7772400" cy="310896"/>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El Investigador</a:t>
            </a:r>
            <a:endParaRPr lang="en-US" sz="1600" dirty="0"/>
          </a:p>
        </p:txBody>
      </p:sp>
      <p:sp>
        <p:nvSpPr>
          <p:cNvPr id="9" name="Text 7"/>
          <p:cNvSpPr/>
          <p:nvPr/>
        </p:nvSpPr>
        <p:spPr>
          <a:xfrm>
            <a:off x="411480" y="1380744"/>
            <a:ext cx="8229600" cy="310896"/>
          </a:xfrm>
          <a:prstGeom prst="rect">
            <a:avLst/>
          </a:prstGeom>
          <a:noFill/>
          <a:ln/>
        </p:spPr>
        <p:txBody>
          <a:bodyPr wrap="square" rtlCol="0" anchor="ctr"/>
          <a:lstStyle/>
          <a:p>
            <a:pPr indent="0" marL="0">
              <a:buNone/>
            </a:pPr>
            <a:r>
              <a:rPr lang="en-US" sz="1200" i="1" dirty="0">
                <a:solidFill>
                  <a:srgbClr val="8A9BB5"/>
                </a:solidFill>
                <a:latin typeface="Calibri" pitchFamily="34" charset="0"/>
                <a:ea typeface="Calibri" pitchFamily="34" charset="-122"/>
                <a:cs typeface="Calibri" pitchFamily="34" charset="-120"/>
              </a:rPr>
              <a:t>Reto: Ha investigado NEM 3.0, tarifas de dealer y curvas de degradacion.</a:t>
            </a:r>
            <a:endParaRPr lang="en-US" sz="1200" dirty="0"/>
          </a:p>
        </p:txBody>
      </p:sp>
      <p:sp>
        <p:nvSpPr>
          <p:cNvPr id="10" name="Text 8"/>
          <p:cNvSpPr/>
          <p:nvPr/>
        </p:nvSpPr>
        <p:spPr>
          <a:xfrm>
            <a:off x="411480" y="1709928"/>
            <a:ext cx="8229600" cy="86868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No repitas lo basico. Pregunta que ya aprendio y donde estan sus vacios. Usa lenguaje tecnico. Admite cuando necesitas confirmar cifras. Luego: "Con todo lo que has investigado, que es lo unico que todavia te detiene?"</a:t>
            </a:r>
            <a:endParaRPr lang="en-US" sz="1300" dirty="0"/>
          </a:p>
        </p:txBody>
      </p:sp>
      <p:sp>
        <p:nvSpPr>
          <p:cNvPr id="11" name="Shape 9"/>
          <p:cNvSpPr/>
          <p:nvPr/>
        </p:nvSpPr>
        <p:spPr>
          <a:xfrm>
            <a:off x="274320" y="2770632"/>
            <a:ext cx="8595360" cy="1691640"/>
          </a:xfrm>
          <a:prstGeom prst="rect">
            <a:avLst/>
          </a:prstGeom>
          <a:solidFill>
            <a:srgbClr val="2D4472"/>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12" name="Shape 10"/>
          <p:cNvSpPr/>
          <p:nvPr/>
        </p:nvSpPr>
        <p:spPr>
          <a:xfrm>
            <a:off x="274320" y="2770632"/>
            <a:ext cx="658368" cy="384048"/>
          </a:xfrm>
          <a:prstGeom prst="rect">
            <a:avLst/>
          </a:prstGeom>
          <a:solidFill>
            <a:srgbClr val="4A6FA5"/>
          </a:solidFill>
          <a:ln w="12700">
            <a:solidFill>
              <a:srgbClr val="4A6FA5"/>
            </a:solidFill>
            <a:prstDash val="solid"/>
          </a:ln>
        </p:spPr>
      </p:sp>
      <p:sp>
        <p:nvSpPr>
          <p:cNvPr id="13" name="Text 11"/>
          <p:cNvSpPr/>
          <p:nvPr/>
        </p:nvSpPr>
        <p:spPr>
          <a:xfrm>
            <a:off x="274320" y="2770632"/>
            <a:ext cx="658368" cy="38404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02</a:t>
            </a:r>
            <a:endParaRPr lang="en-US" sz="1600" dirty="0"/>
          </a:p>
        </p:txBody>
      </p:sp>
      <p:sp>
        <p:nvSpPr>
          <p:cNvPr id="14" name="Text 12"/>
          <p:cNvSpPr/>
          <p:nvPr/>
        </p:nvSpPr>
        <p:spPr>
          <a:xfrm>
            <a:off x="987552" y="2825496"/>
            <a:ext cx="7772400" cy="310896"/>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La Pareja Dividida</a:t>
            </a:r>
            <a:endParaRPr lang="en-US" sz="1600" dirty="0"/>
          </a:p>
        </p:txBody>
      </p:sp>
      <p:sp>
        <p:nvSpPr>
          <p:cNvPr id="15" name="Text 13"/>
          <p:cNvSpPr/>
          <p:nvPr/>
        </p:nvSpPr>
        <p:spPr>
          <a:xfrm>
            <a:off x="411480" y="3191256"/>
            <a:ext cx="8229600" cy="310896"/>
          </a:xfrm>
          <a:prstGeom prst="rect">
            <a:avLst/>
          </a:prstGeom>
          <a:noFill/>
          <a:ln/>
        </p:spPr>
        <p:txBody>
          <a:bodyPr wrap="square" rtlCol="0" anchor="ctr"/>
          <a:lstStyle/>
          <a:p>
            <a:pPr indent="0" marL="0">
              <a:buNone/>
            </a:pPr>
            <a:r>
              <a:rPr lang="en-US" sz="1200" i="1" dirty="0">
                <a:solidFill>
                  <a:srgbClr val="8A9BB5"/>
                </a:solidFill>
                <a:latin typeface="Calibri" pitchFamily="34" charset="0"/>
                <a:ea typeface="Calibri" pitchFamily="34" charset="-122"/>
                <a:cs typeface="Calibri" pitchFamily="34" charset="-120"/>
              </a:rPr>
              <a:t>Reto: El esposo quiere solar. La esposa es esceptica — experiencia previa con contratista.</a:t>
            </a:r>
            <a:endParaRPr lang="en-US" sz="1200" dirty="0"/>
          </a:p>
        </p:txBody>
      </p:sp>
      <p:sp>
        <p:nvSpPr>
          <p:cNvPr id="16" name="Text 14"/>
          <p:cNvSpPr/>
          <p:nvPr/>
        </p:nvSpPr>
        <p:spPr>
          <a:xfrm>
            <a:off x="411480" y="3520440"/>
            <a:ext cx="8229600" cy="86868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Equilibra el entusiasmo del esposo con generar confianza en la esposa. Valida ambas perspectivas. Haz que la esposa se sienta escuchada antes de sentirse vendida. Su confianza es la llave del trato.</a:t>
            </a:r>
            <a:endParaRPr lang="en-US" sz="1300" dirty="0"/>
          </a:p>
        </p:txBody>
      </p:sp>
      <p:sp>
        <p:nvSpPr>
          <p:cNvPr id="17" name="Shape 15"/>
          <p:cNvSpPr/>
          <p:nvPr/>
        </p:nvSpPr>
        <p:spPr>
          <a:xfrm>
            <a:off x="274320" y="4581144"/>
            <a:ext cx="8595360" cy="1691640"/>
          </a:xfrm>
          <a:prstGeom prst="rect">
            <a:avLst/>
          </a:prstGeom>
          <a:solidFill>
            <a:srgbClr val="2D4472"/>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18" name="Shape 16"/>
          <p:cNvSpPr/>
          <p:nvPr/>
        </p:nvSpPr>
        <p:spPr>
          <a:xfrm>
            <a:off x="274320" y="4581144"/>
            <a:ext cx="658368" cy="384048"/>
          </a:xfrm>
          <a:prstGeom prst="rect">
            <a:avLst/>
          </a:prstGeom>
          <a:solidFill>
            <a:srgbClr val="27AE60"/>
          </a:solidFill>
          <a:ln w="12700">
            <a:solidFill>
              <a:srgbClr val="27AE60"/>
            </a:solidFill>
            <a:prstDash val="solid"/>
          </a:ln>
        </p:spPr>
      </p:sp>
      <p:sp>
        <p:nvSpPr>
          <p:cNvPr id="19" name="Text 17"/>
          <p:cNvSpPr/>
          <p:nvPr/>
        </p:nvSpPr>
        <p:spPr>
          <a:xfrm>
            <a:off x="274320" y="4581144"/>
            <a:ext cx="658368" cy="384048"/>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03</a:t>
            </a:r>
            <a:endParaRPr lang="en-US" sz="1600" dirty="0"/>
          </a:p>
        </p:txBody>
      </p:sp>
      <p:sp>
        <p:nvSpPr>
          <p:cNvPr id="20" name="Text 18"/>
          <p:cNvSpPr/>
          <p:nvPr/>
        </p:nvSpPr>
        <p:spPr>
          <a:xfrm>
            <a:off x="987552" y="4636008"/>
            <a:ext cx="7772400" cy="310896"/>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La Cotizacion Competidora</a:t>
            </a:r>
            <a:endParaRPr lang="en-US" sz="1600" dirty="0"/>
          </a:p>
        </p:txBody>
      </p:sp>
      <p:sp>
        <p:nvSpPr>
          <p:cNvPr id="21" name="Text 19"/>
          <p:cNvSpPr/>
          <p:nvPr/>
        </p:nvSpPr>
        <p:spPr>
          <a:xfrm>
            <a:off x="411480" y="5001768"/>
            <a:ext cx="8229600" cy="310896"/>
          </a:xfrm>
          <a:prstGeom prst="rect">
            <a:avLst/>
          </a:prstGeom>
          <a:noFill/>
          <a:ln/>
        </p:spPr>
        <p:txBody>
          <a:bodyPr wrap="square" rtlCol="0" anchor="ctr"/>
          <a:lstStyle/>
          <a:p>
            <a:pPr indent="0" marL="0">
              <a:buNone/>
            </a:pPr>
            <a:r>
              <a:rPr lang="en-US" sz="1200" i="1" dirty="0">
                <a:solidFill>
                  <a:srgbClr val="8A9BB5"/>
                </a:solidFill>
                <a:latin typeface="Calibri" pitchFamily="34" charset="0"/>
                <a:ea typeface="Calibri" pitchFamily="34" charset="-122"/>
                <a:cs typeface="Calibri" pitchFamily="34" charset="-120"/>
              </a:rPr>
              <a:t>Reto: Referido motivado — pero tiene una cotizacion $8,000 mas barata.</a:t>
            </a:r>
            <a:endParaRPr lang="en-US" sz="1200" dirty="0"/>
          </a:p>
        </p:txBody>
      </p:sp>
      <p:sp>
        <p:nvSpPr>
          <p:cNvPr id="22" name="Text 20"/>
          <p:cNvSpPr/>
          <p:nvPr/>
        </p:nvSpPr>
        <p:spPr>
          <a:xfrm>
            <a:off x="411480" y="5330952"/>
            <a:ext cx="8229600" cy="86868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Nunca bajes el precio de inmediato. Guia la comparacion: paneles, inversor, garantia, instalador, monitoreo, politica de cancelacion. $8,000 de diferencia no significa nada si la empresa no existe en 5 anos.</a:t>
            </a:r>
            <a:endParaRPr lang="en-US" sz="1300" dirty="0"/>
          </a:p>
        </p:txBody>
      </p:sp>
      <p:sp>
        <p:nvSpPr>
          <p:cNvPr id="23" name="Text 21"/>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4A6FA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Examen de Certificacion</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50 preguntas — necesitas 80% o mas para aprobar</a:t>
            </a:r>
            <a:endParaRPr lang="en-US" sz="1400" dirty="0"/>
          </a:p>
        </p:txBody>
      </p:sp>
      <p:sp>
        <p:nvSpPr>
          <p:cNvPr id="5" name="Shape 3"/>
          <p:cNvSpPr/>
          <p:nvPr/>
        </p:nvSpPr>
        <p:spPr>
          <a:xfrm>
            <a:off x="274320" y="1005840"/>
            <a:ext cx="4114800" cy="1508760"/>
          </a:xfrm>
          <a:prstGeom prst="rect">
            <a:avLst/>
          </a:prstGeom>
          <a:solidFill>
            <a:srgbClr val="4A6FA5"/>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274320" y="1078992"/>
            <a:ext cx="4114800" cy="54864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20%</a:t>
            </a:r>
            <a:endParaRPr lang="en-US" sz="3600" dirty="0"/>
          </a:p>
        </p:txBody>
      </p:sp>
      <p:sp>
        <p:nvSpPr>
          <p:cNvPr id="7" name="Text 5"/>
          <p:cNvSpPr/>
          <p:nvPr/>
        </p:nvSpPr>
        <p:spPr>
          <a:xfrm>
            <a:off x="274320" y="1664208"/>
            <a:ext cx="4114800" cy="7772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Tecnologia Solar</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&amp; Componentes</a:t>
            </a:r>
            <a:endParaRPr lang="en-US" sz="1400" dirty="0"/>
          </a:p>
        </p:txBody>
      </p:sp>
      <p:sp>
        <p:nvSpPr>
          <p:cNvPr id="8" name="Shape 6"/>
          <p:cNvSpPr/>
          <p:nvPr/>
        </p:nvSpPr>
        <p:spPr>
          <a:xfrm>
            <a:off x="4754880" y="1005840"/>
            <a:ext cx="4114800" cy="1508760"/>
          </a:xfrm>
          <a:prstGeom prst="rect">
            <a:avLst/>
          </a:prstGeom>
          <a:solidFill>
            <a:srgbClr val="4A6FA5"/>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9" name="Text 7"/>
          <p:cNvSpPr/>
          <p:nvPr/>
        </p:nvSpPr>
        <p:spPr>
          <a:xfrm>
            <a:off x="4754880" y="1078992"/>
            <a:ext cx="4114800" cy="54864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20%</a:t>
            </a:r>
            <a:endParaRPr lang="en-US" sz="3600" dirty="0"/>
          </a:p>
        </p:txBody>
      </p:sp>
      <p:sp>
        <p:nvSpPr>
          <p:cNvPr id="10" name="Text 8"/>
          <p:cNvSpPr/>
          <p:nvPr/>
        </p:nvSpPr>
        <p:spPr>
          <a:xfrm>
            <a:off x="4754880" y="1664208"/>
            <a:ext cx="4114800" cy="7772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Analisis de Facturas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&amp; Financiamiento</a:t>
            </a:r>
            <a:endParaRPr lang="en-US" sz="1400" dirty="0"/>
          </a:p>
        </p:txBody>
      </p:sp>
      <p:sp>
        <p:nvSpPr>
          <p:cNvPr id="11" name="Shape 9"/>
          <p:cNvSpPr/>
          <p:nvPr/>
        </p:nvSpPr>
        <p:spPr>
          <a:xfrm>
            <a:off x="274320" y="2651760"/>
            <a:ext cx="4114800" cy="1508760"/>
          </a:xfrm>
          <a:prstGeom prst="rect">
            <a:avLst/>
          </a:prstGeom>
          <a:solidFill>
            <a:srgbClr val="F5A623"/>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2" name="Text 10"/>
          <p:cNvSpPr/>
          <p:nvPr/>
        </p:nvSpPr>
        <p:spPr>
          <a:xfrm>
            <a:off x="274320" y="2724912"/>
            <a:ext cx="4114800" cy="548640"/>
          </a:xfrm>
          <a:prstGeom prst="rect">
            <a:avLst/>
          </a:prstGeom>
          <a:noFill/>
          <a:ln/>
        </p:spPr>
        <p:txBody>
          <a:bodyPr wrap="square" rtlCol="0" anchor="ctr"/>
          <a:lstStyle/>
          <a:p>
            <a:pPr algn="ctr" indent="0" marL="0">
              <a:buNone/>
            </a:pPr>
            <a:r>
              <a:rPr lang="en-US" sz="3600" b="1" dirty="0">
                <a:solidFill>
                  <a:srgbClr val="1B2A4A"/>
                </a:solidFill>
                <a:latin typeface="Trebuchet MS" pitchFamily="34" charset="0"/>
                <a:ea typeface="Trebuchet MS" pitchFamily="34" charset="-122"/>
                <a:cs typeface="Trebuchet MS" pitchFamily="34" charset="-120"/>
              </a:rPr>
              <a:t>20%</a:t>
            </a:r>
            <a:endParaRPr lang="en-US" sz="3600" dirty="0"/>
          </a:p>
        </p:txBody>
      </p:sp>
      <p:sp>
        <p:nvSpPr>
          <p:cNvPr id="13" name="Text 11"/>
          <p:cNvSpPr/>
          <p:nvPr/>
        </p:nvSpPr>
        <p:spPr>
          <a:xfrm>
            <a:off x="274320" y="3310128"/>
            <a:ext cx="4114800" cy="777240"/>
          </a:xfrm>
          <a:prstGeom prst="rect">
            <a:avLst/>
          </a:prstGeom>
          <a:noFill/>
          <a:ln/>
        </p:spPr>
        <p:txBody>
          <a:bodyPr wrap="square"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Psicologia del Hogar</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&amp; Marco BOLT</a:t>
            </a:r>
            <a:endParaRPr lang="en-US" sz="1400" dirty="0"/>
          </a:p>
        </p:txBody>
      </p:sp>
      <p:sp>
        <p:nvSpPr>
          <p:cNvPr id="14" name="Shape 12"/>
          <p:cNvSpPr/>
          <p:nvPr/>
        </p:nvSpPr>
        <p:spPr>
          <a:xfrm>
            <a:off x="4754880" y="2651760"/>
            <a:ext cx="4114800" cy="1508760"/>
          </a:xfrm>
          <a:prstGeom prst="rect">
            <a:avLst/>
          </a:prstGeom>
          <a:solidFill>
            <a:srgbClr val="F5A623"/>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5" name="Text 13"/>
          <p:cNvSpPr/>
          <p:nvPr/>
        </p:nvSpPr>
        <p:spPr>
          <a:xfrm>
            <a:off x="4754880" y="2724912"/>
            <a:ext cx="4114800" cy="548640"/>
          </a:xfrm>
          <a:prstGeom prst="rect">
            <a:avLst/>
          </a:prstGeom>
          <a:noFill/>
          <a:ln/>
        </p:spPr>
        <p:txBody>
          <a:bodyPr wrap="square" rtlCol="0" anchor="ctr"/>
          <a:lstStyle/>
          <a:p>
            <a:pPr algn="ctr" indent="0" marL="0">
              <a:buNone/>
            </a:pPr>
            <a:r>
              <a:rPr lang="en-US" sz="3600" b="1" dirty="0">
                <a:solidFill>
                  <a:srgbClr val="1B2A4A"/>
                </a:solidFill>
                <a:latin typeface="Trebuchet MS" pitchFamily="34" charset="0"/>
                <a:ea typeface="Trebuchet MS" pitchFamily="34" charset="-122"/>
                <a:cs typeface="Trebuchet MS" pitchFamily="34" charset="-120"/>
              </a:rPr>
              <a:t>25%</a:t>
            </a:r>
            <a:endParaRPr lang="en-US" sz="3600" dirty="0"/>
          </a:p>
        </p:txBody>
      </p:sp>
      <p:sp>
        <p:nvSpPr>
          <p:cNvPr id="16" name="Text 14"/>
          <p:cNvSpPr/>
          <p:nvPr/>
        </p:nvSpPr>
        <p:spPr>
          <a:xfrm>
            <a:off x="4754880" y="3310128"/>
            <a:ext cx="4114800" cy="777240"/>
          </a:xfrm>
          <a:prstGeom prst="rect">
            <a:avLst/>
          </a:prstGeom>
          <a:noFill/>
          <a:ln/>
        </p:spPr>
        <p:txBody>
          <a:bodyPr wrap="square"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Objeciones</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&amp; Cierre</a:t>
            </a:r>
            <a:endParaRPr lang="en-US" sz="1400" dirty="0"/>
          </a:p>
        </p:txBody>
      </p:sp>
      <p:sp>
        <p:nvSpPr>
          <p:cNvPr id="17" name="Shape 15"/>
          <p:cNvSpPr/>
          <p:nvPr/>
        </p:nvSpPr>
        <p:spPr>
          <a:xfrm>
            <a:off x="274320" y="4297680"/>
            <a:ext cx="8595360" cy="1371600"/>
          </a:xfrm>
          <a:prstGeom prst="rect">
            <a:avLst/>
          </a:prstGeom>
          <a:solidFill>
            <a:srgbClr val="27AE60"/>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18" name="Text 16"/>
          <p:cNvSpPr/>
          <p:nvPr/>
        </p:nvSpPr>
        <p:spPr>
          <a:xfrm>
            <a:off x="274320" y="4370832"/>
            <a:ext cx="8595360" cy="54864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15%</a:t>
            </a:r>
            <a:endParaRPr lang="en-US" sz="3600" dirty="0"/>
          </a:p>
        </p:txBody>
      </p:sp>
      <p:sp>
        <p:nvSpPr>
          <p:cNvPr id="19" name="Text 17"/>
          <p:cNvSpPr/>
          <p:nvPr/>
        </p:nvSpPr>
        <p:spPr>
          <a:xfrm>
            <a:off x="274320" y="4956048"/>
            <a:ext cx="8595360" cy="7772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Cumplimiento</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&amp; Etica</a:t>
            </a:r>
            <a:endParaRPr lang="en-US" sz="1400" dirty="0"/>
          </a:p>
        </p:txBody>
      </p:sp>
      <p:sp>
        <p:nvSpPr>
          <p:cNvPr id="20" name="Shape 18"/>
          <p:cNvSpPr/>
          <p:nvPr/>
        </p:nvSpPr>
        <p:spPr>
          <a:xfrm>
            <a:off x="274320" y="5788152"/>
            <a:ext cx="8595360" cy="530352"/>
          </a:xfrm>
          <a:prstGeom prst="rect">
            <a:avLst/>
          </a:prstGeom>
          <a:solidFill>
            <a:srgbClr val="2D4472"/>
          </a:solidFill>
          <a:ln w="12700">
            <a:solidFill>
              <a:srgbClr val="2D4472"/>
            </a:solidFill>
            <a:prstDash val="solid"/>
          </a:ln>
        </p:spPr>
      </p:sp>
      <p:sp>
        <p:nvSpPr>
          <p:cNvPr id="21" name="Text 19"/>
          <p:cNvSpPr/>
          <p:nvPr/>
        </p:nvSpPr>
        <p:spPr>
          <a:xfrm>
            <a:off x="274320" y="5788152"/>
            <a:ext cx="8595360" cy="530352"/>
          </a:xfrm>
          <a:prstGeom prst="rect">
            <a:avLst/>
          </a:prstGeom>
          <a:noFill/>
          <a:ln/>
        </p:spPr>
        <p:txBody>
          <a:bodyPr wrap="square" rtlCol="0" anchor="ctr"/>
          <a:lstStyle/>
          <a:p>
            <a:pPr algn="ctr" indent="0" marL="0">
              <a:buNone/>
            </a:pPr>
            <a:r>
              <a:rPr lang="en-US" sz="1200" i="1" dirty="0">
                <a:solidFill>
                  <a:srgbClr val="8A9BB5"/>
                </a:solidFill>
                <a:latin typeface="Calibri" pitchFamily="34" charset="0"/>
                <a:ea typeface="Calibri" pitchFamily="34" charset="-122"/>
                <a:cs typeface="Calibri" pitchFamily="34" charset="-120"/>
              </a:rPr>
              <a:t>Este no es el examen que pasas estudiando la noche anterior — es el que pasas por estar presente los 6 dias.</a:t>
            </a:r>
            <a:endParaRPr lang="en-US" sz="1200" dirty="0"/>
          </a:p>
        </p:txBody>
      </p:sp>
      <p:sp>
        <p:nvSpPr>
          <p:cNvPr id="22" name="Text 20"/>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1B2A4A"/>
                </a:solidFill>
                <a:latin typeface="Trebuchet MS" pitchFamily="34" charset="0"/>
                <a:ea typeface="Trebuchet MS" pitchFamily="34" charset="-122"/>
                <a:cs typeface="Trebuchet MS" pitchFamily="34" charset="-120"/>
              </a:rPr>
              <a:t>Tu Pipeline de Ingresos Futura</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4A6FA5"/>
                </a:solidFill>
                <a:latin typeface="Calibri" pitchFamily="34" charset="0"/>
                <a:ea typeface="Calibri" pitchFamily="34" charset="-122"/>
                <a:cs typeface="Calibri" pitchFamily="34" charset="-120"/>
              </a:rPr>
              <a:t>De golpear puertas a generar inbound — paso a paso</a:t>
            </a:r>
            <a:endParaRPr lang="en-US" sz="1400" dirty="0"/>
          </a:p>
        </p:txBody>
      </p:sp>
      <p:sp>
        <p:nvSpPr>
          <p:cNvPr id="5" name="Shape 3"/>
          <p:cNvSpPr/>
          <p:nvPr/>
        </p:nvSpPr>
        <p:spPr>
          <a:xfrm>
            <a:off x="274320" y="1024128"/>
            <a:ext cx="8595360" cy="1463040"/>
          </a:xfrm>
          <a:prstGeom prst="rect">
            <a:avLst/>
          </a:prstGeom>
          <a:solidFill>
            <a:srgbClr val="2D4472"/>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365760" y="1069848"/>
            <a:ext cx="2011680" cy="1280160"/>
          </a:xfrm>
          <a:prstGeom prst="rect">
            <a:avLst/>
          </a:prstGeom>
          <a:noFill/>
          <a:ln/>
        </p:spPr>
        <p:txBody>
          <a:bodyPr wrap="square" rtlCol="0" anchor="ctr"/>
          <a:lstStyle/>
          <a:p>
            <a:pPr algn="ctr" indent="0" marL="0">
              <a:buNone/>
            </a:pPr>
            <a:r>
              <a:rPr lang="en-US" sz="5200" b="1" dirty="0">
                <a:solidFill>
                  <a:srgbClr val="F5A623"/>
                </a:solidFill>
                <a:latin typeface="Trebuchet MS" pitchFamily="34" charset="0"/>
                <a:ea typeface="Trebuchet MS" pitchFamily="34" charset="-122"/>
                <a:cs typeface="Trebuchet MS" pitchFamily="34" charset="-120"/>
              </a:rPr>
              <a:t>25</a:t>
            </a:r>
            <a:endParaRPr lang="en-US" sz="5200" dirty="0"/>
          </a:p>
        </p:txBody>
      </p:sp>
      <p:sp>
        <p:nvSpPr>
          <p:cNvPr id="7" name="Shape 5"/>
          <p:cNvSpPr/>
          <p:nvPr/>
        </p:nvSpPr>
        <p:spPr>
          <a:xfrm>
            <a:off x="2468880" y="1207008"/>
            <a:ext cx="45720" cy="1051560"/>
          </a:xfrm>
          <a:prstGeom prst="rect">
            <a:avLst/>
          </a:prstGeom>
          <a:solidFill>
            <a:srgbClr val="4A6FA5"/>
          </a:solidFill>
          <a:ln w="12700">
            <a:solidFill>
              <a:srgbClr val="4A6FA5"/>
            </a:solidFill>
            <a:prstDash val="solid"/>
          </a:ln>
        </p:spPr>
      </p:sp>
      <p:sp>
        <p:nvSpPr>
          <p:cNvPr id="8" name="Text 6"/>
          <p:cNvSpPr/>
          <p:nvPr/>
        </p:nvSpPr>
        <p:spPr>
          <a:xfrm>
            <a:off x="2606040" y="1133856"/>
            <a:ext cx="2286000" cy="384048"/>
          </a:xfrm>
          <a:prstGeom prst="rect">
            <a:avLst/>
          </a:prstGeom>
          <a:noFill/>
          <a:ln/>
        </p:spPr>
        <p:txBody>
          <a:bodyPr wrap="square" rtlCol="0" anchor="ctr"/>
          <a:lstStyle/>
          <a:p>
            <a:pPr indent="0" marL="0">
              <a:buNone/>
            </a:pPr>
            <a:r>
              <a:rPr lang="en-US" sz="1800" b="1" dirty="0">
                <a:solidFill>
                  <a:srgbClr val="F5A623"/>
                </a:solidFill>
                <a:latin typeface="Trebuchet MS" pitchFamily="34" charset="0"/>
                <a:ea typeface="Trebuchet MS" pitchFamily="34" charset="-122"/>
                <a:cs typeface="Trebuchet MS" pitchFamily="34" charset="-120"/>
              </a:rPr>
              <a:t>Cierres</a:t>
            </a:r>
            <a:endParaRPr lang="en-US" sz="1800" dirty="0"/>
          </a:p>
        </p:txBody>
      </p:sp>
      <p:sp>
        <p:nvSpPr>
          <p:cNvPr id="9" name="Text 7"/>
          <p:cNvSpPr/>
          <p:nvPr/>
        </p:nvSpPr>
        <p:spPr>
          <a:xfrm>
            <a:off x="2057400" y="1527048"/>
            <a:ext cx="6583680" cy="868680"/>
          </a:xfrm>
          <a:prstGeom prst="rect">
            <a:avLst/>
          </a:prstGeom>
          <a:noFill/>
          <a:ln/>
        </p:spPr>
        <p:txBody>
          <a:bodyPr wrap="square" rtlCol="0" anchor="ctr"/>
          <a:lstStyle/>
          <a:p>
            <a:pPr indent="0" marL="0">
              <a:buNone/>
            </a:pPr>
            <a:r>
              <a:rPr lang="en-US" sz="1400" dirty="0">
                <a:solidFill>
                  <a:srgbClr val="F4F6FA"/>
                </a:solidFill>
                <a:latin typeface="Calibri" pitchFamily="34" charset="0"/>
                <a:ea typeface="Calibri" pitchFamily="34" charset="-122"/>
                <a:cs typeface="Calibri" pitchFamily="34" charset="-120"/>
              </a:rPr>
              <a:t>25 fuentes de referidos potenciales. Tu reputacion empieza a correr sola.</a:t>
            </a:r>
            <a:endParaRPr lang="en-US" sz="1400" dirty="0"/>
          </a:p>
        </p:txBody>
      </p:sp>
      <p:sp>
        <p:nvSpPr>
          <p:cNvPr id="10" name="Shape 8"/>
          <p:cNvSpPr/>
          <p:nvPr/>
        </p:nvSpPr>
        <p:spPr>
          <a:xfrm>
            <a:off x="274320" y="2624328"/>
            <a:ext cx="8595360" cy="1463040"/>
          </a:xfrm>
          <a:prstGeom prst="rect">
            <a:avLst/>
          </a:prstGeom>
          <a:solidFill>
            <a:srgbClr val="2D4472"/>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11" name="Text 9"/>
          <p:cNvSpPr/>
          <p:nvPr/>
        </p:nvSpPr>
        <p:spPr>
          <a:xfrm>
            <a:off x="365760" y="2670048"/>
            <a:ext cx="2011680" cy="1280160"/>
          </a:xfrm>
          <a:prstGeom prst="rect">
            <a:avLst/>
          </a:prstGeom>
          <a:noFill/>
          <a:ln/>
        </p:spPr>
        <p:txBody>
          <a:bodyPr wrap="square" rtlCol="0" anchor="ctr"/>
          <a:lstStyle/>
          <a:p>
            <a:pPr algn="ctr" indent="0" marL="0">
              <a:buNone/>
            </a:pPr>
            <a:r>
              <a:rPr lang="en-US" sz="5200" b="1" dirty="0">
                <a:solidFill>
                  <a:srgbClr val="F5A623"/>
                </a:solidFill>
                <a:latin typeface="Trebuchet MS" pitchFamily="34" charset="0"/>
                <a:ea typeface="Trebuchet MS" pitchFamily="34" charset="-122"/>
                <a:cs typeface="Trebuchet MS" pitchFamily="34" charset="-120"/>
              </a:rPr>
              <a:t>50</a:t>
            </a:r>
            <a:endParaRPr lang="en-US" sz="5200" dirty="0"/>
          </a:p>
        </p:txBody>
      </p:sp>
      <p:sp>
        <p:nvSpPr>
          <p:cNvPr id="12" name="Shape 10"/>
          <p:cNvSpPr/>
          <p:nvPr/>
        </p:nvSpPr>
        <p:spPr>
          <a:xfrm>
            <a:off x="2468880" y="2807208"/>
            <a:ext cx="45720" cy="1051560"/>
          </a:xfrm>
          <a:prstGeom prst="rect">
            <a:avLst/>
          </a:prstGeom>
          <a:solidFill>
            <a:srgbClr val="4A6FA5"/>
          </a:solidFill>
          <a:ln w="12700">
            <a:solidFill>
              <a:srgbClr val="4A6FA5"/>
            </a:solidFill>
            <a:prstDash val="solid"/>
          </a:ln>
        </p:spPr>
      </p:sp>
      <p:sp>
        <p:nvSpPr>
          <p:cNvPr id="13" name="Text 11"/>
          <p:cNvSpPr/>
          <p:nvPr/>
        </p:nvSpPr>
        <p:spPr>
          <a:xfrm>
            <a:off x="2606040" y="2734056"/>
            <a:ext cx="2286000" cy="384048"/>
          </a:xfrm>
          <a:prstGeom prst="rect">
            <a:avLst/>
          </a:prstGeom>
          <a:noFill/>
          <a:ln/>
        </p:spPr>
        <p:txBody>
          <a:bodyPr wrap="square" rtlCol="0" anchor="ctr"/>
          <a:lstStyle/>
          <a:p>
            <a:pPr indent="0" marL="0">
              <a:buNone/>
            </a:pPr>
            <a:r>
              <a:rPr lang="en-US" sz="1800" b="1" dirty="0">
                <a:solidFill>
                  <a:srgbClr val="F5A623"/>
                </a:solidFill>
                <a:latin typeface="Trebuchet MS" pitchFamily="34" charset="0"/>
                <a:ea typeface="Trebuchet MS" pitchFamily="34" charset="-122"/>
                <a:cs typeface="Trebuchet MS" pitchFamily="34" charset="-120"/>
              </a:rPr>
              <a:t>Cierres</a:t>
            </a:r>
            <a:endParaRPr lang="en-US" sz="1800" dirty="0"/>
          </a:p>
        </p:txBody>
      </p:sp>
      <p:sp>
        <p:nvSpPr>
          <p:cNvPr id="14" name="Text 12"/>
          <p:cNvSpPr/>
          <p:nvPr/>
        </p:nvSpPr>
        <p:spPr>
          <a:xfrm>
            <a:off x="2057400" y="3127248"/>
            <a:ext cx="6583680" cy="868680"/>
          </a:xfrm>
          <a:prstGeom prst="rect">
            <a:avLst/>
          </a:prstGeom>
          <a:noFill/>
          <a:ln/>
        </p:spPr>
        <p:txBody>
          <a:bodyPr wrap="square" rtlCol="0" anchor="ctr"/>
          <a:lstStyle/>
          <a:p>
            <a:pPr indent="0" marL="0">
              <a:buNone/>
            </a:pPr>
            <a:r>
              <a:rPr lang="en-US" sz="1400" dirty="0">
                <a:solidFill>
                  <a:srgbClr val="F4F6FA"/>
                </a:solidFill>
                <a:latin typeface="Calibri" pitchFamily="34" charset="0"/>
                <a:ea typeface="Calibri" pitchFamily="34" charset="-122"/>
                <a:cs typeface="Calibri" pitchFamily="34" charset="-120"/>
              </a:rPr>
              <a:t>Tu nombre se reconoce en tu territorio. Leads inbound esporadicos.</a:t>
            </a:r>
            <a:endParaRPr lang="en-US" sz="1400" dirty="0"/>
          </a:p>
        </p:txBody>
      </p:sp>
      <p:sp>
        <p:nvSpPr>
          <p:cNvPr id="15" name="Shape 13"/>
          <p:cNvSpPr/>
          <p:nvPr/>
        </p:nvSpPr>
        <p:spPr>
          <a:xfrm>
            <a:off x="274320" y="4224528"/>
            <a:ext cx="8595360" cy="1463040"/>
          </a:xfrm>
          <a:prstGeom prst="rect">
            <a:avLst/>
          </a:prstGeom>
          <a:solidFill>
            <a:srgbClr val="2D4472"/>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16" name="Text 14"/>
          <p:cNvSpPr/>
          <p:nvPr/>
        </p:nvSpPr>
        <p:spPr>
          <a:xfrm>
            <a:off x="365760" y="4270248"/>
            <a:ext cx="2011680" cy="1280160"/>
          </a:xfrm>
          <a:prstGeom prst="rect">
            <a:avLst/>
          </a:prstGeom>
          <a:noFill/>
          <a:ln/>
        </p:spPr>
        <p:txBody>
          <a:bodyPr wrap="square" rtlCol="0" anchor="ctr"/>
          <a:lstStyle/>
          <a:p>
            <a:pPr algn="ctr" indent="0" marL="0">
              <a:buNone/>
            </a:pPr>
            <a:r>
              <a:rPr lang="en-US" sz="5200" b="1" dirty="0">
                <a:solidFill>
                  <a:srgbClr val="F5A623"/>
                </a:solidFill>
                <a:latin typeface="Trebuchet MS" pitchFamily="34" charset="0"/>
                <a:ea typeface="Trebuchet MS" pitchFamily="34" charset="-122"/>
                <a:cs typeface="Trebuchet MS" pitchFamily="34" charset="-120"/>
              </a:rPr>
              <a:t>100</a:t>
            </a:r>
            <a:endParaRPr lang="en-US" sz="5200" dirty="0"/>
          </a:p>
        </p:txBody>
      </p:sp>
      <p:sp>
        <p:nvSpPr>
          <p:cNvPr id="17" name="Shape 15"/>
          <p:cNvSpPr/>
          <p:nvPr/>
        </p:nvSpPr>
        <p:spPr>
          <a:xfrm>
            <a:off x="2468880" y="4407408"/>
            <a:ext cx="45720" cy="1051560"/>
          </a:xfrm>
          <a:prstGeom prst="rect">
            <a:avLst/>
          </a:prstGeom>
          <a:solidFill>
            <a:srgbClr val="4A6FA5"/>
          </a:solidFill>
          <a:ln w="12700">
            <a:solidFill>
              <a:srgbClr val="4A6FA5"/>
            </a:solidFill>
            <a:prstDash val="solid"/>
          </a:ln>
        </p:spPr>
      </p:sp>
      <p:sp>
        <p:nvSpPr>
          <p:cNvPr id="18" name="Text 16"/>
          <p:cNvSpPr/>
          <p:nvPr/>
        </p:nvSpPr>
        <p:spPr>
          <a:xfrm>
            <a:off x="2606040" y="4334256"/>
            <a:ext cx="2286000" cy="384048"/>
          </a:xfrm>
          <a:prstGeom prst="rect">
            <a:avLst/>
          </a:prstGeom>
          <a:noFill/>
          <a:ln/>
        </p:spPr>
        <p:txBody>
          <a:bodyPr wrap="square" rtlCol="0" anchor="ctr"/>
          <a:lstStyle/>
          <a:p>
            <a:pPr indent="0" marL="0">
              <a:buNone/>
            </a:pPr>
            <a:r>
              <a:rPr lang="en-US" sz="1800" b="1" dirty="0">
                <a:solidFill>
                  <a:srgbClr val="F5A623"/>
                </a:solidFill>
                <a:latin typeface="Trebuchet MS" pitchFamily="34" charset="0"/>
                <a:ea typeface="Trebuchet MS" pitchFamily="34" charset="-122"/>
                <a:cs typeface="Trebuchet MS" pitchFamily="34" charset="-120"/>
              </a:rPr>
              <a:t>Cierres</a:t>
            </a:r>
            <a:endParaRPr lang="en-US" sz="1800" dirty="0"/>
          </a:p>
        </p:txBody>
      </p:sp>
      <p:sp>
        <p:nvSpPr>
          <p:cNvPr id="19" name="Text 17"/>
          <p:cNvSpPr/>
          <p:nvPr/>
        </p:nvSpPr>
        <p:spPr>
          <a:xfrm>
            <a:off x="2057400" y="4727448"/>
            <a:ext cx="6583680" cy="868680"/>
          </a:xfrm>
          <a:prstGeom prst="rect">
            <a:avLst/>
          </a:prstGeom>
          <a:noFill/>
          <a:ln/>
        </p:spPr>
        <p:txBody>
          <a:bodyPr wrap="square" rtlCol="0" anchor="ctr"/>
          <a:lstStyle/>
          <a:p>
            <a:pPr indent="0" marL="0">
              <a:buNone/>
            </a:pPr>
            <a:r>
              <a:rPr lang="en-US" sz="1400" dirty="0">
                <a:solidFill>
                  <a:srgbClr val="F4F6FA"/>
                </a:solidFill>
                <a:latin typeface="Calibri" pitchFamily="34" charset="0"/>
                <a:ea typeface="Calibri" pitchFamily="34" charset="-122"/>
                <a:cs typeface="Calibri" pitchFamily="34" charset="-120"/>
              </a:rPr>
              <a:t>Suficiente negocio inbound para raramente necesitar golpear puertas.</a:t>
            </a:r>
            <a:endParaRPr lang="en-US" sz="1400" dirty="0"/>
          </a:p>
        </p:txBody>
      </p:sp>
      <p:sp>
        <p:nvSpPr>
          <p:cNvPr id="20" name="Shape 18"/>
          <p:cNvSpPr/>
          <p:nvPr/>
        </p:nvSpPr>
        <p:spPr>
          <a:xfrm>
            <a:off x="274320" y="5989320"/>
            <a:ext cx="8595360" cy="566928"/>
          </a:xfrm>
          <a:prstGeom prst="rect">
            <a:avLst/>
          </a:prstGeom>
          <a:solidFill>
            <a:srgbClr val="1B2A4A"/>
          </a:solidFill>
          <a:ln w="12700">
            <a:solidFill>
              <a:srgbClr val="1B2A4A"/>
            </a:solidFill>
            <a:prstDash val="solid"/>
          </a:ln>
        </p:spPr>
      </p:sp>
      <p:sp>
        <p:nvSpPr>
          <p:cNvPr id="21" name="Text 19"/>
          <p:cNvSpPr/>
          <p:nvPr/>
        </p:nvSpPr>
        <p:spPr>
          <a:xfrm>
            <a:off x="274320" y="5989320"/>
            <a:ext cx="8595360" cy="566928"/>
          </a:xfrm>
          <a:prstGeom prst="rect">
            <a:avLst/>
          </a:prstGeom>
          <a:noFill/>
          <a:ln/>
        </p:spPr>
        <p:txBody>
          <a:bodyPr wrap="square" rtlCol="0" anchor="ctr"/>
          <a:lstStyle/>
          <a:p>
            <a:pPr algn="ctr" indent="0" marL="0">
              <a:buNone/>
            </a:pPr>
            <a:r>
              <a:rPr lang="en-US" sz="1300" i="1" dirty="0">
                <a:solidFill>
                  <a:srgbClr val="F5A623"/>
                </a:solidFill>
                <a:latin typeface="Calibri" pitchFamily="34" charset="0"/>
                <a:ea typeface="Calibri" pitchFamily="34" charset="-122"/>
                <a:cs typeface="Calibri" pitchFamily="34" charset="-120"/>
              </a:rPr>
              <a:t>Cada cliente es una semilla. Siembra bien y tu pipeline florece sin golpear puertas.</a:t>
            </a:r>
            <a:endParaRPr lang="en-US" sz="1300" dirty="0"/>
          </a:p>
        </p:txBody>
      </p:sp>
      <p:sp>
        <p:nvSpPr>
          <p:cNvPr id="22" name="Text 20"/>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4A6FA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Protocolo de Cambios al Contrato</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Maneja cambios sin perder la confianza del cliente</a:t>
            </a:r>
            <a:endParaRPr lang="en-US" sz="1400" dirty="0"/>
          </a:p>
        </p:txBody>
      </p:sp>
      <p:sp>
        <p:nvSpPr>
          <p:cNvPr id="5" name="Shape 3"/>
          <p:cNvSpPr/>
          <p:nvPr/>
        </p:nvSpPr>
        <p:spPr>
          <a:xfrm>
            <a:off x="274320" y="960120"/>
            <a:ext cx="4114800" cy="384048"/>
          </a:xfrm>
          <a:prstGeom prst="rect">
            <a:avLst/>
          </a:prstGeom>
          <a:solidFill>
            <a:srgbClr val="4A6FA5"/>
          </a:solidFill>
          <a:ln w="12700">
            <a:solidFill>
              <a:srgbClr val="4A6FA5"/>
            </a:solidFill>
            <a:prstDash val="solid"/>
          </a:ln>
        </p:spPr>
      </p:sp>
      <p:sp>
        <p:nvSpPr>
          <p:cNvPr id="6" name="Text 4"/>
          <p:cNvSpPr/>
          <p:nvPr/>
        </p:nvSpPr>
        <p:spPr>
          <a:xfrm>
            <a:off x="274320" y="960120"/>
            <a:ext cx="4114800" cy="38404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Causas Comunes de Cambio</a:t>
            </a:r>
            <a:endParaRPr lang="en-US" sz="1500" dirty="0"/>
          </a:p>
        </p:txBody>
      </p:sp>
      <p:sp>
        <p:nvSpPr>
          <p:cNvPr id="7" name="Shape 5"/>
          <p:cNvSpPr/>
          <p:nvPr/>
        </p:nvSpPr>
        <p:spPr>
          <a:xfrm>
            <a:off x="274320" y="1444752"/>
            <a:ext cx="4114800" cy="749808"/>
          </a:xfrm>
          <a:prstGeom prst="rect">
            <a:avLst/>
          </a:prstGeom>
          <a:solidFill>
            <a:srgbClr val="2D4472"/>
          </a:solidFill>
          <a:ln w="12700">
            <a:solidFill>
              <a:srgbClr val="2D4472"/>
            </a:solidFill>
            <a:prstDash val="solid"/>
          </a:ln>
        </p:spPr>
      </p:sp>
      <p:sp>
        <p:nvSpPr>
          <p:cNvPr id="8" name="Text 6"/>
          <p:cNvSpPr/>
          <p:nvPr/>
        </p:nvSpPr>
        <p:spPr>
          <a:xfrm>
            <a:off x="411480" y="1444752"/>
            <a:ext cx="384048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&gt;&gt; Techo no puede soportar el sistema completo</a:t>
            </a:r>
            <a:endParaRPr lang="en-US" sz="1200" dirty="0"/>
          </a:p>
        </p:txBody>
      </p:sp>
      <p:sp>
        <p:nvSpPr>
          <p:cNvPr id="9" name="Shape 7"/>
          <p:cNvSpPr/>
          <p:nvPr/>
        </p:nvSpPr>
        <p:spPr>
          <a:xfrm>
            <a:off x="274320" y="2286000"/>
            <a:ext cx="4114800" cy="749808"/>
          </a:xfrm>
          <a:prstGeom prst="rect">
            <a:avLst/>
          </a:prstGeom>
          <a:solidFill>
            <a:srgbClr val="1B2A4A"/>
          </a:solidFill>
          <a:ln w="12700">
            <a:solidFill>
              <a:srgbClr val="1B2A4A"/>
            </a:solidFill>
            <a:prstDash val="solid"/>
          </a:ln>
        </p:spPr>
      </p:sp>
      <p:sp>
        <p:nvSpPr>
          <p:cNvPr id="10" name="Text 8"/>
          <p:cNvSpPr/>
          <p:nvPr/>
        </p:nvSpPr>
        <p:spPr>
          <a:xfrm>
            <a:off x="411480" y="2286000"/>
            <a:ext cx="384048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&gt;&gt; Consumo electrico diferente al estimado</a:t>
            </a:r>
            <a:endParaRPr lang="en-US" sz="1200" dirty="0"/>
          </a:p>
        </p:txBody>
      </p:sp>
      <p:sp>
        <p:nvSpPr>
          <p:cNvPr id="11" name="Shape 9"/>
          <p:cNvSpPr/>
          <p:nvPr/>
        </p:nvSpPr>
        <p:spPr>
          <a:xfrm>
            <a:off x="274320" y="3127248"/>
            <a:ext cx="4114800" cy="749808"/>
          </a:xfrm>
          <a:prstGeom prst="rect">
            <a:avLst/>
          </a:prstGeom>
          <a:solidFill>
            <a:srgbClr val="2D4472"/>
          </a:solidFill>
          <a:ln w="12700">
            <a:solidFill>
              <a:srgbClr val="2D4472"/>
            </a:solidFill>
            <a:prstDash val="solid"/>
          </a:ln>
        </p:spPr>
      </p:sp>
      <p:sp>
        <p:nvSpPr>
          <p:cNvPr id="12" name="Text 10"/>
          <p:cNvSpPr/>
          <p:nvPr/>
        </p:nvSpPr>
        <p:spPr>
          <a:xfrm>
            <a:off x="411480" y="3127248"/>
            <a:ext cx="384048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&gt;&gt; Cambio en incentivos o programa de credito</a:t>
            </a:r>
            <a:endParaRPr lang="en-US" sz="1200" dirty="0"/>
          </a:p>
        </p:txBody>
      </p:sp>
      <p:sp>
        <p:nvSpPr>
          <p:cNvPr id="13" name="Shape 11"/>
          <p:cNvSpPr/>
          <p:nvPr/>
        </p:nvSpPr>
        <p:spPr>
          <a:xfrm>
            <a:off x="274320" y="3968496"/>
            <a:ext cx="4114800" cy="749808"/>
          </a:xfrm>
          <a:prstGeom prst="rect">
            <a:avLst/>
          </a:prstGeom>
          <a:solidFill>
            <a:srgbClr val="1B2A4A"/>
          </a:solidFill>
          <a:ln w="12700">
            <a:solidFill>
              <a:srgbClr val="1B2A4A"/>
            </a:solidFill>
            <a:prstDash val="solid"/>
          </a:ln>
        </p:spPr>
      </p:sp>
      <p:sp>
        <p:nvSpPr>
          <p:cNvPr id="14" name="Text 12"/>
          <p:cNvSpPr/>
          <p:nvPr/>
        </p:nvSpPr>
        <p:spPr>
          <a:xfrm>
            <a:off x="411480" y="3968496"/>
            <a:ext cx="384048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&gt;&gt; Resultado de inspeccion de estructura</a:t>
            </a:r>
            <a:endParaRPr lang="en-US" sz="1200" dirty="0"/>
          </a:p>
        </p:txBody>
      </p:sp>
      <p:sp>
        <p:nvSpPr>
          <p:cNvPr id="15" name="Shape 13"/>
          <p:cNvSpPr/>
          <p:nvPr/>
        </p:nvSpPr>
        <p:spPr>
          <a:xfrm>
            <a:off x="274320" y="4809744"/>
            <a:ext cx="4114800" cy="749808"/>
          </a:xfrm>
          <a:prstGeom prst="rect">
            <a:avLst/>
          </a:prstGeom>
          <a:solidFill>
            <a:srgbClr val="2D4472"/>
          </a:solidFill>
          <a:ln w="12700">
            <a:solidFill>
              <a:srgbClr val="2D4472"/>
            </a:solidFill>
            <a:prstDash val="solid"/>
          </a:ln>
        </p:spPr>
      </p:sp>
      <p:sp>
        <p:nvSpPr>
          <p:cNvPr id="16" name="Text 14"/>
          <p:cNvSpPr/>
          <p:nvPr/>
        </p:nvSpPr>
        <p:spPr>
          <a:xfrm>
            <a:off x="411480" y="4809744"/>
            <a:ext cx="384048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&gt;&gt; Actualizacion del panel electrico requerida</a:t>
            </a:r>
            <a:endParaRPr lang="en-US" sz="1200" dirty="0"/>
          </a:p>
        </p:txBody>
      </p:sp>
      <p:sp>
        <p:nvSpPr>
          <p:cNvPr id="17" name="Shape 15"/>
          <p:cNvSpPr/>
          <p:nvPr/>
        </p:nvSpPr>
        <p:spPr>
          <a:xfrm>
            <a:off x="4572000" y="960120"/>
            <a:ext cx="4297680" cy="384048"/>
          </a:xfrm>
          <a:prstGeom prst="rect">
            <a:avLst/>
          </a:prstGeom>
          <a:solidFill>
            <a:srgbClr val="F5A623"/>
          </a:solidFill>
          <a:ln w="12700">
            <a:solidFill>
              <a:srgbClr val="F5A623"/>
            </a:solidFill>
            <a:prstDash val="solid"/>
          </a:ln>
        </p:spPr>
      </p:sp>
      <p:sp>
        <p:nvSpPr>
          <p:cNvPr id="18" name="Text 16"/>
          <p:cNvSpPr/>
          <p:nvPr/>
        </p:nvSpPr>
        <p:spPr>
          <a:xfrm>
            <a:off x="4572000" y="960120"/>
            <a:ext cx="4297680" cy="384048"/>
          </a:xfrm>
          <a:prstGeom prst="rect">
            <a:avLst/>
          </a:prstGeom>
          <a:noFill/>
          <a:ln/>
        </p:spPr>
        <p:txBody>
          <a:bodyPr wrap="square" rtlCol="0" anchor="ctr"/>
          <a:lstStyle/>
          <a:p>
            <a:pPr algn="ctr" indent="0" marL="0">
              <a:buNone/>
            </a:pPr>
            <a:r>
              <a:rPr lang="en-US" sz="1500" b="1" dirty="0">
                <a:solidFill>
                  <a:srgbClr val="1B2A4A"/>
                </a:solidFill>
                <a:latin typeface="Trebuchet MS" pitchFamily="34" charset="0"/>
                <a:ea typeface="Trebuchet MS" pitchFamily="34" charset="-122"/>
                <a:cs typeface="Trebuchet MS" pitchFamily="34" charset="-120"/>
              </a:rPr>
              <a:t>La Tecnica "Sandwich"</a:t>
            </a:r>
            <a:endParaRPr lang="en-US" sz="1500" dirty="0"/>
          </a:p>
        </p:txBody>
      </p:sp>
      <p:sp>
        <p:nvSpPr>
          <p:cNvPr id="19" name="Shape 17"/>
          <p:cNvSpPr/>
          <p:nvPr/>
        </p:nvSpPr>
        <p:spPr>
          <a:xfrm>
            <a:off x="4572000" y="1444752"/>
            <a:ext cx="4297680" cy="1463040"/>
          </a:xfrm>
          <a:prstGeom prst="rect">
            <a:avLst/>
          </a:prstGeom>
          <a:solidFill>
            <a:srgbClr val="2D4472"/>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20" name="Shape 18"/>
          <p:cNvSpPr/>
          <p:nvPr/>
        </p:nvSpPr>
        <p:spPr>
          <a:xfrm>
            <a:off x="4572000" y="1444752"/>
            <a:ext cx="4297680" cy="329184"/>
          </a:xfrm>
          <a:prstGeom prst="rect">
            <a:avLst/>
          </a:prstGeom>
          <a:solidFill>
            <a:srgbClr val="27AE60"/>
          </a:solidFill>
          <a:ln w="12700">
            <a:solidFill>
              <a:srgbClr val="27AE60"/>
            </a:solidFill>
            <a:prstDash val="solid"/>
          </a:ln>
        </p:spPr>
      </p:sp>
      <p:sp>
        <p:nvSpPr>
          <p:cNvPr id="21" name="Text 19"/>
          <p:cNvSpPr/>
          <p:nvPr/>
        </p:nvSpPr>
        <p:spPr>
          <a:xfrm>
            <a:off x="4572000" y="1444752"/>
            <a:ext cx="4297680" cy="329184"/>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BUENAS NOTICIAS primero</a:t>
            </a:r>
            <a:endParaRPr lang="en-US" sz="1200" dirty="0"/>
          </a:p>
        </p:txBody>
      </p:sp>
      <p:sp>
        <p:nvSpPr>
          <p:cNvPr id="22" name="Text 20"/>
          <p:cNvSpPr/>
          <p:nvPr/>
        </p:nvSpPr>
        <p:spPr>
          <a:xfrm>
            <a:off x="4663440" y="1828800"/>
            <a:ext cx="4114800" cy="9601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Reafirma el valor total del proyecto y el compromiso del equipo.</a:t>
            </a:r>
            <a:endParaRPr lang="en-US" sz="1300" dirty="0"/>
          </a:p>
        </p:txBody>
      </p:sp>
      <p:sp>
        <p:nvSpPr>
          <p:cNvPr id="23" name="Shape 21"/>
          <p:cNvSpPr/>
          <p:nvPr/>
        </p:nvSpPr>
        <p:spPr>
          <a:xfrm>
            <a:off x="4572000" y="3017520"/>
            <a:ext cx="4297680" cy="1463040"/>
          </a:xfrm>
          <a:prstGeom prst="rect">
            <a:avLst/>
          </a:prstGeom>
          <a:solidFill>
            <a:srgbClr val="2D4472"/>
          </a:solidFill>
          <a:ln w="12700">
            <a:solidFill>
              <a:srgbClr val="E74C3C"/>
            </a:solidFill>
            <a:prstDash val="solid"/>
          </a:ln>
          <a:effectLst>
            <a:outerShdw sx="100000" sy="100000" kx="0" ky="0" algn="bl" rotWithShape="0" blurRad="76200" dist="38100" dir="8100000">
              <a:srgbClr val="000000">
                <a:alpha val="18000"/>
              </a:srgbClr>
            </a:outerShdw>
          </a:effectLst>
        </p:spPr>
      </p:sp>
      <p:sp>
        <p:nvSpPr>
          <p:cNvPr id="24" name="Shape 22"/>
          <p:cNvSpPr/>
          <p:nvPr/>
        </p:nvSpPr>
        <p:spPr>
          <a:xfrm>
            <a:off x="4572000" y="3017520"/>
            <a:ext cx="4297680" cy="329184"/>
          </a:xfrm>
          <a:prstGeom prst="rect">
            <a:avLst/>
          </a:prstGeom>
          <a:solidFill>
            <a:srgbClr val="E74C3C"/>
          </a:solidFill>
          <a:ln w="12700">
            <a:solidFill>
              <a:srgbClr val="E74C3C"/>
            </a:solidFill>
            <a:prstDash val="solid"/>
          </a:ln>
        </p:spPr>
      </p:sp>
      <p:sp>
        <p:nvSpPr>
          <p:cNvPr id="25" name="Text 23"/>
          <p:cNvSpPr/>
          <p:nvPr/>
        </p:nvSpPr>
        <p:spPr>
          <a:xfrm>
            <a:off x="4572000" y="3017520"/>
            <a:ext cx="4297680" cy="329184"/>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MALAS NOTICIAS (breve, claro)</a:t>
            </a:r>
            <a:endParaRPr lang="en-US" sz="1200" dirty="0"/>
          </a:p>
        </p:txBody>
      </p:sp>
      <p:sp>
        <p:nvSpPr>
          <p:cNvPr id="26" name="Text 24"/>
          <p:cNvSpPr/>
          <p:nvPr/>
        </p:nvSpPr>
        <p:spPr>
          <a:xfrm>
            <a:off x="4663440" y="3401568"/>
            <a:ext cx="4114800" cy="9601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Explica el cambio con honestidad. Sin rodeos, sin culpar a otros.</a:t>
            </a:r>
            <a:endParaRPr lang="en-US" sz="1300" dirty="0"/>
          </a:p>
        </p:txBody>
      </p:sp>
      <p:sp>
        <p:nvSpPr>
          <p:cNvPr id="27" name="Shape 25"/>
          <p:cNvSpPr/>
          <p:nvPr/>
        </p:nvSpPr>
        <p:spPr>
          <a:xfrm>
            <a:off x="4572000" y="4590288"/>
            <a:ext cx="4297680" cy="1463040"/>
          </a:xfrm>
          <a:prstGeom prst="rect">
            <a:avLst/>
          </a:prstGeom>
          <a:solidFill>
            <a:srgbClr val="2D4472"/>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28" name="Shape 26"/>
          <p:cNvSpPr/>
          <p:nvPr/>
        </p:nvSpPr>
        <p:spPr>
          <a:xfrm>
            <a:off x="4572000" y="4590288"/>
            <a:ext cx="4297680" cy="329184"/>
          </a:xfrm>
          <a:prstGeom prst="rect">
            <a:avLst/>
          </a:prstGeom>
          <a:solidFill>
            <a:srgbClr val="27AE60"/>
          </a:solidFill>
          <a:ln w="12700">
            <a:solidFill>
              <a:srgbClr val="27AE60"/>
            </a:solidFill>
            <a:prstDash val="solid"/>
          </a:ln>
        </p:spPr>
      </p:sp>
      <p:sp>
        <p:nvSpPr>
          <p:cNvPr id="29" name="Text 27"/>
          <p:cNvSpPr/>
          <p:nvPr/>
        </p:nvSpPr>
        <p:spPr>
          <a:xfrm>
            <a:off x="4572000" y="4590288"/>
            <a:ext cx="4297680" cy="329184"/>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SOLUCION — Terminamos positivo</a:t>
            </a:r>
            <a:endParaRPr lang="en-US" sz="1200" dirty="0"/>
          </a:p>
        </p:txBody>
      </p:sp>
      <p:sp>
        <p:nvSpPr>
          <p:cNvPr id="30" name="Text 28"/>
          <p:cNvSpPr/>
          <p:nvPr/>
        </p:nvSpPr>
        <p:spPr>
          <a:xfrm>
            <a:off x="4663440" y="4974336"/>
            <a:ext cx="4114800" cy="9601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Presenta el plan ajustado y reafirma proximos pasos claros.</a:t>
            </a:r>
            <a:endParaRPr lang="en-US" sz="1300" dirty="0"/>
          </a:p>
        </p:txBody>
      </p:sp>
      <p:sp>
        <p:nvSpPr>
          <p:cNvPr id="31" name="Text 29"/>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1B2A4A"/>
                </a:solidFill>
                <a:latin typeface="Trebuchet MS" pitchFamily="34" charset="0"/>
                <a:ea typeface="Trebuchet MS" pitchFamily="34" charset="-122"/>
                <a:cs typeface="Trebuchet MS" pitchFamily="34" charset="-120"/>
              </a:rPr>
              <a:t>Dia 7 — Certificacion de Campo</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4A6FA5"/>
                </a:solidFill>
                <a:latin typeface="Calibri" pitchFamily="34" charset="0"/>
                <a:ea typeface="Calibri" pitchFamily="34" charset="-122"/>
                <a:cs typeface="Calibri" pitchFamily="34" charset="-120"/>
              </a:rPr>
              <a:t>Del aula al mundo real — tu primer dia como rep certificado</a:t>
            </a:r>
            <a:endParaRPr lang="en-US" sz="1400" dirty="0"/>
          </a:p>
        </p:txBody>
      </p:sp>
      <p:sp>
        <p:nvSpPr>
          <p:cNvPr id="5" name="Shape 3"/>
          <p:cNvSpPr/>
          <p:nvPr/>
        </p:nvSpPr>
        <p:spPr>
          <a:xfrm>
            <a:off x="274320" y="960120"/>
            <a:ext cx="2697480" cy="475488"/>
          </a:xfrm>
          <a:prstGeom prst="rect">
            <a:avLst/>
          </a:prstGeom>
          <a:solidFill>
            <a:srgbClr val="4A6FA5"/>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6" name="Text 4"/>
          <p:cNvSpPr/>
          <p:nvPr/>
        </p:nvSpPr>
        <p:spPr>
          <a:xfrm>
            <a:off x="274320" y="960120"/>
            <a:ext cx="2697480" cy="475488"/>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Manana  AM</a:t>
            </a:r>
            <a:endParaRPr lang="en-US" sz="1800" dirty="0"/>
          </a:p>
        </p:txBody>
      </p:sp>
      <p:sp>
        <p:nvSpPr>
          <p:cNvPr id="7" name="Shape 5"/>
          <p:cNvSpPr/>
          <p:nvPr/>
        </p:nvSpPr>
        <p:spPr>
          <a:xfrm>
            <a:off x="274320" y="1481328"/>
            <a:ext cx="2697480" cy="4892040"/>
          </a:xfrm>
          <a:prstGeom prst="rect">
            <a:avLst/>
          </a:prstGeom>
          <a:solidFill>
            <a:srgbClr val="2D4472"/>
          </a:solidFill>
          <a:ln w="12700">
            <a:solidFill>
              <a:srgbClr val="4A6FA5"/>
            </a:solidFill>
            <a:prstDash val="solid"/>
          </a:ln>
          <a:effectLst>
            <a:outerShdw sx="100000" sy="100000" kx="0" ky="0" algn="bl" rotWithShape="0" blurRad="76200" dist="38100" dir="8100000">
              <a:srgbClr val="000000">
                <a:alpha val="18000"/>
              </a:srgbClr>
            </a:outerShdw>
          </a:effectLst>
        </p:spPr>
      </p:sp>
      <p:sp>
        <p:nvSpPr>
          <p:cNvPr id="8" name="Text 6"/>
          <p:cNvSpPr/>
          <p:nvPr/>
        </p:nvSpPr>
        <p:spPr>
          <a:xfrm>
            <a:off x="365760" y="1572768"/>
            <a:ext cx="2514600" cy="384048"/>
          </a:xfrm>
          <a:prstGeom prst="rect">
            <a:avLst/>
          </a:prstGeom>
          <a:noFill/>
          <a:ln/>
        </p:spPr>
        <p:txBody>
          <a:bodyPr wrap="square" rtlCol="0" anchor="ctr"/>
          <a:lstStyle/>
          <a:p>
            <a:pPr indent="0" marL="0">
              <a:buNone/>
            </a:pPr>
            <a:r>
              <a:rPr lang="en-US" sz="1400" b="1" dirty="0">
                <a:solidFill>
                  <a:srgbClr val="F5A623"/>
                </a:solidFill>
                <a:latin typeface="Trebuchet MS" pitchFamily="34" charset="0"/>
                <a:ea typeface="Trebuchet MS" pitchFamily="34" charset="-122"/>
                <a:cs typeface="Trebuchet MS" pitchFamily="34" charset="-120"/>
              </a:rPr>
              <a:t>Modo Sombra — 3 Citas</a:t>
            </a:r>
            <a:endParaRPr lang="en-US" sz="1400" dirty="0"/>
          </a:p>
        </p:txBody>
      </p:sp>
      <p:sp>
        <p:nvSpPr>
          <p:cNvPr id="9" name="Text 7"/>
          <p:cNvSpPr/>
          <p:nvPr/>
        </p:nvSpPr>
        <p:spPr>
          <a:xfrm>
            <a:off x="365760" y="2029968"/>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Observa como tu gerente maneja cada cita</a:t>
            </a:r>
            <a:endParaRPr lang="en-US" sz="1200" dirty="0"/>
          </a:p>
        </p:txBody>
      </p:sp>
      <p:sp>
        <p:nvSpPr>
          <p:cNvPr id="10" name="Text 8"/>
          <p:cNvSpPr/>
          <p:nvPr/>
        </p:nvSpPr>
        <p:spPr>
          <a:xfrm>
            <a:off x="365760" y="2871216"/>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Toma notas especificas — no generales</a:t>
            </a:r>
            <a:endParaRPr lang="en-US" sz="1200" dirty="0"/>
          </a:p>
        </p:txBody>
      </p:sp>
      <p:sp>
        <p:nvSpPr>
          <p:cNvPr id="11" name="Text 9"/>
          <p:cNvSpPr/>
          <p:nvPr/>
        </p:nvSpPr>
        <p:spPr>
          <a:xfrm>
            <a:off x="365760" y="3712464"/>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Debriefing en el carro despues de cada visita</a:t>
            </a:r>
            <a:endParaRPr lang="en-US" sz="1200" dirty="0"/>
          </a:p>
        </p:txBody>
      </p:sp>
      <p:sp>
        <p:nvSpPr>
          <p:cNvPr id="12" name="Text 10"/>
          <p:cNvSpPr/>
          <p:nvPr/>
        </p:nvSpPr>
        <p:spPr>
          <a:xfrm>
            <a:off x="365760" y="4553712"/>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- 5 cosas: postura, interrupciones, tipos, objeciones, cierre</a:t>
            </a:r>
            <a:endParaRPr lang="en-US" sz="1200" dirty="0"/>
          </a:p>
        </p:txBody>
      </p:sp>
      <p:sp>
        <p:nvSpPr>
          <p:cNvPr id="13" name="Shape 11"/>
          <p:cNvSpPr/>
          <p:nvPr/>
        </p:nvSpPr>
        <p:spPr>
          <a:xfrm>
            <a:off x="3200400" y="960120"/>
            <a:ext cx="2697480" cy="475488"/>
          </a:xfrm>
          <a:prstGeom prst="rect">
            <a:avLst/>
          </a:prstGeom>
          <a:solidFill>
            <a:srgbClr val="F5A623"/>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4" name="Text 12"/>
          <p:cNvSpPr/>
          <p:nvPr/>
        </p:nvSpPr>
        <p:spPr>
          <a:xfrm>
            <a:off x="3200400" y="960120"/>
            <a:ext cx="2697480" cy="47548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Mediodia  PM</a:t>
            </a:r>
            <a:endParaRPr lang="en-US" sz="1800" dirty="0"/>
          </a:p>
        </p:txBody>
      </p:sp>
      <p:sp>
        <p:nvSpPr>
          <p:cNvPr id="15" name="Shape 13"/>
          <p:cNvSpPr/>
          <p:nvPr/>
        </p:nvSpPr>
        <p:spPr>
          <a:xfrm>
            <a:off x="3200400" y="1481328"/>
            <a:ext cx="2697480" cy="4892040"/>
          </a:xfrm>
          <a:prstGeom prst="rect">
            <a:avLst/>
          </a:prstGeom>
          <a:solidFill>
            <a:srgbClr val="2D4472"/>
          </a:solidFill>
          <a:ln w="12700">
            <a:solidFill>
              <a:srgbClr val="F5A623"/>
            </a:solidFill>
            <a:prstDash val="solid"/>
          </a:ln>
          <a:effectLst>
            <a:outerShdw sx="100000" sy="100000" kx="0" ky="0" algn="bl" rotWithShape="0" blurRad="76200" dist="38100" dir="8100000">
              <a:srgbClr val="000000">
                <a:alpha val="18000"/>
              </a:srgbClr>
            </a:outerShdw>
          </a:effectLst>
        </p:spPr>
      </p:sp>
      <p:sp>
        <p:nvSpPr>
          <p:cNvPr id="16" name="Text 14"/>
          <p:cNvSpPr/>
          <p:nvPr/>
        </p:nvSpPr>
        <p:spPr>
          <a:xfrm>
            <a:off x="3291840" y="1572768"/>
            <a:ext cx="2514600" cy="384048"/>
          </a:xfrm>
          <a:prstGeom prst="rect">
            <a:avLst/>
          </a:prstGeom>
          <a:noFill/>
          <a:ln/>
        </p:spPr>
        <p:txBody>
          <a:bodyPr wrap="square" rtlCol="0" anchor="ctr"/>
          <a:lstStyle/>
          <a:p>
            <a:pPr indent="0" marL="0">
              <a:buNone/>
            </a:pPr>
            <a:r>
              <a:rPr lang="en-US" sz="1400" b="1" dirty="0">
                <a:solidFill>
                  <a:srgbClr val="F5A623"/>
                </a:solidFill>
                <a:latin typeface="Trebuchet MS" pitchFamily="34" charset="0"/>
                <a:ea typeface="Trebuchet MS" pitchFamily="34" charset="-122"/>
                <a:cs typeface="Trebuchet MS" pitchFamily="34" charset="-120"/>
              </a:rPr>
              <a:t>Preparacion de Tu Plan</a:t>
            </a:r>
            <a:endParaRPr lang="en-US" sz="1400" dirty="0"/>
          </a:p>
        </p:txBody>
      </p:sp>
      <p:sp>
        <p:nvSpPr>
          <p:cNvPr id="17" name="Text 15"/>
          <p:cNvSpPr/>
          <p:nvPr/>
        </p:nvSpPr>
        <p:spPr>
          <a:xfrm>
            <a:off x="3291840" y="2029968"/>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Responde 5 preguntas del gerente en voz alta</a:t>
            </a:r>
            <a:endParaRPr lang="en-US" sz="1200" dirty="0"/>
          </a:p>
        </p:txBody>
      </p:sp>
      <p:sp>
        <p:nvSpPr>
          <p:cNvPr id="18" name="Text 16"/>
          <p:cNvSpPr/>
          <p:nvPr/>
        </p:nvSpPr>
        <p:spPr>
          <a:xfrm>
            <a:off x="3291840" y="2871216"/>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Opener, descubrimiento, objeciones esperadas, tipo de cliente, cierre</a:t>
            </a:r>
            <a:endParaRPr lang="en-US" sz="1200" dirty="0"/>
          </a:p>
        </p:txBody>
      </p:sp>
      <p:sp>
        <p:nvSpPr>
          <p:cNvPr id="19" name="Text 17"/>
          <p:cNvSpPr/>
          <p:nvPr/>
        </p:nvSpPr>
        <p:spPr>
          <a:xfrm>
            <a:off x="3291840" y="3712464"/>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Articular en voz alta = ensayo mental</a:t>
            </a:r>
            <a:endParaRPr lang="en-US" sz="1200" dirty="0"/>
          </a:p>
        </p:txBody>
      </p:sp>
      <p:sp>
        <p:nvSpPr>
          <p:cNvPr id="20" name="Text 18"/>
          <p:cNvSpPr/>
          <p:nvPr/>
        </p:nvSpPr>
        <p:spPr>
          <a:xfrm>
            <a:off x="3291840" y="4553712"/>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Tu gerente ajusta antes de entrar</a:t>
            </a:r>
            <a:endParaRPr lang="en-US" sz="1200" dirty="0"/>
          </a:p>
        </p:txBody>
      </p:sp>
      <p:sp>
        <p:nvSpPr>
          <p:cNvPr id="21" name="Shape 19"/>
          <p:cNvSpPr/>
          <p:nvPr/>
        </p:nvSpPr>
        <p:spPr>
          <a:xfrm>
            <a:off x="6126480" y="960120"/>
            <a:ext cx="2697480" cy="475488"/>
          </a:xfrm>
          <a:prstGeom prst="rect">
            <a:avLst/>
          </a:prstGeom>
          <a:solidFill>
            <a:srgbClr val="27AE60"/>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22" name="Text 20"/>
          <p:cNvSpPr/>
          <p:nvPr/>
        </p:nvSpPr>
        <p:spPr>
          <a:xfrm>
            <a:off x="6126480" y="960120"/>
            <a:ext cx="2697480" cy="475488"/>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Tarde  GO</a:t>
            </a:r>
            <a:endParaRPr lang="en-US" sz="1800" dirty="0"/>
          </a:p>
        </p:txBody>
      </p:sp>
      <p:sp>
        <p:nvSpPr>
          <p:cNvPr id="23" name="Shape 21"/>
          <p:cNvSpPr/>
          <p:nvPr/>
        </p:nvSpPr>
        <p:spPr>
          <a:xfrm>
            <a:off x="6126480" y="1481328"/>
            <a:ext cx="2697480" cy="4892040"/>
          </a:xfrm>
          <a:prstGeom prst="rect">
            <a:avLst/>
          </a:prstGeom>
          <a:solidFill>
            <a:srgbClr val="2D4472"/>
          </a:solidFill>
          <a:ln w="12700">
            <a:solidFill>
              <a:srgbClr val="27AE60"/>
            </a:solidFill>
            <a:prstDash val="solid"/>
          </a:ln>
          <a:effectLst>
            <a:outerShdw sx="100000" sy="100000" kx="0" ky="0" algn="bl" rotWithShape="0" blurRad="76200" dist="38100" dir="8100000">
              <a:srgbClr val="000000">
                <a:alpha val="18000"/>
              </a:srgbClr>
            </a:outerShdw>
          </a:effectLst>
        </p:spPr>
      </p:sp>
      <p:sp>
        <p:nvSpPr>
          <p:cNvPr id="24" name="Text 22"/>
          <p:cNvSpPr/>
          <p:nvPr/>
        </p:nvSpPr>
        <p:spPr>
          <a:xfrm>
            <a:off x="6217920" y="1572768"/>
            <a:ext cx="2514600" cy="384048"/>
          </a:xfrm>
          <a:prstGeom prst="rect">
            <a:avLst/>
          </a:prstGeom>
          <a:noFill/>
          <a:ln/>
        </p:spPr>
        <p:txBody>
          <a:bodyPr wrap="square" rtlCol="0" anchor="ctr"/>
          <a:lstStyle/>
          <a:p>
            <a:pPr indent="0" marL="0">
              <a:buNone/>
            </a:pPr>
            <a:r>
              <a:rPr lang="en-US" sz="1400" b="1" dirty="0">
                <a:solidFill>
                  <a:srgbClr val="F5A623"/>
                </a:solidFill>
                <a:latin typeface="Trebuchet MS" pitchFamily="34" charset="0"/>
                <a:ea typeface="Trebuchet MS" pitchFamily="34" charset="-122"/>
                <a:cs typeface="Trebuchet MS" pitchFamily="34" charset="-120"/>
              </a:rPr>
              <a:t>Tu Cita — Tu Momento</a:t>
            </a:r>
            <a:endParaRPr lang="en-US" sz="1400" dirty="0"/>
          </a:p>
        </p:txBody>
      </p:sp>
      <p:sp>
        <p:nvSpPr>
          <p:cNvPr id="25" name="Text 23"/>
          <p:cNvSpPr/>
          <p:nvPr/>
        </p:nvSpPr>
        <p:spPr>
          <a:xfrm>
            <a:off x="6217920" y="2029968"/>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Corre la cita completa — de descubrimiento a cierre</a:t>
            </a:r>
            <a:endParaRPr lang="en-US" sz="1200" dirty="0"/>
          </a:p>
        </p:txBody>
      </p:sp>
      <p:sp>
        <p:nvSpPr>
          <p:cNvPr id="26" name="Text 24"/>
          <p:cNvSpPr/>
          <p:nvPr/>
        </p:nvSpPr>
        <p:spPr>
          <a:xfrm>
            <a:off x="6217920" y="2871216"/>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El gerente observa sin intervenir</a:t>
            </a:r>
            <a:endParaRPr lang="en-US" sz="1200" dirty="0"/>
          </a:p>
        </p:txBody>
      </p:sp>
      <p:sp>
        <p:nvSpPr>
          <p:cNvPr id="27" name="Text 25"/>
          <p:cNvSpPr/>
          <p:nvPr/>
        </p:nvSpPr>
        <p:spPr>
          <a:xfrm>
            <a:off x="6217920" y="3712464"/>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Usa todo: BOLT, Value Stack, A.C.A., cierre</a:t>
            </a:r>
            <a:endParaRPr lang="en-US" sz="1200" dirty="0"/>
          </a:p>
        </p:txBody>
      </p:sp>
      <p:sp>
        <p:nvSpPr>
          <p:cNvPr id="28" name="Text 26"/>
          <p:cNvSpPr/>
          <p:nvPr/>
        </p:nvSpPr>
        <p:spPr>
          <a:xfrm>
            <a:off x="6217920" y="4553712"/>
            <a:ext cx="2514600" cy="749808"/>
          </a:xfrm>
          <a:prstGeom prst="rect">
            <a:avLst/>
          </a:prstGeom>
          <a:noFill/>
          <a:ln/>
        </p:spPr>
        <p:txBody>
          <a:bodyPr wrap="square" rtlCol="0" anchor="ctr"/>
          <a:lstStyle/>
          <a:p>
            <a:pPr indent="0" marL="0">
              <a:buNone/>
            </a:pPr>
            <a:r>
              <a:rPr lang="en-US" sz="1200" dirty="0">
                <a:solidFill>
                  <a:srgbClr val="F4F6FA"/>
                </a:solidFill>
                <a:latin typeface="Calibri" pitchFamily="34" charset="0"/>
                <a:ea typeface="Calibri" pitchFamily="34" charset="-122"/>
                <a:cs typeface="Calibri" pitchFamily="34" charset="-120"/>
              </a:rPr>
              <a:t>- Si cierras — pide el referido antes de salir</a:t>
            </a:r>
            <a:endParaRPr lang="en-US" sz="1200" dirty="0"/>
          </a:p>
        </p:txBody>
      </p:sp>
      <p:sp>
        <p:nvSpPr>
          <p:cNvPr id="29" name="Text 27"/>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4A6FA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Resumen del Dia 6</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El rep que siembra bien raramente necesita cold knock</a:t>
            </a:r>
            <a:endParaRPr lang="en-US" sz="1400" dirty="0"/>
          </a:p>
        </p:txBody>
      </p:sp>
      <p:sp>
        <p:nvSpPr>
          <p:cNvPr id="5" name="Shape 3"/>
          <p:cNvSpPr/>
          <p:nvPr/>
        </p:nvSpPr>
        <p:spPr>
          <a:xfrm>
            <a:off x="274320" y="987552"/>
            <a:ext cx="8595360" cy="9326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6" name="Shape 4"/>
          <p:cNvSpPr/>
          <p:nvPr/>
        </p:nvSpPr>
        <p:spPr>
          <a:xfrm>
            <a:off x="384048" y="1152144"/>
            <a:ext cx="566928" cy="566928"/>
          </a:xfrm>
          <a:prstGeom prst="ellipse">
            <a:avLst/>
          </a:prstGeom>
          <a:solidFill>
            <a:srgbClr val="F5A623"/>
          </a:solidFill>
          <a:ln w="12700">
            <a:solidFill>
              <a:srgbClr val="F5A623"/>
            </a:solidFill>
            <a:prstDash val="solid"/>
          </a:ln>
        </p:spPr>
      </p:sp>
      <p:sp>
        <p:nvSpPr>
          <p:cNvPr id="7" name="Text 5"/>
          <p:cNvSpPr/>
          <p:nvPr/>
        </p:nvSpPr>
        <p:spPr>
          <a:xfrm>
            <a:off x="384048" y="1152144"/>
            <a:ext cx="566928" cy="56692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a:t>
            </a:r>
            <a:endParaRPr lang="en-US" sz="1800" dirty="0"/>
          </a:p>
        </p:txBody>
      </p:sp>
      <p:sp>
        <p:nvSpPr>
          <p:cNvPr id="8" name="Text 6"/>
          <p:cNvSpPr/>
          <p:nvPr/>
        </p:nvSpPr>
        <p:spPr>
          <a:xfrm>
            <a:off x="1060704" y="1078992"/>
            <a:ext cx="7680960" cy="7315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El sistema de referidos de 3 pasos convierte cada cierre en una fuente de pipeline.</a:t>
            </a:r>
            <a:endParaRPr lang="en-US" sz="1300" dirty="0"/>
          </a:p>
        </p:txBody>
      </p:sp>
      <p:sp>
        <p:nvSpPr>
          <p:cNvPr id="9" name="Shape 7"/>
          <p:cNvSpPr/>
          <p:nvPr/>
        </p:nvSpPr>
        <p:spPr>
          <a:xfrm>
            <a:off x="274320" y="2011680"/>
            <a:ext cx="8595360" cy="932688"/>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10" name="Shape 8"/>
          <p:cNvSpPr/>
          <p:nvPr/>
        </p:nvSpPr>
        <p:spPr>
          <a:xfrm>
            <a:off x="384048" y="2176272"/>
            <a:ext cx="566928" cy="566928"/>
          </a:xfrm>
          <a:prstGeom prst="ellipse">
            <a:avLst/>
          </a:prstGeom>
          <a:solidFill>
            <a:srgbClr val="F5A623"/>
          </a:solidFill>
          <a:ln w="12700">
            <a:solidFill>
              <a:srgbClr val="F5A623"/>
            </a:solidFill>
            <a:prstDash val="solid"/>
          </a:ln>
        </p:spPr>
      </p:sp>
      <p:sp>
        <p:nvSpPr>
          <p:cNvPr id="11" name="Text 9"/>
          <p:cNvSpPr/>
          <p:nvPr/>
        </p:nvSpPr>
        <p:spPr>
          <a:xfrm>
            <a:off x="384048" y="2176272"/>
            <a:ext cx="566928" cy="56692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a:t>
            </a:r>
            <a:endParaRPr lang="en-US" sz="1800" dirty="0"/>
          </a:p>
        </p:txBody>
      </p:sp>
      <p:sp>
        <p:nvSpPr>
          <p:cNvPr id="12" name="Text 10"/>
          <p:cNvSpPr/>
          <p:nvPr/>
        </p:nvSpPr>
        <p:spPr>
          <a:xfrm>
            <a:off x="1060704" y="2103120"/>
            <a:ext cx="7680960" cy="7315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La reputacion digital — resenas, senales de patio, redes — trabaja mientras duermes.</a:t>
            </a:r>
            <a:endParaRPr lang="en-US" sz="1300" dirty="0"/>
          </a:p>
        </p:txBody>
      </p:sp>
      <p:sp>
        <p:nvSpPr>
          <p:cNvPr id="13" name="Shape 11"/>
          <p:cNvSpPr/>
          <p:nvPr/>
        </p:nvSpPr>
        <p:spPr>
          <a:xfrm>
            <a:off x="274320" y="3035808"/>
            <a:ext cx="8595360" cy="9326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14" name="Shape 12"/>
          <p:cNvSpPr/>
          <p:nvPr/>
        </p:nvSpPr>
        <p:spPr>
          <a:xfrm>
            <a:off x="384048" y="3200400"/>
            <a:ext cx="566928" cy="566928"/>
          </a:xfrm>
          <a:prstGeom prst="ellipse">
            <a:avLst/>
          </a:prstGeom>
          <a:solidFill>
            <a:srgbClr val="F5A623"/>
          </a:solidFill>
          <a:ln w="12700">
            <a:solidFill>
              <a:srgbClr val="F5A623"/>
            </a:solidFill>
            <a:prstDash val="solid"/>
          </a:ln>
        </p:spPr>
      </p:sp>
      <p:sp>
        <p:nvSpPr>
          <p:cNvPr id="15" name="Text 13"/>
          <p:cNvSpPr/>
          <p:nvPr/>
        </p:nvSpPr>
        <p:spPr>
          <a:xfrm>
            <a:off x="384048" y="3200400"/>
            <a:ext cx="566928" cy="56692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a:t>
            </a:r>
            <a:endParaRPr lang="en-US" sz="1800" dirty="0"/>
          </a:p>
        </p:txBody>
      </p:sp>
      <p:sp>
        <p:nvSpPr>
          <p:cNvPr id="16" name="Text 14"/>
          <p:cNvSpPr/>
          <p:nvPr/>
        </p:nvSpPr>
        <p:spPr>
          <a:xfrm>
            <a:off x="1060704" y="3127248"/>
            <a:ext cx="7680960" cy="7315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Conoce tu embudo: puertas, conversaciones, citas, propuestas, cierres — cada paso tiene una solucion.</a:t>
            </a:r>
            <a:endParaRPr lang="en-US" sz="1300" dirty="0"/>
          </a:p>
        </p:txBody>
      </p:sp>
      <p:sp>
        <p:nvSpPr>
          <p:cNvPr id="17" name="Shape 15"/>
          <p:cNvSpPr/>
          <p:nvPr/>
        </p:nvSpPr>
        <p:spPr>
          <a:xfrm>
            <a:off x="274320" y="4059936"/>
            <a:ext cx="8595360" cy="932688"/>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8000"/>
              </a:srgbClr>
            </a:outerShdw>
          </a:effectLst>
        </p:spPr>
      </p:sp>
      <p:sp>
        <p:nvSpPr>
          <p:cNvPr id="18" name="Shape 16"/>
          <p:cNvSpPr/>
          <p:nvPr/>
        </p:nvSpPr>
        <p:spPr>
          <a:xfrm>
            <a:off x="384048" y="4224528"/>
            <a:ext cx="566928" cy="566928"/>
          </a:xfrm>
          <a:prstGeom prst="ellipse">
            <a:avLst/>
          </a:prstGeom>
          <a:solidFill>
            <a:srgbClr val="F5A623"/>
          </a:solidFill>
          <a:ln w="12700">
            <a:solidFill>
              <a:srgbClr val="F5A623"/>
            </a:solidFill>
            <a:prstDash val="solid"/>
          </a:ln>
        </p:spPr>
      </p:sp>
      <p:sp>
        <p:nvSpPr>
          <p:cNvPr id="19" name="Text 17"/>
          <p:cNvSpPr/>
          <p:nvPr/>
        </p:nvSpPr>
        <p:spPr>
          <a:xfrm>
            <a:off x="384048" y="4224528"/>
            <a:ext cx="566928" cy="56692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a:t>
            </a:r>
            <a:endParaRPr lang="en-US" sz="1800" dirty="0"/>
          </a:p>
        </p:txBody>
      </p:sp>
      <p:sp>
        <p:nvSpPr>
          <p:cNvPr id="20" name="Text 18"/>
          <p:cNvSpPr/>
          <p:nvPr/>
        </p:nvSpPr>
        <p:spPr>
          <a:xfrm>
            <a:off x="1060704" y="4151376"/>
            <a:ext cx="7680960" cy="7315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Mentalidad de carrera: 25 cierres = 25 fuentes. 100 cierres = negocio inbound estable.</a:t>
            </a:r>
            <a:endParaRPr lang="en-US" sz="1300" dirty="0"/>
          </a:p>
        </p:txBody>
      </p:sp>
      <p:sp>
        <p:nvSpPr>
          <p:cNvPr id="21" name="Shape 19"/>
          <p:cNvSpPr/>
          <p:nvPr/>
        </p:nvSpPr>
        <p:spPr>
          <a:xfrm>
            <a:off x="274320" y="5084064"/>
            <a:ext cx="8595360" cy="932688"/>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22" name="Shape 20"/>
          <p:cNvSpPr/>
          <p:nvPr/>
        </p:nvSpPr>
        <p:spPr>
          <a:xfrm>
            <a:off x="384048" y="5248656"/>
            <a:ext cx="566928" cy="566928"/>
          </a:xfrm>
          <a:prstGeom prst="ellipse">
            <a:avLst/>
          </a:prstGeom>
          <a:solidFill>
            <a:srgbClr val="F5A623"/>
          </a:solidFill>
          <a:ln w="12700">
            <a:solidFill>
              <a:srgbClr val="F5A623"/>
            </a:solidFill>
            <a:prstDash val="solid"/>
          </a:ln>
        </p:spPr>
      </p:sp>
      <p:sp>
        <p:nvSpPr>
          <p:cNvPr id="23" name="Text 21"/>
          <p:cNvSpPr/>
          <p:nvPr/>
        </p:nvSpPr>
        <p:spPr>
          <a:xfrm>
            <a:off x="384048" y="5248656"/>
            <a:ext cx="566928" cy="566928"/>
          </a:xfrm>
          <a:prstGeom prst="rect">
            <a:avLst/>
          </a:prstGeom>
          <a:noFill/>
          <a:ln/>
        </p:spPr>
        <p:txBody>
          <a:bodyPr wrap="square" rtlCol="0" anchor="ctr"/>
          <a:lstStyle/>
          <a:p>
            <a:pPr algn="ctr" indent="0" marL="0">
              <a:buNone/>
            </a:pPr>
            <a:r>
              <a:rPr lang="en-US" sz="1800" b="1" dirty="0">
                <a:solidFill>
                  <a:srgbClr val="1B2A4A"/>
                </a:solidFill>
                <a:latin typeface="Trebuchet MS" pitchFamily="34" charset="0"/>
                <a:ea typeface="Trebuchet MS" pitchFamily="34" charset="-122"/>
                <a:cs typeface="Trebuchet MS" pitchFamily="34" charset="-120"/>
              </a:rPr>
              <a:t>*</a:t>
            </a:r>
            <a:endParaRPr lang="en-US" sz="1800" dirty="0"/>
          </a:p>
        </p:txBody>
      </p:sp>
      <p:sp>
        <p:nvSpPr>
          <p:cNvPr id="24" name="Text 22"/>
          <p:cNvSpPr/>
          <p:nvPr/>
        </p:nvSpPr>
        <p:spPr>
          <a:xfrm>
            <a:off x="1060704" y="5175504"/>
            <a:ext cx="7680960" cy="731520"/>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Los escenarios avanzados (Investigador, Pareja, Cotizacion) se dominan con practica deliberada.</a:t>
            </a:r>
            <a:endParaRPr lang="en-US" sz="1300" dirty="0"/>
          </a:p>
        </p:txBody>
      </p:sp>
      <p:sp>
        <p:nvSpPr>
          <p:cNvPr id="25" name="Text 23"/>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320040" y="164592"/>
            <a:ext cx="64008" cy="475488"/>
          </a:xfrm>
          <a:prstGeom prst="rect">
            <a:avLst/>
          </a:prstGeom>
          <a:solidFill>
            <a:srgbClr val="F5A623"/>
          </a:solidFill>
          <a:ln w="12700">
            <a:solidFill>
              <a:srgbClr val="F5A623"/>
            </a:solidFill>
            <a:prstDash val="solid"/>
          </a:ln>
        </p:spPr>
      </p:sp>
      <p:sp>
        <p:nvSpPr>
          <p:cNvPr id="3" name="Text 1"/>
          <p:cNvSpPr/>
          <p:nvPr/>
        </p:nvSpPr>
        <p:spPr>
          <a:xfrm>
            <a:off x="457200" y="109728"/>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Tarea del Dia 6</a:t>
            </a:r>
            <a:endParaRPr lang="en-US" sz="3200" dirty="0"/>
          </a:p>
        </p:txBody>
      </p:sp>
      <p:sp>
        <p:nvSpPr>
          <p:cNvPr id="4" name="Text 2"/>
          <p:cNvSpPr/>
          <p:nvPr/>
        </p:nvSpPr>
        <p:spPr>
          <a:xfrm>
            <a:off x="457200" y="621792"/>
            <a:ext cx="8229600" cy="256032"/>
          </a:xfrm>
          <a:prstGeom prst="rect">
            <a:avLst/>
          </a:prstGeom>
          <a:noFill/>
          <a:ln/>
        </p:spPr>
        <p:txBody>
          <a:bodyPr wrap="square" rtlCol="0" anchor="ctr"/>
          <a:lstStyle/>
          <a:p>
            <a:pPr indent="0" marL="0">
              <a:buNone/>
            </a:pPr>
            <a:r>
              <a:rPr lang="en-US" sz="1400" i="1" dirty="0">
                <a:solidFill>
                  <a:srgbClr val="8A9BB5"/>
                </a:solidFill>
                <a:latin typeface="Calibri" pitchFamily="34" charset="0"/>
                <a:ea typeface="Calibri" pitchFamily="34" charset="-122"/>
                <a:cs typeface="Calibri" pitchFamily="34" charset="-120"/>
              </a:rPr>
              <a:t>Prepara tu sistema — el campo te espera manana</a:t>
            </a:r>
            <a:endParaRPr lang="en-US" sz="1400" dirty="0"/>
          </a:p>
        </p:txBody>
      </p:sp>
      <p:sp>
        <p:nvSpPr>
          <p:cNvPr id="5" name="Shape 3"/>
          <p:cNvSpPr/>
          <p:nvPr/>
        </p:nvSpPr>
        <p:spPr>
          <a:xfrm>
            <a:off x="274320" y="987552"/>
            <a:ext cx="8595360" cy="1627632"/>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6" name="Shape 4"/>
          <p:cNvSpPr/>
          <p:nvPr/>
        </p:nvSpPr>
        <p:spPr>
          <a:xfrm>
            <a:off x="274320" y="987552"/>
            <a:ext cx="1005840" cy="438912"/>
          </a:xfrm>
          <a:prstGeom prst="rect">
            <a:avLst/>
          </a:prstGeom>
          <a:solidFill>
            <a:srgbClr val="F5A623"/>
          </a:solidFill>
          <a:ln w="12700">
            <a:solidFill>
              <a:srgbClr val="F5A623"/>
            </a:solidFill>
            <a:prstDash val="solid"/>
          </a:ln>
        </p:spPr>
      </p:sp>
      <p:sp>
        <p:nvSpPr>
          <p:cNvPr id="7" name="Text 5"/>
          <p:cNvSpPr/>
          <p:nvPr/>
        </p:nvSpPr>
        <p:spPr>
          <a:xfrm>
            <a:off x="274320" y="987552"/>
            <a:ext cx="1005840" cy="438912"/>
          </a:xfrm>
          <a:prstGeom prst="rect">
            <a:avLst/>
          </a:prstGeom>
          <a:noFill/>
          <a:ln/>
        </p:spPr>
        <p:txBody>
          <a:bodyPr wrap="square" rtlCol="0" anchor="ctr"/>
          <a:lstStyle/>
          <a:p>
            <a:pPr algn="ctr" indent="0" marL="0">
              <a:buNone/>
            </a:pPr>
            <a:r>
              <a:rPr lang="en-US" sz="2000" b="1" dirty="0">
                <a:solidFill>
                  <a:srgbClr val="1B2A4A"/>
                </a:solidFill>
                <a:latin typeface="Trebuchet MS" pitchFamily="34" charset="0"/>
                <a:ea typeface="Trebuchet MS" pitchFamily="34" charset="-122"/>
                <a:cs typeface="Trebuchet MS" pitchFamily="34" charset="-120"/>
              </a:rPr>
              <a:t>01</a:t>
            </a:r>
            <a:endParaRPr lang="en-US" sz="2000" dirty="0"/>
          </a:p>
        </p:txBody>
      </p:sp>
      <p:sp>
        <p:nvSpPr>
          <p:cNvPr id="8" name="Text 6"/>
          <p:cNvSpPr/>
          <p:nvPr/>
        </p:nvSpPr>
        <p:spPr>
          <a:xfrm>
            <a:off x="1371600" y="1042416"/>
            <a:ext cx="740664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Configura tu sistema de referidos</a:t>
            </a:r>
            <a:endParaRPr lang="en-US" sz="1600" dirty="0"/>
          </a:p>
        </p:txBody>
      </p:sp>
      <p:sp>
        <p:nvSpPr>
          <p:cNvPr id="9" name="Text 7"/>
          <p:cNvSpPr/>
          <p:nvPr/>
        </p:nvSpPr>
        <p:spPr>
          <a:xfrm>
            <a:off x="411480" y="1481328"/>
            <a:ext cx="8321040" cy="1042416"/>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Escribe tu script personal de pedido de referido (al cierre, post-instalacion, y seguimiento). Practicalo hasta que fluya natural — no memorizado.</a:t>
            </a:r>
            <a:endParaRPr lang="en-US" sz="1300" dirty="0"/>
          </a:p>
        </p:txBody>
      </p:sp>
      <p:sp>
        <p:nvSpPr>
          <p:cNvPr id="10" name="Shape 8"/>
          <p:cNvSpPr/>
          <p:nvPr/>
        </p:nvSpPr>
        <p:spPr>
          <a:xfrm>
            <a:off x="274320" y="2743200"/>
            <a:ext cx="8595360" cy="1627632"/>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11" name="Shape 9"/>
          <p:cNvSpPr/>
          <p:nvPr/>
        </p:nvSpPr>
        <p:spPr>
          <a:xfrm>
            <a:off x="274320" y="2743200"/>
            <a:ext cx="1005840" cy="438912"/>
          </a:xfrm>
          <a:prstGeom prst="rect">
            <a:avLst/>
          </a:prstGeom>
          <a:solidFill>
            <a:srgbClr val="4A6FA5"/>
          </a:solidFill>
          <a:ln w="12700">
            <a:solidFill>
              <a:srgbClr val="4A6FA5"/>
            </a:solidFill>
            <a:prstDash val="solid"/>
          </a:ln>
        </p:spPr>
      </p:sp>
      <p:sp>
        <p:nvSpPr>
          <p:cNvPr id="12" name="Text 10"/>
          <p:cNvSpPr/>
          <p:nvPr/>
        </p:nvSpPr>
        <p:spPr>
          <a:xfrm>
            <a:off x="274320" y="2743200"/>
            <a:ext cx="1005840"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02</a:t>
            </a:r>
            <a:endParaRPr lang="en-US" sz="2000" dirty="0"/>
          </a:p>
        </p:txBody>
      </p:sp>
      <p:sp>
        <p:nvSpPr>
          <p:cNvPr id="13" name="Text 11"/>
          <p:cNvSpPr/>
          <p:nvPr/>
        </p:nvSpPr>
        <p:spPr>
          <a:xfrm>
            <a:off x="1371600" y="2798064"/>
            <a:ext cx="740664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Optimiza tu presencia digital</a:t>
            </a:r>
            <a:endParaRPr lang="en-US" sz="1600" dirty="0"/>
          </a:p>
        </p:txBody>
      </p:sp>
      <p:sp>
        <p:nvSpPr>
          <p:cNvPr id="14" name="Text 12"/>
          <p:cNvSpPr/>
          <p:nvPr/>
        </p:nvSpPr>
        <p:spPr>
          <a:xfrm>
            <a:off x="411480" y="3236976"/>
            <a:ext cx="8321040" cy="1042416"/>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Crea o actualiza tu perfil de Google Business. Prepara el link de resenas que enviaras a cada cliente. Escribe tu primer post de redes para compartir despues de tu primera instalacion.</a:t>
            </a:r>
            <a:endParaRPr lang="en-US" sz="1300" dirty="0"/>
          </a:p>
        </p:txBody>
      </p:sp>
      <p:sp>
        <p:nvSpPr>
          <p:cNvPr id="15" name="Shape 13"/>
          <p:cNvSpPr/>
          <p:nvPr/>
        </p:nvSpPr>
        <p:spPr>
          <a:xfrm>
            <a:off x="274320" y="4498848"/>
            <a:ext cx="8595360" cy="1627632"/>
          </a:xfrm>
          <a:prstGeom prst="rect">
            <a:avLst/>
          </a:prstGeom>
          <a:solidFill>
            <a:srgbClr val="2D4472"/>
          </a:solidFill>
          <a:ln w="12700">
            <a:solidFill>
              <a:srgbClr val="2D4472"/>
            </a:solidFill>
            <a:prstDash val="solid"/>
          </a:ln>
          <a:effectLst>
            <a:outerShdw sx="100000" sy="100000" kx="0" ky="0" algn="bl" rotWithShape="0" blurRad="76200" dist="38100" dir="8100000">
              <a:srgbClr val="000000">
                <a:alpha val="18000"/>
              </a:srgbClr>
            </a:outerShdw>
          </a:effectLst>
        </p:spPr>
      </p:sp>
      <p:sp>
        <p:nvSpPr>
          <p:cNvPr id="16" name="Shape 14"/>
          <p:cNvSpPr/>
          <p:nvPr/>
        </p:nvSpPr>
        <p:spPr>
          <a:xfrm>
            <a:off x="274320" y="4498848"/>
            <a:ext cx="1005840" cy="438912"/>
          </a:xfrm>
          <a:prstGeom prst="rect">
            <a:avLst/>
          </a:prstGeom>
          <a:solidFill>
            <a:srgbClr val="27AE60"/>
          </a:solidFill>
          <a:ln w="12700">
            <a:solidFill>
              <a:srgbClr val="27AE60"/>
            </a:solidFill>
            <a:prstDash val="solid"/>
          </a:ln>
        </p:spPr>
      </p:sp>
      <p:sp>
        <p:nvSpPr>
          <p:cNvPr id="17" name="Text 15"/>
          <p:cNvSpPr/>
          <p:nvPr/>
        </p:nvSpPr>
        <p:spPr>
          <a:xfrm>
            <a:off x="274320" y="4498848"/>
            <a:ext cx="1005840" cy="438912"/>
          </a:xfrm>
          <a:prstGeom prst="rect">
            <a:avLst/>
          </a:prstGeom>
          <a:noFill/>
          <a:ln/>
        </p:spPr>
        <p:txBody>
          <a:bodyPr wrap="square"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03</a:t>
            </a:r>
            <a:endParaRPr lang="en-US" sz="2000" dirty="0"/>
          </a:p>
        </p:txBody>
      </p:sp>
      <p:sp>
        <p:nvSpPr>
          <p:cNvPr id="18" name="Text 16"/>
          <p:cNvSpPr/>
          <p:nvPr/>
        </p:nvSpPr>
        <p:spPr>
          <a:xfrm>
            <a:off x="1371600" y="4553712"/>
            <a:ext cx="7406640" cy="347472"/>
          </a:xfrm>
          <a:prstGeom prst="rect">
            <a:avLst/>
          </a:prstGeom>
          <a:noFill/>
          <a:ln/>
        </p:spPr>
        <p:txBody>
          <a:bodyPr wrap="square" rtlCol="0" anchor="ctr"/>
          <a:lstStyle/>
          <a:p>
            <a:pPr indent="0" marL="0">
              <a:buNone/>
            </a:pPr>
            <a:r>
              <a:rPr lang="en-US" sz="1600" b="1" dirty="0">
                <a:solidFill>
                  <a:srgbClr val="F5A623"/>
                </a:solidFill>
                <a:latin typeface="Trebuchet MS" pitchFamily="34" charset="0"/>
                <a:ea typeface="Trebuchet MS" pitchFamily="34" charset="-122"/>
                <a:cs typeface="Trebuchet MS" pitchFamily="34" charset="-120"/>
              </a:rPr>
              <a:t>Prepara tu plan para el Dia 7</a:t>
            </a:r>
            <a:endParaRPr lang="en-US" sz="1600" dirty="0"/>
          </a:p>
        </p:txBody>
      </p:sp>
      <p:sp>
        <p:nvSpPr>
          <p:cNvPr id="19" name="Text 17"/>
          <p:cNvSpPr/>
          <p:nvPr/>
        </p:nvSpPr>
        <p:spPr>
          <a:xfrm>
            <a:off x="411480" y="4992624"/>
            <a:ext cx="8321040" cy="1042416"/>
          </a:xfrm>
          <a:prstGeom prst="rect">
            <a:avLst/>
          </a:prstGeom>
          <a:noFill/>
          <a:ln/>
        </p:spPr>
        <p:txBody>
          <a:bodyPr wrap="square" rtlCol="0" anchor="ctr"/>
          <a:lstStyle/>
          <a:p>
            <a:pPr indent="0" marL="0">
              <a:buNone/>
            </a:pPr>
            <a:r>
              <a:rPr lang="en-US" sz="1300" dirty="0">
                <a:solidFill>
                  <a:srgbClr val="F4F6FA"/>
                </a:solidFill>
                <a:latin typeface="Calibri" pitchFamily="34" charset="0"/>
                <a:ea typeface="Calibri" pitchFamily="34" charset="-122"/>
                <a:cs typeface="Calibri" pitchFamily="34" charset="-120"/>
              </a:rPr>
              <a:t>Repasa los 5 puntos de observacion para modo sombra. Practica las 5 respuestas del gerente (opener, descubrimiento, objeciones esperadas, tipo de cliente, cierre). Duermete temprano — manana es real.</a:t>
            </a:r>
            <a:endParaRPr lang="en-US" sz="1300" dirty="0"/>
          </a:p>
        </p:txBody>
      </p:sp>
      <p:sp>
        <p:nvSpPr>
          <p:cNvPr id="20" name="Shape 18"/>
          <p:cNvSpPr/>
          <p:nvPr/>
        </p:nvSpPr>
        <p:spPr>
          <a:xfrm>
            <a:off x="274320" y="6291072"/>
            <a:ext cx="8595360" cy="438912"/>
          </a:xfrm>
          <a:prstGeom prst="rect">
            <a:avLst/>
          </a:prstGeom>
          <a:solidFill>
            <a:srgbClr val="F5A623"/>
          </a:solidFill>
          <a:ln w="12700">
            <a:solidFill>
              <a:srgbClr val="F5A623"/>
            </a:solidFill>
            <a:prstDash val="solid"/>
          </a:ln>
        </p:spPr>
      </p:sp>
      <p:sp>
        <p:nvSpPr>
          <p:cNvPr id="21" name="Text 19"/>
          <p:cNvSpPr/>
          <p:nvPr/>
        </p:nvSpPr>
        <p:spPr>
          <a:xfrm>
            <a:off x="274320" y="6291072"/>
            <a:ext cx="8595360" cy="438912"/>
          </a:xfrm>
          <a:prstGeom prst="rect">
            <a:avLst/>
          </a:prstGeom>
          <a:noFill/>
          <a:ln/>
        </p:spPr>
        <p:txBody>
          <a:bodyPr wrap="square" rtlCol="0" anchor="ctr"/>
          <a:lstStyle/>
          <a:p>
            <a:pPr algn="ctr" indent="0" marL="0">
              <a:buNone/>
            </a:pPr>
            <a:r>
              <a:rPr lang="en-US" sz="1400" b="1" dirty="0">
                <a:solidFill>
                  <a:srgbClr val="1B2A4A"/>
                </a:solidFill>
                <a:latin typeface="Trebuchet MS" pitchFamily="34" charset="0"/>
                <a:ea typeface="Trebuchet MS" pitchFamily="34" charset="-122"/>
                <a:cs typeface="Trebuchet MS" pitchFamily="34" charset="-120"/>
              </a:rPr>
              <a:t>Manana: Dia 7 — Certificacion de Campo y Lanzamiento en Solitario</a:t>
            </a:r>
            <a:endParaRPr lang="en-US" sz="1400" dirty="0"/>
          </a:p>
        </p:txBody>
      </p:sp>
      <p:sp>
        <p:nvSpPr>
          <p:cNvPr id="22" name="Text 20"/>
          <p:cNvSpPr/>
          <p:nvPr/>
        </p:nvSpPr>
        <p:spPr>
          <a:xfrm>
            <a:off x="8046720" y="6400800"/>
            <a:ext cx="1005840" cy="201168"/>
          </a:xfrm>
          <a:prstGeom prst="rect">
            <a:avLst/>
          </a:prstGeom>
          <a:noFill/>
          <a:ln/>
        </p:spPr>
        <p:txBody>
          <a:bodyPr wrap="square" rtlCol="0" anchor="ctr"/>
          <a:lstStyle/>
          <a:p>
            <a:pPr algn="r" indent="0" marL="0">
              <a:buNone/>
            </a:pPr>
            <a:r>
              <a:rPr lang="en-US" sz="800" dirty="0">
                <a:solidFill>
                  <a:srgbClr val="8A9BB5"/>
                </a:solidFill>
                <a:latin typeface="Calibri" pitchFamily="34" charset="0"/>
                <a:ea typeface="Calibri" pitchFamily="34" charset="-122"/>
                <a:cs typeface="Calibri" pitchFamily="34" charset="-120"/>
              </a:rPr>
              <a:t>[LOGO]</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SeptiVolt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SeptiVolt Dia 6 ES</dc:title>
  <dc:subject>Dia 6 — Post-Venta, Reputacion y Crecimiento de Carrera</dc:subject>
  <dc:creator>SeptiVolt</dc:creator>
  <cp:lastModifiedBy>SeptiVolt</cp:lastModifiedBy>
  <cp:revision>1</cp:revision>
  <dcterms:created xsi:type="dcterms:W3CDTF">2026-05-11T02:29:49Z</dcterms:created>
  <dcterms:modified xsi:type="dcterms:W3CDTF">2026-05-11T02:29:49Z</dcterms:modified>
</cp:coreProperties>
</file>