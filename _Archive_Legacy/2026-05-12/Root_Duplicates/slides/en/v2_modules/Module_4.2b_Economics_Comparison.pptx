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Two-path road visual representing utility vs. solar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12-month wait-and-see cost accumulation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Home value premium bar chart by CA market, solar vs. non-solar.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5-step economic presentation template infographic.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vs. Utility: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25-Year Economic Battle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Cost · ROI vs. Cash Flow · Wait-and-See Tax · Home Value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homeowner who waits 12 months to go solar doesn't save money — they spend it on utility bills while solar gets cheaper."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vs. Utility: The 25-Year Battle Framed Correctly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Path: Rates increase 5–8%/yr historically — a $200/mo bill grows to $700–$900/mo in 25 years (compounding)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Path: Production cost is fixed at $0 — the only variable is loan payment (finite) vs. utility (infinite)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Comparison: Total utility spending over 25 years vs. total solar cost (system + loan interest + NBCs)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National Finding: Solar saves $20,000–$50,000+ over 25 years depending on utility rate and system size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That Works: 'You're not deciding whether to spend money on energy — you're deciding WHO you pay for the next 25 years.'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Two-path road graphic: Left fork labeled 'Utility' with a rising cost arrow and a utility company building at the end. Right fork labeled 'Solar + Battery' with a flat cost line and a house with solar panels. Simple, bold, high-impact visual metaphor.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this line: 'I'm going to show you two paths. Both involve spending money on energy every month for the next 25 years. The question is which path builds something — and which path builds nothing.'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Cost Analysis: The Numbers Speak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25-Yr Utility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$200/mo starting bill at 6% annual escalation over 25 years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05156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15468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25-Yr Solar 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financed system total cost including interest + NBCs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05156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$48K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8932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advantage of solar over utility over 25 years in this scenario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703320"/>
            <a:ext cx="8686800" cy="38404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 figures are illustrative. Actual savings depend on system size, utility rate, financing terms, and rate escalation. Always model with the homeowner's actual bill.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 generic numbers as the homeowner's numbers. Always say: 'Let me recalculate this with your actual bill and your specific system — every home is different, but the pattern is the same.'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'Wait-and-See' Tax: The Cost of 12 Months of Utility Bills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Every month a homeowner delays solar, they pay utility bills that are NOT recoverable — it's money permanently gone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 $200/mo × 12 months = $2,400 in irretrievable spending while 'thinking about it'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Additionally: During that delay, utility rates escalate (~0.5%/mo), so month 12 costs more than month 1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 Myth: 'Panels are getting cheaper, so I'll wait.' Truth: ITC rate is unchanged, SGIP funding may dry up, and utility costs compound daily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Frame: 'There is no neutral position on this decision. Every day you wait has a cost — it's just invisible because you're paying it in installments to the utility.'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graphic: Calendar with months 1-12 shown. Each month has a utility bill icon. Bottom shows a running total ($200 + $202 + $204... accumulating). Final amount circled in red: '$2,453 spent while deciding.' Bold, simple, impactful design.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'If I showed you that waiting 12 months to go solar will cost you about $2,400 in utility bills you'll never get back — would that change how you're thinking about timing?' Then be quiet.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vs. Cash Flow: Two Ways to Win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Perspective (Ownership Focus)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Typically 5–8 years for cash purchase in CA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payback: Pure savings for remaining 17–20 years of system life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IRR: Typically 8–12% — outperforms many investment vehicles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value increase adds to total return (see next slide)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Cash buyers who think in terms of investment returns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Perspective (Monthly Focus)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If loan payment &lt; utility bill = immediate positive cash flow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$260 utility → $180 solar loan = $80/mo savings from day 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time: As utility escalates, loan payment stays fixed — gap widens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loan payoff: Full $260+/mo savings (adjusted for escalation)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Budget-conscious buyers who need to see monthly impact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room — if the homeowner is analytical, lead with ROI. If they're budget-focused, lead with the monthly cash flow comparison. Ask: 'Do you think more in terms of total return over time, or what it does to your monthly budget?'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Value Appreciation: The Data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Association of Realtors: Solar adds approximately $3–$5 of home value per $1 of annual electricity savings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LBNL (Lawrence Berkeley Lab) Study: Average solar premium on home sale = $15,000 nationally; higher in CA markets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Data: Homes with solar sell 4.1% faster and at 4% premium over comparable non-solar homes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Method: Income approach — appraiser values the energy savings as an annualized income stream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Rule: Cannot guarantee home value increase — 'Research shows solar homes typically command a premium. Your actual value will be determined by a licensed appraiser at time of sale.'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comparison: 'Average Home Sale Price — With Solar' vs. 'Without Solar' across 5 CA markets (LA, SD, SF Bay Area, Sacramento, Riverside). Solar bar consistently 3–5% taller. Data source cited: LBNL 2023. Clean, branded chart.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a decision tiebreaker: 'Even if you move in 7 years, solar has typically returned more than its cost in home value appreciation — and you captured 7 years of energy savings along the way.'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Economic Recap: Your Presentation Template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Set the Stage: 'Today I want to show you two financial futures. Both involve spending money on energy — the question is which builds value.'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Current State: 'Your current bill is $X. At historical rate growth, you'll spend approximately $Y over 25 years.'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Solar Path: 'Your system is $Z. After ITC, net cost is $A. Monthly payment is $B vs. your current $X.'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Long View: 'After your loan is paid off in N years, your energy is effectively free for the remaining system life.'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The Choice: 'So the question isn't whether you can afford solar — it's whether you can afford to keep funding the utility for the next 25 years without building any equity.'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template slide visual: A clean 5-step numbered infographic showing the exact flow. Each step has a brief label and icon. Steps 1-5 connected by arrows. This IS the template — reps can adapt it for every homeowner presentation. SeptiVolt branded.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five-step structure is your economic case. Memorize it. Personalize it with every homeowner's actual numbers. The structure doesn't change — only the variables 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Module_4.2b_Economics_Comparison</dc:title>
  <dc:subject>PptxGenJS Presentation</dc:subject>
  <dc:creator>SeptiVolt</dc:creator>
  <cp:lastModifiedBy>SeptiVolt</cp:lastModifiedBy>
  <cp:revision>1</cp:revision>
  <dcterms:created xsi:type="dcterms:W3CDTF">2026-04-16T02:30:01Z</dcterms:created>
  <dcterms:modified xsi:type="dcterms:W3CDTF">2026-04-16T02:30:01Z</dcterms:modified>
</cp:coreProperties>
</file>