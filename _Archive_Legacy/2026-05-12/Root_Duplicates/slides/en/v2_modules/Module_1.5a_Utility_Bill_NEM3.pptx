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Side-by-side comparison of tiered vs. TOU rate structures with visual clarity.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Annotated utility bill closeup showing NBC line items clearly labeled and highlighted.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5029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137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$1,000 Mistake: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Utility Bill Analysis &amp; NEM 3.0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Rate Structures · NEM 3.0 Economics · Battery ROI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8412480" cy="713232"/>
          </a:xfrm>
          <a:prstGeom prst="rect">
            <a:avLst/>
          </a:prstGeom>
          <a:solidFill>
            <a:srgbClr val="1A2E3F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456432"/>
            <a:ext cx="54864" cy="7132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solar systems are sized wrong because reps never learned to read the bill."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" y="4956048"/>
            <a:ext cx="9015984" cy="1874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956048"/>
            <a:ext cx="87782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  |  Energy Independence Education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Bill: Tiered vs. Time-of-Use Rates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Rates: Baseline → Tier 2 → Tier 3 — usage volume triggers higher cost per kWh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Time-of-Use (TOU): Cost determined by WHEN power is used, not just how much (peak vs. off-peak)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Field: 'Rate Schedule' or 'Rate Plan' — locate this first on every bill you analyze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Allowance: First X kWh at lowest rate — varies by utility and climate zone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Error Reps Make: Quoting 100% offset on raw kWh without splitting peak vs. off-peak usage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 diagram: left side shows a tiered rate staircase (Baseline/Tier 2/Tier 3 with $/kWh rising at each step); right side shows a 24-hour TOU clock graphic with peak hours (4-9pm) shaded orange and off-peak hours in blue. SeptiVolt branded.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the Rate Plan box and say: 'This 3-letter code tells us everything about how your utility charges you.'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3.0: From Net Credit to Avoided Cost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24128"/>
            <a:ext cx="42062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2.0 (Legacy)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solar credited at RETAIL rate (~28–32¢/kWh)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metering: true dollar-for-dollar offset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sized for 100% offset actually achieved 100%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battery incentive — grid was a free 'battery'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produce more than you use, bank the credits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24128"/>
            <a:ext cx="420624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3.0 (Current Rule)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solar credited at 'Avoided Cost' (~5–8¢/kWh) — 80% cut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power to grid now worth far less than buying it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production offset ≠ 100% bill offset anymore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becomes the primary value driver — time-shifting is key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 shift: maximize self-consumption, minimize export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homeowner: 'NEM 3.0 changed the rules. Under the old system, the grid worked like a bank. Now, we design systems to use more of what you produce — which is why battery is part of every conversation.'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Economics in NEM 3.0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51560"/>
            <a:ext cx="26517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5¢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Credit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earn sending excess solar to the grid (NEM 3.0)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10515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051560"/>
            <a:ext cx="2651760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45¢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15468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Buy Rate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pay utilities during evening peak hours (TOU E-TOU-C)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105156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1051560"/>
            <a:ext cx="2651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2801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598932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Self-Consumption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89320" y="267004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with battery vs. ~30% without — capturing full retail value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703320"/>
            <a:ext cx="8686800" cy="384048"/>
          </a:xfrm>
          <a:prstGeom prst="rect">
            <a:avLst/>
          </a:prstGeom>
          <a:solidFill>
            <a:srgbClr val="E8EFF5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03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ROI: Typical CA homeowner recovers battery cost in 3–5 years through avoided peak charges alone. Without battery, every excess kWh exported is a 40¢ arbitrage loss.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it this way: 'Battery isn't an upgrade — it's what makes solar financially complete in NEM 3.0. It turns a 5-cent asset into a 45-cent asset every single evening.'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Non-Bypassable Charges: What Solar Can't Touch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Non-Bypassable Charges (NBCs) are mandatory fees applied to every kWh consumed — solar does not eliminate them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NBCs: DWR Bond Charge, Nuclear Decommissioning, Public Purpose Programs (CARE, FERA, wildfire funds)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range: $0.02–0.05/kWh — appears small, but compounds to $200–400/year over system life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Compliance Disclosure: 'Solar will dramatically reduce your bill but not to $0. These charges are utility-mandated and remain.'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Impact: Setting this expectation pre-sale eliminates one of the top 3 causes of post-install complaints and cancellations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Screenshot-style graphic of a sample utility bill with NBC line items highlighted in red/orange circles. Annotation arrows pointing to: DWR Bond, Nuclear Decommissioning, PPPA Surcharge. Total NBC amount circled in bold at bottom.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'Even with solar, you'll still receive a small utility bill — typically just the monthly connection fee plus these non-bypassable charges. Most clients see $8–15/month instead of $200+.'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Field Exercise: Find the Baseline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132320" y="1051560"/>
            <a:ext cx="178308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051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EXERCISE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8813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0515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sample utility bill from your Trainee Workbook (Page 12)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1453896"/>
            <a:ext cx="54864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59105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15544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Rate Plan code — is this Tiered or TOU? Circle your answer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1956816"/>
            <a:ext cx="54864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09397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" y="20574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'Baseline Allowance' — record the kWh amount and $/kWh rate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" y="2459736"/>
            <a:ext cx="54864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59689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25603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12-month usage summary — calculate annual kWh and average monthly kWh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" y="2962656"/>
            <a:ext cx="54864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309981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" y="30632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highlight all Non-Bypassable Charges — total the monthly NBC amount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4048" y="3465576"/>
            <a:ext cx="54864" cy="1188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602736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" y="35661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Bill Anatomy Script (Workbook p.13) to present your findings to your trainer in 90 seconds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who can read a bill in under 60 seconds, out loud, with confidence, earns the homeowner's trust before the proposal is even opened.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Module_1.5a_Utility_Bill_NEM3</dc:title>
  <dc:subject>PptxGenJS Presentation</dc:subject>
  <dc:creator>SeptiVolt</dc:creator>
  <cp:lastModifiedBy>SeptiVolt</cp:lastModifiedBy>
  <cp:revision>1</cp:revision>
  <dcterms:created xsi:type="dcterms:W3CDTF">2026-04-16T02:30:00Z</dcterms:created>
  <dcterms:modified xsi:type="dcterms:W3CDTF">2026-04-16T02:30:00Z</dcterms:modified>
</cp:coreProperties>
</file>