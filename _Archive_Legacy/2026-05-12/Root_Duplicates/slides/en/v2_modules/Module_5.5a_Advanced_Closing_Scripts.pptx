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Presentation momentum arc showing confidence building to natural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Two-option choice card comparison visual.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Price-drop inversion math comparison visual.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Buying signals visual reference card with 8 key indicators.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Visual silence technique diagram — question → space →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0891B2"/>
          </a:solidFill>
          <a:ln w="12700">
            <a:solidFill>
              <a:srgbClr val="0891B2"/>
            </a:solidFill>
            <a:prstDash val="solid"/>
          </a:ln>
        </p:spPr>
      </p:sp>
      <p:sp>
        <p:nvSpPr>
          <p:cNvPr id="3" name="Shape 1"/>
          <p:cNvSpPr/>
          <p:nvPr/>
        </p:nvSpPr>
        <p:spPr>
          <a:xfrm>
            <a:off x="128016" y="0"/>
            <a:ext cx="9015984" cy="50292"/>
          </a:xfrm>
          <a:prstGeom prst="rect">
            <a:avLst/>
          </a:prstGeom>
          <a:solidFill>
            <a:srgbClr val="F4A61D"/>
          </a:solidFill>
          <a:ln w="12700">
            <a:solidFill>
              <a:srgbClr val="F4A61D"/>
            </a:solidFill>
            <a:prstDash val="solid"/>
          </a:ln>
        </p:spPr>
      </p:sp>
      <p:sp>
        <p:nvSpPr>
          <p:cNvPr id="4" name="Shape 2"/>
          <p:cNvSpPr/>
          <p:nvPr/>
        </p:nvSpPr>
        <p:spPr>
          <a:xfrm>
            <a:off x="365760" y="274320"/>
            <a:ext cx="2103120" cy="329184"/>
          </a:xfrm>
          <a:prstGeom prst="rect">
            <a:avLst/>
          </a:prstGeom>
          <a:solidFill>
            <a:srgbClr val="F4A61D"/>
          </a:solidFill>
          <a:ln w="12700">
            <a:solidFill>
              <a:srgbClr val="F4A61D"/>
            </a:solidFill>
            <a:prstDash val="solid"/>
          </a:ln>
        </p:spPr>
      </p:sp>
      <p:sp>
        <p:nvSpPr>
          <p:cNvPr id="5" name="Text 3"/>
          <p:cNvSpPr/>
          <p:nvPr/>
        </p:nvSpPr>
        <p:spPr>
          <a:xfrm>
            <a:off x="365760" y="274320"/>
            <a:ext cx="2103120" cy="329184"/>
          </a:xfrm>
          <a:prstGeom prst="rect">
            <a:avLst/>
          </a:prstGeom>
          <a:noFill/>
          <a:ln/>
        </p:spPr>
        <p:txBody>
          <a:bodyPr wrap="square" lIns="0" tIns="0" rIns="0" bIns="0" rtlCol="0" anchor="ctr"/>
          <a:lstStyle/>
          <a:p>
            <a:pPr algn="ctr" indent="0" marL="0">
              <a:buNone/>
            </a:pPr>
            <a:r>
              <a:rPr lang="en-US" sz="1100" b="1" dirty="0">
                <a:solidFill>
                  <a:srgbClr val="0D1B2A"/>
                </a:solidFill>
                <a:latin typeface="Calibri" pitchFamily="34" charset="0"/>
                <a:ea typeface="Calibri" pitchFamily="34" charset="-122"/>
                <a:cs typeface="Calibri" pitchFamily="34" charset="-120"/>
              </a:rPr>
              <a:t>MODULE 5.5a</a:t>
            </a:r>
            <a:endParaRPr lang="en-US" sz="1100" dirty="0"/>
          </a:p>
        </p:txBody>
      </p:sp>
      <p:sp>
        <p:nvSpPr>
          <p:cNvPr id="6" name="Text 4"/>
          <p:cNvSpPr/>
          <p:nvPr/>
        </p:nvSpPr>
        <p:spPr>
          <a:xfrm>
            <a:off x="6583680" y="137160"/>
            <a:ext cx="2377440" cy="228600"/>
          </a:xfrm>
          <a:prstGeom prst="rect">
            <a:avLst/>
          </a:prstGeom>
          <a:noFill/>
          <a:ln/>
        </p:spPr>
        <p:txBody>
          <a:bodyPr wrap="square" rtlCol="0" anchor="ctr"/>
          <a:lstStyle/>
          <a:p>
            <a:pPr algn="r" indent="0" marL="0">
              <a:buNone/>
            </a:pPr>
            <a:r>
              <a:rPr lang="en-US" sz="900" b="1" spc="500" kern="0" dirty="0">
                <a:solidFill>
                  <a:srgbClr val="64748B"/>
                </a:solidFill>
                <a:latin typeface="Calibri" pitchFamily="34" charset="0"/>
                <a:ea typeface="Calibri" pitchFamily="34" charset="-122"/>
                <a:cs typeface="Calibri" pitchFamily="34" charset="-120"/>
              </a:rPr>
              <a:t>SEPTIVOLT</a:t>
            </a:r>
            <a:endParaRPr lang="en-US" sz="900" dirty="0"/>
          </a:p>
        </p:txBody>
      </p:sp>
      <p:sp>
        <p:nvSpPr>
          <p:cNvPr id="7" name="Text 5"/>
          <p:cNvSpPr/>
          <p:nvPr/>
        </p:nvSpPr>
        <p:spPr>
          <a:xfrm>
            <a:off x="365760" y="804672"/>
            <a:ext cx="8412480" cy="1920240"/>
          </a:xfrm>
          <a:prstGeom prst="rect">
            <a:avLst/>
          </a:prstGeom>
          <a:noFill/>
          <a:ln/>
        </p:spPr>
        <p:txBody>
          <a:bodyPr wrap="square" rtlCol="0" anchor="t"/>
          <a:lstStyle/>
          <a:p>
            <a:pPr algn="l" indent="0" marL="0">
              <a:buNone/>
            </a:pPr>
            <a:r>
              <a:rPr lang="en-US" sz="3600" b="1" dirty="0">
                <a:solidFill>
                  <a:srgbClr val="FFFFFF"/>
                </a:solidFill>
                <a:latin typeface="Calibri" pitchFamily="34" charset="0"/>
                <a:ea typeface="Calibri" pitchFamily="34" charset="-122"/>
                <a:cs typeface="Calibri" pitchFamily="34" charset="-120"/>
              </a:rPr>
              <a:t>Advanced Closing Scripts:</a:t>
            </a:r>
            <a:endParaRPr lang="en-US" sz="3600" dirty="0"/>
          </a:p>
          <a:p>
            <a:pPr algn="l" indent="0" marL="0">
              <a:buNone/>
            </a:pPr>
            <a:r>
              <a:rPr lang="en-US" sz="3600" b="1" dirty="0">
                <a:solidFill>
                  <a:srgbClr val="FFFFFF"/>
                </a:solidFill>
                <a:latin typeface="Calibri" pitchFamily="34" charset="0"/>
                <a:ea typeface="Calibri" pitchFamily="34" charset="-122"/>
                <a:cs typeface="Calibri" pitchFamily="34" charset="-120"/>
              </a:rPr>
              <a:t>Building High-Momentum Decisions</a:t>
            </a:r>
            <a:endParaRPr lang="en-US" sz="3600" dirty="0"/>
          </a:p>
        </p:txBody>
      </p:sp>
      <p:sp>
        <p:nvSpPr>
          <p:cNvPr id="8" name="Text 6"/>
          <p:cNvSpPr/>
          <p:nvPr/>
        </p:nvSpPr>
        <p:spPr>
          <a:xfrm>
            <a:off x="365760" y="2834640"/>
            <a:ext cx="7772400" cy="502920"/>
          </a:xfrm>
          <a:prstGeom prst="rect">
            <a:avLst/>
          </a:prstGeom>
          <a:noFill/>
          <a:ln/>
        </p:spPr>
        <p:txBody>
          <a:bodyPr wrap="square" rtlCol="0" anchor="ctr"/>
          <a:lstStyle/>
          <a:p>
            <a:pPr algn="l" indent="0" marL="0">
              <a:buNone/>
            </a:pPr>
            <a:r>
              <a:rPr lang="en-US" sz="1500" dirty="0">
                <a:solidFill>
                  <a:srgbClr val="0891B2"/>
                </a:solidFill>
                <a:latin typeface="Calibri" pitchFamily="34" charset="0"/>
                <a:ea typeface="Calibri" pitchFamily="34" charset="-122"/>
                <a:cs typeface="Calibri" pitchFamily="34" charset="-120"/>
              </a:rPr>
              <a:t>Choice Close · Price-Drop Inversion · Real Urgency · Buying Signals · The Silence Technique</a:t>
            </a:r>
            <a:endParaRPr lang="en-US" sz="1500" dirty="0"/>
          </a:p>
        </p:txBody>
      </p:sp>
      <p:sp>
        <p:nvSpPr>
          <p:cNvPr id="9" name="Shape 7"/>
          <p:cNvSpPr/>
          <p:nvPr/>
        </p:nvSpPr>
        <p:spPr>
          <a:xfrm>
            <a:off x="365760" y="3456432"/>
            <a:ext cx="8412480" cy="713232"/>
          </a:xfrm>
          <a:prstGeom prst="rect">
            <a:avLst/>
          </a:prstGeom>
          <a:solidFill>
            <a:srgbClr val="1A2E3F"/>
          </a:solidFill>
          <a:ln w="12700">
            <a:solidFill>
              <a:srgbClr val="F4A61D"/>
            </a:solidFill>
            <a:prstDash val="solid"/>
          </a:ln>
        </p:spPr>
      </p:sp>
      <p:sp>
        <p:nvSpPr>
          <p:cNvPr id="10" name="Shape 8"/>
          <p:cNvSpPr/>
          <p:nvPr/>
        </p:nvSpPr>
        <p:spPr>
          <a:xfrm>
            <a:off x="365760" y="3456432"/>
            <a:ext cx="54864" cy="713232"/>
          </a:xfrm>
          <a:prstGeom prst="rect">
            <a:avLst/>
          </a:prstGeom>
          <a:solidFill>
            <a:srgbClr val="F4A61D"/>
          </a:solidFill>
          <a:ln w="12700">
            <a:solidFill>
              <a:srgbClr val="F4A61D"/>
            </a:solidFill>
            <a:prstDash val="solid"/>
          </a:ln>
        </p:spPr>
      </p:sp>
      <p:sp>
        <p:nvSpPr>
          <p:cNvPr id="11" name="Text 9"/>
          <p:cNvSpPr/>
          <p:nvPr/>
        </p:nvSpPr>
        <p:spPr>
          <a:xfrm>
            <a:off x="548640" y="3456432"/>
            <a:ext cx="8138160" cy="713232"/>
          </a:xfrm>
          <a:prstGeom prst="rect">
            <a:avLst/>
          </a:prstGeom>
          <a:noFill/>
          <a:ln/>
        </p:spPr>
        <p:txBody>
          <a:bodyPr wrap="square" rtlCol="0" anchor="ctr"/>
          <a:lstStyle/>
          <a:p>
            <a:pPr algn="l" indent="0" marL="0">
              <a:buNone/>
            </a:pPr>
            <a:r>
              <a:rPr lang="en-US" sz="1200" i="1" dirty="0">
                <a:solidFill>
                  <a:srgbClr val="F4A61D"/>
                </a:solidFill>
                <a:latin typeface="Calibri" pitchFamily="34" charset="0"/>
                <a:ea typeface="Calibri" pitchFamily="34" charset="-122"/>
                <a:cs typeface="Calibri" pitchFamily="34" charset="-120"/>
              </a:rPr>
              <a:t>"Closing isn't pressure — it's guiding a confident person to a decision they've already made logically."</a:t>
            </a:r>
            <a:endParaRPr lang="en-US" sz="1200" dirty="0"/>
          </a:p>
        </p:txBody>
      </p:sp>
      <p:sp>
        <p:nvSpPr>
          <p:cNvPr id="12" name="Shape 10"/>
          <p:cNvSpPr/>
          <p:nvPr/>
        </p:nvSpPr>
        <p:spPr>
          <a:xfrm>
            <a:off x="128016" y="4956048"/>
            <a:ext cx="9015984" cy="187452"/>
          </a:xfrm>
          <a:prstGeom prst="rect">
            <a:avLst/>
          </a:prstGeom>
          <a:solidFill>
            <a:srgbClr val="065A82"/>
          </a:solidFill>
          <a:ln w="12700">
            <a:solidFill>
              <a:srgbClr val="065A82"/>
            </a:solidFill>
            <a:prstDash val="solid"/>
          </a:ln>
        </p:spPr>
      </p:sp>
      <p:sp>
        <p:nvSpPr>
          <p:cNvPr id="13" name="Text 11"/>
          <p:cNvSpPr/>
          <p:nvPr/>
        </p:nvSpPr>
        <p:spPr>
          <a:xfrm>
            <a:off x="182880" y="4956048"/>
            <a:ext cx="8778240" cy="187452"/>
          </a:xfrm>
          <a:prstGeom prst="rect">
            <a:avLst/>
          </a:prstGeom>
          <a:noFill/>
          <a:ln/>
        </p:spPr>
        <p:txBody>
          <a:bodyPr wrap="square" rtlCol="0" anchor="ctr"/>
          <a:lstStyle/>
          <a:p>
            <a:pPr algn="ctr" indent="0" marL="0">
              <a:buNone/>
            </a:pPr>
            <a:r>
              <a:rPr lang="en-US" sz="800" dirty="0">
                <a:solidFill>
                  <a:srgbClr val="F0F4F8"/>
                </a:solidFill>
                <a:latin typeface="Calibri" pitchFamily="34" charset="0"/>
                <a:ea typeface="Calibri" pitchFamily="34" charset="-122"/>
                <a:cs typeface="Calibri" pitchFamily="34" charset="-120"/>
              </a:rPr>
              <a:t>SeptiVolt Solar Sales Accelerator™  |  Energy Independence Education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128016" cy="914400"/>
          </a:xfrm>
          <a:prstGeom prst="rect">
            <a:avLst/>
          </a:prstGeom>
          <a:solidFill>
            <a:srgbClr val="0891B2"/>
          </a:solidFill>
          <a:ln w="12700">
            <a:solidFill>
              <a:srgbClr val="0891B2"/>
            </a:solidFill>
            <a:prstDash val="solid"/>
          </a:ln>
        </p:spPr>
      </p:sp>
      <p:sp>
        <p:nvSpPr>
          <p:cNvPr id="4" name="Text 2"/>
          <p:cNvSpPr/>
          <p:nvPr/>
        </p:nvSpPr>
        <p:spPr>
          <a:xfrm>
            <a:off x="228600" y="54864"/>
            <a:ext cx="2743200" cy="201168"/>
          </a:xfrm>
          <a:prstGeom prst="rect">
            <a:avLst/>
          </a:prstGeom>
          <a:noFill/>
          <a:ln/>
        </p:spPr>
        <p:txBody>
          <a:bodyPr wrap="square" rtlCol="0" anchor="ctr"/>
          <a:lstStyle/>
          <a:p>
            <a:pPr algn="l" indent="0" marL="0">
              <a:buNone/>
            </a:pPr>
            <a:r>
              <a:rPr lang="en-US" sz="900" b="1" spc="200" kern="0" dirty="0">
                <a:solidFill>
                  <a:srgbClr val="0891B2"/>
                </a:solidFill>
                <a:latin typeface="Calibri" pitchFamily="34" charset="0"/>
                <a:ea typeface="Calibri" pitchFamily="34" charset="-122"/>
                <a:cs typeface="Calibri" pitchFamily="34" charset="-120"/>
              </a:rPr>
              <a:t>MODULE 5.5a</a:t>
            </a:r>
            <a:endParaRPr lang="en-US" sz="900" dirty="0"/>
          </a:p>
        </p:txBody>
      </p:sp>
      <p:sp>
        <p:nvSpPr>
          <p:cNvPr id="5" name="Text 3"/>
          <p:cNvSpPr/>
          <p:nvPr/>
        </p:nvSpPr>
        <p:spPr>
          <a:xfrm>
            <a:off x="228600" y="256032"/>
            <a:ext cx="8686800" cy="566928"/>
          </a:xfrm>
          <a:prstGeom prst="rect">
            <a:avLst/>
          </a:prstGeom>
          <a:noFill/>
          <a:ln/>
        </p:spPr>
        <p:txBody>
          <a:bodyPr wrap="square"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The Anatomy of a High-Momentum Close</a:t>
            </a:r>
            <a:endParaRPr lang="en-US" sz="2400" dirty="0"/>
          </a:p>
        </p:txBody>
      </p:sp>
      <p:sp>
        <p:nvSpPr>
          <p:cNvPr id="6" name="Text 4"/>
          <p:cNvSpPr/>
          <p:nvPr/>
        </p:nvSpPr>
        <p:spPr>
          <a:xfrm>
            <a:off x="274320" y="1024128"/>
            <a:ext cx="5486400" cy="2999232"/>
          </a:xfrm>
          <a:prstGeom prst="rect">
            <a:avLst/>
          </a:prstGeom>
          <a:noFill/>
          <a:ln/>
        </p:spPr>
        <p:txBody>
          <a:bodyPr wrap="square" rtlCol="0" anchor="t"/>
          <a:lstStyle/>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Momentum is built during the presentation — not at the end. Every slide, every data point builds toward a logical decision</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The Pre-Close Test: 'Based on everything we've gone through today, does this make sense for your home?' — gauge temperature before asking for commitment</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Identify the Decision Maker Loop: If spouse/partner is not present, the meeting ends in 'let me talk to my wife' — prevent this by asking upfront</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The Commitment Ladder: Small yeses build to big yes. 'Does the 30% credit sound like something worth capturing?' → 'Would you want to capture it this year?'</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High-Momentum Close Rule: If you feel like you have to force the close, you didn't build enough value. Return to the discovery — something was missed.</a:t>
            </a:r>
            <a:endParaRPr lang="en-US" sz="1350" dirty="0"/>
          </a:p>
        </p:txBody>
      </p:sp>
      <p:sp>
        <p:nvSpPr>
          <p:cNvPr id="7" name="Shape 5"/>
          <p:cNvSpPr/>
          <p:nvPr/>
        </p:nvSpPr>
        <p:spPr>
          <a:xfrm>
            <a:off x="5989320" y="1024128"/>
            <a:ext cx="2926080" cy="2999232"/>
          </a:xfrm>
          <a:prstGeom prst="rect">
            <a:avLst/>
          </a:prstGeom>
          <a:solidFill>
            <a:srgbClr val="0D1B2A"/>
          </a:solidFill>
          <a:ln w="12700">
            <a:solidFill>
              <a:srgbClr val="065A82"/>
            </a:solidFill>
            <a:prstDash val="solid"/>
          </a:ln>
        </p:spPr>
      </p:sp>
      <p:sp>
        <p:nvSpPr>
          <p:cNvPr id="8" name="Shape 6"/>
          <p:cNvSpPr/>
          <p:nvPr/>
        </p:nvSpPr>
        <p:spPr>
          <a:xfrm>
            <a:off x="5989320" y="1024128"/>
            <a:ext cx="2926080" cy="274320"/>
          </a:xfrm>
          <a:prstGeom prst="rect">
            <a:avLst/>
          </a:prstGeom>
          <a:solidFill>
            <a:srgbClr val="0891B2"/>
          </a:solidFill>
          <a:ln w="12700">
            <a:solidFill>
              <a:srgbClr val="0891B2"/>
            </a:solidFill>
            <a:prstDash val="solid"/>
          </a:ln>
        </p:spPr>
      </p:sp>
      <p:sp>
        <p:nvSpPr>
          <p:cNvPr id="9" name="Text 7"/>
          <p:cNvSpPr/>
          <p:nvPr/>
        </p:nvSpPr>
        <p:spPr>
          <a:xfrm>
            <a:off x="5989320" y="1024128"/>
            <a:ext cx="2926080" cy="274320"/>
          </a:xfrm>
          <a:prstGeom prst="rect">
            <a:avLst/>
          </a:prstGeom>
          <a:noFill/>
          <a:ln/>
        </p:spPr>
        <p:txBody>
          <a:bodyPr wrap="square" rtlCol="0" anchor="ctr"/>
          <a:lstStyle/>
          <a:p>
            <a:pPr algn="ctr" indent="0" marL="0">
              <a:buNone/>
            </a:pPr>
            <a:r>
              <a:rPr lang="en-US" sz="800" b="1" spc="300" kern="0" dirty="0">
                <a:solidFill>
                  <a:srgbClr val="FFFFFF"/>
                </a:solidFill>
                <a:latin typeface="Calibri" pitchFamily="34" charset="0"/>
                <a:ea typeface="Calibri" pitchFamily="34" charset="-122"/>
                <a:cs typeface="Calibri" pitchFamily="34" charset="-120"/>
              </a:rPr>
              <a:t>IMAGE</a:t>
            </a:r>
            <a:endParaRPr lang="en-US" sz="800" dirty="0"/>
          </a:p>
        </p:txBody>
      </p:sp>
      <p:sp>
        <p:nvSpPr>
          <p:cNvPr id="10" name="Text 8"/>
          <p:cNvSpPr/>
          <p:nvPr/>
        </p:nvSpPr>
        <p:spPr>
          <a:xfrm>
            <a:off x="6080760" y="1389888"/>
            <a:ext cx="2743200" cy="2542032"/>
          </a:xfrm>
          <a:prstGeom prst="rect">
            <a:avLst/>
          </a:prstGeom>
          <a:noFill/>
          <a:ln/>
        </p:spPr>
        <p:txBody>
          <a:bodyPr wrap="square" rtlCol="0" anchor="t"/>
          <a:lstStyle/>
          <a:p>
            <a:pPr algn="l" indent="0" marL="0">
              <a:buNone/>
            </a:pPr>
            <a:r>
              <a:rPr lang="en-US" sz="1000" i="1" dirty="0">
                <a:solidFill>
                  <a:srgbClr val="64748B"/>
                </a:solidFill>
                <a:latin typeface="Calibri" pitchFamily="34" charset="0"/>
                <a:ea typeface="Calibri" pitchFamily="34" charset="-122"/>
                <a:cs typeface="Calibri" pitchFamily="34" charset="-120"/>
              </a:rPr>
              <a:t>Momentum arc diagram: X-axis = 'Presentation Timeline', Y-axis = 'Homeowner Confidence'. Rising arc from Discovery → Technical Design → Financial Case → Incentives → Close. Key moments labeled with icons. Green zone at top = Close territory.</a:t>
            </a:r>
            <a:endParaRPr lang="en-US" sz="1000" dirty="0"/>
          </a:p>
        </p:txBody>
      </p:sp>
      <p:sp>
        <p:nvSpPr>
          <p:cNvPr id="11" name="Shape 9"/>
          <p:cNvSpPr/>
          <p:nvPr/>
        </p:nvSpPr>
        <p:spPr>
          <a:xfrm>
            <a:off x="228600" y="4133088"/>
            <a:ext cx="8686800" cy="749808"/>
          </a:xfrm>
          <a:prstGeom prst="rect">
            <a:avLst/>
          </a:prstGeom>
          <a:solidFill>
            <a:srgbClr val="F4A61D"/>
          </a:solidFill>
          <a:ln w="12700">
            <a:solidFill>
              <a:srgbClr val="F4A61D"/>
            </a:solidFill>
            <a:prstDash val="solid"/>
          </a:ln>
        </p:spPr>
      </p:sp>
      <p:sp>
        <p:nvSpPr>
          <p:cNvPr id="12" name="Text 10"/>
          <p:cNvSpPr/>
          <p:nvPr/>
        </p:nvSpPr>
        <p:spPr>
          <a:xfrm>
            <a:off x="320040" y="4133088"/>
            <a:ext cx="8503920" cy="749808"/>
          </a:xfrm>
          <a:prstGeom prst="rect">
            <a:avLst/>
          </a:prstGeom>
          <a:noFill/>
          <a:ln/>
        </p:spPr>
        <p:txBody>
          <a:bodyPr wrap="square" rtlCol="0" anchor="ctr"/>
          <a:lstStyle/>
          <a:p>
            <a:pPr algn="l" indent="0" marL="0">
              <a:buNone/>
            </a:pPr>
            <a:r>
              <a:rPr lang="en-US" sz="1100" b="1" dirty="0">
                <a:solidFill>
                  <a:srgbClr val="0D1B2A"/>
                </a:solidFill>
                <a:latin typeface="Calibri" pitchFamily="34" charset="0"/>
                <a:ea typeface="Calibri" pitchFamily="34" charset="-122"/>
                <a:cs typeface="Calibri" pitchFamily="34" charset="-120"/>
              </a:rPr>
              <a:t>⚡ PRO TIP: </a:t>
            </a:r>
            <a:pPr algn="l" indent="0" marL="0">
              <a:buNone/>
            </a:pPr>
            <a:r>
              <a:rPr lang="en-US" sz="1100" dirty="0">
                <a:solidFill>
                  <a:srgbClr val="0D1B2A"/>
                </a:solidFill>
                <a:latin typeface="Calibri" pitchFamily="34" charset="0"/>
                <a:ea typeface="Calibri" pitchFamily="34" charset="-122"/>
                <a:cs typeface="Calibri" pitchFamily="34" charset="-120"/>
              </a:rPr>
              <a:t>Before you close, ask yourself: 'Has this homeowner told me — in their own words — why solar makes sense for them?' If yes, the close is just scheduling paperwork. If no, you're not ready to close.</a:t>
            </a:r>
            <a:endParaRPr lang="en-US" sz="1100" dirty="0"/>
          </a:p>
        </p:txBody>
      </p:sp>
      <p:sp>
        <p:nvSpPr>
          <p:cNvPr id="13" name="Shape 11"/>
          <p:cNvSpPr/>
          <p:nvPr/>
        </p:nvSpPr>
        <p:spPr>
          <a:xfrm>
            <a:off x="0" y="4992624"/>
            <a:ext cx="9144000" cy="150876"/>
          </a:xfrm>
          <a:prstGeom prst="rect">
            <a:avLst/>
          </a:prstGeom>
          <a:solidFill>
            <a:srgbClr val="0D1B2A"/>
          </a:solidFill>
          <a:ln w="12700">
            <a:solidFill>
              <a:srgbClr val="0D1B2A"/>
            </a:solidFill>
            <a:prstDash val="solid"/>
          </a:ln>
        </p:spPr>
      </p:sp>
      <p:sp>
        <p:nvSpPr>
          <p:cNvPr id="14" name="Text 12"/>
          <p:cNvSpPr/>
          <p:nvPr/>
        </p:nvSpPr>
        <p:spPr>
          <a:xfrm>
            <a:off x="182880" y="4992624"/>
            <a:ext cx="8778240" cy="150876"/>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SeptiVolt Solar Sales Accelerator™</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128016" cy="914400"/>
          </a:xfrm>
          <a:prstGeom prst="rect">
            <a:avLst/>
          </a:prstGeom>
          <a:solidFill>
            <a:srgbClr val="0891B2"/>
          </a:solidFill>
          <a:ln w="12700">
            <a:solidFill>
              <a:srgbClr val="0891B2"/>
            </a:solidFill>
            <a:prstDash val="solid"/>
          </a:ln>
        </p:spPr>
      </p:sp>
      <p:sp>
        <p:nvSpPr>
          <p:cNvPr id="4" name="Text 2"/>
          <p:cNvSpPr/>
          <p:nvPr/>
        </p:nvSpPr>
        <p:spPr>
          <a:xfrm>
            <a:off x="228600" y="54864"/>
            <a:ext cx="2743200" cy="201168"/>
          </a:xfrm>
          <a:prstGeom prst="rect">
            <a:avLst/>
          </a:prstGeom>
          <a:noFill/>
          <a:ln/>
        </p:spPr>
        <p:txBody>
          <a:bodyPr wrap="square" rtlCol="0" anchor="ctr"/>
          <a:lstStyle/>
          <a:p>
            <a:pPr algn="l" indent="0" marL="0">
              <a:buNone/>
            </a:pPr>
            <a:r>
              <a:rPr lang="en-US" sz="900" b="1" spc="200" kern="0" dirty="0">
                <a:solidFill>
                  <a:srgbClr val="0891B2"/>
                </a:solidFill>
                <a:latin typeface="Calibri" pitchFamily="34" charset="0"/>
                <a:ea typeface="Calibri" pitchFamily="34" charset="-122"/>
                <a:cs typeface="Calibri" pitchFamily="34" charset="-120"/>
              </a:rPr>
              <a:t>MODULE 5.5a</a:t>
            </a:r>
            <a:endParaRPr lang="en-US" sz="900" dirty="0"/>
          </a:p>
        </p:txBody>
      </p:sp>
      <p:sp>
        <p:nvSpPr>
          <p:cNvPr id="5" name="Text 3"/>
          <p:cNvSpPr/>
          <p:nvPr/>
        </p:nvSpPr>
        <p:spPr>
          <a:xfrm>
            <a:off x="228600" y="256032"/>
            <a:ext cx="8686800" cy="566928"/>
          </a:xfrm>
          <a:prstGeom prst="rect">
            <a:avLst/>
          </a:prstGeom>
          <a:noFill/>
          <a:ln/>
        </p:spPr>
        <p:txBody>
          <a:bodyPr wrap="square"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The Choice Close: Option A vs. Option B</a:t>
            </a:r>
            <a:endParaRPr lang="en-US" sz="2400" dirty="0"/>
          </a:p>
        </p:txBody>
      </p:sp>
      <p:sp>
        <p:nvSpPr>
          <p:cNvPr id="6" name="Text 4"/>
          <p:cNvSpPr/>
          <p:nvPr/>
        </p:nvSpPr>
        <p:spPr>
          <a:xfrm>
            <a:off x="274320" y="1024128"/>
            <a:ext cx="5486400" cy="2999232"/>
          </a:xfrm>
          <a:prstGeom prst="rect">
            <a:avLst/>
          </a:prstGeom>
          <a:noFill/>
          <a:ln/>
        </p:spPr>
        <p:txBody>
          <a:bodyPr wrap="square" rtlCol="0" anchor="t"/>
          <a:lstStyle/>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Structure: Present two valid options — both move forward. Never offer 'move forward vs. don't move forward.'</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Example: 'Based on your goals, I have two options for you. Option A is a 9.8kW system with battery for $X/mo. Option B is the 12.4kW premium system that covers your EV charging for $X/mo. Which aligns better with your household?'</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Psychology: Choosing between two options creates ownership — the homeowner decided, not the rep</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The Budget Variant: 'Would you like to maximize offset with the full system, or start with the core system and add battery next year when SGIP is available again?'</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Rule: Both options must be genuinely good for the homeowner. Using this to force a larger purchase is manipulation — and it shows.</a:t>
            </a:r>
            <a:endParaRPr lang="en-US" sz="1350" dirty="0"/>
          </a:p>
        </p:txBody>
      </p:sp>
      <p:sp>
        <p:nvSpPr>
          <p:cNvPr id="7" name="Shape 5"/>
          <p:cNvSpPr/>
          <p:nvPr/>
        </p:nvSpPr>
        <p:spPr>
          <a:xfrm>
            <a:off x="5989320" y="1024128"/>
            <a:ext cx="2926080" cy="2999232"/>
          </a:xfrm>
          <a:prstGeom prst="rect">
            <a:avLst/>
          </a:prstGeom>
          <a:solidFill>
            <a:srgbClr val="0D1B2A"/>
          </a:solidFill>
          <a:ln w="12700">
            <a:solidFill>
              <a:srgbClr val="065A82"/>
            </a:solidFill>
            <a:prstDash val="solid"/>
          </a:ln>
        </p:spPr>
      </p:sp>
      <p:sp>
        <p:nvSpPr>
          <p:cNvPr id="8" name="Shape 6"/>
          <p:cNvSpPr/>
          <p:nvPr/>
        </p:nvSpPr>
        <p:spPr>
          <a:xfrm>
            <a:off x="5989320" y="1024128"/>
            <a:ext cx="2926080" cy="274320"/>
          </a:xfrm>
          <a:prstGeom prst="rect">
            <a:avLst/>
          </a:prstGeom>
          <a:solidFill>
            <a:srgbClr val="0891B2"/>
          </a:solidFill>
          <a:ln w="12700">
            <a:solidFill>
              <a:srgbClr val="0891B2"/>
            </a:solidFill>
            <a:prstDash val="solid"/>
          </a:ln>
        </p:spPr>
      </p:sp>
      <p:sp>
        <p:nvSpPr>
          <p:cNvPr id="9" name="Text 7"/>
          <p:cNvSpPr/>
          <p:nvPr/>
        </p:nvSpPr>
        <p:spPr>
          <a:xfrm>
            <a:off x="5989320" y="1024128"/>
            <a:ext cx="2926080" cy="274320"/>
          </a:xfrm>
          <a:prstGeom prst="rect">
            <a:avLst/>
          </a:prstGeom>
          <a:noFill/>
          <a:ln/>
        </p:spPr>
        <p:txBody>
          <a:bodyPr wrap="square" rtlCol="0" anchor="ctr"/>
          <a:lstStyle/>
          <a:p>
            <a:pPr algn="ctr" indent="0" marL="0">
              <a:buNone/>
            </a:pPr>
            <a:r>
              <a:rPr lang="en-US" sz="800" b="1" spc="300" kern="0" dirty="0">
                <a:solidFill>
                  <a:srgbClr val="FFFFFF"/>
                </a:solidFill>
                <a:latin typeface="Calibri" pitchFamily="34" charset="0"/>
                <a:ea typeface="Calibri" pitchFamily="34" charset="-122"/>
                <a:cs typeface="Calibri" pitchFamily="34" charset="-120"/>
              </a:rPr>
              <a:t>IMAGE</a:t>
            </a:r>
            <a:endParaRPr lang="en-US" sz="800" dirty="0"/>
          </a:p>
        </p:txBody>
      </p:sp>
      <p:sp>
        <p:nvSpPr>
          <p:cNvPr id="10" name="Text 8"/>
          <p:cNvSpPr/>
          <p:nvPr/>
        </p:nvSpPr>
        <p:spPr>
          <a:xfrm>
            <a:off x="6080760" y="1389888"/>
            <a:ext cx="2743200" cy="2542032"/>
          </a:xfrm>
          <a:prstGeom prst="rect">
            <a:avLst/>
          </a:prstGeom>
          <a:noFill/>
          <a:ln/>
        </p:spPr>
        <p:txBody>
          <a:bodyPr wrap="square" rtlCol="0" anchor="t"/>
          <a:lstStyle/>
          <a:p>
            <a:pPr algn="l" indent="0" marL="0">
              <a:buNone/>
            </a:pPr>
            <a:r>
              <a:rPr lang="en-US" sz="1000" i="1" dirty="0">
                <a:solidFill>
                  <a:srgbClr val="64748B"/>
                </a:solidFill>
                <a:latin typeface="Calibri" pitchFamily="34" charset="0"/>
                <a:ea typeface="Calibri" pitchFamily="34" charset="-122"/>
                <a:cs typeface="Calibri" pitchFamily="34" charset="-120"/>
              </a:rPr>
              <a:t>Two-panel graphic showing 'Option A' (left panel, navy card) and 'Option B' (right panel, teal card). Each shows system size, key features, and monthly investment. Simple, clean comparison card design. No 'right answer' implied visually.</a:t>
            </a:r>
            <a:endParaRPr lang="en-US" sz="1000" dirty="0"/>
          </a:p>
        </p:txBody>
      </p:sp>
      <p:sp>
        <p:nvSpPr>
          <p:cNvPr id="11" name="Shape 9"/>
          <p:cNvSpPr/>
          <p:nvPr/>
        </p:nvSpPr>
        <p:spPr>
          <a:xfrm>
            <a:off x="228600" y="4133088"/>
            <a:ext cx="8686800" cy="749808"/>
          </a:xfrm>
          <a:prstGeom prst="rect">
            <a:avLst/>
          </a:prstGeom>
          <a:solidFill>
            <a:srgbClr val="F4A61D"/>
          </a:solidFill>
          <a:ln w="12700">
            <a:solidFill>
              <a:srgbClr val="F4A61D"/>
            </a:solidFill>
            <a:prstDash val="solid"/>
          </a:ln>
        </p:spPr>
      </p:sp>
      <p:sp>
        <p:nvSpPr>
          <p:cNvPr id="12" name="Text 10"/>
          <p:cNvSpPr/>
          <p:nvPr/>
        </p:nvSpPr>
        <p:spPr>
          <a:xfrm>
            <a:off x="320040" y="4133088"/>
            <a:ext cx="8503920" cy="749808"/>
          </a:xfrm>
          <a:prstGeom prst="rect">
            <a:avLst/>
          </a:prstGeom>
          <a:noFill/>
          <a:ln/>
        </p:spPr>
        <p:txBody>
          <a:bodyPr wrap="square" rtlCol="0" anchor="ctr"/>
          <a:lstStyle/>
          <a:p>
            <a:pPr algn="l" indent="0" marL="0">
              <a:buNone/>
            </a:pPr>
            <a:r>
              <a:rPr lang="en-US" sz="1100" b="1" dirty="0">
                <a:solidFill>
                  <a:srgbClr val="0D1B2A"/>
                </a:solidFill>
                <a:latin typeface="Calibri" pitchFamily="34" charset="0"/>
                <a:ea typeface="Calibri" pitchFamily="34" charset="-122"/>
                <a:cs typeface="Calibri" pitchFamily="34" charset="-120"/>
              </a:rPr>
              <a:t>⚡ PRO TIP: </a:t>
            </a:r>
            <a:pPr algn="l" indent="0" marL="0">
              <a:buNone/>
            </a:pPr>
            <a:r>
              <a:rPr lang="en-US" sz="1100" dirty="0">
                <a:solidFill>
                  <a:srgbClr val="0D1B2A"/>
                </a:solidFill>
                <a:latin typeface="Calibri" pitchFamily="34" charset="0"/>
                <a:ea typeface="Calibri" pitchFamily="34" charset="-122"/>
                <a:cs typeface="Calibri" pitchFamily="34" charset="-120"/>
              </a:rPr>
              <a:t>Practice delivering both options with identical enthusiasm. If you clearly prefer one, the homeowner feels it and stops trusting the choice structure.</a:t>
            </a:r>
            <a:endParaRPr lang="en-US" sz="1100" dirty="0"/>
          </a:p>
        </p:txBody>
      </p:sp>
      <p:sp>
        <p:nvSpPr>
          <p:cNvPr id="13" name="Shape 11"/>
          <p:cNvSpPr/>
          <p:nvPr/>
        </p:nvSpPr>
        <p:spPr>
          <a:xfrm>
            <a:off x="0" y="4992624"/>
            <a:ext cx="9144000" cy="150876"/>
          </a:xfrm>
          <a:prstGeom prst="rect">
            <a:avLst/>
          </a:prstGeom>
          <a:solidFill>
            <a:srgbClr val="0D1B2A"/>
          </a:solidFill>
          <a:ln w="12700">
            <a:solidFill>
              <a:srgbClr val="0D1B2A"/>
            </a:solidFill>
            <a:prstDash val="solid"/>
          </a:ln>
        </p:spPr>
      </p:sp>
      <p:sp>
        <p:nvSpPr>
          <p:cNvPr id="14" name="Text 12"/>
          <p:cNvSpPr/>
          <p:nvPr/>
        </p:nvSpPr>
        <p:spPr>
          <a:xfrm>
            <a:off x="182880" y="4992624"/>
            <a:ext cx="8778240" cy="150876"/>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SeptiVolt Solar Sales Accelerator™</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128016" cy="914400"/>
          </a:xfrm>
          <a:prstGeom prst="rect">
            <a:avLst/>
          </a:prstGeom>
          <a:solidFill>
            <a:srgbClr val="0891B2"/>
          </a:solidFill>
          <a:ln w="12700">
            <a:solidFill>
              <a:srgbClr val="0891B2"/>
            </a:solidFill>
            <a:prstDash val="solid"/>
          </a:ln>
        </p:spPr>
      </p:sp>
      <p:sp>
        <p:nvSpPr>
          <p:cNvPr id="4" name="Text 2"/>
          <p:cNvSpPr/>
          <p:nvPr/>
        </p:nvSpPr>
        <p:spPr>
          <a:xfrm>
            <a:off x="228600" y="54864"/>
            <a:ext cx="2743200" cy="201168"/>
          </a:xfrm>
          <a:prstGeom prst="rect">
            <a:avLst/>
          </a:prstGeom>
          <a:noFill/>
          <a:ln/>
        </p:spPr>
        <p:txBody>
          <a:bodyPr wrap="square" rtlCol="0" anchor="ctr"/>
          <a:lstStyle/>
          <a:p>
            <a:pPr algn="l" indent="0" marL="0">
              <a:buNone/>
            </a:pPr>
            <a:r>
              <a:rPr lang="en-US" sz="900" b="1" spc="200" kern="0" dirty="0">
                <a:solidFill>
                  <a:srgbClr val="0891B2"/>
                </a:solidFill>
                <a:latin typeface="Calibri" pitchFamily="34" charset="0"/>
                <a:ea typeface="Calibri" pitchFamily="34" charset="-122"/>
                <a:cs typeface="Calibri" pitchFamily="34" charset="-120"/>
              </a:rPr>
              <a:t>MODULE 5.5a</a:t>
            </a:r>
            <a:endParaRPr lang="en-US" sz="900" dirty="0"/>
          </a:p>
        </p:txBody>
      </p:sp>
      <p:sp>
        <p:nvSpPr>
          <p:cNvPr id="5" name="Text 3"/>
          <p:cNvSpPr/>
          <p:nvPr/>
        </p:nvSpPr>
        <p:spPr>
          <a:xfrm>
            <a:off x="228600" y="256032"/>
            <a:ext cx="8686800" cy="566928"/>
          </a:xfrm>
          <a:prstGeom prst="rect">
            <a:avLst/>
          </a:prstGeom>
          <a:noFill/>
          <a:ln/>
        </p:spPr>
        <p:txBody>
          <a:bodyPr wrap="square"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The Price-Drop Inversion Script</a:t>
            </a:r>
            <a:endParaRPr lang="en-US" sz="2400" dirty="0"/>
          </a:p>
        </p:txBody>
      </p:sp>
      <p:sp>
        <p:nvSpPr>
          <p:cNvPr id="6" name="Text 4"/>
          <p:cNvSpPr/>
          <p:nvPr/>
        </p:nvSpPr>
        <p:spPr>
          <a:xfrm>
            <a:off x="274320" y="1024128"/>
            <a:ext cx="5486400" cy="2999232"/>
          </a:xfrm>
          <a:prstGeom prst="rect">
            <a:avLst/>
          </a:prstGeom>
          <a:noFill/>
          <a:ln/>
        </p:spPr>
        <p:txBody>
          <a:bodyPr wrap="square" rtlCol="0" anchor="t"/>
          <a:lstStyle/>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Objection: 'I heard solar prices are coming down — I should wait.'</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Response: 'That's a fair point. Panel costs have decreased about 3–5% annually. On your $30K system, that's roughly $1,000–$1,500 next year.'</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The Inversion: 'But your utility bill this year is about $2,400. While you save $1,200 waiting for panel prices to drop, you'll spend $2,400 in utility bills. You'd be losing $1,200 to 'save' $1,200.'</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Add incentive risk: 'And SGIP funding isn't guaranteed to be available next year — so that $10,000 rebate you qualify for today may not be on the table.'</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The Landing: 'The math actually shows the best time to go solar was last year — the second best time is today.'</a:t>
            </a:r>
            <a:endParaRPr lang="en-US" sz="1350" dirty="0"/>
          </a:p>
        </p:txBody>
      </p:sp>
      <p:sp>
        <p:nvSpPr>
          <p:cNvPr id="7" name="Shape 5"/>
          <p:cNvSpPr/>
          <p:nvPr/>
        </p:nvSpPr>
        <p:spPr>
          <a:xfrm>
            <a:off x="5989320" y="1024128"/>
            <a:ext cx="2926080" cy="2999232"/>
          </a:xfrm>
          <a:prstGeom prst="rect">
            <a:avLst/>
          </a:prstGeom>
          <a:solidFill>
            <a:srgbClr val="0D1B2A"/>
          </a:solidFill>
          <a:ln w="12700">
            <a:solidFill>
              <a:srgbClr val="065A82"/>
            </a:solidFill>
            <a:prstDash val="solid"/>
          </a:ln>
        </p:spPr>
      </p:sp>
      <p:sp>
        <p:nvSpPr>
          <p:cNvPr id="8" name="Shape 6"/>
          <p:cNvSpPr/>
          <p:nvPr/>
        </p:nvSpPr>
        <p:spPr>
          <a:xfrm>
            <a:off x="5989320" y="1024128"/>
            <a:ext cx="2926080" cy="274320"/>
          </a:xfrm>
          <a:prstGeom prst="rect">
            <a:avLst/>
          </a:prstGeom>
          <a:solidFill>
            <a:srgbClr val="0891B2"/>
          </a:solidFill>
          <a:ln w="12700">
            <a:solidFill>
              <a:srgbClr val="0891B2"/>
            </a:solidFill>
            <a:prstDash val="solid"/>
          </a:ln>
        </p:spPr>
      </p:sp>
      <p:sp>
        <p:nvSpPr>
          <p:cNvPr id="9" name="Text 7"/>
          <p:cNvSpPr/>
          <p:nvPr/>
        </p:nvSpPr>
        <p:spPr>
          <a:xfrm>
            <a:off x="5989320" y="1024128"/>
            <a:ext cx="2926080" cy="274320"/>
          </a:xfrm>
          <a:prstGeom prst="rect">
            <a:avLst/>
          </a:prstGeom>
          <a:noFill/>
          <a:ln/>
        </p:spPr>
        <p:txBody>
          <a:bodyPr wrap="square" rtlCol="0" anchor="ctr"/>
          <a:lstStyle/>
          <a:p>
            <a:pPr algn="ctr" indent="0" marL="0">
              <a:buNone/>
            </a:pPr>
            <a:r>
              <a:rPr lang="en-US" sz="800" b="1" spc="300" kern="0" dirty="0">
                <a:solidFill>
                  <a:srgbClr val="FFFFFF"/>
                </a:solidFill>
                <a:latin typeface="Calibri" pitchFamily="34" charset="0"/>
                <a:ea typeface="Calibri" pitchFamily="34" charset="-122"/>
                <a:cs typeface="Calibri" pitchFamily="34" charset="-120"/>
              </a:rPr>
              <a:t>IMAGE</a:t>
            </a:r>
            <a:endParaRPr lang="en-US" sz="800" dirty="0"/>
          </a:p>
        </p:txBody>
      </p:sp>
      <p:sp>
        <p:nvSpPr>
          <p:cNvPr id="10" name="Text 8"/>
          <p:cNvSpPr/>
          <p:nvPr/>
        </p:nvSpPr>
        <p:spPr>
          <a:xfrm>
            <a:off x="6080760" y="1389888"/>
            <a:ext cx="2743200" cy="2542032"/>
          </a:xfrm>
          <a:prstGeom prst="rect">
            <a:avLst/>
          </a:prstGeom>
          <a:noFill/>
          <a:ln/>
        </p:spPr>
        <p:txBody>
          <a:bodyPr wrap="square" rtlCol="0" anchor="t"/>
          <a:lstStyle/>
          <a:p>
            <a:pPr algn="l" indent="0" marL="0">
              <a:buNone/>
            </a:pPr>
            <a:r>
              <a:rPr lang="en-US" sz="1000" i="1" dirty="0">
                <a:solidFill>
                  <a:srgbClr val="64748B"/>
                </a:solidFill>
                <a:latin typeface="Calibri" pitchFamily="34" charset="0"/>
                <a:ea typeface="Calibri" pitchFamily="34" charset="-122"/>
                <a:cs typeface="Calibri" pitchFamily="34" charset="-120"/>
              </a:rPr>
              <a:t>Comparison visual: Two columns side by side. 'Wait 1 Year' column: Panel price savings ($1,200) minus utility costs paid ($2,400) minus SGIP risk = -$1,200 net. 'Go Solar Now' column: ITC captured, SGIP locked, savings begin month 1 = +$X net. Bold numbers, high contrast.</a:t>
            </a:r>
            <a:endParaRPr lang="en-US" sz="1000" dirty="0"/>
          </a:p>
        </p:txBody>
      </p:sp>
      <p:sp>
        <p:nvSpPr>
          <p:cNvPr id="11" name="Shape 9"/>
          <p:cNvSpPr/>
          <p:nvPr/>
        </p:nvSpPr>
        <p:spPr>
          <a:xfrm>
            <a:off x="228600" y="4133088"/>
            <a:ext cx="8686800" cy="749808"/>
          </a:xfrm>
          <a:prstGeom prst="rect">
            <a:avLst/>
          </a:prstGeom>
          <a:solidFill>
            <a:srgbClr val="F4A61D"/>
          </a:solidFill>
          <a:ln w="12700">
            <a:solidFill>
              <a:srgbClr val="F4A61D"/>
            </a:solidFill>
            <a:prstDash val="solid"/>
          </a:ln>
        </p:spPr>
      </p:sp>
      <p:sp>
        <p:nvSpPr>
          <p:cNvPr id="12" name="Text 10"/>
          <p:cNvSpPr/>
          <p:nvPr/>
        </p:nvSpPr>
        <p:spPr>
          <a:xfrm>
            <a:off x="320040" y="4133088"/>
            <a:ext cx="8503920" cy="749808"/>
          </a:xfrm>
          <a:prstGeom prst="rect">
            <a:avLst/>
          </a:prstGeom>
          <a:noFill/>
          <a:ln/>
        </p:spPr>
        <p:txBody>
          <a:bodyPr wrap="square" rtlCol="0" anchor="ctr"/>
          <a:lstStyle/>
          <a:p>
            <a:pPr algn="l" indent="0" marL="0">
              <a:buNone/>
            </a:pPr>
            <a:r>
              <a:rPr lang="en-US" sz="1100" b="1" dirty="0">
                <a:solidFill>
                  <a:srgbClr val="0D1B2A"/>
                </a:solidFill>
                <a:latin typeface="Calibri" pitchFamily="34" charset="0"/>
                <a:ea typeface="Calibri" pitchFamily="34" charset="-122"/>
                <a:cs typeface="Calibri" pitchFamily="34" charset="-120"/>
              </a:rPr>
              <a:t>⚡ PRO TIP: </a:t>
            </a:r>
            <a:pPr algn="l" indent="0" marL="0">
              <a:buNone/>
            </a:pPr>
            <a:r>
              <a:rPr lang="en-US" sz="1100" dirty="0">
                <a:solidFill>
                  <a:srgbClr val="0D1B2A"/>
                </a:solidFill>
                <a:latin typeface="Calibri" pitchFamily="34" charset="0"/>
                <a:ea typeface="Calibri" pitchFamily="34" charset="-122"/>
                <a:cs typeface="Calibri" pitchFamily="34" charset="-120"/>
              </a:rPr>
              <a:t>Deliver the math slowly. Let the numbers sink in. The Power of Pause works here — after you finish the price-drop calculation, say nothing. Let the homeowner process the inversion.</a:t>
            </a:r>
            <a:endParaRPr lang="en-US" sz="1100" dirty="0"/>
          </a:p>
        </p:txBody>
      </p:sp>
      <p:sp>
        <p:nvSpPr>
          <p:cNvPr id="13" name="Shape 11"/>
          <p:cNvSpPr/>
          <p:nvPr/>
        </p:nvSpPr>
        <p:spPr>
          <a:xfrm>
            <a:off x="0" y="4992624"/>
            <a:ext cx="9144000" cy="150876"/>
          </a:xfrm>
          <a:prstGeom prst="rect">
            <a:avLst/>
          </a:prstGeom>
          <a:solidFill>
            <a:srgbClr val="0D1B2A"/>
          </a:solidFill>
          <a:ln w="12700">
            <a:solidFill>
              <a:srgbClr val="0D1B2A"/>
            </a:solidFill>
            <a:prstDash val="solid"/>
          </a:ln>
        </p:spPr>
      </p:sp>
      <p:sp>
        <p:nvSpPr>
          <p:cNvPr id="14" name="Text 12"/>
          <p:cNvSpPr/>
          <p:nvPr/>
        </p:nvSpPr>
        <p:spPr>
          <a:xfrm>
            <a:off x="182880" y="4992624"/>
            <a:ext cx="8778240" cy="150876"/>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SeptiVolt Solar Sales Accelerator™</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128016" cy="914400"/>
          </a:xfrm>
          <a:prstGeom prst="rect">
            <a:avLst/>
          </a:prstGeom>
          <a:solidFill>
            <a:srgbClr val="0891B2"/>
          </a:solidFill>
          <a:ln w="12700">
            <a:solidFill>
              <a:srgbClr val="0891B2"/>
            </a:solidFill>
            <a:prstDash val="solid"/>
          </a:ln>
        </p:spPr>
      </p:sp>
      <p:sp>
        <p:nvSpPr>
          <p:cNvPr id="4" name="Text 2"/>
          <p:cNvSpPr/>
          <p:nvPr/>
        </p:nvSpPr>
        <p:spPr>
          <a:xfrm>
            <a:off x="228600" y="54864"/>
            <a:ext cx="2743200" cy="201168"/>
          </a:xfrm>
          <a:prstGeom prst="rect">
            <a:avLst/>
          </a:prstGeom>
          <a:noFill/>
          <a:ln/>
        </p:spPr>
        <p:txBody>
          <a:bodyPr wrap="square" rtlCol="0" anchor="ctr"/>
          <a:lstStyle/>
          <a:p>
            <a:pPr algn="l" indent="0" marL="0">
              <a:buNone/>
            </a:pPr>
            <a:r>
              <a:rPr lang="en-US" sz="900" b="1" spc="200" kern="0" dirty="0">
                <a:solidFill>
                  <a:srgbClr val="0891B2"/>
                </a:solidFill>
                <a:latin typeface="Calibri" pitchFamily="34" charset="0"/>
                <a:ea typeface="Calibri" pitchFamily="34" charset="-122"/>
                <a:cs typeface="Calibri" pitchFamily="34" charset="-120"/>
              </a:rPr>
              <a:t>MODULE 5.5a</a:t>
            </a:r>
            <a:endParaRPr lang="en-US" sz="900" dirty="0"/>
          </a:p>
        </p:txBody>
      </p:sp>
      <p:sp>
        <p:nvSpPr>
          <p:cNvPr id="5" name="Text 3"/>
          <p:cNvSpPr/>
          <p:nvPr/>
        </p:nvSpPr>
        <p:spPr>
          <a:xfrm>
            <a:off x="228600" y="256032"/>
            <a:ext cx="8686800" cy="566928"/>
          </a:xfrm>
          <a:prstGeom prst="rect">
            <a:avLst/>
          </a:prstGeom>
          <a:noFill/>
          <a:ln/>
        </p:spPr>
        <p:txBody>
          <a:bodyPr wrap="square"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Real Urgency vs. Sales Pressure: Know the Difference</a:t>
            </a:r>
            <a:endParaRPr lang="en-US" sz="2400" dirty="0"/>
          </a:p>
        </p:txBody>
      </p:sp>
      <p:sp>
        <p:nvSpPr>
          <p:cNvPr id="6" name="Shape 4"/>
          <p:cNvSpPr/>
          <p:nvPr/>
        </p:nvSpPr>
        <p:spPr>
          <a:xfrm>
            <a:off x="228600" y="1024128"/>
            <a:ext cx="4206240" cy="2999232"/>
          </a:xfrm>
          <a:prstGeom prst="rect">
            <a:avLst/>
          </a:prstGeom>
          <a:solidFill>
            <a:srgbClr val="FFFFFF"/>
          </a:solidFill>
          <a:ln w="12700">
            <a:solidFill>
              <a:srgbClr val="E8EFF5"/>
            </a:solidFill>
            <a:prstDash val="solid"/>
          </a:ln>
        </p:spPr>
      </p:sp>
      <p:sp>
        <p:nvSpPr>
          <p:cNvPr id="7" name="Shape 5"/>
          <p:cNvSpPr/>
          <p:nvPr/>
        </p:nvSpPr>
        <p:spPr>
          <a:xfrm>
            <a:off x="228600" y="1024128"/>
            <a:ext cx="4206240" cy="347472"/>
          </a:xfrm>
          <a:prstGeom prst="rect">
            <a:avLst/>
          </a:prstGeom>
          <a:solidFill>
            <a:srgbClr val="059669"/>
          </a:solidFill>
          <a:ln w="12700">
            <a:solidFill>
              <a:srgbClr val="059669"/>
            </a:solidFill>
            <a:prstDash val="solid"/>
          </a:ln>
        </p:spPr>
      </p:sp>
      <p:sp>
        <p:nvSpPr>
          <p:cNvPr id="8" name="Text 6"/>
          <p:cNvSpPr/>
          <p:nvPr/>
        </p:nvSpPr>
        <p:spPr>
          <a:xfrm>
            <a:off x="320040" y="1024128"/>
            <a:ext cx="4023360"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Real Urgency (Use This)</a:t>
            </a:r>
            <a:endParaRPr lang="en-US" sz="1200" dirty="0"/>
          </a:p>
        </p:txBody>
      </p:sp>
      <p:sp>
        <p:nvSpPr>
          <p:cNvPr id="9" name="Text 7"/>
          <p:cNvSpPr/>
          <p:nvPr/>
        </p:nvSpPr>
        <p:spPr>
          <a:xfrm>
            <a:off x="320040" y="1463040"/>
            <a:ext cx="3931920" cy="2468880"/>
          </a:xfrm>
          <a:prstGeom prst="rect">
            <a:avLst/>
          </a:prstGeom>
          <a:noFill/>
          <a:ln/>
        </p:spPr>
        <p:txBody>
          <a:bodyPr wrap="square" rtlCol="0" anchor="t"/>
          <a:lstStyle/>
          <a:p>
            <a:pPr marL="342900" indent="-342900">
              <a:spcAft>
                <a:spcPts val="500"/>
              </a:spcAft>
              <a:buSzPct val="100000"/>
              <a:buChar char="•"/>
            </a:pPr>
            <a:r>
              <a:rPr lang="en-US" sz="1250" dirty="0">
                <a:solidFill>
                  <a:srgbClr val="334155"/>
                </a:solidFill>
                <a:latin typeface="Calibri" pitchFamily="34" charset="0"/>
                <a:ea typeface="Calibri" pitchFamily="34" charset="-122"/>
                <a:cs typeface="Calibri" pitchFamily="34" charset="-120"/>
              </a:rPr>
              <a:t>SGIP funding is currently available in your territory — waitlists are possible</a:t>
            </a:r>
            <a:endParaRPr lang="en-US" sz="1250" dirty="0"/>
          </a:p>
          <a:p>
            <a:pPr marL="342900" indent="-342900">
              <a:spcAft>
                <a:spcPts val="500"/>
              </a:spcAft>
              <a:buSzPct val="100000"/>
              <a:buChar char="•"/>
            </a:pPr>
            <a:r>
              <a:rPr lang="en-US" sz="1250" dirty="0">
                <a:solidFill>
                  <a:srgbClr val="334155"/>
                </a:solidFill>
                <a:latin typeface="Calibri" pitchFamily="34" charset="0"/>
                <a:ea typeface="Calibri" pitchFamily="34" charset="-122"/>
                <a:cs typeface="Calibri" pitchFamily="34" charset="-120"/>
              </a:rPr>
              <a:t>Utility rate increases take effect [Month] — locking in solar now beats the increase</a:t>
            </a:r>
            <a:endParaRPr lang="en-US" sz="1250" dirty="0"/>
          </a:p>
          <a:p>
            <a:pPr marL="342900" indent="-342900">
              <a:spcAft>
                <a:spcPts val="500"/>
              </a:spcAft>
              <a:buSzPct val="100000"/>
              <a:buChar char="•"/>
            </a:pPr>
            <a:r>
              <a:rPr lang="en-US" sz="1250" dirty="0">
                <a:solidFill>
                  <a:srgbClr val="334155"/>
                </a:solidFill>
                <a:latin typeface="Calibri" pitchFamily="34" charset="0"/>
                <a:ea typeface="Calibri" pitchFamily="34" charset="-122"/>
                <a:cs typeface="Calibri" pitchFamily="34" charset="-120"/>
              </a:rPr>
              <a:t>ITC is confirmed at 30% through 2032 — but policy can change</a:t>
            </a:r>
            <a:endParaRPr lang="en-US" sz="1250" dirty="0"/>
          </a:p>
          <a:p>
            <a:pPr marL="342900" indent="-342900">
              <a:spcAft>
                <a:spcPts val="500"/>
              </a:spcAft>
              <a:buSzPct val="100000"/>
              <a:buChar char="•"/>
            </a:pPr>
            <a:r>
              <a:rPr lang="en-US" sz="1250" dirty="0">
                <a:solidFill>
                  <a:srgbClr val="334155"/>
                </a:solidFill>
                <a:latin typeface="Calibri" pitchFamily="34" charset="0"/>
                <a:ea typeface="Calibri" pitchFamily="34" charset="-122"/>
                <a:cs typeface="Calibri" pitchFamily="34" charset="-120"/>
              </a:rPr>
              <a:t>Your roof is currently in good condition — waiting risks additional pre-work costs</a:t>
            </a:r>
            <a:endParaRPr lang="en-US" sz="1250" dirty="0"/>
          </a:p>
          <a:p>
            <a:pPr marL="342900" indent="-342900">
              <a:spcAft>
                <a:spcPts val="500"/>
              </a:spcAft>
              <a:buSzPct val="100000"/>
              <a:buChar char="•"/>
            </a:pPr>
            <a:r>
              <a:rPr lang="en-US" sz="1250" dirty="0">
                <a:solidFill>
                  <a:srgbClr val="334155"/>
                </a:solidFill>
                <a:latin typeface="Calibri" pitchFamily="34" charset="0"/>
                <a:ea typeface="Calibri" pitchFamily="34" charset="-122"/>
                <a:cs typeface="Calibri" pitchFamily="34" charset="-120"/>
              </a:rPr>
              <a:t>Our install schedule has a window in [timeframe] — next slot is [X] weeks out</a:t>
            </a:r>
            <a:endParaRPr lang="en-US" sz="1250" dirty="0"/>
          </a:p>
        </p:txBody>
      </p:sp>
      <p:sp>
        <p:nvSpPr>
          <p:cNvPr id="10" name="Shape 8"/>
          <p:cNvSpPr/>
          <p:nvPr/>
        </p:nvSpPr>
        <p:spPr>
          <a:xfrm>
            <a:off x="4709160" y="1024128"/>
            <a:ext cx="4206240" cy="2999232"/>
          </a:xfrm>
          <a:prstGeom prst="rect">
            <a:avLst/>
          </a:prstGeom>
          <a:solidFill>
            <a:srgbClr val="FFFFFF"/>
          </a:solidFill>
          <a:ln w="12700">
            <a:solidFill>
              <a:srgbClr val="E8EFF5"/>
            </a:solidFill>
            <a:prstDash val="solid"/>
          </a:ln>
        </p:spPr>
      </p:sp>
      <p:sp>
        <p:nvSpPr>
          <p:cNvPr id="11" name="Shape 9"/>
          <p:cNvSpPr/>
          <p:nvPr/>
        </p:nvSpPr>
        <p:spPr>
          <a:xfrm>
            <a:off x="4709160" y="1024128"/>
            <a:ext cx="4206240" cy="347472"/>
          </a:xfrm>
          <a:prstGeom prst="rect">
            <a:avLst/>
          </a:prstGeom>
          <a:solidFill>
            <a:srgbClr val="DC2626"/>
          </a:solidFill>
          <a:ln w="12700">
            <a:solidFill>
              <a:srgbClr val="DC2626"/>
            </a:solidFill>
            <a:prstDash val="solid"/>
          </a:ln>
        </p:spPr>
      </p:sp>
      <p:sp>
        <p:nvSpPr>
          <p:cNvPr id="12" name="Text 10"/>
          <p:cNvSpPr/>
          <p:nvPr/>
        </p:nvSpPr>
        <p:spPr>
          <a:xfrm>
            <a:off x="4800600" y="1024128"/>
            <a:ext cx="4023360" cy="347472"/>
          </a:xfrm>
          <a:prstGeom prst="rect">
            <a:avLst/>
          </a:prstGeom>
          <a:noFill/>
          <a:ln/>
        </p:spPr>
        <p:txBody>
          <a:bodyPr wrap="square" lIns="0" tIns="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Sales Pressure (Avoid This)</a:t>
            </a:r>
            <a:endParaRPr lang="en-US" sz="1200" dirty="0"/>
          </a:p>
        </p:txBody>
      </p:sp>
      <p:sp>
        <p:nvSpPr>
          <p:cNvPr id="13" name="Text 11"/>
          <p:cNvSpPr/>
          <p:nvPr/>
        </p:nvSpPr>
        <p:spPr>
          <a:xfrm>
            <a:off x="4800600" y="1463040"/>
            <a:ext cx="3931920" cy="2468880"/>
          </a:xfrm>
          <a:prstGeom prst="rect">
            <a:avLst/>
          </a:prstGeom>
          <a:noFill/>
          <a:ln/>
        </p:spPr>
        <p:txBody>
          <a:bodyPr wrap="square" rtlCol="0" anchor="t"/>
          <a:lstStyle/>
          <a:p>
            <a:pPr marL="342900" indent="-342900">
              <a:spcAft>
                <a:spcPts val="500"/>
              </a:spcAft>
              <a:buSzPct val="100000"/>
              <a:buChar char="•"/>
            </a:pPr>
            <a:r>
              <a:rPr lang="en-US" sz="1250" dirty="0">
                <a:solidFill>
                  <a:srgbClr val="334155"/>
                </a:solidFill>
                <a:latin typeface="Calibri" pitchFamily="34" charset="0"/>
                <a:ea typeface="Calibri" pitchFamily="34" charset="-122"/>
                <a:cs typeface="Calibri" pitchFamily="34" charset="-120"/>
              </a:rPr>
              <a:t>'This price is only good today' (if untrue — dishonest and damages trust)</a:t>
            </a:r>
            <a:endParaRPr lang="en-US" sz="1250" dirty="0"/>
          </a:p>
          <a:p>
            <a:pPr marL="342900" indent="-342900">
              <a:spcAft>
                <a:spcPts val="500"/>
              </a:spcAft>
              <a:buSzPct val="100000"/>
              <a:buChar char="•"/>
            </a:pPr>
            <a:r>
              <a:rPr lang="en-US" sz="1250" dirty="0">
                <a:solidFill>
                  <a:srgbClr val="334155"/>
                </a:solidFill>
                <a:latin typeface="Calibri" pitchFamily="34" charset="0"/>
                <a:ea typeface="Calibri" pitchFamily="34" charset="-122"/>
                <a:cs typeface="Calibri" pitchFamily="34" charset="-120"/>
              </a:rPr>
              <a:t>'My manager can only approve this if we sign now' (fabricated urgency)</a:t>
            </a:r>
            <a:endParaRPr lang="en-US" sz="1250" dirty="0"/>
          </a:p>
          <a:p>
            <a:pPr marL="342900" indent="-342900">
              <a:spcAft>
                <a:spcPts val="500"/>
              </a:spcAft>
              <a:buSzPct val="100000"/>
              <a:buChar char="•"/>
            </a:pPr>
            <a:r>
              <a:rPr lang="en-US" sz="1250" dirty="0">
                <a:solidFill>
                  <a:srgbClr val="334155"/>
                </a:solidFill>
                <a:latin typeface="Calibri" pitchFamily="34" charset="0"/>
                <a:ea typeface="Calibri" pitchFamily="34" charset="-122"/>
                <a:cs typeface="Calibri" pitchFamily="34" charset="-120"/>
              </a:rPr>
              <a:t>'We're almost out of panels in your area' (almost always false)</a:t>
            </a:r>
            <a:endParaRPr lang="en-US" sz="1250" dirty="0"/>
          </a:p>
          <a:p>
            <a:pPr marL="342900" indent="-342900">
              <a:spcAft>
                <a:spcPts val="500"/>
              </a:spcAft>
              <a:buSzPct val="100000"/>
              <a:buChar char="•"/>
            </a:pPr>
            <a:r>
              <a:rPr lang="en-US" sz="1250" dirty="0">
                <a:solidFill>
                  <a:srgbClr val="334155"/>
                </a:solidFill>
                <a:latin typeface="Calibri" pitchFamily="34" charset="0"/>
                <a:ea typeface="Calibri" pitchFamily="34" charset="-122"/>
                <a:cs typeface="Calibri" pitchFamily="34" charset="-120"/>
              </a:rPr>
              <a:t>'I have another customer looking at your neighborhood'</a:t>
            </a:r>
            <a:endParaRPr lang="en-US" sz="1250" dirty="0"/>
          </a:p>
          <a:p>
            <a:pPr marL="342900" indent="-342900">
              <a:spcAft>
                <a:spcPts val="500"/>
              </a:spcAft>
              <a:buSzPct val="100000"/>
              <a:buChar char="•"/>
            </a:pPr>
            <a:r>
              <a:rPr lang="en-US" sz="1250" dirty="0">
                <a:solidFill>
                  <a:srgbClr val="334155"/>
                </a:solidFill>
                <a:latin typeface="Calibri" pitchFamily="34" charset="0"/>
                <a:ea typeface="Calibri" pitchFamily="34" charset="-122"/>
                <a:cs typeface="Calibri" pitchFamily="34" charset="-120"/>
              </a:rPr>
              <a:t>Creating false FOMO about incentive programs without factual basis</a:t>
            </a:r>
            <a:endParaRPr lang="en-US" sz="1250" dirty="0"/>
          </a:p>
        </p:txBody>
      </p:sp>
      <p:sp>
        <p:nvSpPr>
          <p:cNvPr id="14" name="Shape 12"/>
          <p:cNvSpPr/>
          <p:nvPr/>
        </p:nvSpPr>
        <p:spPr>
          <a:xfrm>
            <a:off x="228600" y="4133088"/>
            <a:ext cx="8686800" cy="749808"/>
          </a:xfrm>
          <a:prstGeom prst="rect">
            <a:avLst/>
          </a:prstGeom>
          <a:solidFill>
            <a:srgbClr val="F4A61D"/>
          </a:solidFill>
          <a:ln w="12700">
            <a:solidFill>
              <a:srgbClr val="F4A61D"/>
            </a:solidFill>
            <a:prstDash val="solid"/>
          </a:ln>
        </p:spPr>
      </p:sp>
      <p:sp>
        <p:nvSpPr>
          <p:cNvPr id="15" name="Text 13"/>
          <p:cNvSpPr/>
          <p:nvPr/>
        </p:nvSpPr>
        <p:spPr>
          <a:xfrm>
            <a:off x="320040" y="4133088"/>
            <a:ext cx="8503920" cy="749808"/>
          </a:xfrm>
          <a:prstGeom prst="rect">
            <a:avLst/>
          </a:prstGeom>
          <a:noFill/>
          <a:ln/>
        </p:spPr>
        <p:txBody>
          <a:bodyPr wrap="square" rtlCol="0" anchor="ctr"/>
          <a:lstStyle/>
          <a:p>
            <a:pPr algn="l" indent="0" marL="0">
              <a:buNone/>
            </a:pPr>
            <a:r>
              <a:rPr lang="en-US" sz="1100" b="1" dirty="0">
                <a:solidFill>
                  <a:srgbClr val="0D1B2A"/>
                </a:solidFill>
                <a:latin typeface="Calibri" pitchFamily="34" charset="0"/>
                <a:ea typeface="Calibri" pitchFamily="34" charset="-122"/>
                <a:cs typeface="Calibri" pitchFamily="34" charset="-120"/>
              </a:rPr>
              <a:t>⚡ PRO TIP: </a:t>
            </a:r>
            <a:pPr algn="l" indent="0" marL="0">
              <a:buNone/>
            </a:pPr>
            <a:r>
              <a:rPr lang="en-US" sz="1100" dirty="0">
                <a:solidFill>
                  <a:srgbClr val="0D1B2A"/>
                </a:solidFill>
                <a:latin typeface="Calibri" pitchFamily="34" charset="0"/>
                <a:ea typeface="Calibri" pitchFamily="34" charset="-122"/>
                <a:cs typeface="Calibri" pitchFamily="34" charset="-120"/>
              </a:rPr>
              <a:t>If you can't back up an urgency statement with a fact, a source, or documentation — don't say it. One fabricated urgency claim caught by a skeptical homeowner ends the relationship and potentially the deal.</a:t>
            </a:r>
            <a:endParaRPr lang="en-US" sz="1100" dirty="0"/>
          </a:p>
        </p:txBody>
      </p:sp>
      <p:sp>
        <p:nvSpPr>
          <p:cNvPr id="16" name="Shape 14"/>
          <p:cNvSpPr/>
          <p:nvPr/>
        </p:nvSpPr>
        <p:spPr>
          <a:xfrm>
            <a:off x="0" y="4992624"/>
            <a:ext cx="9144000" cy="150876"/>
          </a:xfrm>
          <a:prstGeom prst="rect">
            <a:avLst/>
          </a:prstGeom>
          <a:solidFill>
            <a:srgbClr val="0D1B2A"/>
          </a:solidFill>
          <a:ln w="12700">
            <a:solidFill>
              <a:srgbClr val="0D1B2A"/>
            </a:solidFill>
            <a:prstDash val="solid"/>
          </a:ln>
        </p:spPr>
      </p:sp>
      <p:sp>
        <p:nvSpPr>
          <p:cNvPr id="17" name="Text 15"/>
          <p:cNvSpPr/>
          <p:nvPr/>
        </p:nvSpPr>
        <p:spPr>
          <a:xfrm>
            <a:off x="182880" y="4992624"/>
            <a:ext cx="8778240" cy="150876"/>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SeptiVolt Solar Sales Accelerator™</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128016" cy="914400"/>
          </a:xfrm>
          <a:prstGeom prst="rect">
            <a:avLst/>
          </a:prstGeom>
          <a:solidFill>
            <a:srgbClr val="0891B2"/>
          </a:solidFill>
          <a:ln w="12700">
            <a:solidFill>
              <a:srgbClr val="0891B2"/>
            </a:solidFill>
            <a:prstDash val="solid"/>
          </a:ln>
        </p:spPr>
      </p:sp>
      <p:sp>
        <p:nvSpPr>
          <p:cNvPr id="4" name="Text 2"/>
          <p:cNvSpPr/>
          <p:nvPr/>
        </p:nvSpPr>
        <p:spPr>
          <a:xfrm>
            <a:off x="228600" y="54864"/>
            <a:ext cx="2743200" cy="201168"/>
          </a:xfrm>
          <a:prstGeom prst="rect">
            <a:avLst/>
          </a:prstGeom>
          <a:noFill/>
          <a:ln/>
        </p:spPr>
        <p:txBody>
          <a:bodyPr wrap="square" rtlCol="0" anchor="ctr"/>
          <a:lstStyle/>
          <a:p>
            <a:pPr algn="l" indent="0" marL="0">
              <a:buNone/>
            </a:pPr>
            <a:r>
              <a:rPr lang="en-US" sz="900" b="1" spc="200" kern="0" dirty="0">
                <a:solidFill>
                  <a:srgbClr val="0891B2"/>
                </a:solidFill>
                <a:latin typeface="Calibri" pitchFamily="34" charset="0"/>
                <a:ea typeface="Calibri" pitchFamily="34" charset="-122"/>
                <a:cs typeface="Calibri" pitchFamily="34" charset="-120"/>
              </a:rPr>
              <a:t>MODULE 5.5a</a:t>
            </a:r>
            <a:endParaRPr lang="en-US" sz="900" dirty="0"/>
          </a:p>
        </p:txBody>
      </p:sp>
      <p:sp>
        <p:nvSpPr>
          <p:cNvPr id="5" name="Text 3"/>
          <p:cNvSpPr/>
          <p:nvPr/>
        </p:nvSpPr>
        <p:spPr>
          <a:xfrm>
            <a:off x="228600" y="256032"/>
            <a:ext cx="8686800" cy="566928"/>
          </a:xfrm>
          <a:prstGeom prst="rect">
            <a:avLst/>
          </a:prstGeom>
          <a:noFill/>
          <a:ln/>
        </p:spPr>
        <p:txBody>
          <a:bodyPr wrap="square"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Reading Buying Signals</a:t>
            </a:r>
            <a:endParaRPr lang="en-US" sz="2400" dirty="0"/>
          </a:p>
        </p:txBody>
      </p:sp>
      <p:sp>
        <p:nvSpPr>
          <p:cNvPr id="6" name="Text 4"/>
          <p:cNvSpPr/>
          <p:nvPr/>
        </p:nvSpPr>
        <p:spPr>
          <a:xfrm>
            <a:off x="274320" y="1024128"/>
            <a:ext cx="5486400" cy="2999232"/>
          </a:xfrm>
          <a:prstGeom prst="rect">
            <a:avLst/>
          </a:prstGeom>
          <a:noFill/>
          <a:ln/>
        </p:spPr>
        <p:txBody>
          <a:bodyPr wrap="square" rtlCol="0" anchor="t"/>
          <a:lstStyle/>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Verbal Signals: 'What does the process look like after we sign?' / 'How soon could install happen?' — future-pacing questions signal readiness</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Engagement Signals: Leaning in, asking for pen, requesting clarification on contract terms — physical commitment indicators</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The 'Objection Flip': When objections become logistical ('Can you accommodate our vacation schedule?') vs. principled ('I don't think solar is worth it'), you've passed the sale threshold</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The Spouse Check: If absent spouse is called mid-meeting to discuss details, that's a buying signal — don't interrupt</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Calculator Moment: When a homeowner opens their own calculator to run your numbers — they're already sold. Stop pitching and start closing.</a:t>
            </a:r>
            <a:endParaRPr lang="en-US" sz="1350" dirty="0"/>
          </a:p>
        </p:txBody>
      </p:sp>
      <p:sp>
        <p:nvSpPr>
          <p:cNvPr id="7" name="Shape 5"/>
          <p:cNvSpPr/>
          <p:nvPr/>
        </p:nvSpPr>
        <p:spPr>
          <a:xfrm>
            <a:off x="5989320" y="1024128"/>
            <a:ext cx="2926080" cy="2999232"/>
          </a:xfrm>
          <a:prstGeom prst="rect">
            <a:avLst/>
          </a:prstGeom>
          <a:solidFill>
            <a:srgbClr val="0D1B2A"/>
          </a:solidFill>
          <a:ln w="12700">
            <a:solidFill>
              <a:srgbClr val="065A82"/>
            </a:solidFill>
            <a:prstDash val="solid"/>
          </a:ln>
        </p:spPr>
      </p:sp>
      <p:sp>
        <p:nvSpPr>
          <p:cNvPr id="8" name="Shape 6"/>
          <p:cNvSpPr/>
          <p:nvPr/>
        </p:nvSpPr>
        <p:spPr>
          <a:xfrm>
            <a:off x="5989320" y="1024128"/>
            <a:ext cx="2926080" cy="274320"/>
          </a:xfrm>
          <a:prstGeom prst="rect">
            <a:avLst/>
          </a:prstGeom>
          <a:solidFill>
            <a:srgbClr val="0891B2"/>
          </a:solidFill>
          <a:ln w="12700">
            <a:solidFill>
              <a:srgbClr val="0891B2"/>
            </a:solidFill>
            <a:prstDash val="solid"/>
          </a:ln>
        </p:spPr>
      </p:sp>
      <p:sp>
        <p:nvSpPr>
          <p:cNvPr id="9" name="Text 7"/>
          <p:cNvSpPr/>
          <p:nvPr/>
        </p:nvSpPr>
        <p:spPr>
          <a:xfrm>
            <a:off x="5989320" y="1024128"/>
            <a:ext cx="2926080" cy="274320"/>
          </a:xfrm>
          <a:prstGeom prst="rect">
            <a:avLst/>
          </a:prstGeom>
          <a:noFill/>
          <a:ln/>
        </p:spPr>
        <p:txBody>
          <a:bodyPr wrap="square" rtlCol="0" anchor="ctr"/>
          <a:lstStyle/>
          <a:p>
            <a:pPr algn="ctr" indent="0" marL="0">
              <a:buNone/>
            </a:pPr>
            <a:r>
              <a:rPr lang="en-US" sz="800" b="1" spc="300" kern="0" dirty="0">
                <a:solidFill>
                  <a:srgbClr val="FFFFFF"/>
                </a:solidFill>
                <a:latin typeface="Calibri" pitchFamily="34" charset="0"/>
                <a:ea typeface="Calibri" pitchFamily="34" charset="-122"/>
                <a:cs typeface="Calibri" pitchFamily="34" charset="-120"/>
              </a:rPr>
              <a:t>IMAGE</a:t>
            </a:r>
            <a:endParaRPr lang="en-US" sz="800" dirty="0"/>
          </a:p>
        </p:txBody>
      </p:sp>
      <p:sp>
        <p:nvSpPr>
          <p:cNvPr id="10" name="Text 8"/>
          <p:cNvSpPr/>
          <p:nvPr/>
        </p:nvSpPr>
        <p:spPr>
          <a:xfrm>
            <a:off x="6080760" y="1389888"/>
            <a:ext cx="2743200" cy="2542032"/>
          </a:xfrm>
          <a:prstGeom prst="rect">
            <a:avLst/>
          </a:prstGeom>
          <a:noFill/>
          <a:ln/>
        </p:spPr>
        <p:txBody>
          <a:bodyPr wrap="square" rtlCol="0" anchor="t"/>
          <a:lstStyle/>
          <a:p>
            <a:pPr algn="l" indent="0" marL="0">
              <a:buNone/>
            </a:pPr>
            <a:r>
              <a:rPr lang="en-US" sz="1000" i="1" dirty="0">
                <a:solidFill>
                  <a:srgbClr val="64748B"/>
                </a:solidFill>
                <a:latin typeface="Calibri" pitchFamily="34" charset="0"/>
                <a:ea typeface="Calibri" pitchFamily="34" charset="-122"/>
                <a:cs typeface="Calibri" pitchFamily="34" charset="-120"/>
              </a:rPr>
              <a:t>Split graphic showing 8 buying signal icons with descriptions: Speech bubble (future-pacing question), Handshake (physical lean-in), Phone (calling spouse), Calculator icon, Pen pickup, Reading contract, 'How long?' question, Nodding silhouette. Each icon in a colored circle.</a:t>
            </a:r>
            <a:endParaRPr lang="en-US" sz="1000" dirty="0"/>
          </a:p>
        </p:txBody>
      </p:sp>
      <p:sp>
        <p:nvSpPr>
          <p:cNvPr id="11" name="Shape 9"/>
          <p:cNvSpPr/>
          <p:nvPr/>
        </p:nvSpPr>
        <p:spPr>
          <a:xfrm>
            <a:off x="228600" y="4133088"/>
            <a:ext cx="8686800" cy="749808"/>
          </a:xfrm>
          <a:prstGeom prst="rect">
            <a:avLst/>
          </a:prstGeom>
          <a:solidFill>
            <a:srgbClr val="F4A61D"/>
          </a:solidFill>
          <a:ln w="12700">
            <a:solidFill>
              <a:srgbClr val="F4A61D"/>
            </a:solidFill>
            <a:prstDash val="solid"/>
          </a:ln>
        </p:spPr>
      </p:sp>
      <p:sp>
        <p:nvSpPr>
          <p:cNvPr id="12" name="Text 10"/>
          <p:cNvSpPr/>
          <p:nvPr/>
        </p:nvSpPr>
        <p:spPr>
          <a:xfrm>
            <a:off x="320040" y="4133088"/>
            <a:ext cx="8503920" cy="749808"/>
          </a:xfrm>
          <a:prstGeom prst="rect">
            <a:avLst/>
          </a:prstGeom>
          <a:noFill/>
          <a:ln/>
        </p:spPr>
        <p:txBody>
          <a:bodyPr wrap="square" rtlCol="0" anchor="ctr"/>
          <a:lstStyle/>
          <a:p>
            <a:pPr algn="l" indent="0" marL="0">
              <a:buNone/>
            </a:pPr>
            <a:r>
              <a:rPr lang="en-US" sz="1100" b="1" dirty="0">
                <a:solidFill>
                  <a:srgbClr val="0D1B2A"/>
                </a:solidFill>
                <a:latin typeface="Calibri" pitchFamily="34" charset="0"/>
                <a:ea typeface="Calibri" pitchFamily="34" charset="-122"/>
                <a:cs typeface="Calibri" pitchFamily="34" charset="-120"/>
              </a:rPr>
              <a:t>⚡ PRO TIP: </a:t>
            </a:r>
            <a:pPr algn="l" indent="0" marL="0">
              <a:buNone/>
            </a:pPr>
            <a:r>
              <a:rPr lang="en-US" sz="1100" dirty="0">
                <a:solidFill>
                  <a:srgbClr val="0D1B2A"/>
                </a:solidFill>
                <a:latin typeface="Calibri" pitchFamily="34" charset="0"/>
                <a:ea typeface="Calibri" pitchFamily="34" charset="-122"/>
                <a:cs typeface="Calibri" pitchFamily="34" charset="-120"/>
              </a:rPr>
              <a:t>When you spot a buying signal, shift your posture — slow down, speak softly, become administrative. The presentation is over. Now you're just helping them complete their decision.</a:t>
            </a:r>
            <a:endParaRPr lang="en-US" sz="1100" dirty="0"/>
          </a:p>
        </p:txBody>
      </p:sp>
      <p:sp>
        <p:nvSpPr>
          <p:cNvPr id="13" name="Shape 11"/>
          <p:cNvSpPr/>
          <p:nvPr/>
        </p:nvSpPr>
        <p:spPr>
          <a:xfrm>
            <a:off x="0" y="4992624"/>
            <a:ext cx="9144000" cy="150876"/>
          </a:xfrm>
          <a:prstGeom prst="rect">
            <a:avLst/>
          </a:prstGeom>
          <a:solidFill>
            <a:srgbClr val="0D1B2A"/>
          </a:solidFill>
          <a:ln w="12700">
            <a:solidFill>
              <a:srgbClr val="0D1B2A"/>
            </a:solidFill>
            <a:prstDash val="solid"/>
          </a:ln>
        </p:spPr>
      </p:sp>
      <p:sp>
        <p:nvSpPr>
          <p:cNvPr id="14" name="Text 12"/>
          <p:cNvSpPr/>
          <p:nvPr/>
        </p:nvSpPr>
        <p:spPr>
          <a:xfrm>
            <a:off x="182880" y="4992624"/>
            <a:ext cx="8778240" cy="150876"/>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SeptiVolt Solar Sales Accelerator™</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1B2A"/>
          </a:solidFill>
          <a:ln w="12700">
            <a:solidFill>
              <a:srgbClr val="0D1B2A"/>
            </a:solidFill>
            <a:prstDash val="solid"/>
          </a:ln>
        </p:spPr>
      </p:sp>
      <p:sp>
        <p:nvSpPr>
          <p:cNvPr id="3" name="Shape 1"/>
          <p:cNvSpPr/>
          <p:nvPr/>
        </p:nvSpPr>
        <p:spPr>
          <a:xfrm>
            <a:off x="0" y="0"/>
            <a:ext cx="128016" cy="914400"/>
          </a:xfrm>
          <a:prstGeom prst="rect">
            <a:avLst/>
          </a:prstGeom>
          <a:solidFill>
            <a:srgbClr val="0891B2"/>
          </a:solidFill>
          <a:ln w="12700">
            <a:solidFill>
              <a:srgbClr val="0891B2"/>
            </a:solidFill>
            <a:prstDash val="solid"/>
          </a:ln>
        </p:spPr>
      </p:sp>
      <p:sp>
        <p:nvSpPr>
          <p:cNvPr id="4" name="Text 2"/>
          <p:cNvSpPr/>
          <p:nvPr/>
        </p:nvSpPr>
        <p:spPr>
          <a:xfrm>
            <a:off x="228600" y="54864"/>
            <a:ext cx="2743200" cy="201168"/>
          </a:xfrm>
          <a:prstGeom prst="rect">
            <a:avLst/>
          </a:prstGeom>
          <a:noFill/>
          <a:ln/>
        </p:spPr>
        <p:txBody>
          <a:bodyPr wrap="square" rtlCol="0" anchor="ctr"/>
          <a:lstStyle/>
          <a:p>
            <a:pPr algn="l" indent="0" marL="0">
              <a:buNone/>
            </a:pPr>
            <a:r>
              <a:rPr lang="en-US" sz="900" b="1" spc="200" kern="0" dirty="0">
                <a:solidFill>
                  <a:srgbClr val="0891B2"/>
                </a:solidFill>
                <a:latin typeface="Calibri" pitchFamily="34" charset="0"/>
                <a:ea typeface="Calibri" pitchFamily="34" charset="-122"/>
                <a:cs typeface="Calibri" pitchFamily="34" charset="-120"/>
              </a:rPr>
              <a:t>MODULE 5.5a</a:t>
            </a:r>
            <a:endParaRPr lang="en-US" sz="900" dirty="0"/>
          </a:p>
        </p:txBody>
      </p:sp>
      <p:sp>
        <p:nvSpPr>
          <p:cNvPr id="5" name="Text 3"/>
          <p:cNvSpPr/>
          <p:nvPr/>
        </p:nvSpPr>
        <p:spPr>
          <a:xfrm>
            <a:off x="228600" y="256032"/>
            <a:ext cx="8686800" cy="566928"/>
          </a:xfrm>
          <a:prstGeom prst="rect">
            <a:avLst/>
          </a:prstGeom>
          <a:noFill/>
          <a:ln/>
        </p:spPr>
        <p:txBody>
          <a:bodyPr wrap="square" rtlCol="0" anchor="ctr"/>
          <a:lstStyle/>
          <a:p>
            <a:pPr algn="l" indent="0" marL="0">
              <a:buNone/>
            </a:pPr>
            <a:r>
              <a:rPr lang="en-US" sz="2400" b="1" dirty="0">
                <a:solidFill>
                  <a:srgbClr val="FFFFFF"/>
                </a:solidFill>
                <a:latin typeface="Calibri" pitchFamily="34" charset="0"/>
                <a:ea typeface="Calibri" pitchFamily="34" charset="-122"/>
                <a:cs typeface="Calibri" pitchFamily="34" charset="-120"/>
              </a:rPr>
              <a:t>The Silence Technique: Ask and Wait</a:t>
            </a:r>
            <a:endParaRPr lang="en-US" sz="2400" dirty="0"/>
          </a:p>
        </p:txBody>
      </p:sp>
      <p:sp>
        <p:nvSpPr>
          <p:cNvPr id="6" name="Text 4"/>
          <p:cNvSpPr/>
          <p:nvPr/>
        </p:nvSpPr>
        <p:spPr>
          <a:xfrm>
            <a:off x="274320" y="1024128"/>
            <a:ext cx="5486400" cy="2999232"/>
          </a:xfrm>
          <a:prstGeom prst="rect">
            <a:avLst/>
          </a:prstGeom>
          <a:noFill/>
          <a:ln/>
        </p:spPr>
        <p:txBody>
          <a:bodyPr wrap="square" rtlCol="0" anchor="t"/>
          <a:lstStyle/>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The Rule: After your final closing question, say nothing — do not speak until the homeowner responds</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The Psychology: Silence creates productive discomfort — the next person to speak typically moves toward a decision</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The Question: 'Based on everything we've covered today — does this make sense for your home?' Then stop.</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Common Rep Error: Filling the silence with more information — this lets the homeowner off the hook and restarts the presentation cycle</a:t>
            </a:r>
            <a:endParaRPr lang="en-US" sz="1350" dirty="0"/>
          </a:p>
          <a:p>
            <a:pPr marL="342900" indent="-342900">
              <a:spcAft>
                <a:spcPts val="600"/>
              </a:spcAft>
              <a:buSzPct val="100000"/>
              <a:buChar char="•"/>
            </a:pPr>
            <a:r>
              <a:rPr lang="en-US" sz="1350" dirty="0">
                <a:solidFill>
                  <a:srgbClr val="334155"/>
                </a:solidFill>
                <a:latin typeface="Calibri" pitchFamily="34" charset="0"/>
                <a:ea typeface="Calibri" pitchFamily="34" charset="-122"/>
                <a:cs typeface="Calibri" pitchFamily="34" charset="-120"/>
              </a:rPr>
              <a:t>If they go quiet for 10+ seconds: That's not hesitation — that's processing. Honor it. A homeowner thinking is a homeowner buying.</a:t>
            </a:r>
            <a:endParaRPr lang="en-US" sz="1350" dirty="0"/>
          </a:p>
        </p:txBody>
      </p:sp>
      <p:sp>
        <p:nvSpPr>
          <p:cNvPr id="7" name="Shape 5"/>
          <p:cNvSpPr/>
          <p:nvPr/>
        </p:nvSpPr>
        <p:spPr>
          <a:xfrm>
            <a:off x="5989320" y="1024128"/>
            <a:ext cx="2926080" cy="2999232"/>
          </a:xfrm>
          <a:prstGeom prst="rect">
            <a:avLst/>
          </a:prstGeom>
          <a:solidFill>
            <a:srgbClr val="0D1B2A"/>
          </a:solidFill>
          <a:ln w="12700">
            <a:solidFill>
              <a:srgbClr val="065A82"/>
            </a:solidFill>
            <a:prstDash val="solid"/>
          </a:ln>
        </p:spPr>
      </p:sp>
      <p:sp>
        <p:nvSpPr>
          <p:cNvPr id="8" name="Shape 6"/>
          <p:cNvSpPr/>
          <p:nvPr/>
        </p:nvSpPr>
        <p:spPr>
          <a:xfrm>
            <a:off x="5989320" y="1024128"/>
            <a:ext cx="2926080" cy="274320"/>
          </a:xfrm>
          <a:prstGeom prst="rect">
            <a:avLst/>
          </a:prstGeom>
          <a:solidFill>
            <a:srgbClr val="0891B2"/>
          </a:solidFill>
          <a:ln w="12700">
            <a:solidFill>
              <a:srgbClr val="0891B2"/>
            </a:solidFill>
            <a:prstDash val="solid"/>
          </a:ln>
        </p:spPr>
      </p:sp>
      <p:sp>
        <p:nvSpPr>
          <p:cNvPr id="9" name="Text 7"/>
          <p:cNvSpPr/>
          <p:nvPr/>
        </p:nvSpPr>
        <p:spPr>
          <a:xfrm>
            <a:off x="5989320" y="1024128"/>
            <a:ext cx="2926080" cy="274320"/>
          </a:xfrm>
          <a:prstGeom prst="rect">
            <a:avLst/>
          </a:prstGeom>
          <a:noFill/>
          <a:ln/>
        </p:spPr>
        <p:txBody>
          <a:bodyPr wrap="square" rtlCol="0" anchor="ctr"/>
          <a:lstStyle/>
          <a:p>
            <a:pPr algn="ctr" indent="0" marL="0">
              <a:buNone/>
            </a:pPr>
            <a:r>
              <a:rPr lang="en-US" sz="800" b="1" spc="300" kern="0" dirty="0">
                <a:solidFill>
                  <a:srgbClr val="FFFFFF"/>
                </a:solidFill>
                <a:latin typeface="Calibri" pitchFamily="34" charset="0"/>
                <a:ea typeface="Calibri" pitchFamily="34" charset="-122"/>
                <a:cs typeface="Calibri" pitchFamily="34" charset="-120"/>
              </a:rPr>
              <a:t>IMAGE</a:t>
            </a:r>
            <a:endParaRPr lang="en-US" sz="800" dirty="0"/>
          </a:p>
        </p:txBody>
      </p:sp>
      <p:sp>
        <p:nvSpPr>
          <p:cNvPr id="10" name="Text 8"/>
          <p:cNvSpPr/>
          <p:nvPr/>
        </p:nvSpPr>
        <p:spPr>
          <a:xfrm>
            <a:off x="6080760" y="1389888"/>
            <a:ext cx="2743200" cy="2542032"/>
          </a:xfrm>
          <a:prstGeom prst="rect">
            <a:avLst/>
          </a:prstGeom>
          <a:noFill/>
          <a:ln/>
        </p:spPr>
        <p:txBody>
          <a:bodyPr wrap="square" rtlCol="0" anchor="t"/>
          <a:lstStyle/>
          <a:p>
            <a:pPr algn="l" indent="0" marL="0">
              <a:buNone/>
            </a:pPr>
            <a:r>
              <a:rPr lang="en-US" sz="1000" i="1" dirty="0">
                <a:solidFill>
                  <a:srgbClr val="64748B"/>
                </a:solidFill>
                <a:latin typeface="Calibri" pitchFamily="34" charset="0"/>
                <a:ea typeface="Calibri" pitchFamily="34" charset="-122"/>
                <a:cs typeface="Calibri" pitchFamily="34" charset="-120"/>
              </a:rPr>
              <a:t>Minimalist graphic: A speech bubble on the left with '...based on everything we've covered today — does this make sense?' Then a large white space in the center. Then a clock showing '15 seconds.' Simple, powerful. Black and white with electric blue accent.</a:t>
            </a:r>
            <a:endParaRPr lang="en-US" sz="1000" dirty="0"/>
          </a:p>
        </p:txBody>
      </p:sp>
      <p:sp>
        <p:nvSpPr>
          <p:cNvPr id="11" name="Shape 9"/>
          <p:cNvSpPr/>
          <p:nvPr/>
        </p:nvSpPr>
        <p:spPr>
          <a:xfrm>
            <a:off x="228600" y="4133088"/>
            <a:ext cx="8686800" cy="749808"/>
          </a:xfrm>
          <a:prstGeom prst="rect">
            <a:avLst/>
          </a:prstGeom>
          <a:solidFill>
            <a:srgbClr val="F4A61D"/>
          </a:solidFill>
          <a:ln w="12700">
            <a:solidFill>
              <a:srgbClr val="F4A61D"/>
            </a:solidFill>
            <a:prstDash val="solid"/>
          </a:ln>
        </p:spPr>
      </p:sp>
      <p:sp>
        <p:nvSpPr>
          <p:cNvPr id="12" name="Text 10"/>
          <p:cNvSpPr/>
          <p:nvPr/>
        </p:nvSpPr>
        <p:spPr>
          <a:xfrm>
            <a:off x="320040" y="4133088"/>
            <a:ext cx="8503920" cy="749808"/>
          </a:xfrm>
          <a:prstGeom prst="rect">
            <a:avLst/>
          </a:prstGeom>
          <a:noFill/>
          <a:ln/>
        </p:spPr>
        <p:txBody>
          <a:bodyPr wrap="square" rtlCol="0" anchor="ctr"/>
          <a:lstStyle/>
          <a:p>
            <a:pPr algn="l" indent="0" marL="0">
              <a:buNone/>
            </a:pPr>
            <a:r>
              <a:rPr lang="en-US" sz="1100" b="1" dirty="0">
                <a:solidFill>
                  <a:srgbClr val="0D1B2A"/>
                </a:solidFill>
                <a:latin typeface="Calibri" pitchFamily="34" charset="0"/>
                <a:ea typeface="Calibri" pitchFamily="34" charset="-122"/>
                <a:cs typeface="Calibri" pitchFamily="34" charset="-120"/>
              </a:rPr>
              <a:t>⚡ PRO TIP: </a:t>
            </a:r>
            <a:pPr algn="l" indent="0" marL="0">
              <a:buNone/>
            </a:pPr>
            <a:r>
              <a:rPr lang="en-US" sz="1100" dirty="0">
                <a:solidFill>
                  <a:srgbClr val="0D1B2A"/>
                </a:solidFill>
                <a:latin typeface="Calibri" pitchFamily="34" charset="0"/>
                <a:ea typeface="Calibri" pitchFamily="34" charset="-122"/>
                <a:cs typeface="Calibri" pitchFamily="34" charset="-120"/>
              </a:rPr>
              <a:t>Practice the silence at home. Time yourself. Most reps break at 5 seconds. The close lives in seconds 6–15. Train your discomfort with silence — it's one of the highest-leverage skills in solar sales.</a:t>
            </a:r>
            <a:endParaRPr lang="en-US" sz="1100" dirty="0"/>
          </a:p>
        </p:txBody>
      </p:sp>
      <p:sp>
        <p:nvSpPr>
          <p:cNvPr id="13" name="Shape 11"/>
          <p:cNvSpPr/>
          <p:nvPr/>
        </p:nvSpPr>
        <p:spPr>
          <a:xfrm>
            <a:off x="0" y="4992624"/>
            <a:ext cx="9144000" cy="150876"/>
          </a:xfrm>
          <a:prstGeom prst="rect">
            <a:avLst/>
          </a:prstGeom>
          <a:solidFill>
            <a:srgbClr val="0D1B2A"/>
          </a:solidFill>
          <a:ln w="12700">
            <a:solidFill>
              <a:srgbClr val="0D1B2A"/>
            </a:solidFill>
            <a:prstDash val="solid"/>
          </a:ln>
        </p:spPr>
      </p:sp>
      <p:sp>
        <p:nvSpPr>
          <p:cNvPr id="14" name="Text 12"/>
          <p:cNvSpPr/>
          <p:nvPr/>
        </p:nvSpPr>
        <p:spPr>
          <a:xfrm>
            <a:off x="182880" y="4992624"/>
            <a:ext cx="8778240" cy="150876"/>
          </a:xfrm>
          <a:prstGeom prst="rect">
            <a:avLst/>
          </a:prstGeom>
          <a:noFill/>
          <a:ln/>
        </p:spPr>
        <p:txBody>
          <a:bodyPr wrap="square" rtlCol="0" anchor="ctr"/>
          <a:lstStyle/>
          <a:p>
            <a:pPr algn="r" indent="0" marL="0">
              <a:buNone/>
            </a:pPr>
            <a:r>
              <a:rPr lang="en-US" sz="750" dirty="0">
                <a:solidFill>
                  <a:srgbClr val="64748B"/>
                </a:solidFill>
                <a:latin typeface="Calibri" pitchFamily="34" charset="0"/>
                <a:ea typeface="Calibri" pitchFamily="34" charset="-122"/>
                <a:cs typeface="Calibri" pitchFamily="34" charset="-120"/>
              </a:rPr>
              <a:t>SeptiVolt Solar Sales Accelerator™</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Module_5.5a_Advanced_Closing_Scripts</dc:title>
  <dc:subject>PptxGenJS Presentation</dc:subject>
  <dc:creator>SeptiVolt</dc:creator>
  <cp:lastModifiedBy>SeptiVolt</cp:lastModifiedBy>
  <cp:revision>1</cp:revision>
  <dcterms:created xsi:type="dcterms:W3CDTF">2026-04-16T02:30:01Z</dcterms:created>
  <dcterms:modified xsi:type="dcterms:W3CDTF">2026-04-16T02:30:01Z</dcterms:modified>
</cp:coreProperties>
</file>