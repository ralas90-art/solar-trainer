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Labeled electrical panel photo showing all MPU assessment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Roof structural assessment guide — healthy vs. compromised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Aerial setback diagram with fire code compliance zones 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Communication workflow flowchart showing discovery-to-resolution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891B2"/>
          </a:solidFill>
          <a:ln w="12700">
            <a:solidFill>
              <a:srgbClr val="0891B2"/>
            </a:solidFill>
            <a:prstDash val="solid"/>
          </a:ln>
        </p:spPr>
      </p:sp>
      <p:sp>
        <p:nvSpPr>
          <p:cNvPr id="3" name="Shape 1"/>
          <p:cNvSpPr/>
          <p:nvPr/>
        </p:nvSpPr>
        <p:spPr>
          <a:xfrm>
            <a:off x="128016" y="0"/>
            <a:ext cx="9015984" cy="50292"/>
          </a:xfrm>
          <a:prstGeom prst="rect">
            <a:avLst/>
          </a:prstGeom>
          <a:solidFill>
            <a:srgbClr val="F4A61D"/>
          </a:solidFill>
          <a:ln w="12700">
            <a:solidFill>
              <a:srgbClr val="F4A61D"/>
            </a:solidFill>
            <a:prstDash val="solid"/>
          </a:ln>
        </p:spPr>
      </p:sp>
      <p:sp>
        <p:nvSpPr>
          <p:cNvPr id="4" name="Shape 2"/>
          <p:cNvSpPr/>
          <p:nvPr/>
        </p:nvSpPr>
        <p:spPr>
          <a:xfrm>
            <a:off x="365760" y="274320"/>
            <a:ext cx="2103120" cy="329184"/>
          </a:xfrm>
          <a:prstGeom prst="rect">
            <a:avLst/>
          </a:prstGeom>
          <a:solidFill>
            <a:srgbClr val="F4A61D"/>
          </a:solidFill>
          <a:ln w="12700">
            <a:solidFill>
              <a:srgbClr val="F4A61D"/>
            </a:solidFill>
            <a:prstDash val="solid"/>
          </a:ln>
        </p:spPr>
      </p:sp>
      <p:sp>
        <p:nvSpPr>
          <p:cNvPr id="5" name="Text 3"/>
          <p:cNvSpPr/>
          <p:nvPr/>
        </p:nvSpPr>
        <p:spPr>
          <a:xfrm>
            <a:off x="365760" y="274320"/>
            <a:ext cx="2103120" cy="329184"/>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MODULE 1.7a</a:t>
            </a:r>
            <a:endParaRPr lang="en-US" sz="1100" dirty="0"/>
          </a:p>
        </p:txBody>
      </p:sp>
      <p:sp>
        <p:nvSpPr>
          <p:cNvPr id="6" name="Text 4"/>
          <p:cNvSpPr/>
          <p:nvPr/>
        </p:nvSpPr>
        <p:spPr>
          <a:xfrm>
            <a:off x="6583680" y="137160"/>
            <a:ext cx="2377440" cy="228600"/>
          </a:xfrm>
          <a:prstGeom prst="rect">
            <a:avLst/>
          </a:prstGeom>
          <a:noFill/>
          <a:ln/>
        </p:spPr>
        <p:txBody>
          <a:bodyPr wrap="square" rtlCol="0" anchor="ctr"/>
          <a:lstStyle/>
          <a:p>
            <a:pPr algn="r" indent="0" marL="0">
              <a:buNone/>
            </a:pPr>
            <a:r>
              <a:rPr lang="en-US" sz="900" b="1" spc="500" kern="0" dirty="0">
                <a:solidFill>
                  <a:srgbClr val="64748B"/>
                </a:solidFill>
                <a:latin typeface="Calibri" pitchFamily="34" charset="0"/>
                <a:ea typeface="Calibri" pitchFamily="34" charset="-122"/>
                <a:cs typeface="Calibri" pitchFamily="34" charset="-120"/>
              </a:rPr>
              <a:t>SEPTIVOLT</a:t>
            </a:r>
            <a:endParaRPr lang="en-US" sz="900" dirty="0"/>
          </a:p>
        </p:txBody>
      </p:sp>
      <p:sp>
        <p:nvSpPr>
          <p:cNvPr id="7" name="Text 5"/>
          <p:cNvSpPr/>
          <p:nvPr/>
        </p:nvSpPr>
        <p:spPr>
          <a:xfrm>
            <a:off x="365760" y="804672"/>
            <a:ext cx="8412480" cy="1920240"/>
          </a:xfrm>
          <a:prstGeom prst="rect">
            <a:avLst/>
          </a:prstGeom>
          <a:noFill/>
          <a:ln/>
        </p:spPr>
        <p:txBody>
          <a:bodyPr wrap="square" rtlCol="0" anchor="t"/>
          <a:lstStyle/>
          <a:p>
            <a:pPr algn="l" indent="0" marL="0">
              <a:buNone/>
            </a:pPr>
            <a:r>
              <a:rPr lang="en-US" sz="3600" b="1" dirty="0">
                <a:solidFill>
                  <a:srgbClr val="FFFFFF"/>
                </a:solidFill>
                <a:latin typeface="Calibri" pitchFamily="34" charset="0"/>
                <a:ea typeface="Calibri" pitchFamily="34" charset="-122"/>
                <a:cs typeface="Calibri" pitchFamily="34" charset="-120"/>
              </a:rPr>
              <a:t>Think Like an Engineer:</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Site Engineering Awareness for Sales Reps</a:t>
            </a:r>
            <a:endParaRPr lang="en-US" sz="3600" dirty="0"/>
          </a:p>
        </p:txBody>
      </p:sp>
      <p:sp>
        <p:nvSpPr>
          <p:cNvPr id="8" name="Text 6"/>
          <p:cNvSpPr/>
          <p:nvPr/>
        </p:nvSpPr>
        <p:spPr>
          <a:xfrm>
            <a:off x="365760" y="2834640"/>
            <a:ext cx="7772400" cy="502920"/>
          </a:xfrm>
          <a:prstGeom prst="rect">
            <a:avLst/>
          </a:prstGeom>
          <a:noFill/>
          <a:ln/>
        </p:spPr>
        <p:txBody>
          <a:bodyPr wrap="square" rtlCol="0" anchor="ctr"/>
          <a:lstStyle/>
          <a:p>
            <a:pPr algn="l" indent="0" marL="0">
              <a:buNone/>
            </a:pPr>
            <a:r>
              <a:rPr lang="en-US" sz="1500" dirty="0">
                <a:solidFill>
                  <a:srgbClr val="0891B2"/>
                </a:solidFill>
                <a:latin typeface="Calibri" pitchFamily="34" charset="0"/>
                <a:ea typeface="Calibri" pitchFamily="34" charset="-122"/>
                <a:cs typeface="Calibri" pitchFamily="34" charset="-120"/>
              </a:rPr>
              <a:t>MPU Red Flags · Roof Integrity · Shading &amp; Setbacks · Homeowner Communication</a:t>
            </a:r>
            <a:endParaRPr lang="en-US" sz="1500" dirty="0"/>
          </a:p>
        </p:txBody>
      </p:sp>
      <p:sp>
        <p:nvSpPr>
          <p:cNvPr id="9" name="Shape 7"/>
          <p:cNvSpPr/>
          <p:nvPr/>
        </p:nvSpPr>
        <p:spPr>
          <a:xfrm>
            <a:off x="365760" y="3456432"/>
            <a:ext cx="8412480" cy="713232"/>
          </a:xfrm>
          <a:prstGeom prst="rect">
            <a:avLst/>
          </a:prstGeom>
          <a:solidFill>
            <a:srgbClr val="1A2E3F"/>
          </a:solidFill>
          <a:ln w="12700">
            <a:solidFill>
              <a:srgbClr val="F4A61D"/>
            </a:solidFill>
            <a:prstDash val="solid"/>
          </a:ln>
        </p:spPr>
      </p:sp>
      <p:sp>
        <p:nvSpPr>
          <p:cNvPr id="10" name="Shape 8"/>
          <p:cNvSpPr/>
          <p:nvPr/>
        </p:nvSpPr>
        <p:spPr>
          <a:xfrm>
            <a:off x="365760" y="3456432"/>
            <a:ext cx="54864" cy="713232"/>
          </a:xfrm>
          <a:prstGeom prst="rect">
            <a:avLst/>
          </a:prstGeom>
          <a:solidFill>
            <a:srgbClr val="F4A61D"/>
          </a:solidFill>
          <a:ln w="12700">
            <a:solidFill>
              <a:srgbClr val="F4A61D"/>
            </a:solidFill>
            <a:prstDash val="solid"/>
          </a:ln>
        </p:spPr>
      </p:sp>
      <p:sp>
        <p:nvSpPr>
          <p:cNvPr id="11" name="Text 9"/>
          <p:cNvSpPr/>
          <p:nvPr/>
        </p:nvSpPr>
        <p:spPr>
          <a:xfrm>
            <a:off x="548640" y="3456432"/>
            <a:ext cx="8138160" cy="713232"/>
          </a:xfrm>
          <a:prstGeom prst="rect">
            <a:avLst/>
          </a:prstGeom>
          <a:noFill/>
          <a:ln/>
        </p:spPr>
        <p:txBody>
          <a:bodyPr wrap="square" rtlCol="0" anchor="ctr"/>
          <a:lstStyle/>
          <a:p>
            <a:pPr algn="l" indent="0" marL="0">
              <a:buNone/>
            </a:pPr>
            <a:r>
              <a:rPr lang="en-US" sz="1200" i="1" dirty="0">
                <a:solidFill>
                  <a:srgbClr val="F4A61D"/>
                </a:solidFill>
                <a:latin typeface="Calibri" pitchFamily="34" charset="0"/>
                <a:ea typeface="Calibri" pitchFamily="34" charset="-122"/>
                <a:cs typeface="Calibri" pitchFamily="34" charset="-120"/>
              </a:rPr>
              <a:t>"The rep who spots the MPU issue before the survey saves the deal from dying at engineering."</a:t>
            </a:r>
            <a:endParaRPr lang="en-US" sz="1200" dirty="0"/>
          </a:p>
        </p:txBody>
      </p:sp>
      <p:sp>
        <p:nvSpPr>
          <p:cNvPr id="12" name="Shape 10"/>
          <p:cNvSpPr/>
          <p:nvPr/>
        </p:nvSpPr>
        <p:spPr>
          <a:xfrm>
            <a:off x="128016" y="4956048"/>
            <a:ext cx="9015984" cy="187452"/>
          </a:xfrm>
          <a:prstGeom prst="rect">
            <a:avLst/>
          </a:prstGeom>
          <a:solidFill>
            <a:srgbClr val="065A82"/>
          </a:solidFill>
          <a:ln w="12700">
            <a:solidFill>
              <a:srgbClr val="065A82"/>
            </a:solidFill>
            <a:prstDash val="solid"/>
          </a:ln>
        </p:spPr>
      </p:sp>
      <p:sp>
        <p:nvSpPr>
          <p:cNvPr id="13" name="Text 11"/>
          <p:cNvSpPr/>
          <p:nvPr/>
        </p:nvSpPr>
        <p:spPr>
          <a:xfrm>
            <a:off x="182880" y="4956048"/>
            <a:ext cx="8778240" cy="187452"/>
          </a:xfrm>
          <a:prstGeom prst="rect">
            <a:avLst/>
          </a:prstGeom>
          <a:noFill/>
          <a:ln/>
        </p:spPr>
        <p:txBody>
          <a:bodyPr wrap="square" rtlCol="0" anchor="ctr"/>
          <a:lstStyle/>
          <a:p>
            <a:pPr algn="ctr" indent="0" marL="0">
              <a:buNone/>
            </a:pPr>
            <a:r>
              <a:rPr lang="en-US" sz="800" dirty="0">
                <a:solidFill>
                  <a:srgbClr val="F0F4F8"/>
                </a:solidFill>
                <a:latin typeface="Calibri" pitchFamily="34" charset="0"/>
                <a:ea typeface="Calibri" pitchFamily="34" charset="-122"/>
                <a:cs typeface="Calibri" pitchFamily="34" charset="-120"/>
              </a:rPr>
              <a:t>SeptiVolt Solar Sales Accelerator™  |  Energy Independence Education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1.7a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MPU Red Flags: Main Panel Upgrade Detection</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MPU (Main Panel Upgrade) is required when the existing panel lacks capacity to add solar/battery safely</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Red Flag #1: Panels rated 100A or less — most solar+battery installs need 200A minimum</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Red Flag #2: Federal Pacific 'Stab-Lok' or Zinsco panels — fire risk, insurers may require upgrade regardless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Red Flag #3: Full breaker slots with no room for a solar interconnection breaker</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Disclosure Rule: If you spot an MPU risk, document it and flag it for your engineer — never promise the homeowner it 'won't cost extra' without engineering confirmation</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Close-up photo of an electrical panel with key elements labeled in callout bubbles: (1) Amperage rating on main breaker, (2) Available slots count, (3) Panel brand/model label, (4) Full vs. open breaker positions. Safety-first visual style.</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During the walkthrough, say: 'Let me take a quick look at your electrical panel — this helps me make sure your system design is accurate.' Then photograph the panel door, panel label, and breaker layout.</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1.7a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Roof Structural Integrity: What to Look For</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Rafter Spacing: Standard is 16" or 24" O.C. — wider spacing may require additional racking hardware and cost</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Dry Rot Detection: Look for soft spots, discoloration at eaves, or sagging sections — indicates wood decay that may require re-sheathing</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Roof Age &amp; Material: Asphalt shingles over 15 years old may need replacement before installation (warranty overlap issues)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Pitch &amp; Complexity: Steep pitches (&gt;35°) and complex roof lines increase labor cost and affect production modeling</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Coordination Rule: Flag any structural concern to engineering BEFORE disclosing cost to homeowner — avoid creating alarm before you have facts</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Split image: Left shows a healthy roof with visible rafter spacing from attic view. Right shows dry rot damage at eaves with orange warning overlay. Educational diagram style with measurement annotations.</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Say: 'I want to get eyes on the roof condition today so we can give you the most accurate project scope. Any surprises at install are surprises we failed to prevent for you.'</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1.7a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Shading, Setbacks &amp; the 3-Foot Fire Line Rule</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Shading Impact: Even 10% shading on one panel can reduce entire string production by 30-50% without optimizers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Setback Rule (California Fire Code): 3-foot clearance required from all roof ridges, hips, and valleys — reduces usable roof area</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North-Facing Panels: Avoid in CA — production drops 25–35% vs. south-facing; flag for engineering if layout requires it</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Trees &amp; Obstructions: Future tree growth is as important as current shading — ask about landscaping plans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Tool: Use satellite tools (Aurora, Nearmap) to pre-visualize setbacks + shading before site visit to set expectations early</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Aerial roof diagram showing 3-foot setback zones highlighted in red hash marks around all ridges and valleys. Panel placement area shown in blue. Legend included. Clean engineering diagram style.</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Walk the perimeter of the house and look up: 'I'm checking the fire code setbacks — this determines exactly how many panels we can fit and where. This is what keeps your system code-compliant and maximizes your production.'</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1.7a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Communicating Engineering Discoveries Without Killing the Deal</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Golden Rule: Lead with solutions, not problems. 'We found X — here's how we address it' not 'there's a problem with your roof.'</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Use the Sandwich Method: Positive context → technical finding → path forward. Never present a discovery in isolation.</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MPU Script: 'Good news — your system is designed. The one thing engineering flagged is your panel may need upgrading to safely support battery storage. This is common in homes built before 2000, and it's handled by our electrical team.'</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Roof Script: 'We found some weathering on the east face that we want our roofing partner to assess before we finalize install. This protects your roof warranty and your solar warranty.'</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Close the Loop: Always end with a timeline: 'Engineering will have a full report within 48 hours — let me walk you through what happens next so there are no surprises.'</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Flowchart diagram: Discovery → Internal Flag → Engineering Review → Clear Communication to Homeowner → Solution Presented. Each step shown as a connected node with icon. Navy and blue color scheme.</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Your tone is everything. If you sound worried, they get worried. If you sound matter-of-fact and solutions-oriented, they trust your process. Practice your discovery script until it sounds like you say it every day — because you should.</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Module_1.7a_Site_Engineering</dc:title>
  <dc:subject>PptxGenJS Presentation</dc:subject>
  <dc:creator>SeptiVolt</dc:creator>
  <cp:lastModifiedBy>SeptiVolt</cp:lastModifiedBy>
  <cp:revision>1</cp:revision>
  <dcterms:created xsi:type="dcterms:W3CDTF">2026-04-16T02:30:00Z</dcterms:created>
  <dcterms:modified xsi:type="dcterms:W3CDTF">2026-04-16T02:30:00Z</dcterms:modified>
</cp:coreProperties>
</file>