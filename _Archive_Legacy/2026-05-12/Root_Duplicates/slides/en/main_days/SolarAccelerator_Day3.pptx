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645920"/>
            <a:ext cx="9144000" cy="2011680"/>
          </a:xfrm>
          <a:prstGeom prst="rect">
            <a:avLst/>
          </a:prstGeom>
          <a:solidFill>
            <a:srgbClr val="1A2840"/>
          </a:solidFill>
          <a:ln w="12700">
            <a:solidFill>
              <a:srgbClr val="1A2840"/>
            </a:solidFill>
            <a:prstDash val="solid"/>
          </a:ln>
        </p:spPr>
      </p:sp>
      <p:sp>
        <p:nvSpPr>
          <p:cNvPr id="3" name="Shape 1"/>
          <p:cNvSpPr/>
          <p:nvPr/>
        </p:nvSpPr>
        <p:spPr>
          <a:xfrm>
            <a:off x="0" y="1645920"/>
            <a:ext cx="320040" cy="2011680"/>
          </a:xfrm>
          <a:prstGeom prst="rect">
            <a:avLst/>
          </a:prstGeom>
          <a:solidFill>
            <a:srgbClr val="F4A61D"/>
          </a:solidFill>
          <a:ln w="12700">
            <a:solidFill>
              <a:srgbClr val="F4A61D"/>
            </a:solidFill>
            <a:prstDash val="solid"/>
          </a:ln>
        </p:spPr>
      </p:sp>
      <p:sp>
        <p:nvSpPr>
          <p:cNvPr id="4" name="Text 2"/>
          <p:cNvSpPr/>
          <p:nvPr/>
        </p:nvSpPr>
        <p:spPr>
          <a:xfrm>
            <a:off x="548640" y="411480"/>
            <a:ext cx="8229600" cy="548640"/>
          </a:xfrm>
          <a:prstGeom prst="rect">
            <a:avLst/>
          </a:prstGeom>
          <a:noFill/>
          <a:ln/>
        </p:spPr>
        <p: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p:txBody>
      </p:sp>
      <p:sp>
        <p:nvSpPr>
          <p:cNvPr id="5" name="Text 3"/>
          <p:cNvSpPr/>
          <p:nvPr/>
        </p:nvSpPr>
        <p:spPr>
          <a:xfrm>
            <a:off x="548640" y="868680"/>
            <a:ext cx="8229600" cy="822960"/>
          </a:xfrm>
          <a:prstGeom prst="rect">
            <a:avLst/>
          </a:prstGeom>
          <a:noFill/>
          <a:ln/>
        </p:spPr>
        <p:txBody>
          <a:bodyPr wrap="square" lIns="0" tIns="0" rIns="0" bIns="0" rtlCol="0" anchor="ctr"/>
          <a:lstStyle/>
          <a:p>
            <a:pPr algn="l" indent="0" marL="0">
              <a:buNone/>
            </a:pPr>
            <a:r>
              <a:rPr lang="en-US" sz="1800" dirty="0">
                <a:solidFill>
                  <a:srgbClr val="8FA3B1"/>
                </a:solidFill>
                <a:latin typeface="Calibri" pitchFamily="34" charset="0"/>
                <a:ea typeface="Calibri" pitchFamily="34" charset="-122"/>
                <a:cs typeface="Calibri" pitchFamily="34" charset="-120"/>
              </a:rPr>
              <a:t>7-Day Sales Rep</a:t>
            </a:r>
            <a:endParaRPr lang="en-US" sz="1800" dirty="0"/>
          </a:p>
          <a:p>
            <a:pPr algn="l" indent="0" marL="0">
              <a:buNone/>
            </a:pPr>
            <a:r>
              <a:rPr lang="en-US" sz="1800" dirty="0">
                <a:solidFill>
                  <a:srgbClr val="8FA3B1"/>
                </a:solidFill>
                <a:latin typeface="Calibri" pitchFamily="34" charset="0"/>
                <a:ea typeface="Calibri" pitchFamily="34" charset="-122"/>
                <a:cs typeface="Calibri" pitchFamily="34" charset="-120"/>
              </a:rPr>
              <a:t>Certification Program</a:t>
            </a:r>
            <a:endParaRPr lang="en-US" sz="1800" dirty="0"/>
          </a:p>
        </p:txBody>
      </p:sp>
      <p:sp>
        <p:nvSpPr>
          <p:cNvPr id="6" name="Text 4"/>
          <p:cNvSpPr/>
          <p:nvPr/>
        </p:nvSpPr>
        <p:spPr>
          <a:xfrm>
            <a:off x="548640" y="1737360"/>
            <a:ext cx="2743200" cy="640080"/>
          </a:xfrm>
          <a:prstGeom prst="rect">
            <a:avLst/>
          </a:prstGeom>
          <a:noFill/>
          <a:ln/>
        </p:spPr>
        <p: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DAY 3</a:t>
            </a:r>
            <a:endParaRPr lang="en-US" sz="3800" dirty="0"/>
          </a:p>
        </p:txBody>
      </p:sp>
      <p:sp>
        <p:nvSpPr>
          <p:cNvPr id="7" name="Text 5"/>
          <p:cNvSpPr/>
          <p:nvPr/>
        </p:nvSpPr>
        <p:spPr>
          <a:xfrm>
            <a:off x="548640" y="2423160"/>
            <a:ext cx="8229600" cy="502920"/>
          </a:xfrm>
          <a:prstGeom prst="rect">
            <a:avLst/>
          </a:prstGeom>
          <a:noFill/>
          <a:ln/>
        </p:spPr>
        <p:txBody>
          <a:bodyPr wrap="square" lIns="0" tIns="0" rIns="0" bIns="0" rtlCol="0" anchor="ctr"/>
          <a:lstStyle/>
          <a:p>
            <a:pPr algn="l" indent="0" marL="0">
              <a:buNone/>
            </a:pPr>
            <a:r>
              <a:rPr lang="en-US" sz="2200" i="1" dirty="0">
                <a:solidFill>
                  <a:srgbClr val="F4A61D"/>
                </a:solidFill>
                <a:latin typeface="Calibri" pitchFamily="34" charset="0"/>
                <a:ea typeface="Calibri" pitchFamily="34" charset="-122"/>
                <a:cs typeface="Calibri" pitchFamily="34" charset="-120"/>
              </a:rPr>
              <a:t>The Consultation Blueprint</a:t>
            </a:r>
            <a:endParaRPr lang="en-US" sz="2200" dirty="0"/>
          </a:p>
        </p:txBody>
      </p:sp>
      <p:sp>
        <p:nvSpPr>
          <p:cNvPr id="8" name="Text 6"/>
          <p:cNvSpPr/>
          <p:nvPr/>
        </p:nvSpPr>
        <p:spPr>
          <a:xfrm>
            <a:off x="548640" y="2971800"/>
            <a:ext cx="8229600" cy="365760"/>
          </a:xfrm>
          <a:prstGeom prst="rect">
            <a:avLst/>
          </a:prstGeom>
          <a:noFill/>
          <a:ln/>
        </p:spPr>
        <p: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Modules 3.1 – 3.10  |  Environmental Control · BOLT Profiling · Discovery · Empathy · The Close</a:t>
            </a:r>
            <a:endParaRPr lang="en-US" sz="1000" dirty="0"/>
          </a:p>
        </p:txBody>
      </p:sp>
      <p:sp>
        <p:nvSpPr>
          <p:cNvPr id="9" name="Shape 7"/>
          <p:cNvSpPr/>
          <p:nvPr/>
        </p:nvSpPr>
        <p:spPr>
          <a:xfrm>
            <a:off x="0" y="4526280"/>
            <a:ext cx="9144000" cy="617220"/>
          </a:xfrm>
          <a:prstGeom prst="rect">
            <a:avLst/>
          </a:prstGeom>
          <a:solidFill>
            <a:srgbClr val="F4A61D"/>
          </a:solidFill>
          <a:ln w="12700">
            <a:solidFill>
              <a:srgbClr val="F4A61D"/>
            </a:solidFill>
            <a:prstDash val="solid"/>
          </a:ln>
        </p:spPr>
      </p:sp>
      <p:sp>
        <p:nvSpPr>
          <p:cNvPr id="10" name="Text 8"/>
          <p:cNvSpPr/>
          <p:nvPr/>
        </p:nvSpPr>
        <p:spPr>
          <a:xfrm>
            <a:off x="457200" y="4544568"/>
            <a:ext cx="8229600" cy="58064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Control the Room. Diagnose the Pain. Close the Deal.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3.1</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In-Home Positioning &amp; Environmental Control</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Setting the Stage for the Close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3.1 — ENVIRONMENTAL CONTROL</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Setting the Stage for the Close</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the first 5 minutes determine the outcome</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Transitioning from the door to the table</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Expert Frame vs. The Guest Trap</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Controlling the physical and psychological environment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Pre-Arrival Mindset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Review your lead notes — know their name, neighborhood, bill average before you knock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Visualize the 'Yes': mentally rehearse a smooth, confident consultation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Check your uniform — charged iPad, clean polo, breath mint; first impressions begin in your car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Parking strategy: park on the street, not the driveway (consultants park on the street)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Professionalism starts 10 minutes before you ring the bell. Parking on the street signals 'consultant,' not 'delivery driver.' This subtle cue shifts the homeowner's frame from transaction to consultation.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First Impressions at the Door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3-Foot Rule: step back when the door opens — give them space, avoid pressure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'I've Arrived' Smile: confident, warm, not desperate — you're the expert they were waiting for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a prop (iPad or design folder) to look official and purposeful, not empty-handed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Breaking the Threshold: wait for the door to open fully, then use the 'Assume Entry' walk</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Hey [Name]! I'm [Your Name] with [Company]. I've got those design options we discussed. Where's the best place for us to spread these out for a second?</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uh — come on in. I guess we can go to the kitchen...</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moment you appear at the door is when the homeowner decides if you're a threat or an expert. Body language tells the full story before you say a word.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Authority Positioning: Expert vs. Guest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Guest Trap: if they offer you water, ask you to sit on the couch — they are in control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Expert Frame: you guide them to the table, you set the agenda, you lead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Directions, not Suggestions — 'Let's head to the kitchen table' vs. 'Is the kitchen okay?'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Manage the flow: move through the house with intention, not hesitation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reps fall into the Guest Trap within 60 seconds of entry. The homeowner defaults to social norms. Your job is to redirect — politely but firmly — to the Expert frame.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Seating Strategy: Kitchen Table vs. The Couch</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60120"/>
            <a:ext cx="4023360" cy="338328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960120"/>
            <a:ext cx="4023360" cy="384048"/>
          </a:xfrm>
          <a:prstGeom prst="rect">
            <a:avLst/>
          </a:prstGeom>
          <a:solidFill>
            <a:srgbClr val="0891B2"/>
          </a:solidFill>
          <a:ln w="12700">
            <a:solidFill>
              <a:srgbClr val="0891B2"/>
            </a:solidFill>
            <a:prstDash val="solid"/>
          </a:ln>
        </p:spPr>
      </p:sp>
      <p:sp>
        <p:nvSpPr>
          <p:cNvPr id="7" name="Text 5"/>
          <p:cNvSpPr/>
          <p:nvPr/>
        </p:nvSpPr>
        <p:spPr>
          <a:xfrm>
            <a:off x="320040" y="978408"/>
            <a:ext cx="3931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THE COUCH (AVOID)</a:t>
            </a:r>
            <a:endParaRPr lang="en-US" sz="1200" dirty="0"/>
          </a:p>
        </p:txBody>
      </p:sp>
      <p:sp>
        <p:nvSpPr>
          <p:cNvPr id="8" name="Text 6"/>
          <p:cNvSpPr/>
          <p:nvPr/>
        </p:nvSpPr>
        <p:spPr>
          <a:xfrm>
            <a:off x="365760" y="1417320"/>
            <a:ext cx="3840480"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Too relaxed — homeowner is in 'TV mode'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Side-by-side or opposite creates an adversarial or social dynamic</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Low coffee table kills your iPad presentation</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You're a guest, not a consultant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Deal momentum is lost in the cushions</a:t>
            </a:r>
            <a:endParaRPr lang="en-US" sz="1200" dirty="0"/>
          </a:p>
        </p:txBody>
      </p:sp>
      <p:sp>
        <p:nvSpPr>
          <p:cNvPr id="9" name="Shape 7"/>
          <p:cNvSpPr/>
          <p:nvPr/>
        </p:nvSpPr>
        <p:spPr>
          <a:xfrm>
            <a:off x="4846320" y="960120"/>
            <a:ext cx="4023360" cy="338328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960120"/>
            <a:ext cx="4023360" cy="384048"/>
          </a:xfrm>
          <a:prstGeom prst="rect">
            <a:avLst/>
          </a:prstGeom>
          <a:solidFill>
            <a:srgbClr val="F4A61D"/>
          </a:solidFill>
          <a:ln w="12700">
            <a:solidFill>
              <a:srgbClr val="F4A61D"/>
            </a:solidFill>
            <a:prstDash val="solid"/>
          </a:ln>
        </p:spPr>
      </p:sp>
      <p:sp>
        <p:nvSpPr>
          <p:cNvPr id="11" name="Text 9"/>
          <p:cNvSpPr/>
          <p:nvPr/>
        </p:nvSpPr>
        <p:spPr>
          <a:xfrm>
            <a:off x="4892040" y="978408"/>
            <a:ext cx="3931920" cy="347472"/>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THE KITCHEN TABLE</a:t>
            </a:r>
            <a:endParaRPr lang="en-US" sz="1200" dirty="0"/>
          </a:p>
        </p:txBody>
      </p:sp>
      <p:sp>
        <p:nvSpPr>
          <p:cNvPr id="12" name="Text 10"/>
          <p:cNvSpPr/>
          <p:nvPr/>
        </p:nvSpPr>
        <p:spPr>
          <a:xfrm>
            <a:off x="4937760" y="1417320"/>
            <a:ext cx="3840480"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This is where bills get paid and financial decisions get made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90-degree seating rule — sit adjacent, not opposite (less interrogation energy)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Full visibility of the iPad at all times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You control the space and the pace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homeowner enters 'decision mode' automatically</a:t>
            </a:r>
            <a:endParaRPr lang="en-US" sz="1200" dirty="0"/>
          </a:p>
        </p:txBody>
      </p:sp>
      <p:sp>
        <p:nvSpPr>
          <p:cNvPr id="13" name="Shape 1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4" name="Text 1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Never present on a low coffee table. The kitchen table is the psychological 'command center' of every home. Getting them there is half the close.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Eliminating Distractions: The Silence Strategy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TV: 'Do you mind if we mute that real quick? I want to make sure I don't miss anything you tell me.'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Pets: Use the 'I love dogs, but...' move — redirect them kindly before they derail the conversation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Kids: The iPad Babysitter — have a kid-friendly app ready to hand over on a secondary device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 cannot compete with Netflix, ESPN, or a barking Labrador — address distractions before you begin</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Do you mind if we just turn that down for a sec? I want to give you my full attention — and honestly I'm a little jealous of whatever you're watching.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[laughs] Sure, no problem.</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non-negotiable. One rep lost a $38k deal because he tried to present over a game show with the volume on. Address every distraction before you open the iPad.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Opening the Consultation Frame</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822960"/>
            <a:ext cx="8503920" cy="347472"/>
          </a:xfrm>
          <a:prstGeom prst="rect">
            <a:avLst/>
          </a:prstGeom>
          <a:noFill/>
          <a:ln/>
        </p:spPr>
        <p: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Setting the agenda before the presentation removes 80% of the homeowner's guard.</a:t>
            </a:r>
            <a:endParaRPr lang="en-US" sz="1100" dirty="0"/>
          </a:p>
        </p:txBody>
      </p:sp>
      <p:sp>
        <p:nvSpPr>
          <p:cNvPr id="6" name="Shape 4"/>
          <p:cNvSpPr/>
          <p:nvPr/>
        </p:nvSpPr>
        <p:spPr>
          <a:xfrm>
            <a:off x="274320" y="1261872"/>
            <a:ext cx="7680960" cy="1298448"/>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84048" y="1316736"/>
            <a:ext cx="7461504" cy="1188720"/>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Before I pull anything up, let me tell you exactly what the next 30 minutes looks like. I'm going to ask you some questions about your situation, show you the numbers, answer anything you want. And at the end — if it makes total sense, great. If it doesn't, no hard feelings whatsoever. Does that sound fair?</a:t>
            </a:r>
            <a:endParaRPr lang="en-US" sz="1100" dirty="0"/>
          </a:p>
        </p:txBody>
      </p:sp>
      <p:sp>
        <p:nvSpPr>
          <p:cNvPr id="8" name="Shape 6"/>
          <p:cNvSpPr/>
          <p:nvPr/>
        </p:nvSpPr>
        <p:spPr>
          <a:xfrm>
            <a:off x="914400" y="2670048"/>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1024128" y="2724912"/>
            <a:ext cx="7461504" cy="438912"/>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Homeowner: </a:t>
            </a:r>
            <a:pPr indent="0" marL="0">
              <a:buNone/>
            </a:pPr>
            <a:r>
              <a:rPr lang="en-US" sz="1100" dirty="0">
                <a:solidFill>
                  <a:srgbClr val="FFFFFF"/>
                </a:solidFill>
                <a:latin typeface="Calibri" pitchFamily="34" charset="0"/>
                <a:ea typeface="Calibri" pitchFamily="34" charset="-122"/>
                <a:cs typeface="Calibri" pitchFamily="34" charset="-120"/>
              </a:rPr>
              <a:t>Yeah... that sounds reasonable.</a:t>
            </a:r>
            <a:endParaRPr lang="en-US" sz="1100" dirty="0"/>
          </a:p>
        </p:txBody>
      </p:sp>
      <p:sp>
        <p:nvSpPr>
          <p:cNvPr id="10" name="Shape 8"/>
          <p:cNvSpPr/>
          <p:nvPr/>
        </p:nvSpPr>
        <p:spPr>
          <a:xfrm>
            <a:off x="274320" y="3328416"/>
            <a:ext cx="7680960" cy="78638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384048" y="3383280"/>
            <a:ext cx="7461504" cy="676656"/>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Perfect. And I promise I'll be straight with you — if this doesn't make financial sense for your home, I'll tell you that too. Sound good?</a:t>
            </a:r>
            <a:endParaRPr lang="en-US" sz="1100" dirty="0"/>
          </a:p>
        </p:txBody>
      </p:sp>
      <p:sp>
        <p:nvSpPr>
          <p:cNvPr id="12" name="Shape 10"/>
          <p:cNvSpPr/>
          <p:nvPr/>
        </p:nvSpPr>
        <p:spPr>
          <a:xfrm>
            <a:off x="914400" y="4224528"/>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1024128" y="4279392"/>
            <a:ext cx="7461504" cy="438912"/>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Homeowner: </a:t>
            </a:r>
            <a:pPr indent="0" marL="0">
              <a:buNone/>
            </a:pPr>
            <a:r>
              <a:rPr lang="en-US" sz="1100" dirty="0">
                <a:solidFill>
                  <a:srgbClr val="FFFFFF"/>
                </a:solidFill>
                <a:latin typeface="Calibri" pitchFamily="34" charset="0"/>
                <a:ea typeface="Calibri" pitchFamily="34" charset="-122"/>
                <a:cs typeface="Calibri" pitchFamily="34" charset="-120"/>
              </a:rPr>
              <a:t>Yeah, that's actually refreshing to hear.</a:t>
            </a:r>
            <a:endParaRPr lang="en-US" sz="1100" dirty="0"/>
          </a:p>
        </p:txBody>
      </p:sp>
      <p:sp>
        <p:nvSpPr>
          <p:cNvPr id="14" name="Shape 12"/>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5" name="Text 13"/>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script lowers their guard immediately. You're giving them an exit — but most won't use it. The 'No Pressure Promise' disarms the most skeptical homeowners.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'No/Yes/Maybe' Outcome Frame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Set the agenda: 'I'll show you the numbers, answer your questions, and you'll know exactly where you stand'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Define acceptable outcomes upfront: Yes, No, or 'Not right now but here's what needs to change'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Time-box the meeting: 'This usually takes about 30–40 minutes — does that work?'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Tell them what will NOT happen: 'I'm not going to pressure you. If I'm doing that, call me out.'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you define the outcome options before the consultation, you eliminate the most common objection — 'I need to think about it' — because you've already agreed that a 'no' is a valid answer.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Activity: Room Setup Roleplay</a:t>
            </a:r>
            <a:endParaRPr lang="en-US" sz="20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Control the environment and establish the Expert Frame within the first 3 minutes of entry</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Set up a mock living room — couch, coffee table, TV remote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One rep plays 'Distracted Homeowner' (TV on, dog toy on couch, ready to sit you down)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Sales rep must: redirect to the kitchen table, mute the TV, establish the consultation frame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Observer scores on 'Authority Score' (1–10) — Did they lead or follow?</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happened at the door? Where did control shift?</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3.2</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Personality Profiling: The BOLT Framework</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Read People in Seconds. Adapt or Lose the Deal.</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3.2 — THE BOLT FRAMEWORK</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The Psychology of Communication</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most reps sell the way they like to be sold to — and lose deals because of it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4 homeowner personality types and how to ID them fast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Adapting your tone, pace, and language to match their wiring</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Handling mixed-personality couples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BOLT Framework: 4 Homeowner Types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402336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4023360" cy="365760"/>
          </a:xfrm>
          <a:prstGeom prst="rect">
            <a:avLst/>
          </a:prstGeom>
          <a:solidFill>
            <a:srgbClr val="0891B2"/>
          </a:solidFill>
          <a:ln w="12700">
            <a:solidFill>
              <a:srgbClr val="0891B2"/>
            </a:solidFill>
            <a:prstDash val="solid"/>
          </a:ln>
        </p:spPr>
      </p:sp>
      <p:sp>
        <p:nvSpPr>
          <p:cNvPr id="7" name="Text 5"/>
          <p:cNvSpPr/>
          <p:nvPr/>
        </p:nvSpPr>
        <p:spPr>
          <a:xfrm>
            <a:off x="320040" y="850392"/>
            <a:ext cx="3931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B — BULL (Driver/Dominant)</a:t>
            </a:r>
            <a:endParaRPr lang="en-US" sz="1100" dirty="0"/>
          </a:p>
        </p:txBody>
      </p:sp>
      <p:sp>
        <p:nvSpPr>
          <p:cNvPr id="8" name="Text 6"/>
          <p:cNvSpPr/>
          <p:nvPr/>
        </p:nvSpPr>
        <p:spPr>
          <a:xfrm>
            <a:off x="365760" y="126187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Direct, fast, bottom-line thinker</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Wants ROI and time savings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Hates fluff and emotional appeals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fast when convinced — or shuts you down</a:t>
            </a:r>
            <a:endParaRPr lang="en-US" sz="1100" dirty="0"/>
          </a:p>
        </p:txBody>
      </p:sp>
      <p:sp>
        <p:nvSpPr>
          <p:cNvPr id="9" name="Shape 7"/>
          <p:cNvSpPr/>
          <p:nvPr/>
        </p:nvSpPr>
        <p:spPr>
          <a:xfrm>
            <a:off x="4846320" y="822960"/>
            <a:ext cx="4023360" cy="17373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22960"/>
            <a:ext cx="4023360" cy="365760"/>
          </a:xfrm>
          <a:prstGeom prst="rect">
            <a:avLst/>
          </a:prstGeom>
          <a:solidFill>
            <a:srgbClr val="F4A61D"/>
          </a:solidFill>
          <a:ln w="12700">
            <a:solidFill>
              <a:srgbClr val="F4A61D"/>
            </a:solidFill>
            <a:prstDash val="solid"/>
          </a:ln>
        </p:spPr>
      </p:sp>
      <p:sp>
        <p:nvSpPr>
          <p:cNvPr id="11" name="Text 9"/>
          <p:cNvSpPr/>
          <p:nvPr/>
        </p:nvSpPr>
        <p:spPr>
          <a:xfrm>
            <a:off x="4892040" y="850392"/>
            <a:ext cx="3931920" cy="310896"/>
          </a:xfrm>
          <a:prstGeom prst="rect">
            <a:avLst/>
          </a:prstGeom>
          <a:noFill/>
          <a:ln/>
        </p:spPr>
        <p: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O — OWL (Analytical/Logical)</a:t>
            </a:r>
            <a:endParaRPr lang="en-US" sz="1100" dirty="0"/>
          </a:p>
        </p:txBody>
      </p:sp>
      <p:sp>
        <p:nvSpPr>
          <p:cNvPr id="12" name="Text 10"/>
          <p:cNvSpPr/>
          <p:nvPr/>
        </p:nvSpPr>
        <p:spPr>
          <a:xfrm>
            <a:off x="4937760" y="126187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Data-driven, skeptical, deliberate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specs, warranties, charts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Will research everything you say</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slow but with total conviction</a:t>
            </a:r>
            <a:endParaRPr lang="en-US" sz="1100" dirty="0"/>
          </a:p>
        </p:txBody>
      </p:sp>
      <p:sp>
        <p:nvSpPr>
          <p:cNvPr id="13" name="Shape 11"/>
          <p:cNvSpPr/>
          <p:nvPr/>
        </p:nvSpPr>
        <p:spPr>
          <a:xfrm>
            <a:off x="274320" y="2697480"/>
            <a:ext cx="4023360" cy="173736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97480"/>
            <a:ext cx="4023360" cy="365760"/>
          </a:xfrm>
          <a:prstGeom prst="rect">
            <a:avLst/>
          </a:prstGeom>
          <a:solidFill>
            <a:srgbClr val="2D9B4E"/>
          </a:solidFill>
          <a:ln w="12700">
            <a:solidFill>
              <a:srgbClr val="2D9B4E"/>
            </a:solidFill>
            <a:prstDash val="solid"/>
          </a:ln>
        </p:spPr>
      </p:sp>
      <p:sp>
        <p:nvSpPr>
          <p:cNvPr id="15" name="Text 13"/>
          <p:cNvSpPr/>
          <p:nvPr/>
        </p:nvSpPr>
        <p:spPr>
          <a:xfrm>
            <a:off x="320040" y="2724912"/>
            <a:ext cx="3931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L — LION (Expressive/Enthusiastic)</a:t>
            </a:r>
            <a:endParaRPr lang="en-US" sz="1100" dirty="0"/>
          </a:p>
        </p:txBody>
      </p:sp>
      <p:sp>
        <p:nvSpPr>
          <p:cNvPr id="16" name="Text 14"/>
          <p:cNvSpPr/>
          <p:nvPr/>
        </p:nvSpPr>
        <p:spPr>
          <a:xfrm>
            <a:off x="365760" y="313639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Talkative, emotional, big-picture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Buys on vision and status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Distracted easily — keep energy high</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fast once they're 'in love'</a:t>
            </a:r>
            <a:endParaRPr lang="en-US" sz="1100" dirty="0"/>
          </a:p>
        </p:txBody>
      </p:sp>
      <p:sp>
        <p:nvSpPr>
          <p:cNvPr id="17" name="Shape 15"/>
          <p:cNvSpPr/>
          <p:nvPr/>
        </p:nvSpPr>
        <p:spPr>
          <a:xfrm>
            <a:off x="4846320" y="2697480"/>
            <a:ext cx="4023360" cy="173736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97480"/>
            <a:ext cx="4023360" cy="365760"/>
          </a:xfrm>
          <a:prstGeom prst="rect">
            <a:avLst/>
          </a:prstGeom>
          <a:solidFill>
            <a:srgbClr val="E07B39"/>
          </a:solidFill>
          <a:ln w="12700">
            <a:solidFill>
              <a:srgbClr val="E07B39"/>
            </a:solidFill>
            <a:prstDash val="solid"/>
          </a:ln>
        </p:spPr>
      </p:sp>
      <p:sp>
        <p:nvSpPr>
          <p:cNvPr id="19" name="Text 17"/>
          <p:cNvSpPr/>
          <p:nvPr/>
        </p:nvSpPr>
        <p:spPr>
          <a:xfrm>
            <a:off x="4892040" y="2724912"/>
            <a:ext cx="3931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T — TURTLE (Amiable/Risk-Averse)</a:t>
            </a:r>
            <a:endParaRPr lang="en-US" sz="1100" dirty="0"/>
          </a:p>
        </p:txBody>
      </p:sp>
      <p:sp>
        <p:nvSpPr>
          <p:cNvPr id="20" name="Text 18"/>
          <p:cNvSpPr/>
          <p:nvPr/>
        </p:nvSpPr>
        <p:spPr>
          <a:xfrm>
            <a:off x="4937760" y="313639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Soft-spoken, avoids conflict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safety, security, trust</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Will agree with everything then stall</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Closes when fear is removed</a:t>
            </a:r>
            <a:endParaRPr lang="en-US" sz="11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Most reps sell TO themselves — the Analytical rep bores the Lion, the Enthusiastic rep overwhelms the Owl. The goal is to mirror THEIR communication style.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Bull: Dominant Driver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Direct eye contact, firm handshake, 'How much does this cost?' within 90 seconds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Motivation: ROI, time savings, winning against the utility — frame it as a financial win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 Flags: Never waste their time with mission statements or 'green energy' speeches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Close the loop fast: give them the numbers, let them lead, then shut up and let them decide</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Bull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Look, I've got 20 minutes. What are we talking about here?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Totally fair. Based on your $290 bill, you'd eliminate that in year one and lock in your rate for 25 years. Let me show you the math — takes 3 minutes.</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Bulls want the bottom line. If you lead with 'Let me tell you about our company's mission...' you've lost them in 30 seconds. Lead with the math.</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Owl: Analytical Logician</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Takes notes, asks 'What kind of inverter?', has already Googled your company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Motivation: Accuracy, verifiable data, technical specs — they want to 'discover the truth'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Don't hype them — out-fact them and let the data sell itself</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charts, datasheets, and third-party validation (NREL, SEIA, utility data)</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Owl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How do I know the production estimates are accurate? Your company built the model.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question — we use NREL's PVWatts calculator, which is the same tool the Department of Energy uses. Here's what that looks like for your address specifically...</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You cannot 'hype' an Owl. They have a mental BS detector running at all times. Respect their intelligence, answer technical questions directly, and let the data close the deal.</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Lion: Expressive Enthusiast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Talkative, high energy, messy house, asks 'Will my neighbors be able to see them?'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Motivation: Recognition, being 'first,' status, the cool factor — they want the story to tell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Match their energy, paint the vision, use social proof ('Your neighbor on Oak St just went live')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Keep it moving — Lions get distracted; redirect back to the vision before they chase tangents</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Lion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wow, I love it. My wife's going to think it's so cool. Do people actually notice them?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100%. Honestly, we get referrals from the neighbors who keep asking 'Where'd you get that?' — people notice. You'd be one of the first on this street.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Lions buy on emotion and vision, not math. Tell them how it will look, how it will feel, what story they'll tell at the HOA meeting. The excitement IS the close.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Turtle: Amiable and Risk-Averse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Soft-spoken, nods along, says 'That sounds nice' — but won't commit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Motivation: Safety, security, not making a mistake — they fear regret more than they want savings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Slow down, emphasize warranties, use 'we' and 'us,' position yourself as a trusted guide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Uncover the real fear: 'It sounds like your main concern is making sure this is fully backed up, is that right?'</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Turtle 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It all sounds good, but I just... I don't know. I'd want to think it over.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makes complete sense. Most people feel exactly that way before we talk through it. What's the one thing you'd want to feel 100% comfortable about before moving forward?</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Turtles will tell you everything is fine right up until the moment they don't sign. Their 'I need to think about it' is always rooted in unspoken fear. Your job is to name the fear and neutralize it.</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Fast ID: Reading Personality in 90 Seconds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First Question Test: 'How much?' = Bull. 'How does it work?' = Owl. 'How does it look?' = Lion. 'Is it safe?' = Turtle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Visual cues: Tidy home with spreadsheets on the table = Owl. Sports trophies and bold art = Lion or Bull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Verbal pace: Fast/blunt = Bull or Lion. Slow/measured = Owl or Turtle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Energy test: Match their pace for 60 seconds — if they speed up, they're expressive; if they slow down, they're analytical</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You have the first 90 seconds of conversation to ID the type. After that, you should already be adapting your language, pace, and evidence style. The fastest reps do this automatically.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Mixed Personality Couples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Bull/Turtle Dynamic: One wants the numbers, one wants the reassurance — give both simultaneously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Owl/Lion Dynamic: Satisfy the Lion's vision first, then anchor the Owl with data so they can justify the decision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Financial Controller vs. Aesthetic Controller: One cares about the ROI, the other cares about the roof and reputation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Rule: Never focus exclusively on one spouse — the ignored spouse becomes the silent objection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In almost every couple, one person is 'The Money Brain' and one is 'The Feeling Brain.' You must satisfy both. Ignoring one means they'll kill the deal later when you're not in the room.</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Activity: The BOLT Identification Game</a:t>
            </a:r>
            <a:endParaRPr lang="en-US" sz="20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Rapidly identify homeowner type and adapt your opening approach in real time</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Watch 3 short video clips of homeowner interactions (real calls or instructor roleplay)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After each clip: write the BOLT type and your reasoning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Write 2 opening sentences you would use for that specific homeowner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Compare with a partner — discuss why you categorized them differently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Bonus: Identify mixed-personality couples and map your strategy for each</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3.3</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Real-World Homeowner Scenario Library</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Preparing for the 'Difficult' Ones</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3.3 — SCENARIO LIBRARY</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Strategy Over Reactivity</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When you know the archetype, you know the playbook</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5 most common homeowner profiles you'll face in the field</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identify each one within 2 minutes of entry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Opening hooks and trust-building strategies for each type</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Archetype 1: The Burned Homeowner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Psychology: High sales resistance — had a bad experience or knows someone who did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Arms crossed, 'I've heard this before,' mentions a specific bad company or story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Don't defend the industry — join them in criticizing the bad actors to build trust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Focus: Radical transparency, third-party proof, slow pace — earn the right to present</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Look, I had a solar company come out last year and it was a total nightmare. I don't trust these companies.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Honestly? You're right to feel that way. There are some real cowboys out there. Let me show you exactly what to look for — and if I can't check every box, I'll tell you to wait.</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Never get defensive when they bring up a bad experience. The fastest path to trust is to agree with them that bad actors exist — then show them how you're different with evidence, not words.</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Archetype 2: The Analytical Researcher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Psychology: Believes they know more than you after 3 hours of YouTube research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Printed articles on the table, asks about microinverters vs. string inverters before hello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'I appreciate your homework' framing — let them feel right, then fill the gaps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Deep dives are your friend: go technical, validate their research, then reveal what they missed</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I've done a lot of research. I know all about string inverters and degradation rates.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actually great — you've already done the hard work. Can I ask what you found on production modeling for your specific roof pitch? That's where most of the articles miss a step...</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analytical researcher isn't your enemy — they're your most loyal customer once converted. They want to feel like THEY found the answer. Your job is to guide them to your conclusion.</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Archetype 3: The Busy Homeowner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Psychology: Stressed, time-poor — views your appointment as an intrusion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Answering phone during your arrival, shoes on like they're about to leave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Offer the '5-minute version' immediately — if you fight for time, they'll resent you</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When you offer brevity, they often give you more time — paradox of scarcity works in your favor</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have about 15 minutes. I've got somewhere to be.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No problem — I'll give you the CliffNotes version. Two numbers, one decision. If it doesn't make sense in 10 minutes, we can schedule a proper time. Fair enough?</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Sure... go ahead.</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biggest mistake reps make with Busy Homeowners is trying to hold them in the room. Instead, offer to leave. Most will relax and tell you to stay.</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Archetype 4: The Friendly But Non-Committal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Psychology: Agrees with everything — but has zero intention of signing today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'That makes so much sense,' 'We've been thinking about it,' then 'We'll let you know'</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Force an early concept decision — 'Is this a nice-to-have or a need-to-have for you?'</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These are 'Polite No's' — flush the real objection early before building the full presentation</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make sure I'm building the right plan for you. On a scale of 1–10, how serious are you about fixing your bill this year?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like a 6 or 7 I guess...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Okay — what's the 3 or 4 that's holding you back? Let's talk about that now.</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Friendly non-committal homeowners will waste your entire presentation and then smile and wave you out the door. Force a concept decision at the 10-minute mark — not after you've shown everything.</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Archetype 5: The Utility-Loyal Homeowner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Psychology: Fear of change — 'The utility has always been there for me'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Signals: 'I've never had a problem with [Utility],' defensive when you mention rate hikes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Strategy: Position the utility as the risky option using the Rent vs. Own analogy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Cost of Inaction math: 'Here's what you'll pay the utility over 25 years if you do nothing...'</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mean, the utility's always just been there. I don't see why I'd switch.</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Totally fair. Here's the question I'd ask: If your landlord kept raising rent 8% every year — would you keep renting, or would you want to own? The utility is your energy landlord.</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utility-loyal homeowner isn't really loyal — they're change-averse. Show them what loyalty to the utility costs in real dollars over time. The math does the persuading.</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Activity: The Scenario Carousel</a:t>
            </a:r>
            <a:endParaRPr lang="en-US" sz="20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Rapidly switch communication style to match the archetype in front of you</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Set up 4 stations around the room — each labeled with one archetype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One rep at each station plays the homeowner using a provided character card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Rotating rep has exactly 2 minutes to deliver their opening hook for that archetype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Observers score: Did their tone, pace, and language match the homeowner's type?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Which archetype was hardest? Why? What changed between stations?</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3.4</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Tactical Empathy &amp; Mirroring</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Chris Voss Method for Solar Sales</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3.4 — TACTICAL EMPATHY</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Listening with Intent. Labeling the Emotion.</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talking less closes more deals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mirroring technique: repeat 1–3 words, unlock 10 more sentences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Labeling emotions to bypass the homeowner's ego</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tactical pause: silence as a sales tool</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Mirroring Technique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Definition: Repeat the last 1–3 words of what the homeowner just said in an inquisitive tone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Goal: Encourage them to expand and reveal more without asking a direct question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Why it works: People are wired to complete their own thoughts when you reflect them back</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an upward-ending tone, like you're gently asking them to continue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Mirroring sounds almost too simple to work — but it is one of the most field-tested techniques in hostage negotiation. In solar, it gets homeowners to tell you their real objections without you having to pry.</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Mirroring in Action</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822960"/>
            <a:ext cx="8503920" cy="347472"/>
          </a:xfrm>
          <a:prstGeom prst="rect">
            <a:avLst/>
          </a:prstGeom>
          <a:noFill/>
          <a:ln/>
        </p:spPr>
        <p: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Notice how the mirror acts as a 'nudge' — the rep never asks a question, but gets the full story.</a:t>
            </a:r>
            <a:endParaRPr lang="en-US" sz="1100" dirty="0"/>
          </a:p>
        </p:txBody>
      </p:sp>
      <p:sp>
        <p:nvSpPr>
          <p:cNvPr id="6" name="Shape 4"/>
          <p:cNvSpPr/>
          <p:nvPr/>
        </p:nvSpPr>
        <p:spPr>
          <a:xfrm>
            <a:off x="914400" y="1261872"/>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1024128" y="1316736"/>
            <a:ext cx="7461504" cy="438912"/>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I'm just worried about the roof leaking.</a:t>
            </a:r>
            <a:endParaRPr lang="en-US" sz="1100" dirty="0"/>
          </a:p>
        </p:txBody>
      </p:sp>
      <p:sp>
        <p:nvSpPr>
          <p:cNvPr id="8" name="Shape 6"/>
          <p:cNvSpPr/>
          <p:nvPr/>
        </p:nvSpPr>
        <p:spPr>
          <a:xfrm>
            <a:off x="274320" y="1920240"/>
            <a:ext cx="7680960" cy="5486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384048" y="1975104"/>
            <a:ext cx="7461504" cy="438912"/>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The roof leaking?</a:t>
            </a:r>
            <a:endParaRPr lang="en-US" sz="1100" dirty="0"/>
          </a:p>
        </p:txBody>
      </p:sp>
      <p:sp>
        <p:nvSpPr>
          <p:cNvPr id="10" name="Shape 8"/>
          <p:cNvSpPr/>
          <p:nvPr/>
        </p:nvSpPr>
        <p:spPr>
          <a:xfrm>
            <a:off x="914400" y="2578608"/>
            <a:ext cx="7680960" cy="78638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1024128" y="2633472"/>
            <a:ext cx="7461504" cy="676656"/>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my neighbor had solar installed and his kitchen ceiling got a water spot six months later...</a:t>
            </a:r>
            <a:endParaRPr lang="en-US" sz="1100" dirty="0"/>
          </a:p>
        </p:txBody>
      </p:sp>
      <p:sp>
        <p:nvSpPr>
          <p:cNvPr id="12" name="Shape 10"/>
          <p:cNvSpPr/>
          <p:nvPr/>
        </p:nvSpPr>
        <p:spPr>
          <a:xfrm>
            <a:off x="274320" y="3474720"/>
            <a:ext cx="7680960" cy="5486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384048" y="3529584"/>
            <a:ext cx="7461504" cy="438912"/>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A water spot in the kitchen...</a:t>
            </a:r>
            <a:endParaRPr lang="en-US" sz="1100" dirty="0"/>
          </a:p>
        </p:txBody>
      </p:sp>
      <p:sp>
        <p:nvSpPr>
          <p:cNvPr id="14" name="Shape 12"/>
          <p:cNvSpPr/>
          <p:nvPr/>
        </p:nvSpPr>
        <p:spPr>
          <a:xfrm>
            <a:off x="914400" y="4133088"/>
            <a:ext cx="7680960" cy="78638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5" name="Text 13"/>
          <p:cNvSpPr/>
          <p:nvPr/>
        </p:nvSpPr>
        <p:spPr>
          <a:xfrm>
            <a:off x="1024128" y="4187952"/>
            <a:ext cx="7461504" cy="676656"/>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and then the company was impossible to reach. Took them 3 months to fix it. That's what I'm scared of.</a:t>
            </a:r>
            <a:endParaRPr lang="en-US" sz="1100" dirty="0"/>
          </a:p>
        </p:txBody>
      </p:sp>
      <p:sp>
        <p:nvSpPr>
          <p:cNvPr id="16" name="Shape 14"/>
          <p:cNvSpPr/>
          <p:nvPr/>
        </p:nvSpPr>
        <p:spPr>
          <a:xfrm>
            <a:off x="274320" y="5029200"/>
            <a:ext cx="7680960" cy="78638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7" name="Text 15"/>
          <p:cNvSpPr/>
          <p:nvPr/>
        </p:nvSpPr>
        <p:spPr>
          <a:xfrm>
            <a:off x="384048" y="5084064"/>
            <a:ext cx="7461504" cy="676656"/>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That's scary — and completely valid. Can I show you exactly what our installation protocol looks like on the roof?</a:t>
            </a:r>
            <a:endParaRPr lang="en-US" sz="1100" dirty="0"/>
          </a:p>
        </p:txBody>
      </p:sp>
      <p:sp>
        <p:nvSpPr>
          <p:cNvPr id="18" name="Shape 16"/>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9" name="Text 17"/>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said 8 words in 5 turns. The homeowner revealed their real fear (installer responsiveness) in full detail. Now the rep can address the REAL objection.</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Labeling Emotions: The Empathy Tool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Labels bypass the ego — they let the homeowner confirm or correct you without feeling attacked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'It seems like...', 'It sounds like...', 'It feels like...'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start a label with 'I' — 'I hear that you're frustrated' puts you at the center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you label wrong, that's fine — they'll correct you and you'll get the truth either way</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It sounds like you've had some bad experiences with contractors in general — not just solar.</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No, actually it's not that. It's more that I just don't trust that the savings will be what they say.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Ah — so it's really about whether the numbers are real. That's a fair concern. Let's look at that together.</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Labeling is the fastest path to genuine connection with a skeptical homeowner. Even a wrong label gets you the right answer.</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Labeling Examples in Solar Consultations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seems like you've put a lot of thought into this already.' → Opens the door to their research</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sounds like you're frustrated with the utility rate hikes.' → Validates their pain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feels like there's some hesitation about a long-term commitment.' → Names the fear without accusation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'It seems like the roof is a bigger concern than the savings right now.' → Re-orders your conversation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Every label is a hypothesis. Treat it like one. Deliver it calmly and then go silent — let them respond. Do NOT follow a label with another question; let the label breathe.</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Power of the Tactical Pause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4-Second Rule: after a hard question or label, wait 4 full seconds before speaking again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Silence creates psychological pressure — most people will fill it by revealing something important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person who speaks first after a loaded question usually gives more away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Practice: count '1-Mississippi, 2-Mississippi...' in your head — 4 seconds feels like an eternity but it works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tactical pause is the most underused tool in field sales. Silence after 'What would it take for this to make sense for you?' will surface the real objection 80% of the time — if you just wait.</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Calibrated Questions: How &amp; What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Always start with 'How' or 'What' — they invite collaboration, not defensiveness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'Why' triggers the defensive brain: 'Why do you feel that way?' feels like an accusation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makes you say that?' vs. 'Why do you think that?' — same information, opposite emotional reaction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'How am I supposed to match that offer?' — the Chris Voss move that turns the tables</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What is it about the 25-year timeframe that concerns you?</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Well, we might sell the house before then...</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Okay — what would it mean for the sale of the house if the solar was fully paid off and added to the value?</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'Why' activates the amygdala — the homeowner feels they need to justify themselves. 'What' and 'How' activate curiosity and problem-solving. Same words, completely different neurological response.</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Activity: Empathy Roleplay — No Pitching Allowed</a:t>
            </a:r>
            <a:endParaRPr lang="en-US" sz="20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Use only Mirrors and Labels for 2 full minutes — zero pitching, zero features, zero numbers</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Partner A plays a homeowner complaining about their utility bill or a past contractor experience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Partner B can ONLY respond with Mirrors or Labels for 2 full minutes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Debrief: How much information did Partner B gather without a single pitch?</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Switch roles and repeat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Group share: What did Partner B learn that would have changed how they presented?</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3.5</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Question Architecture: The Discovery Sequence</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Doctor's Consultation. Diagnosis Before Prescription.</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3.5 — DISCOVERY SEQUENCE</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The 12-Question Framework</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presenting before diagnosing makes you a product pusher, not a professional</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three categories of discovery: Current State, Future State, Decision-Making</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build toward the 'That's right' transition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Listening for red flags and hidden objections during discovery</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Category 1: Current State — The Pain</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'How long have you lived here?' — establishes equity, ownership mindset, and rapport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have you noticed about your bill over the last two summers?' — surfaces the pain in their own words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did the utility do to your rates last month?' — activates frustration and loss aversion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'How do you feel about your current relationship with the utility?' — emotional underpinning of their motivation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You are building the 'Cost of Doing Nothing.' Every answer to these questions becomes ammunition for the close. Don't rush this category — the gold is in their language, not your pitch.</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Category 2: Future State — The Urgency</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'Where do you see rates going in the next 5–10 years?' — makes them predict the pain themselves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you do nothing, what's the exit strategy for these bills?' — forces them to face the alternative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would you do with an extra $150 a month back in your pocket?' — connects savings to something personal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'How important is it to own your power vs. rent it from the utility?' — plants the ownership mindset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These questions create the 'Bridge' between their current pain and their desired future. When the homeowner builds the case for solar themselves, your job in the close is simply to confirm what they already said.</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Category 3: Decision-Making — The Qualification</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'Aside from you two, is there anyone else whose opinion you value on this?' — flushes out hidden decision-makers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'On a scale of 1–10, how committed are you to fixing this bill this year?' — reveals urgency level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'What's the one thing that would stop you from moving forward today?' — pre-surfaces the objection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'What are you looking for in a solar company?' — they tell you exactly how to close them</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On a scale of 1–10, how committed are you to fixing this bill in the next 60 days?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Probably like a 7.</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What's the 3 or 4 that's not quite there yet?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guess I just want to make sure the installation is clean. Our last contractor left a mess...</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Question 11 is the most powerful in the entire framework. 'What would stop you?' at the discovery stage means you handle objections before they become deal-killers. Most reps wait until the close to ask this.</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Listening for Red Flags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'We're planning to move in about 2 years' — solar ROI doesn't close in time; disqualify or reframe around home value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'I'm retiring next month and my income is dropping' — credit qualification risk; probe gently before proceeding</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'My roof is 25 years old and I can't afford a new one right now' — do not ignore this; address it or disqualify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'We only use about $40 a month in electricity' — extremely low usage may not justify system cost</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Do NOT ignore red flags. Reps who push past red flags to get the install create chargebacks, cancellations, and reputation damage. Address them in discovery or disqualify gracefully.</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Identifying Hidden Objections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'Is that it?' follow-up: after they share a concern, always ask 'Is that the main thing, or is there something else?'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Dig deeper on vague answers: 'I need to think about it' always has a specific fear underneath it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discovery to pre-close: 'If we could solve that completely, would that remove your concern?'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iceberg principle: what they say first is rarely the real objection — the real one is below the surface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80% of 'I need to think about it' is a specific, solvable fear that was never named. The rep who digs for it in discovery never gets surprised by it at the close.</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Transitioning to the Presentation: The 'That's Right' Close</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822960"/>
            <a:ext cx="8503920" cy="347472"/>
          </a:xfrm>
          <a:prstGeom prst="rect">
            <a:avLst/>
          </a:prstGeom>
          <a:noFill/>
          <a:ln/>
        </p:spPr>
        <p:txBody>
          <a:bodyPr wrap="square" lIns="0" tIns="0" rIns="0" bIns="0" rtlCol="0" anchor="ctr"/>
          <a:lstStyle/>
          <a:p>
            <a:pPr algn="l" indent="0" marL="0">
              <a:buNone/>
            </a:pPr>
            <a:r>
              <a:rPr lang="en-US" sz="1100" i="1" dirty="0">
                <a:solidFill>
                  <a:srgbClr val="A0AEC0"/>
                </a:solidFill>
                <a:latin typeface="Calibri" pitchFamily="34" charset="0"/>
                <a:ea typeface="Calibri" pitchFamily="34" charset="-122"/>
                <a:cs typeface="Calibri" pitchFamily="34" charset="-120"/>
              </a:rPr>
              <a:t>Never open the iPad until you've gotten the verbal 'That's right' from the homeowner.</a:t>
            </a:r>
            <a:endParaRPr lang="en-US" sz="1100" dirty="0"/>
          </a:p>
        </p:txBody>
      </p:sp>
      <p:sp>
        <p:nvSpPr>
          <p:cNvPr id="6" name="Shape 4"/>
          <p:cNvSpPr/>
          <p:nvPr/>
        </p:nvSpPr>
        <p:spPr>
          <a:xfrm>
            <a:off x="274320" y="1261872"/>
            <a:ext cx="7680960" cy="155448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84048" y="1316736"/>
            <a:ext cx="7461504" cy="1444752"/>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So let me make sure I've got this right before I show you anything. Your bill has been running around $280 a month, and last year alone it jumped twice. You've got maybe 25 more years of payments ahead of you if nothing changes, and that's money you'd rather be putting toward your daughter's college fund. Does that sound about right?</a:t>
            </a:r>
            <a:endParaRPr lang="en-US" sz="1100" dirty="0"/>
          </a:p>
        </p:txBody>
      </p:sp>
      <p:sp>
        <p:nvSpPr>
          <p:cNvPr id="8" name="Shape 6"/>
          <p:cNvSpPr/>
          <p:nvPr/>
        </p:nvSpPr>
        <p:spPr>
          <a:xfrm>
            <a:off x="914400" y="2926080"/>
            <a:ext cx="7680960" cy="548640"/>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1024128" y="2980944"/>
            <a:ext cx="7461504" cy="438912"/>
          </a:xfrm>
          <a:prstGeom prst="rect">
            <a:avLst/>
          </a:prstGeom>
          <a:noFill/>
          <a:ln/>
        </p:spPr>
        <p:txBody>
          <a:bodyPr wrap="square" lIns="0" tIns="0" rIns="0" bIns="0" rtlCol="0" anchor="ctr"/>
          <a:lstStyle/>
          <a:p>
            <a:pPr indent="0" marL="0">
              <a:buNone/>
            </a:pPr>
            <a:r>
              <a:rPr lang="en-US" sz="1100" b="1" dirty="0">
                <a:solidFill>
                  <a:srgbClr val="8FA3B1"/>
                </a:solidFill>
                <a:latin typeface="Arial Black" pitchFamily="34" charset="0"/>
                <a:ea typeface="Arial Black" pitchFamily="34" charset="-122"/>
                <a:cs typeface="Arial Black" pitchFamily="34" charset="-120"/>
              </a:rPr>
              <a:t>HO: </a:t>
            </a:r>
            <a:pPr indent="0" marL="0">
              <a:buNone/>
            </a:pPr>
            <a:r>
              <a:rPr lang="en-US" sz="1100" dirty="0">
                <a:solidFill>
                  <a:srgbClr val="FFFFFF"/>
                </a:solidFill>
                <a:latin typeface="Calibri" pitchFamily="34" charset="0"/>
                <a:ea typeface="Calibri" pitchFamily="34" charset="-122"/>
                <a:cs typeface="Calibri" pitchFamily="34" charset="-120"/>
              </a:rPr>
              <a:t>Yeah... yeah, that's exactly it.</a:t>
            </a:r>
            <a:endParaRPr lang="en-US" sz="1100" dirty="0"/>
          </a:p>
        </p:txBody>
      </p:sp>
      <p:sp>
        <p:nvSpPr>
          <p:cNvPr id="10" name="Shape 8"/>
          <p:cNvSpPr/>
          <p:nvPr/>
        </p:nvSpPr>
        <p:spPr>
          <a:xfrm>
            <a:off x="274320" y="3584448"/>
            <a:ext cx="7680960" cy="78638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384048" y="3639312"/>
            <a:ext cx="7461504" cy="676656"/>
          </a:xfrm>
          <a:prstGeom prst="rect">
            <a:avLst/>
          </a:prstGeom>
          <a:noFill/>
          <a:ln/>
        </p:spPr>
        <p:txBody>
          <a:bodyPr wrap="square" lIns="0" tIns="0" rIns="0" bIns="0" rtlCol="0" anchor="ctr"/>
          <a:lstStyle/>
          <a:p>
            <a:pPr indent="0" marL="0">
              <a:buNone/>
            </a:pPr>
            <a:r>
              <a:rPr lang="en-US" sz="1100" b="1" dirty="0">
                <a:solidFill>
                  <a:srgbClr val="F4A61D"/>
                </a:solidFill>
                <a:latin typeface="Arial Black" pitchFamily="34" charset="0"/>
                <a:ea typeface="Arial Black" pitchFamily="34" charset="-122"/>
                <a:cs typeface="Arial Black" pitchFamily="34" charset="-120"/>
              </a:rPr>
              <a:t>Rep: </a:t>
            </a:r>
            <a:pPr indent="0" marL="0">
              <a:buNone/>
            </a:pPr>
            <a:r>
              <a:rPr lang="en-US" sz="1100" dirty="0">
                <a:solidFill>
                  <a:srgbClr val="FFFFFF"/>
                </a:solidFill>
                <a:latin typeface="Calibri" pitchFamily="34" charset="0"/>
                <a:ea typeface="Calibri" pitchFamily="34" charset="-122"/>
                <a:cs typeface="Calibri" pitchFamily="34" charset="-120"/>
              </a:rPr>
              <a:t>Okay. Based on everything you just told me, here's what I put together for your home specifically...</a:t>
            </a:r>
            <a:endParaRPr lang="en-US" sz="1100" dirty="0"/>
          </a:p>
        </p:txBody>
      </p:sp>
      <p:sp>
        <p:nvSpPr>
          <p:cNvPr id="12" name="Shape 10"/>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3" name="Text 11"/>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'That's right' is the homeowner giving you permission to present. It signals alignment, validates their pain, and puts them in a 'Yes' mental state before the numbers even appear.</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Activity: Full Discovery Roleplay</a:t>
            </a:r>
            <a:endParaRPr lang="en-US" sz="20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Run a complete 15-minute discovery using all 12 questions — reach the 'That's right' transition</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One rep plays the Garcia Household (Mr. Garcia = Bull, Mrs. Garcia = Turtle)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Sales rep runs the full 12-question discovery sequence — checklist in hand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Evaluator tracks: Were questions asked in logical order? Were red flags noted?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End with a clear 'That's right' summary that the homeowner confirms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information came out that changed the presentation strategy?</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20 MIN</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3.6</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Spouse &amp; Decision-Maker Dynamics</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One-Legger Trap. Equalizing the Room.</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3.6 — DECISION-MAKER DYNAMICS</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Managing Multi-Party Consultations</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'One-Legger' appointments close at under 10%</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equalize both decision-makers in the room</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Identifying the real decision-maker (hint: it's not always who talks most)</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Winning over the Skeptical Spouse without creating conflict</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'One-Leggers' Kill Deals</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1005840"/>
            <a:ext cx="2727960" cy="34747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65760" y="1280160"/>
            <a:ext cx="2545080" cy="1280160"/>
          </a:xfrm>
          <a:prstGeom prst="rect">
            <a:avLst/>
          </a:prstGeom>
          <a:noFill/>
          <a:ln/>
        </p:spPr>
        <p:txBody>
          <a:bodyPr wrap="square" lIns="0" tIns="0" rIns="0" bIns="0" rtlCol="0" anchor="ctr"/>
          <a:lstStyle/>
          <a:p>
            <a:pPr algn="ctr" indent="0" marL="0">
              <a:buNone/>
            </a:pPr>
            <a:r>
              <a:rPr lang="en-US" sz="4400" b="1" dirty="0">
                <a:solidFill>
                  <a:srgbClr val="F4A61D"/>
                </a:solidFill>
                <a:latin typeface="Arial Black" pitchFamily="34" charset="0"/>
                <a:ea typeface="Arial Black" pitchFamily="34" charset="-122"/>
                <a:cs typeface="Arial Black" pitchFamily="34" charset="-120"/>
              </a:rPr>
              <a:t>&lt;10%</a:t>
            </a:r>
            <a:endParaRPr lang="en-US" sz="4400" dirty="0"/>
          </a:p>
        </p:txBody>
      </p:sp>
      <p:sp>
        <p:nvSpPr>
          <p:cNvPr id="7" name="Text 5"/>
          <p:cNvSpPr/>
          <p:nvPr/>
        </p:nvSpPr>
        <p:spPr>
          <a:xfrm>
            <a:off x="36576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Close Rate</a:t>
            </a:r>
            <a:endParaRPr lang="en-US" sz="1400" dirty="0"/>
          </a:p>
        </p:txBody>
      </p:sp>
      <p:sp>
        <p:nvSpPr>
          <p:cNvPr id="8" name="Text 6"/>
          <p:cNvSpPr/>
          <p:nvPr/>
        </p:nvSpPr>
        <p:spPr>
          <a:xfrm>
            <a:off x="36576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One-Legger appointments</a:t>
            </a:r>
            <a:endParaRPr lang="en-US" sz="1000" dirty="0"/>
          </a:p>
        </p:txBody>
      </p:sp>
      <p:sp>
        <p:nvSpPr>
          <p:cNvPr id="9" name="Shape 7"/>
          <p:cNvSpPr/>
          <p:nvPr/>
        </p:nvSpPr>
        <p:spPr>
          <a:xfrm>
            <a:off x="3139440" y="1005840"/>
            <a:ext cx="2727960" cy="347472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30880" y="1280160"/>
            <a:ext cx="2545080" cy="1280160"/>
          </a:xfrm>
          <a:prstGeom prst="rect">
            <a:avLst/>
          </a:prstGeom>
          <a:noFill/>
          <a:ln/>
        </p:spPr>
        <p:txBody>
          <a:bodyPr wrap="square" lIns="0" tIns="0" rIns="0" bIns="0" rtlCol="0" anchor="ctr"/>
          <a:lstStyle/>
          <a:p>
            <a:pPr algn="ctr" indent="0" marL="0">
              <a:buNone/>
            </a:pPr>
            <a:r>
              <a:rPr lang="en-US" sz="4400" b="1" dirty="0">
                <a:solidFill>
                  <a:srgbClr val="0891B2"/>
                </a:solidFill>
                <a:latin typeface="Arial Black" pitchFamily="34" charset="0"/>
                <a:ea typeface="Arial Black" pitchFamily="34" charset="-122"/>
                <a:cs typeface="Arial Black" pitchFamily="34" charset="-120"/>
              </a:rPr>
              <a:t>40k+</a:t>
            </a:r>
            <a:endParaRPr lang="en-US" sz="4400" dirty="0"/>
          </a:p>
        </p:txBody>
      </p:sp>
      <p:sp>
        <p:nvSpPr>
          <p:cNvPr id="11" name="Text 9"/>
          <p:cNvSpPr/>
          <p:nvPr/>
        </p:nvSpPr>
        <p:spPr>
          <a:xfrm>
            <a:off x="323088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Avg. Deal Size</a:t>
            </a:r>
            <a:endParaRPr lang="en-US" sz="1400" dirty="0"/>
          </a:p>
        </p:txBody>
      </p:sp>
      <p:sp>
        <p:nvSpPr>
          <p:cNvPr id="12" name="Text 10"/>
          <p:cNvSpPr/>
          <p:nvPr/>
        </p:nvSpPr>
        <p:spPr>
          <a:xfrm>
            <a:off x="323088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You're asking 1 person to sell this</a:t>
            </a:r>
            <a:endParaRPr lang="en-US" sz="1000" dirty="0"/>
          </a:p>
        </p:txBody>
      </p:sp>
      <p:sp>
        <p:nvSpPr>
          <p:cNvPr id="13" name="Shape 11"/>
          <p:cNvSpPr/>
          <p:nvPr/>
        </p:nvSpPr>
        <p:spPr>
          <a:xfrm>
            <a:off x="6004560" y="1005840"/>
            <a:ext cx="2727960" cy="347472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6096000" y="1280160"/>
            <a:ext cx="2545080" cy="1280160"/>
          </a:xfrm>
          <a:prstGeom prst="rect">
            <a:avLst/>
          </a:prstGeom>
          <a:noFill/>
          <a:ln/>
        </p:spPr>
        <p:txBody>
          <a:bodyPr wrap="square" lIns="0" tIns="0" rIns="0" bIns="0" rtlCol="0" anchor="ctr"/>
          <a:lstStyle/>
          <a:p>
            <a:pPr algn="ctr" indent="0" marL="0">
              <a:buNone/>
            </a:pPr>
            <a:r>
              <a:rPr lang="en-US" sz="4400" b="1" dirty="0">
                <a:solidFill>
                  <a:srgbClr val="2D9B4E"/>
                </a:solidFill>
                <a:latin typeface="Arial Black" pitchFamily="34" charset="0"/>
                <a:ea typeface="Arial Black" pitchFamily="34" charset="-122"/>
                <a:cs typeface="Arial Black" pitchFamily="34" charset="-120"/>
              </a:rPr>
              <a:t>3x</a:t>
            </a:r>
            <a:endParaRPr lang="en-US" sz="4400" dirty="0"/>
          </a:p>
        </p:txBody>
      </p:sp>
      <p:sp>
        <p:nvSpPr>
          <p:cNvPr id="15" name="Text 13"/>
          <p:cNvSpPr/>
          <p:nvPr/>
        </p:nvSpPr>
        <p:spPr>
          <a:xfrm>
            <a:off x="6096000" y="2606040"/>
            <a:ext cx="2545080"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Higher Cancellations</a:t>
            </a:r>
            <a:endParaRPr lang="en-US" sz="1400" dirty="0"/>
          </a:p>
        </p:txBody>
      </p:sp>
      <p:sp>
        <p:nvSpPr>
          <p:cNvPr id="16" name="Text 14"/>
          <p:cNvSpPr/>
          <p:nvPr/>
        </p:nvSpPr>
        <p:spPr>
          <a:xfrm>
            <a:off x="609600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When spouse wasn't in the room</a:t>
            </a:r>
            <a:endParaRPr lang="en-US" sz="1000" dirty="0"/>
          </a:p>
        </p:txBody>
      </p:sp>
      <p:sp>
        <p:nvSpPr>
          <p:cNvPr id="17" name="Shape 15"/>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8" name="Text 16"/>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 One-Legger means you're asking one person to sell a $40,000+ financial decision to their spouse using a summary of a presentation they half-remember. That's not a strategy — it's wishful thinking.</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the Telephone Game Kills the Deal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present spouse will forget 60% of what you said — and misremember the other 40%</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They don't have your answers, your charts, your rebuttals, or your confidence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absent spouse's 'Protection Instinct' kicks in — they default to 'No' for anything they didn't experience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Your close rate on One-Leggers is essentially your referral rate — you're presenting to one person to maybe persuade another</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Is your husband going to be joining us today?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Oh no, he said just go ahead — whatever I decide is fine.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great he trusts you! For something this size though, I'd love to have him here so I can answer his questions directly. Would Tuesday work for both of you?</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Always work to reschedule if a key decision-maker is missing. Use: 'I want to make sure I can answer both of your questions in person — it's not fair to you if [spouse] has questions I'm not there to answer.'</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Equalizing Both Decision-Makers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Distribute eye contact equally — if you focus only on the talker, the quiet one becomes a silent objector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Ask the quiet spouse direct questions: 'What's your take on this? I want to make sure this makes sense for both of you'</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Match your communication style to each spouse's BOLT type simultaneously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Never make one spouse feel 'less important' — the ignored spouse becomes the 'no' that shows up 24 hours later</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quieter spouse is almost always the final decision-maker. They're running a parallel evaluation the whole time. If they leave the consultation unconvinced, no signature holds.</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Handling the Skeptical Spouse</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Do NOT argue, defend, or get frustrated — the skeptic is doing their job: protecting the household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Use Tactical Empathy: 'It seems like you've got some concerns about this that maybe haven't been addressed yet'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Bring them into the process — ask what THEY would need to see to feel comfortable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gold rule: the skeptic who converts becomes your most loyal champion — they'll refer aggressively</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Skeptical Spouse:</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just think we should get more quotes. I don't see why we have to decide today.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a completely fair position and I respect it. I actually encourage comparison shopping. Can I ask — what specifically would you want the other companies to prove to you? That way you're comparing apples to apples.</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skeptical spouse is your best friend in disguise. If you win them over, the deal is bulletproof. If you ignore them, it's a time bomb.</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Activity: The Skeptical Spouse Roleplay</a:t>
            </a:r>
            <a:endParaRPr lang="en-US" sz="20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Balance the conversation and win over the skeptic without alienating the excited spouse</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Three-person roleplay: Rep, Excited Spouse, and Skeptical/Grumpy Spouse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 must use tactical empathy on the skeptic while keeping the excited spouse engaged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Observer watches specifically for: who does the rep face more? Does the skeptic feel heard?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Rep must get BOTH spouses to verbalize agreement before the consultation ends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Debrief: What did the rep do when they disagreed? How was the balance managed?</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 MIN</a:t>
            </a:r>
            <a:endParaRPr 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3.7</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Roof &amp; Site Assessment</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Physical Truth. Don't Sell What Can't Install.</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3.7 — SITE ASSESSMENT</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Building Trust Through Technical Competence</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homeowners trust the rep who actually looks at their roof and panel</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5 key inspection points every rep must assess before quoting</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Electrical panel red flags and how to turn them into opportunities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How to handle HOA restrictions and shading issues proactively</a:t>
            </a:r>
            <a:endParaRPr lang="en-US" sz="14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Roof Inspection: The 5-Point Check</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Age: 10–15+ year old roofs are a red flag — if they need a new roof, sell the roof + solar combo</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Shingle condition: Look for granule loss in gutters, curling edges, missing sections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Structural integrity: Walk the roofline visually — dips or waves indicate rafter issues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Pitch and orientation: South-facing, 15–35 degree pitch = ideal production; East/West = acceptable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Homeowners trust a rep who actually inspects their property. Walking outside to look at the roof before presenting signals professionalism, confidence, and technical credibility — all three of which accelerate the close.</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Shading &amp; Obstructions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Tree Problem: morning shade kills daily production — be honest, not optimistic</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Chimneys and vents: account for setback requirements (local codes vary — 18" minimum typical)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Compare LIDAR satellite data to your visual inspection — software doesn't catch all obstructions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If trimming a tree is required: tell them NOW, not 3 weeks into the permit process</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Shade lies are one of the top reasons for customer complaints and chargebacks. A rep who tells the truth about a shading problem early looks professional. A rep who hides it to close the deal looks fraudulent.</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Electrical Panel: Your Secret Sales Tool</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Amperage check: 200-amp panels are ideal; 100-amp may need an upgrade (up-sell opportunity)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Space for a new breaker: confirm there are open slots before promising an interconnection timeline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Red flag brands: Zinsco and Federal Pacific panels are fire hazards — finding one is a service opportunity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Always inspect the panel — a rep who can explain the MSP builds instant technical credibility</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Finding an old or dangerous panel isn't a deal-killer — it's a deal-sweetener. Position it as: 'Good news — we found a safety issue before it found you. Here's how we can address that as part of the project.'</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HOA &amp; Mounting Considerations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Ask about HOA status in discovery — find out BEFORE designing the system</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Front-facing panel restrictions are common — check HOA guidelines for panel placement rules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HOA approval timelines vary: 30–90 days in many markets — set expectations immediately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Ground mount vs. Roof mount: when the roof is suboptimal, ground mount is the professional alternative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discovers an HOA restriction during the proposal (not the permit stage) looks incompetent. Ask in discovery. Address it proactively. Manage expectations before the homeowner googles it.</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Site Assessment: Green Light vs. Red Light</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60120"/>
            <a:ext cx="4023360" cy="338328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960120"/>
            <a:ext cx="4023360" cy="384048"/>
          </a:xfrm>
          <a:prstGeom prst="rect">
            <a:avLst/>
          </a:prstGeom>
          <a:solidFill>
            <a:srgbClr val="0891B2"/>
          </a:solidFill>
          <a:ln w="12700">
            <a:solidFill>
              <a:srgbClr val="0891B2"/>
            </a:solidFill>
            <a:prstDash val="solid"/>
          </a:ln>
        </p:spPr>
      </p:sp>
      <p:sp>
        <p:nvSpPr>
          <p:cNvPr id="7" name="Text 5"/>
          <p:cNvSpPr/>
          <p:nvPr/>
        </p:nvSpPr>
        <p:spPr>
          <a:xfrm>
            <a:off x="320040" y="978408"/>
            <a:ext cx="393192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Black" pitchFamily="34" charset="0"/>
                <a:ea typeface="Arial Black" pitchFamily="34" charset="-122"/>
                <a:cs typeface="Arial Black" pitchFamily="34" charset="-120"/>
              </a:rPr>
              <a:t>✅ GREEN LIGHT INSTALLS</a:t>
            </a:r>
            <a:endParaRPr lang="en-US" sz="1200" dirty="0"/>
          </a:p>
        </p:txBody>
      </p:sp>
      <p:sp>
        <p:nvSpPr>
          <p:cNvPr id="8" name="Text 6"/>
          <p:cNvSpPr/>
          <p:nvPr/>
        </p:nvSpPr>
        <p:spPr>
          <a:xfrm>
            <a:off x="365760" y="1417320"/>
            <a:ext cx="3840480"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Roof under 10 years old, south-facing</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200-amp updated electrical panel</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No shade from 9am–3pm window</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No HOA or HOA pre-approved solar</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High monthly bill ($200+) with consistent usage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Owns the home, solid credit profile</a:t>
            </a:r>
            <a:endParaRPr lang="en-US" sz="1200" dirty="0"/>
          </a:p>
        </p:txBody>
      </p:sp>
      <p:sp>
        <p:nvSpPr>
          <p:cNvPr id="9" name="Shape 7"/>
          <p:cNvSpPr/>
          <p:nvPr/>
        </p:nvSpPr>
        <p:spPr>
          <a:xfrm>
            <a:off x="4846320" y="960120"/>
            <a:ext cx="4023360" cy="338328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960120"/>
            <a:ext cx="4023360" cy="384048"/>
          </a:xfrm>
          <a:prstGeom prst="rect">
            <a:avLst/>
          </a:prstGeom>
          <a:solidFill>
            <a:srgbClr val="F4A61D"/>
          </a:solidFill>
          <a:ln w="12700">
            <a:solidFill>
              <a:srgbClr val="F4A61D"/>
            </a:solidFill>
            <a:prstDash val="solid"/>
          </a:ln>
        </p:spPr>
      </p:sp>
      <p:sp>
        <p:nvSpPr>
          <p:cNvPr id="11" name="Text 9"/>
          <p:cNvSpPr/>
          <p:nvPr/>
        </p:nvSpPr>
        <p:spPr>
          <a:xfrm>
            <a:off x="4892040" y="978408"/>
            <a:ext cx="3931920" cy="347472"/>
          </a:xfrm>
          <a:prstGeom prst="rect">
            <a:avLst/>
          </a:prstGeom>
          <a:noFill/>
          <a:ln/>
        </p:spPr>
        <p:txBody>
          <a:bodyPr wrap="square" lIns="0" tIns="0" rIns="0" bIns="0" rtlCol="0" anchor="ctr"/>
          <a:lstStyle/>
          <a:p>
            <a:pPr algn="ctr" indent="0" marL="0">
              <a:buNone/>
            </a:pPr>
            <a:r>
              <a:rPr lang="en-US" sz="1200" b="1" dirty="0">
                <a:solidFill>
                  <a:srgbClr val="0D1B2A"/>
                </a:solidFill>
                <a:latin typeface="Arial Black" pitchFamily="34" charset="0"/>
                <a:ea typeface="Arial Black" pitchFamily="34" charset="-122"/>
                <a:cs typeface="Arial Black" pitchFamily="34" charset="-120"/>
              </a:rPr>
              <a:t>🚨 RED LIGHT INDICATORS</a:t>
            </a:r>
            <a:endParaRPr lang="en-US" sz="1200" dirty="0"/>
          </a:p>
        </p:txBody>
      </p:sp>
      <p:sp>
        <p:nvSpPr>
          <p:cNvPr id="12" name="Text 10"/>
          <p:cNvSpPr/>
          <p:nvPr/>
        </p:nvSpPr>
        <p:spPr>
          <a:xfrm>
            <a:off x="4937760" y="1417320"/>
            <a:ext cx="3840480"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Roof 20+ years old, granule loss visible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100-amp or Zinsco/Federal Pacific panel</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Heavy shading from mature trees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HOA unknown or historically difficult</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Bill under $80/month, minimal usage</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Moving within 2 years, credit concerns</a:t>
            </a:r>
            <a:endParaRPr lang="en-US" sz="1200" dirty="0"/>
          </a:p>
        </p:txBody>
      </p:sp>
      <p:sp>
        <p:nvSpPr>
          <p:cNvPr id="13" name="Shape 1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4" name="Text 1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Every rep should be doing a 5-minute site assessment before opening the iPad. You're building credibility AND qualifying the deal simultaneously.</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3.8</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Disqualification Mastery</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Power of No. Protecting Your Time.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3.8 — DISQUALIFICATION MASTERY</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When NOT to Sell</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top 1% reps disqualify more leads than average reps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4 major disqualification signals that kill installs</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Why telling someone 'not right now' builds more trust than a pitch</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Soft DQ: keeping the door open and collecting referrals</a:t>
            </a:r>
            <a:endParaRPr lang="en-US" sz="1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Major Disqualification Signals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Moving within 2 years: Solar ROI typically needs 5–7 years to break even — advise against it honestly</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Credit score under 600 with no co-signer: Financing won't get approved; don't waste 2 hours building a proposal</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Roof replacement needed but no budget: Can't install safely without addressing the roof first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Extremely low usage (the $40 bill): System cost will never pencil — a small system makes no financial sense</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Top reps spend their time closing. They do not spend their time chasing. Disqualifying the bottom 20% of leads is what frees up the time and energy to close the top 20% properly.</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Why Disqualifying Builds Trust — and Referrals</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The 'Consultant' move: 'I'm not going to sell you something that doesn't make sense for you right now'</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Telling someone the truth when you could have sold them anyway = the most powerful trust signal in sales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People refer companies that didn't take advantage of them — disqualified homeowners send referrals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Your integrity is your longest-lasting sales tool — one honest 'not yet' creates 3 future opportunities</a:t>
            </a:r>
            <a:endParaRPr lang="en-US" sz="1400" dirty="0"/>
          </a:p>
        </p:txBody>
      </p:sp>
      <p:sp>
        <p:nvSpPr>
          <p:cNvPr id="6" name="Shape 4"/>
          <p:cNvSpPr/>
          <p:nvPr/>
        </p:nvSpPr>
        <p:spPr>
          <a:xfrm>
            <a:off x="274320" y="2606040"/>
            <a:ext cx="850392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606040"/>
            <a:ext cx="1097280" cy="347472"/>
          </a:xfrm>
          <a:prstGeom prst="rect">
            <a:avLst/>
          </a:prstGeom>
          <a:solidFill>
            <a:srgbClr val="0891B2"/>
          </a:solidFill>
          <a:ln w="12700">
            <a:solidFill>
              <a:srgbClr val="0891B2"/>
            </a:solidFill>
            <a:prstDash val="solid"/>
          </a:ln>
        </p:spPr>
      </p:sp>
      <p:sp>
        <p:nvSpPr>
          <p:cNvPr id="8" name="Text 6"/>
          <p:cNvSpPr/>
          <p:nvPr/>
        </p:nvSpPr>
        <p:spPr>
          <a:xfrm>
            <a:off x="292608" y="2624328"/>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3063240"/>
            <a:ext cx="8321040" cy="1188720"/>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Honestly — based on the shade from your oak tree and the fact that you're relocating in 18 months, solar doesn't make financial sense for you right now. I'd be doing you a disservice if I let you sign today.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Wow... I appreciate that. My brother-in-law just bought a new place though — should I send him your number?</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most powerful referrals come from people you didn't sell. When you tell a homeowner 'this doesn't make sense for you right now' and walk away, they will call their neighbor who DOES make sense.</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The Soft DQ: Not Now, Not Never</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'Based on your roof age, we'd want to wait until you've replaced it — probably 12–18 months from now'</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Leave a clear path back: 'Here's exactly what needs to change before solar makes sense for you'</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Keep them in your CRM with a follow-up trigger — the Soft DQ becomes a future pipeline asset</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Always close on a referral: 'Do you know anyone who owns their home and has a high electric bill?'</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Soft DQ is not a lost deal — it's a delayed deal plus a referral opportunity. Every Soft DQ should end with a specific 're-entry trigger' and a referral ask.</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3.9</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Full Discovery Simulation</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Garcia Household. Certification of Discovery.</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3.9 — FULL SIMULATION</a:t>
            </a:r>
            <a:endParaRPr lang="en-US" sz="1200" dirty="0"/>
          </a:p>
        </p:txBody>
      </p:sp>
      <p:sp>
        <p:nvSpPr>
          <p:cNvPr id="4" name="Text 2"/>
          <p:cNvSpPr/>
          <p:nvPr/>
        </p:nvSpPr>
        <p:spPr>
          <a:xfrm>
            <a:off x="457200" y="1554480"/>
            <a:ext cx="7772400" cy="1280160"/>
          </a:xfrm>
          <a:prstGeom prst="rect">
            <a:avLst/>
          </a:prstGeom>
          <a:noFill/>
          <a:ln/>
        </p:spPr>
        <p:txBody>
          <a:bodyPr wrap="square" lIns="0" tIns="0" rIns="0" bIns="0" rtlCol="0" anchor="ctr"/>
          <a:lstStyle/>
          <a:p>
            <a:pPr algn="l" indent="0" marL="0">
              <a:buNone/>
            </a:pPr>
            <a:r>
              <a:rPr lang="en-US" sz="3400" b="1" dirty="0">
                <a:solidFill>
                  <a:srgbClr val="FFFFFF"/>
                </a:solidFill>
                <a:latin typeface="Arial Black" pitchFamily="34" charset="0"/>
                <a:ea typeface="Arial Black" pitchFamily="34" charset="-122"/>
                <a:cs typeface="Arial Black" pitchFamily="34" charset="-120"/>
              </a:rPr>
              <a:t>Putting It All Together</a:t>
            </a:r>
            <a:endParaRPr lang="en-US" sz="3400" dirty="0"/>
          </a:p>
        </p:txBody>
      </p:sp>
      <p:sp>
        <p:nvSpPr>
          <p:cNvPr id="5" name="Text 3"/>
          <p:cNvSpPr/>
          <p:nvPr/>
        </p:nvSpPr>
        <p:spPr>
          <a:xfrm>
            <a:off x="457200" y="292608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The Garcia Household scenario: Bull + Turtle couple</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Testing all Day 3 skills simultaneously in a live simulation</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Evaluation checklist: Environment, BOLT, Discovery, Empathy</a:t>
            </a:r>
            <a:endParaRPr lang="en-US" sz="1400" dirty="0"/>
          </a:p>
          <a:p>
            <a:pPr marL="342900" indent="-342900">
              <a:buSzPct val="100000"/>
              <a:buFont typeface="+mj-lt"/>
              <a:buAutoNum type="arabicPeriod" startAt="1"/>
            </a:pPr>
            <a:r>
              <a:rPr lang="en-US" sz="1400" dirty="0">
                <a:solidFill>
                  <a:srgbClr val="8FA3B1"/>
                </a:solidFill>
                <a:latin typeface="Calibri" pitchFamily="34" charset="0"/>
                <a:ea typeface="Calibri" pitchFamily="34" charset="-122"/>
                <a:cs typeface="Calibri" pitchFamily="34" charset="-120"/>
              </a:rPr>
              <a:t>AI simulation for immediate field-realistic practice</a:t>
            </a:r>
            <a:endParaRPr lang="en-US" sz="1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Scenario Setup: The Garcia Household</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4023360" cy="17373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4023360" cy="365760"/>
          </a:xfrm>
          <a:prstGeom prst="rect">
            <a:avLst/>
          </a:prstGeom>
          <a:solidFill>
            <a:srgbClr val="0891B2"/>
          </a:solidFill>
          <a:ln w="12700">
            <a:solidFill>
              <a:srgbClr val="0891B2"/>
            </a:solidFill>
            <a:prstDash val="solid"/>
          </a:ln>
        </p:spPr>
      </p:sp>
      <p:sp>
        <p:nvSpPr>
          <p:cNvPr id="7" name="Text 5"/>
          <p:cNvSpPr/>
          <p:nvPr/>
        </p:nvSpPr>
        <p:spPr>
          <a:xfrm>
            <a:off x="320040" y="850392"/>
            <a:ext cx="3931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MR. GARCIA — THE BULL</a:t>
            </a:r>
            <a:endParaRPr lang="en-US" sz="1100" dirty="0"/>
          </a:p>
        </p:txBody>
      </p:sp>
      <p:sp>
        <p:nvSpPr>
          <p:cNvPr id="8" name="Text 6"/>
          <p:cNvSpPr/>
          <p:nvPr/>
        </p:nvSpPr>
        <p:spPr>
          <a:xfrm>
            <a:off x="365760" y="126187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Busy, direct, bottom-line focused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Hates the utility, wants to save money</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Will challenge your time estimates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the ROI in the first 5 minutes</a:t>
            </a:r>
            <a:endParaRPr lang="en-US" sz="1100" dirty="0"/>
          </a:p>
        </p:txBody>
      </p:sp>
      <p:sp>
        <p:nvSpPr>
          <p:cNvPr id="9" name="Shape 7"/>
          <p:cNvSpPr/>
          <p:nvPr/>
        </p:nvSpPr>
        <p:spPr>
          <a:xfrm>
            <a:off x="4846320" y="822960"/>
            <a:ext cx="4023360" cy="17373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22960"/>
            <a:ext cx="4023360" cy="365760"/>
          </a:xfrm>
          <a:prstGeom prst="rect">
            <a:avLst/>
          </a:prstGeom>
          <a:solidFill>
            <a:srgbClr val="F4A61D"/>
          </a:solidFill>
          <a:ln w="12700">
            <a:solidFill>
              <a:srgbClr val="F4A61D"/>
            </a:solidFill>
            <a:prstDash val="solid"/>
          </a:ln>
        </p:spPr>
      </p:sp>
      <p:sp>
        <p:nvSpPr>
          <p:cNvPr id="11" name="Text 9"/>
          <p:cNvSpPr/>
          <p:nvPr/>
        </p:nvSpPr>
        <p:spPr>
          <a:xfrm>
            <a:off x="4892040" y="850392"/>
            <a:ext cx="3931920" cy="310896"/>
          </a:xfrm>
          <a:prstGeom prst="rect">
            <a:avLst/>
          </a:prstGeom>
          <a:noFill/>
          <a:ln/>
        </p:spPr>
        <p: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MRS. GARCIA — THE TURTLE</a:t>
            </a:r>
            <a:endParaRPr lang="en-US" sz="1100" dirty="0"/>
          </a:p>
        </p:txBody>
      </p:sp>
      <p:sp>
        <p:nvSpPr>
          <p:cNvPr id="12" name="Text 10"/>
          <p:cNvSpPr/>
          <p:nvPr/>
        </p:nvSpPr>
        <p:spPr>
          <a:xfrm>
            <a:off x="4937760" y="126187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Worried about the roof &amp; installation</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Thinks it 'sounds too good to be true'</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Won't voice concerns unless asked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Needs safety, warranties, and reassurance</a:t>
            </a:r>
            <a:endParaRPr lang="en-US" sz="1100" dirty="0"/>
          </a:p>
        </p:txBody>
      </p:sp>
      <p:sp>
        <p:nvSpPr>
          <p:cNvPr id="13" name="Shape 11"/>
          <p:cNvSpPr/>
          <p:nvPr/>
        </p:nvSpPr>
        <p:spPr>
          <a:xfrm>
            <a:off x="274320" y="2697480"/>
            <a:ext cx="4023360" cy="1737360"/>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97480"/>
            <a:ext cx="4023360" cy="365760"/>
          </a:xfrm>
          <a:prstGeom prst="rect">
            <a:avLst/>
          </a:prstGeom>
          <a:solidFill>
            <a:srgbClr val="2D9B4E"/>
          </a:solidFill>
          <a:ln w="12700">
            <a:solidFill>
              <a:srgbClr val="2D9B4E"/>
            </a:solidFill>
            <a:prstDash val="solid"/>
          </a:ln>
        </p:spPr>
      </p:sp>
      <p:sp>
        <p:nvSpPr>
          <p:cNvPr id="15" name="Text 13"/>
          <p:cNvSpPr/>
          <p:nvPr/>
        </p:nvSpPr>
        <p:spPr>
          <a:xfrm>
            <a:off x="320040" y="2724912"/>
            <a:ext cx="3931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THE HOME</a:t>
            </a:r>
            <a:endParaRPr lang="en-US" sz="1100" dirty="0"/>
          </a:p>
        </p:txBody>
      </p:sp>
      <p:sp>
        <p:nvSpPr>
          <p:cNvPr id="16" name="Text 14"/>
          <p:cNvSpPr/>
          <p:nvPr/>
        </p:nvSpPr>
        <p:spPr>
          <a:xfrm>
            <a:off x="365760" y="313639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12-year-old roof (borderline flag)</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$280/month average electric bill</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100-amp electrical panel (upgrade needed)</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South-facing roof, minimal shading</a:t>
            </a:r>
            <a:endParaRPr lang="en-US" sz="1100" dirty="0"/>
          </a:p>
        </p:txBody>
      </p:sp>
      <p:sp>
        <p:nvSpPr>
          <p:cNvPr id="17" name="Shape 15"/>
          <p:cNvSpPr/>
          <p:nvPr/>
        </p:nvSpPr>
        <p:spPr>
          <a:xfrm>
            <a:off x="4846320" y="2697480"/>
            <a:ext cx="4023360" cy="1737360"/>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97480"/>
            <a:ext cx="4023360" cy="365760"/>
          </a:xfrm>
          <a:prstGeom prst="rect">
            <a:avLst/>
          </a:prstGeom>
          <a:solidFill>
            <a:srgbClr val="E07B39"/>
          </a:solidFill>
          <a:ln w="12700">
            <a:solidFill>
              <a:srgbClr val="E07B39"/>
            </a:solidFill>
            <a:prstDash val="solid"/>
          </a:ln>
        </p:spPr>
      </p:sp>
      <p:sp>
        <p:nvSpPr>
          <p:cNvPr id="19" name="Text 17"/>
          <p:cNvSpPr/>
          <p:nvPr/>
        </p:nvSpPr>
        <p:spPr>
          <a:xfrm>
            <a:off x="4892040" y="2724912"/>
            <a:ext cx="393192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YOUR OBJECTIVES</a:t>
            </a:r>
            <a:endParaRPr lang="en-US" sz="1100" dirty="0"/>
          </a:p>
        </p:txBody>
      </p:sp>
      <p:sp>
        <p:nvSpPr>
          <p:cNvPr id="20" name="Text 18"/>
          <p:cNvSpPr/>
          <p:nvPr/>
        </p:nvSpPr>
        <p:spPr>
          <a:xfrm>
            <a:off x="4937760" y="3136392"/>
            <a:ext cx="3840480" cy="12344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Control seating within 3 minutes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Identify BOLT type for each Garcia</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Ask 8+ discovery questions</a:t>
            </a:r>
            <a:endParaRPr lang="en-US" sz="1100" dirty="0"/>
          </a:p>
          <a:p>
            <a:pPr marL="342900" indent="-342900">
              <a:spcAft>
                <a:spcPts val="300"/>
              </a:spcAft>
              <a:buSzPct val="100000"/>
              <a:buChar char="•"/>
            </a:pPr>
            <a:r>
              <a:rPr lang="en-US" sz="1100" dirty="0">
                <a:solidFill>
                  <a:srgbClr val="FFFFFF"/>
                </a:solidFill>
                <a:latin typeface="Calibri" pitchFamily="34" charset="0"/>
                <a:ea typeface="Calibri" pitchFamily="34" charset="-122"/>
                <a:cs typeface="Calibri" pitchFamily="34" charset="-120"/>
              </a:rPr>
              <a:t>Reach the 'That's right' transition</a:t>
            </a:r>
            <a:endParaRPr lang="en-US" sz="11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scenario tests every skill taught in Day 3. Mr. Garcia will pressure you for the numbers early. Mrs. Garcia won't say much unless you ask her directly. Both must be satisfied to get the close.</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Evaluation Checklist: Day 3 Certification</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Environmental Control: Did they guide the Garcias to the kitchen table? Eliminate the TV?</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BOLT Identification: Did they correctly ID Mr. Garcia (Bull) and Mrs. Garcia (Turtle) within 5 minutes?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Discovery Depth: Did they ask 8+ questions across all 3 categories (Pain, Urgency, Decision)?</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 Tactical Empathy: Did they use at least 2 mirrors and 2 labels during the consultation?</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Managers will score reps using this checklist. A score of 80% or above on all four categories = Day 3 Certified. Below 80% = focused coaching session before advancing to Day 4.</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11480"/>
            <a:ext cx="8412480" cy="502920"/>
          </a:xfrm>
          <a:prstGeom prst="rect">
            <a:avLst/>
          </a:prstGeom>
          <a:noFill/>
          <a:ln/>
        </p:spPr>
        <p:txBody>
          <a:bodyPr wrap="square" lIns="0" tIns="0" rIns="0" bIns="0" rtlCol="0" anchor="ctr"/>
          <a:lstStyle/>
          <a:p>
            <a:pPr algn="l" indent="0" marL="0">
              <a:buNone/>
            </a:pPr>
            <a:r>
              <a:rPr lang="en-US" sz="2000" b="1" dirty="0">
                <a:solidFill>
                  <a:srgbClr val="0D1B2A"/>
                </a:solidFill>
                <a:latin typeface="Arial Black" pitchFamily="34" charset="0"/>
                <a:ea typeface="Arial Black" pitchFamily="34" charset="-122"/>
                <a:cs typeface="Arial Black" pitchFamily="34" charset="-120"/>
              </a:rPr>
              <a:t>AI Simulation: The Garcia Household</a:t>
            </a:r>
            <a:endParaRPr lang="en-US" sz="2000" dirty="0"/>
          </a:p>
        </p:txBody>
      </p:sp>
      <p:sp>
        <p:nvSpPr>
          <p:cNvPr id="5" name="Shape 3"/>
          <p:cNvSpPr/>
          <p:nvPr/>
        </p:nvSpPr>
        <p:spPr>
          <a:xfrm>
            <a:off x="274320" y="1143000"/>
            <a:ext cx="8595360" cy="50292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48056"/>
          </a:xfrm>
          <a:prstGeom prst="rect">
            <a:avLst/>
          </a:prstGeom>
          <a:noFill/>
          <a:ln/>
        </p:spPr>
        <p:txBody>
          <a:bodyPr wrap="square" lIns="0" tIns="0" rIns="0" bIns="0" rtlCol="0" anchor="ctr"/>
          <a:lstStyle/>
          <a:p>
            <a:pPr algn="l" indent="0" marL="0">
              <a:buNone/>
            </a:pPr>
            <a:r>
              <a:rPr lang="en-US" sz="1200" b="1" i="1" dirty="0">
                <a:solidFill>
                  <a:srgbClr val="0891B2"/>
                </a:solidFill>
                <a:latin typeface="Calibri" pitchFamily="34" charset="0"/>
                <a:ea typeface="Calibri" pitchFamily="34" charset="-122"/>
                <a:cs typeface="Calibri" pitchFamily="34" charset="-120"/>
              </a:rPr>
              <a:t>OBJECTIVE: Complete a realistic 15-minute consultation with the AI-powered Garcia Household bot</a:t>
            </a:r>
            <a:endParaRPr lang="en-US" sz="1200" dirty="0"/>
          </a:p>
        </p:txBody>
      </p:sp>
      <p:sp>
        <p:nvSpPr>
          <p:cNvPr id="7" name="Text 5"/>
          <p:cNvSpPr/>
          <p:nvPr/>
        </p:nvSpPr>
        <p:spPr>
          <a:xfrm>
            <a:off x="365760" y="1828800"/>
            <a:ext cx="6858000" cy="274320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Scan the QR code or click the simulation link to launch the Garcia AI voice bot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Introduce yourself and attempt to run the full consultation framework</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The AI is programmed to behave as both Mr. and Mrs. Garcia — realistic pushback included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Record your session audio and submit for manager review</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Your session will be scored against the 4-category Day 3 Evaluation Checklist</a:t>
            </a:r>
            <a:endParaRPr lang="en-US" sz="1300" dirty="0"/>
          </a:p>
        </p:txBody>
      </p:sp>
      <p:sp>
        <p:nvSpPr>
          <p:cNvPr id="8" name="Shape 6"/>
          <p:cNvSpPr/>
          <p:nvPr/>
        </p:nvSpPr>
        <p:spPr>
          <a:xfrm>
            <a:off x="7132320" y="1828800"/>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847088"/>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15–20 MIN</a:t>
            </a:r>
            <a:endParaRPr lang="en-US" sz="14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45920"/>
          </a:xfrm>
          <a:prstGeom prst="rect">
            <a:avLst/>
          </a:prstGeom>
          <a:solidFill>
            <a:srgbClr val="F4A61D"/>
          </a:solidFill>
          <a:ln w="12700">
            <a:solidFill>
              <a:srgbClr val="F4A61D"/>
            </a:solidFill>
            <a:prstDash val="solid"/>
          </a:ln>
        </p:spPr>
      </p:sp>
      <p:sp>
        <p:nvSpPr>
          <p:cNvPr id="3" name="Text 1"/>
          <p:cNvSpPr/>
          <p:nvPr/>
        </p:nvSpPr>
        <p:spPr>
          <a:xfrm>
            <a:off x="365760" y="137160"/>
            <a:ext cx="8412480" cy="457200"/>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3.10</a:t>
            </a:r>
            <a:endParaRPr lang="en-US" sz="1300" dirty="0"/>
          </a:p>
        </p:txBody>
      </p:sp>
      <p:sp>
        <p:nvSpPr>
          <p:cNvPr id="4" name="Text 2"/>
          <p:cNvSpPr/>
          <p:nvPr/>
        </p:nvSpPr>
        <p:spPr>
          <a:xfrm>
            <a:off x="365760" y="548640"/>
            <a:ext cx="8412480" cy="822960"/>
          </a:xfrm>
          <a:prstGeom prst="rect">
            <a:avLst/>
          </a:prstGeom>
          <a:noFill/>
          <a:ln/>
        </p:spPr>
        <p:txBody>
          <a:bodyPr wrap="square" lIns="0" tIns="0" rIns="0" bIns="0" rtlCol="0" anchor="ctr"/>
          <a:lstStyle/>
          <a:p>
            <a:pPr algn="l" indent="0" marL="0">
              <a:buNone/>
            </a:pPr>
            <a:r>
              <a:rPr lang="en-US" sz="2800" b="1" dirty="0">
                <a:solidFill>
                  <a:srgbClr val="0D1B2A"/>
                </a:solidFill>
                <a:latin typeface="Arial Black" pitchFamily="34" charset="0"/>
                <a:ea typeface="Arial Black" pitchFamily="34" charset="-122"/>
                <a:cs typeface="Arial Black" pitchFamily="34" charset="-120"/>
              </a:rPr>
              <a:t>Day 3 Wrap-Up</a:t>
            </a:r>
            <a:endParaRPr lang="en-US" sz="28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Key Takeaways &amp; Preview of Day 4</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4864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Day 3: The 4 Laws of Consultation Mastery</a:t>
            </a:r>
            <a:endParaRPr lang="en-US" sz="2200" dirty="0"/>
          </a:p>
        </p:txBody>
      </p:sp>
      <p:sp>
        <p:nvSpPr>
          <p:cNvPr id="4" name="Shape 2"/>
          <p:cNvSpPr/>
          <p:nvPr/>
        </p:nvSpPr>
        <p:spPr>
          <a:xfrm>
            <a:off x="274320" y="731520"/>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91440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20040" y="960120"/>
            <a:ext cx="594360" cy="731520"/>
          </a:xfrm>
          <a:prstGeom prst="rect">
            <a:avLst/>
          </a:prstGeom>
          <a:noFill/>
          <a:ln/>
        </p:spPr>
        <p: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01</a:t>
            </a:r>
            <a:endParaRPr lang="en-US" sz="2600" dirty="0"/>
          </a:p>
        </p:txBody>
      </p:sp>
      <p:sp>
        <p:nvSpPr>
          <p:cNvPr id="7" name="Shape 5"/>
          <p:cNvSpPr/>
          <p:nvPr/>
        </p:nvSpPr>
        <p:spPr>
          <a:xfrm>
            <a:off x="960120" y="1005840"/>
            <a:ext cx="27432" cy="640080"/>
          </a:xfrm>
          <a:prstGeom prst="rect">
            <a:avLst/>
          </a:prstGeom>
          <a:solidFill>
            <a:srgbClr val="F4A61D"/>
          </a:solidFill>
          <a:ln w="12700">
            <a:solidFill>
              <a:srgbClr val="F4A61D"/>
            </a:solidFill>
            <a:prstDash val="solid"/>
          </a:ln>
        </p:spPr>
      </p:sp>
      <p:sp>
        <p:nvSpPr>
          <p:cNvPr id="8" name="Text 6"/>
          <p:cNvSpPr/>
          <p:nvPr/>
        </p:nvSpPr>
        <p:spPr>
          <a:xfrm>
            <a:off x="1051560" y="100584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Control the Room or Lose the Deal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Environmental control is non-negotiable. Kitchen table, no TV, both decision-makers seated.</a:t>
            </a:r>
            <a:endParaRPr lang="en-US" sz="1300" dirty="0"/>
          </a:p>
        </p:txBody>
      </p:sp>
      <p:sp>
        <p:nvSpPr>
          <p:cNvPr id="9" name="Shape 7"/>
          <p:cNvSpPr/>
          <p:nvPr/>
        </p:nvSpPr>
        <p:spPr>
          <a:xfrm>
            <a:off x="274320" y="187452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0040" y="1920240"/>
            <a:ext cx="594360" cy="731520"/>
          </a:xfrm>
          <a:prstGeom prst="rect">
            <a:avLst/>
          </a:prstGeom>
          <a:noFill/>
          <a:ln/>
        </p:spPr>
        <p: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02</a:t>
            </a:r>
            <a:endParaRPr lang="en-US" sz="2600" dirty="0"/>
          </a:p>
        </p:txBody>
      </p:sp>
      <p:sp>
        <p:nvSpPr>
          <p:cNvPr id="11" name="Shape 9"/>
          <p:cNvSpPr/>
          <p:nvPr/>
        </p:nvSpPr>
        <p:spPr>
          <a:xfrm>
            <a:off x="960120" y="1965960"/>
            <a:ext cx="27432" cy="640080"/>
          </a:xfrm>
          <a:prstGeom prst="rect">
            <a:avLst/>
          </a:prstGeom>
          <a:solidFill>
            <a:srgbClr val="0891B2"/>
          </a:solidFill>
          <a:ln w="12700">
            <a:solidFill>
              <a:srgbClr val="0891B2"/>
            </a:solidFill>
            <a:prstDash val="solid"/>
          </a:ln>
        </p:spPr>
      </p:sp>
      <p:sp>
        <p:nvSpPr>
          <p:cNvPr id="12" name="Text 10"/>
          <p:cNvSpPr/>
          <p:nvPr/>
        </p:nvSpPr>
        <p:spPr>
          <a:xfrm>
            <a:off x="1051560" y="196596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BOLT Determines Your Tone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You don't have a pitch — you have 4 pitches. One for each personality type.</a:t>
            </a:r>
            <a:endParaRPr lang="en-US" sz="1300" dirty="0"/>
          </a:p>
        </p:txBody>
      </p:sp>
      <p:sp>
        <p:nvSpPr>
          <p:cNvPr id="13" name="Shape 11"/>
          <p:cNvSpPr/>
          <p:nvPr/>
        </p:nvSpPr>
        <p:spPr>
          <a:xfrm>
            <a:off x="274320" y="283464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0040" y="2880360"/>
            <a:ext cx="594360" cy="731520"/>
          </a:xfrm>
          <a:prstGeom prst="rect">
            <a:avLst/>
          </a:prstGeom>
          <a:noFill/>
          <a:ln/>
        </p:spPr>
        <p:txBody>
          <a:bodyPr wrap="square" lIns="0" tIns="0" rIns="0" bIns="0" rtlCol="0" anchor="ctr"/>
          <a:lstStyle/>
          <a:p>
            <a:pPr algn="ctr" indent="0" marL="0">
              <a:buNone/>
            </a:pPr>
            <a:r>
              <a:rPr lang="en-US" sz="2600" b="1" dirty="0">
                <a:solidFill>
                  <a:srgbClr val="F4A61D"/>
                </a:solidFill>
                <a:latin typeface="Arial Black" pitchFamily="34" charset="0"/>
                <a:ea typeface="Arial Black" pitchFamily="34" charset="-122"/>
                <a:cs typeface="Arial Black" pitchFamily="34" charset="-120"/>
              </a:rPr>
              <a:t>03</a:t>
            </a:r>
            <a:endParaRPr lang="en-US" sz="2600" dirty="0"/>
          </a:p>
        </p:txBody>
      </p:sp>
      <p:sp>
        <p:nvSpPr>
          <p:cNvPr id="15" name="Shape 13"/>
          <p:cNvSpPr/>
          <p:nvPr/>
        </p:nvSpPr>
        <p:spPr>
          <a:xfrm>
            <a:off x="960120" y="2926080"/>
            <a:ext cx="27432" cy="640080"/>
          </a:xfrm>
          <a:prstGeom prst="rect">
            <a:avLst/>
          </a:prstGeom>
          <a:solidFill>
            <a:srgbClr val="F4A61D"/>
          </a:solidFill>
          <a:ln w="12700">
            <a:solidFill>
              <a:srgbClr val="F4A61D"/>
            </a:solidFill>
            <a:prstDash val="solid"/>
          </a:ln>
        </p:spPr>
      </p:sp>
      <p:sp>
        <p:nvSpPr>
          <p:cNvPr id="16" name="Text 14"/>
          <p:cNvSpPr/>
          <p:nvPr/>
        </p:nvSpPr>
        <p:spPr>
          <a:xfrm>
            <a:off x="1051560" y="292608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Discovery is the Sale Before the Sale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The homeowner who builds their own case for solar will close themselves.</a:t>
            </a:r>
            <a:endParaRPr lang="en-US" sz="1300" dirty="0"/>
          </a:p>
        </p:txBody>
      </p:sp>
      <p:sp>
        <p:nvSpPr>
          <p:cNvPr id="17" name="Shape 15"/>
          <p:cNvSpPr/>
          <p:nvPr/>
        </p:nvSpPr>
        <p:spPr>
          <a:xfrm>
            <a:off x="274320" y="379476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8" name="Text 16"/>
          <p:cNvSpPr/>
          <p:nvPr/>
        </p:nvSpPr>
        <p:spPr>
          <a:xfrm>
            <a:off x="320040" y="3840480"/>
            <a:ext cx="594360" cy="731520"/>
          </a:xfrm>
          <a:prstGeom prst="rect">
            <a:avLst/>
          </a:prstGeom>
          <a:noFill/>
          <a:ln/>
        </p:spPr>
        <p:txBody>
          <a:bodyPr wrap="square" lIns="0" tIns="0" rIns="0" bIns="0" rtlCol="0" anchor="ctr"/>
          <a:lstStyle/>
          <a:p>
            <a:pPr algn="ctr" indent="0" marL="0">
              <a:buNone/>
            </a:pPr>
            <a:r>
              <a:rPr lang="en-US" sz="2600" b="1" dirty="0">
                <a:solidFill>
                  <a:srgbClr val="0891B2"/>
                </a:solidFill>
                <a:latin typeface="Arial Black" pitchFamily="34" charset="0"/>
                <a:ea typeface="Arial Black" pitchFamily="34" charset="-122"/>
                <a:cs typeface="Arial Black" pitchFamily="34" charset="-120"/>
              </a:rPr>
              <a:t>04</a:t>
            </a:r>
            <a:endParaRPr lang="en-US" sz="2600" dirty="0"/>
          </a:p>
        </p:txBody>
      </p:sp>
      <p:sp>
        <p:nvSpPr>
          <p:cNvPr id="19" name="Shape 17"/>
          <p:cNvSpPr/>
          <p:nvPr/>
        </p:nvSpPr>
        <p:spPr>
          <a:xfrm>
            <a:off x="960120" y="3886200"/>
            <a:ext cx="27432" cy="640080"/>
          </a:xfrm>
          <a:prstGeom prst="rect">
            <a:avLst/>
          </a:prstGeom>
          <a:solidFill>
            <a:srgbClr val="0891B2"/>
          </a:solidFill>
          <a:ln w="12700">
            <a:solidFill>
              <a:srgbClr val="0891B2"/>
            </a:solidFill>
            <a:prstDash val="solid"/>
          </a:ln>
        </p:spPr>
      </p:sp>
      <p:sp>
        <p:nvSpPr>
          <p:cNvPr id="20" name="Text 18"/>
          <p:cNvSpPr/>
          <p:nvPr/>
        </p:nvSpPr>
        <p:spPr>
          <a:xfrm>
            <a:off x="1051560" y="3886200"/>
            <a:ext cx="7589520"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Disqualify Early to Close Late
</a:t>
            </a:r>
            <a:endParaRPr lang="en-US" sz="1300" dirty="0"/>
          </a:p>
          <a:p>
            <a:pPr indent="0" marL="0">
              <a:buNone/>
            </a:pPr>
            <a:r>
              <a:rPr lang="en-US" sz="1100" dirty="0">
                <a:solidFill>
                  <a:srgbClr val="8FA3B1"/>
                </a:solidFill>
                <a:latin typeface="Calibri" pitchFamily="34" charset="0"/>
                <a:ea typeface="Calibri" pitchFamily="34" charset="-122"/>
                <a:cs typeface="Calibri" pitchFamily="34" charset="-120"/>
              </a:rPr>
              <a:t>Top closers protect their time. Saying 'not yet' is a power move, not a defeat.</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82880"/>
            <a:ext cx="8503920" cy="594360"/>
          </a:xfrm>
          <a:prstGeom prst="rect">
            <a:avLst/>
          </a:prstGeom>
          <a:noFill/>
          <a:ln/>
        </p:spPr>
        <p:txBody>
          <a:bodyPr wrap="square" lIns="0" tIns="0" rIns="0" bIns="0" rtlCol="0" anchor="ctr"/>
          <a:lstStyle/>
          <a:p>
            <a:pPr algn="l" indent="0" marL="0">
              <a:buNone/>
            </a:pPr>
            <a:r>
              <a:rPr lang="en-US" sz="2200" b="1" dirty="0">
                <a:solidFill>
                  <a:srgbClr val="F4A61D"/>
                </a:solidFill>
                <a:latin typeface="Arial Black" pitchFamily="34" charset="0"/>
                <a:ea typeface="Arial Black" pitchFamily="34" charset="-122"/>
                <a:cs typeface="Arial Black" pitchFamily="34" charset="-120"/>
              </a:rPr>
              <a:t>Homework: Before Day 4</a:t>
            </a:r>
            <a:endParaRPr lang="en-US" sz="2200" dirty="0"/>
          </a:p>
        </p:txBody>
      </p:sp>
      <p:sp>
        <p:nvSpPr>
          <p:cNvPr id="4" name="Shape 2"/>
          <p:cNvSpPr/>
          <p:nvPr/>
        </p:nvSpPr>
        <p:spPr>
          <a:xfrm>
            <a:off x="274320" y="80467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Memorize the 12 Discovery Questions — be able to recite all 3 categories without notes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Listen to 2 recorded calls: identify the BOLT type of each homeowner and note what changed your read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Prepare your Roof Assessment Kit: phone with LIDAR access, checklist, panel photos on device</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Run one self-recorded mock discovery with a partner — submit to your manager for review</a:t>
            </a:r>
            <a:endParaRPr lang="en-US" sz="14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Consistency between training days is where reps separate. Day 4 moves into The Presentation, which is entirely dependent on the quality of the discovery questions asked in Day 3.</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463040"/>
          </a:xfrm>
          <a:prstGeom prst="rect">
            <a:avLst/>
          </a:prstGeom>
          <a:solidFill>
            <a:srgbClr val="1A2840"/>
          </a:solidFill>
          <a:ln w="12700">
            <a:solidFill>
              <a:srgbClr val="1A2840"/>
            </a:solidFill>
            <a:prstDash val="solid"/>
          </a:ln>
        </p:spPr>
      </p:sp>
      <p:sp>
        <p:nvSpPr>
          <p:cNvPr id="3" name="Shape 1"/>
          <p:cNvSpPr/>
          <p:nvPr/>
        </p:nvSpPr>
        <p:spPr>
          <a:xfrm>
            <a:off x="0" y="0"/>
            <a:ext cx="320040" cy="1463040"/>
          </a:xfrm>
          <a:prstGeom prst="rect">
            <a:avLst/>
          </a:prstGeom>
          <a:solidFill>
            <a:srgbClr val="F4A61D"/>
          </a:solidFill>
          <a:ln w="12700">
            <a:solidFill>
              <a:srgbClr val="F4A61D"/>
            </a:solidFill>
            <a:prstDash val="solid"/>
          </a:ln>
        </p:spPr>
      </p:sp>
      <p:sp>
        <p:nvSpPr>
          <p:cNvPr id="4" name="Text 2"/>
          <p:cNvSpPr/>
          <p:nvPr/>
        </p:nvSpPr>
        <p:spPr>
          <a:xfrm>
            <a:off x="502920" y="182880"/>
            <a:ext cx="8229600" cy="457200"/>
          </a:xfrm>
          <a:prstGeom prst="rect">
            <a:avLst/>
          </a:prstGeom>
          <a:noFill/>
          <a:ln/>
        </p:spPr>
        <p: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COMING UP: DAY 4</a:t>
            </a:r>
            <a:endParaRPr lang="en-US" sz="1200" dirty="0"/>
          </a:p>
        </p:txBody>
      </p:sp>
      <p:sp>
        <p:nvSpPr>
          <p:cNvPr id="5" name="Text 3"/>
          <p:cNvSpPr/>
          <p:nvPr/>
        </p:nvSpPr>
        <p:spPr>
          <a:xfrm>
            <a:off x="502920" y="640080"/>
            <a:ext cx="8229600" cy="685800"/>
          </a:xfrm>
          <a:prstGeom prst="rect">
            <a:avLst/>
          </a:prstGeom>
          <a:noFill/>
          <a:ln/>
        </p:spPr>
        <p:txBody>
          <a:bodyPr wrap="square" lIns="0" tIns="0" rIns="0" bIns="0" rtlCol="0" anchor="ctr"/>
          <a:lstStyle/>
          <a:p>
            <a:pPr algn="l" indent="0" marL="0">
              <a:buNone/>
            </a:pPr>
            <a:r>
              <a:rPr lang="en-US" sz="2400" b="1" dirty="0">
                <a:solidFill>
                  <a:srgbClr val="FFFFFF"/>
                </a:solidFill>
                <a:latin typeface="Arial Black" pitchFamily="34" charset="0"/>
                <a:ea typeface="Arial Black" pitchFamily="34" charset="-122"/>
                <a:cs typeface="Arial Black" pitchFamily="34" charset="-120"/>
              </a:rPr>
              <a:t>Presentation Mastery &amp; The Close</a:t>
            </a:r>
            <a:endParaRPr lang="en-US" sz="2400" dirty="0"/>
          </a:p>
        </p:txBody>
      </p:sp>
      <p:sp>
        <p:nvSpPr>
          <p:cNvPr id="6" name="Shape 4"/>
          <p:cNvSpPr/>
          <p:nvPr/>
        </p:nvSpPr>
        <p:spPr>
          <a:xfrm>
            <a:off x="27432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411480" y="187452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Presentation Mastery</a:t>
            </a:r>
            <a:endParaRPr lang="en-US" sz="1400" dirty="0"/>
          </a:p>
        </p:txBody>
      </p:sp>
      <p:sp>
        <p:nvSpPr>
          <p:cNvPr id="8" name="Text 6"/>
          <p:cNvSpPr/>
          <p:nvPr/>
        </p:nvSpPr>
        <p:spPr>
          <a:xfrm>
            <a:off x="411480" y="233172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Building and delivering the numbers that close the deal</a:t>
            </a:r>
            <a:endParaRPr lang="en-US" sz="1100" dirty="0"/>
          </a:p>
        </p:txBody>
      </p:sp>
      <p:sp>
        <p:nvSpPr>
          <p:cNvPr id="9" name="Shape 7"/>
          <p:cNvSpPr/>
          <p:nvPr/>
        </p:nvSpPr>
        <p:spPr>
          <a:xfrm>
            <a:off x="4754880" y="173736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4892040" y="187452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The Math of Solar</a:t>
            </a:r>
            <a:endParaRPr lang="en-US" sz="1400" dirty="0"/>
          </a:p>
        </p:txBody>
      </p:sp>
      <p:sp>
        <p:nvSpPr>
          <p:cNvPr id="11" name="Text 9"/>
          <p:cNvSpPr/>
          <p:nvPr/>
        </p:nvSpPr>
        <p:spPr>
          <a:xfrm>
            <a:off x="4892040" y="233172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Utility escalation, ROI, payback period — told simply</a:t>
            </a:r>
            <a:endParaRPr lang="en-US" sz="1100" dirty="0"/>
          </a:p>
        </p:txBody>
      </p:sp>
      <p:sp>
        <p:nvSpPr>
          <p:cNvPr id="12" name="Shape 10"/>
          <p:cNvSpPr/>
          <p:nvPr/>
        </p:nvSpPr>
        <p:spPr>
          <a:xfrm>
            <a:off x="27432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411480" y="352044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Handling Big Objections</a:t>
            </a:r>
            <a:endParaRPr lang="en-US" sz="1400" dirty="0"/>
          </a:p>
        </p:txBody>
      </p:sp>
      <p:sp>
        <p:nvSpPr>
          <p:cNvPr id="14" name="Text 12"/>
          <p:cNvSpPr/>
          <p:nvPr/>
        </p:nvSpPr>
        <p:spPr>
          <a:xfrm>
            <a:off x="411480" y="397764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Price, financing, warranties, installer trust — all covered</a:t>
            </a:r>
            <a:endParaRPr lang="en-US" sz="1100" dirty="0"/>
          </a:p>
        </p:txBody>
      </p:sp>
      <p:sp>
        <p:nvSpPr>
          <p:cNvPr id="15" name="Shape 13"/>
          <p:cNvSpPr/>
          <p:nvPr/>
        </p:nvSpPr>
        <p:spPr>
          <a:xfrm>
            <a:off x="4754880" y="3383280"/>
            <a:ext cx="4023360" cy="146304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6" name="Text 14"/>
          <p:cNvSpPr/>
          <p:nvPr/>
        </p:nvSpPr>
        <p:spPr>
          <a:xfrm>
            <a:off x="4892040" y="3520440"/>
            <a:ext cx="3749040" cy="411480"/>
          </a:xfrm>
          <a:prstGeom prst="rect">
            <a:avLst/>
          </a:prstGeom>
          <a:noFill/>
          <a:ln/>
        </p:spPr>
        <p:txBody>
          <a:bodyPr wrap="square" lIns="0" tIns="0" rIns="0" bIns="0" rtlCol="0" anchor="ctr"/>
          <a:lstStyle/>
          <a:p>
            <a:pPr algn="l" indent="0" marL="0">
              <a:buNone/>
            </a:pPr>
            <a:r>
              <a:rPr lang="en-US" sz="1400" b="1" dirty="0">
                <a:solidFill>
                  <a:srgbClr val="F4A61D"/>
                </a:solidFill>
                <a:latin typeface="Arial Black" pitchFamily="34" charset="0"/>
                <a:ea typeface="Arial Black" pitchFamily="34" charset="-122"/>
                <a:cs typeface="Arial Black" pitchFamily="34" charset="-120"/>
              </a:rPr>
              <a:t>✍️  The Close</a:t>
            </a:r>
            <a:endParaRPr lang="en-US" sz="1400" dirty="0"/>
          </a:p>
        </p:txBody>
      </p:sp>
      <p:sp>
        <p:nvSpPr>
          <p:cNvPr id="17" name="Text 15"/>
          <p:cNvSpPr/>
          <p:nvPr/>
        </p:nvSpPr>
        <p:spPr>
          <a:xfrm>
            <a:off x="4892040" y="3977640"/>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Asking for the signature with confidence and no pressure</a:t>
            </a:r>
            <a:endParaRPr lang="en-US" sz="1100" dirty="0"/>
          </a:p>
        </p:txBody>
      </p:sp>
      <p:sp>
        <p:nvSpPr>
          <p:cNvPr id="18" name="Shape 16"/>
          <p:cNvSpPr/>
          <p:nvPr/>
        </p:nvSpPr>
        <p:spPr>
          <a:xfrm>
            <a:off x="0" y="4709160"/>
            <a:ext cx="9144000" cy="434340"/>
          </a:xfrm>
          <a:prstGeom prst="rect">
            <a:avLst/>
          </a:prstGeom>
          <a:solidFill>
            <a:srgbClr val="F4A61D"/>
          </a:solidFill>
          <a:ln w="12700">
            <a:solidFill>
              <a:srgbClr val="F4A61D"/>
            </a:solidFill>
            <a:prstDash val="solid"/>
          </a:ln>
        </p:spPr>
      </p:sp>
      <p:sp>
        <p:nvSpPr>
          <p:cNvPr id="19" name="Text 17"/>
          <p:cNvSpPr/>
          <p:nvPr/>
        </p:nvSpPr>
        <p:spPr>
          <a:xfrm>
            <a:off x="457200" y="4736592"/>
            <a:ext cx="8229600" cy="402336"/>
          </a:xfrm>
          <a:prstGeom prst="rect">
            <a:avLst/>
          </a:prstGeom>
          <a:noFill/>
          <a:ln/>
        </p:spPr>
        <p: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3 Complete  ·  Come back tomorrow ready to close.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3</dc:title>
  <dc:subject>PptxGenJS Presentation</dc:subject>
  <dc:creator>Solar Accelerator Training</dc:creator>
  <cp:lastModifiedBy>Solar Accelerator Training</cp:lastModifiedBy>
  <cp:revision>1</cp:revision>
  <dcterms:created xsi:type="dcterms:W3CDTF">2026-03-09T02:37:17Z</dcterms:created>
  <dcterms:modified xsi:type="dcterms:W3CDTF">2026-03-09T02:37:17Z</dcterms:modified>
</cp:coreProperties>
</file>