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901" y="1119634"/>
            <a:ext cx="7604049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948"/>
              </a:spcBef>
              <a:spcAft>
                <a:spcPts val="2000"/>
              </a:spcAft>
              <a:buNone/>
            </a:pPr>
            <a:r>
              <a:rPr lang="en-US" sz="4400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INDEPENDENCE</a:t>
            </a:r>
            <a:endParaRPr lang="en-US" sz="4400" dirty="0"/>
          </a:p>
          <a:p>
            <a:pPr algn="ctr" indent="0" marL="0">
              <a:spcBef>
                <a:spcPts val="2948"/>
              </a:spcBef>
              <a:spcAft>
                <a:spcPts val="2000"/>
              </a:spcAft>
              <a:buNone/>
            </a:pPr>
            <a:r>
              <a:rPr lang="en-US" sz="4400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3936950" y="3107085"/>
            <a:ext cx="1269950" cy="50750"/>
          </a:xfrm>
          <a:prstGeom prst="rect">
            <a:avLst/>
          </a:prstGeom>
          <a:solidFill>
            <a:srgbClr val="4299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076575" y="3792736"/>
            <a:ext cx="305066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1992"/>
              </a:spcAft>
              <a:buNone/>
            </a:pPr>
            <a:r>
              <a:rPr lang="en-US" sz="2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Back Your Power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804565"/>
            <a:ext cx="414533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44"/>
              </a:spcBef>
              <a:spcAft>
                <a:spcPts val="2000"/>
              </a:spcAft>
              <a:buNone/>
            </a:pPr>
            <a:r>
              <a:rPr lang="en-US" sz="3200" b="1" dirty="0">
                <a:solidFill>
                  <a:srgbClr val="63B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Are Here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7950" y="1807666"/>
            <a:ext cx="4145331" cy="122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mission is simple: To help homeowners transition from </a:t>
            </a:r>
            <a:pPr algn="l" indent="0" marL="0">
              <a:lnSpc>
                <a:spcPts val="32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renting</a:t>
            </a:r>
            <a:pPr algn="l" indent="0" marL="0">
              <a:lnSpc>
                <a:spcPts val="32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their power to </a:t>
            </a:r>
            <a:pPr algn="l" indent="0" marL="0">
              <a:lnSpc>
                <a:spcPts val="32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owning</a:t>
            </a:r>
            <a:pPr algn="l" indent="0" marL="0">
              <a:lnSpc>
                <a:spcPts val="32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3544342"/>
            <a:ext cx="4145331" cy="812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eco-friendly decision starts with a financially smart one.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950" y="0"/>
            <a:ext cx="4064050" cy="5143500"/>
          </a:xfrm>
          <a:prstGeom prst="rect">
            <a:avLst/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35688" y="2368451"/>
            <a:ext cx="359474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FC81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Discovery: Understanding Your Goals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1000125"/>
            <a:ext cx="8128099" cy="3251002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marL="254000" indent="-254000">
              <a:lnSpc>
                <a:spcPts val="2600"/>
              </a:lnSpc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you looked into going solar before?</a:t>
            </a:r>
            <a:endParaRPr lang="en-US" sz="2000" dirty="0"/>
          </a:p>
          <a:p>
            <a:pPr algn="l" marL="254000" indent="-254000">
              <a:lnSpc>
                <a:spcPts val="2600"/>
              </a:lnSpc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matters most to you right now? </a:t>
            </a:r>
            <a:endParaRPr lang="en-US" sz="2000" dirty="0"/>
          </a:p>
          <a:p>
            <a:pPr algn="l" marL="254000" indent="-254000">
              <a:lnSpc>
                <a:spcPts val="2600"/>
              </a:lnSpc>
              <a:spcAft>
                <a:spcPts val="2000"/>
              </a:spcAft>
              <a:buSzPct val="100000"/>
              <a:buChar char="•"/>
            </a:pPr>
            <a:endParaRPr lang="en-US" sz="2000" dirty="0"/>
          </a:p>
          <a:p>
            <a:pPr algn="l" marL="254000" indent="-254000">
              <a:lnSpc>
                <a:spcPts val="2600"/>
              </a:lnSpc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000" dirty="0"/>
          </a:p>
          <a:p>
            <a:pPr algn="l" indent="0" marL="0">
              <a:lnSpc>
                <a:spcPts val="2600"/>
              </a:lnSpc>
              <a:spcAft>
                <a:spcPts val="2000"/>
              </a:spcAft>
              <a:buNone/>
            </a:pPr>
            <a:r>
              <a:rPr lang="en-US" sz="2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Saving Money</a:t>
            </a:r>
            <a:pPr algn="l" indent="0" marL="0">
              <a:lnSpc>
                <a:spcPts val="2600"/>
              </a:lnSpc>
              <a:spcAft>
                <a:spcPts val="2000"/>
              </a:spcAft>
              <a:buNone/>
            </a:pPr>
            <a:r>
              <a:rPr lang="en-US" sz="2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600"/>
              </a:lnSpc>
              <a:spcAft>
                <a:spcPts val="2000"/>
              </a:spcAft>
              <a:buNone/>
            </a:pPr>
            <a:r>
              <a:rPr lang="en-US" sz="2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Rate Protection</a:t>
            </a:r>
            <a:pPr algn="l" indent="0" marL="0">
              <a:lnSpc>
                <a:spcPts val="2600"/>
              </a:lnSpc>
              <a:spcAft>
                <a:spcPts val="2000"/>
              </a:spcAft>
              <a:buNone/>
            </a:pPr>
            <a:r>
              <a:rPr lang="en-US" sz="2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600"/>
              </a:lnSpc>
              <a:spcAft>
                <a:spcPts val="2000"/>
              </a:spcAft>
              <a:buNone/>
            </a:pPr>
            <a:r>
              <a:rPr lang="en-US" sz="2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 Going Green</a:t>
            </a:r>
            <a:endParaRPr lang="en-US" sz="2000" dirty="0"/>
          </a:p>
          <a:p>
            <a:pPr algn="l" marL="254000" indent="-254000">
              <a:lnSpc>
                <a:spcPts val="2600"/>
              </a:lnSpc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anticipate your energy usage going up? (EV, Pool, AC)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639812"/>
            <a:ext cx="4145331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76"/>
              </a:spcBef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FC81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Traditional Energy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1979563"/>
            <a:ext cx="41453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in an </a:t>
            </a:r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infinite lease</a:t>
            </a:r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2751088"/>
            <a:ext cx="4145331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 rates have risen an average of </a:t>
            </a:r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 per year</a:t>
            </a:r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3865513"/>
            <a:ext cx="41453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pay for Generation, Transmission, and Distribution.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950" y="0"/>
            <a:ext cx="4064050" cy="5143500"/>
          </a:xfrm>
          <a:prstGeom prst="rect">
            <a:avLst/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32648" y="1981200"/>
            <a:ext cx="17585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4800" b="1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232648" y="2895600"/>
            <a:ext cx="17585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Rate Increase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606475"/>
            <a:ext cx="4145331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76"/>
              </a:spcBef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Solar Energy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1946225"/>
            <a:ext cx="41453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Simple. So Local.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2717750"/>
            <a:ext cx="41453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the inefficiencies of the grid.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3479750"/>
            <a:ext cx="41453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power right on your roof.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50" y="4241750"/>
            <a:ext cx="41453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liability into an asset.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79950" y="0"/>
            <a:ext cx="4064050" cy="5143500"/>
          </a:xfrm>
          <a:prstGeom prst="rect">
            <a:avLst/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68826" y="2159050"/>
            <a:ext cx="3555873" cy="1904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0"/>
              </a:lnSpc>
              <a:spcBef>
                <a:spcPts val="10000"/>
              </a:spcBef>
              <a:spcAft>
                <a:spcPts val="1500"/>
              </a:spcAft>
              <a:buNone/>
            </a:pPr>
            <a:r>
              <a:rPr lang="en-US" sz="10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🏡☀️</a:t>
            </a:r>
            <a:endParaRPr lang="en-US" sz="10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950119"/>
            <a:ext cx="3316325" cy="97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spcBef>
                <a:spcPts val="2144"/>
              </a:spcBef>
              <a:spcAft>
                <a:spcPts val="2000"/>
              </a:spcAft>
              <a:buNone/>
            </a:pPr>
            <a:r>
              <a:rPr lang="en-US" sz="3200" b="1" dirty="0">
                <a:solidFill>
                  <a:srgbClr val="FC81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Doing Nothing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7950" y="2408039"/>
            <a:ext cx="33163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 rates are historically rising at 4-6% per year.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3551039"/>
            <a:ext cx="33163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Doing nothing isn't free. It's the most expensive option.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267200" y="0"/>
            <a:ext cx="4876800" cy="5143500"/>
          </a:xfrm>
          <a:prstGeom prst="rect">
            <a:avLst/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C:\Users\12132\Desktop\Antigravity Solar Sales Trainer Agent\solar-trainer\presentation_gen\inflation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0980" y="666750"/>
            <a:ext cx="438909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1450"/>
            <a:ext cx="453713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3B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 Pillars of Ownership</a:t>
            </a:r>
            <a:endParaRPr lang="en-US" sz="2800" dirty="0"/>
          </a:p>
        </p:txBody>
      </p:sp>
      <p:pic>
        <p:nvPicPr>
          <p:cNvPr id="4" name="Image 0" descr="C:\Users\12132\Desktop\Antigravity Solar Sales Trainer Agent\solar-trainer\presentation_gen\three_reasons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052513"/>
            <a:ext cx="7620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663476"/>
            <a:ext cx="414533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44"/>
              </a:spcBef>
              <a:spcAft>
                <a:spcPts val="2000"/>
              </a:spcAft>
              <a:buNone/>
            </a:pPr>
            <a:r>
              <a:rPr lang="en-US" sz="3200" b="1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7950" y="1666577"/>
            <a:ext cx="4064050" cy="283190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36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Cost:</a:t>
            </a:r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Inflation Proof</a:t>
            </a:r>
            <a:endParaRPr lang="en-US" sz="2000" dirty="0"/>
          </a:p>
          <a:p>
            <a:pPr algn="l" marL="127000" indent="-127000">
              <a:lnSpc>
                <a:spcPts val="36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Equity:</a:t>
            </a:r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~4% Home Value Increase</a:t>
            </a:r>
            <a:endParaRPr lang="en-US" sz="2000" dirty="0"/>
          </a:p>
          <a:p>
            <a:pPr algn="l" marL="127000" indent="-127000">
              <a:lnSpc>
                <a:spcPts val="36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Incentives:</a:t>
            </a:r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30% Federal ITC</a:t>
            </a:r>
            <a:endParaRPr lang="en-US" sz="2000" dirty="0"/>
          </a:p>
          <a:p>
            <a:pPr algn="l" marL="127000" indent="-127000">
              <a:lnSpc>
                <a:spcPts val="36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Control:</a:t>
            </a:r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Own vs Rent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950" y="0"/>
            <a:ext cx="4064050" cy="5143500"/>
          </a:xfrm>
          <a:prstGeom prst="rect">
            <a:avLst/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C:\Users\12132\Desktop\Antigravity Solar Sales Trainer Agent\solar-trainer\presentation_gen\value_stack_pyram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3101" y="666750"/>
            <a:ext cx="36576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192113"/>
            <a:ext cx="42748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76"/>
              </a:spcBef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FC81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Questions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1988939"/>
            <a:ext cx="42748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What are the upfront costs?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2233315"/>
            <a:ext cx="427482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$0 Down. You only pay when the system is producing power.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2720727"/>
            <a:ext cx="42748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What if I sell my home?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1000" y="2965103"/>
            <a:ext cx="427482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Transfer the agreement OR pay it off to increase home equity.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3452515"/>
            <a:ext cx="42748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What about warranties?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1000" y="3696891"/>
            <a:ext cx="427482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25-Year Production, Workmanship, and Roof Penetration Warranty.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53000" y="0"/>
            <a:ext cx="4191000" cy="5143500"/>
          </a:xfrm>
          <a:prstGeom prst="rect">
            <a:avLst/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76963" y="1728788"/>
            <a:ext cx="1777937" cy="1685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0"/>
              </a:spcBef>
              <a:spcAft>
                <a:spcPts val="10000"/>
              </a:spcAft>
              <a:buNone/>
            </a:pPr>
            <a:r>
              <a:rPr lang="en-US" sz="1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❔</a:t>
            </a:r>
            <a:endParaRPr lang="en-US" sz="10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" y="381000"/>
            <a:ext cx="93268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spcAft>
                <a:spcPts val="3000"/>
              </a:spcAft>
              <a:buNone/>
            </a:pPr>
            <a:r>
              <a:rPr lang="en-US" sz="3200" b="1" dirty="0">
                <a:solidFill>
                  <a:srgbClr val="63B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Roadmap to Freedom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53901" y="1257300"/>
            <a:ext cx="1727299" cy="1450777"/>
          </a:xfrm>
          <a:prstGeom prst="roundRect">
            <a:avLst>
              <a:gd name="adj" fmla="val 7003"/>
            </a:avLst>
          </a:prstGeom>
          <a:solidFill>
            <a:srgbClr val="2D3748"/>
          </a:solidFill>
          <a:ln/>
          <a:effectLst>
            <a:outerShdw sx="100000" sy="100000" kx="0" ky="0" algn="bl" rotWithShape="0" blurRad="76200" dist="5080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63501" y="1447800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1A20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29962" y="1520726"/>
            <a:ext cx="17487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30938" y="2082701"/>
            <a:ext cx="13732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0938" y="2365177"/>
            <a:ext cx="1373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&amp; Usage Check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81200" y="1257300"/>
            <a:ext cx="1727150" cy="1450777"/>
          </a:xfrm>
          <a:prstGeom prst="roundRect">
            <a:avLst>
              <a:gd name="adj" fmla="val 7003"/>
            </a:avLst>
          </a:prstGeom>
          <a:solidFill>
            <a:srgbClr val="2D3748"/>
          </a:solidFill>
          <a:ln/>
          <a:effectLst>
            <a:outerShdw sx="100000" sy="100000" kx="0" ky="0" algn="bl" rotWithShape="0" blurRad="76200" dist="5080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90800" y="1447800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1A20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57261" y="1520726"/>
            <a:ext cx="17487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158238" y="2082701"/>
            <a:ext cx="137307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Survey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58238" y="2365177"/>
            <a:ext cx="13730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Roof Measurements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08350" y="1257300"/>
            <a:ext cx="1727299" cy="1450777"/>
          </a:xfrm>
          <a:prstGeom prst="roundRect">
            <a:avLst>
              <a:gd name="adj" fmla="val 7003"/>
            </a:avLst>
          </a:prstGeom>
          <a:solidFill>
            <a:srgbClr val="2D3748"/>
          </a:solidFill>
          <a:ln/>
          <a:effectLst>
            <a:outerShdw sx="100000" sy="100000" kx="0" ky="0" algn="bl" rotWithShape="0" blurRad="76200" dist="5080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17950" y="1447800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1A20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84412" y="1520726"/>
            <a:ext cx="17487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885387" y="2082701"/>
            <a:ext cx="13732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Permitting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85387" y="2365177"/>
            <a:ext cx="1373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Approval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35650" y="1257300"/>
            <a:ext cx="1727150" cy="1450777"/>
          </a:xfrm>
          <a:prstGeom prst="roundRect">
            <a:avLst>
              <a:gd name="adj" fmla="val 7003"/>
            </a:avLst>
          </a:prstGeom>
          <a:solidFill>
            <a:srgbClr val="2D3748"/>
          </a:solidFill>
          <a:ln/>
          <a:effectLst>
            <a:outerShdw sx="100000" sy="100000" kx="0" ky="0" algn="bl" rotWithShape="0" blurRad="76200" dist="5080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45250" y="1447800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1A20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11711" y="1520726"/>
            <a:ext cx="17487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612688" y="2082701"/>
            <a:ext cx="137307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12688" y="2365177"/>
            <a:ext cx="13730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Build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62800" y="1257300"/>
            <a:ext cx="1727299" cy="1450777"/>
          </a:xfrm>
          <a:prstGeom prst="roundRect">
            <a:avLst>
              <a:gd name="adj" fmla="val 7003"/>
            </a:avLst>
          </a:prstGeom>
          <a:solidFill>
            <a:srgbClr val="2D3748"/>
          </a:solidFill>
          <a:ln/>
          <a:effectLst>
            <a:outerShdw sx="100000" sy="100000" kx="0" ky="0" algn="bl" rotWithShape="0" blurRad="76200" dist="5080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772400" y="1447800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1A20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938861" y="1520726"/>
            <a:ext cx="17487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339837" y="2082701"/>
            <a:ext cx="13732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39837" y="2365177"/>
            <a:ext cx="1373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PTO &amp; Savings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3063" y="1367582"/>
            <a:ext cx="597503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12"/>
              </a:spcBef>
              <a:spcAft>
                <a:spcPts val="3000"/>
              </a:spcAft>
              <a:buNone/>
            </a:pPr>
            <a:r>
              <a:rPr lang="en-US" sz="3600" b="1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own your power?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662904" y="2605832"/>
            <a:ext cx="381819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3000"/>
              </a:spcAft>
              <a:buNone/>
            </a:pPr>
            <a:r>
              <a:rPr lang="en-US" sz="24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Renting. Start Owning.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679799" y="3339257"/>
            <a:ext cx="3784402" cy="742950"/>
          </a:xfrm>
          <a:prstGeom prst="roundRect">
            <a:avLst>
              <a:gd name="adj" fmla="val 85470"/>
            </a:avLst>
          </a:prstGeom>
          <a:solidFill>
            <a:srgbClr val="3182CE"/>
          </a:solidFill>
          <a:ln/>
          <a:effectLst>
            <a:outerShdw sx="100000" sy="100000" kx="0" ky="0" algn="bl" rotWithShape="0" blurRad="152400" dist="50800" dir="5400000">
              <a:srgbClr val="3182ce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89554" y="3529757"/>
            <a:ext cx="256489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if you qualify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In-Home Presentation</dc:title>
  <dc:subject>PptxGenJS Presentation</dc:subject>
  <dc:creator>Solar Sales Trainer</dc:creator>
  <cp:lastModifiedBy>Solar Sales Trainer</cp:lastModifiedBy>
  <cp:revision>1</cp:revision>
  <dcterms:created xsi:type="dcterms:W3CDTF">2026-02-02T00:11:54Z</dcterms:created>
  <dcterms:modified xsi:type="dcterms:W3CDTF">2026-02-02T00:11:54Z</dcterms:modified>
</cp:coreProperties>
</file>