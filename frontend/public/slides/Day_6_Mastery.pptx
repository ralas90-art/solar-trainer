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slideMasters/slideMaster61.xml" ContentType="application/vnd.openxmlformats-officedocument.presentationml.slideMaster+xml"/>
  <Override PartName="/ppt/slides/slide61.xml" ContentType="application/vnd.openxmlformats-officedocument.presentationml.slide+xml"/>
  <Override PartName="/ppt/slideMasters/slideMaster62.xml" ContentType="application/vnd.openxmlformats-officedocument.presentationml.slideMaster+xml"/>
  <Override PartName="/ppt/slides/slide62.xml" ContentType="application/vnd.openxmlformats-officedocument.presentationml.slide+xml"/>
  <Override PartName="/ppt/slideMasters/slideMaster63.xml" ContentType="application/vnd.openxmlformats-officedocument.presentationml.slideMaster+xml"/>
  <Override PartName="/ppt/slides/slide63.xml" ContentType="application/vnd.openxmlformats-officedocument.presentationml.slide+xml"/>
  <Override PartName="/ppt/slideMasters/slideMaster64.xml" ContentType="application/vnd.openxmlformats-officedocument.presentationml.slideMaster+xml"/>
  <Override PartName="/ppt/slides/slide64.xml" ContentType="application/vnd.openxmlformats-officedocument.presentationml.slide+xml"/>
  <Override PartName="/ppt/slideMasters/slideMaster65.xml" ContentType="application/vnd.openxmlformats-officedocument.presentationml.slideMaster+xml"/>
  <Override PartName="/ppt/slides/slide65.xml" ContentType="application/vnd.openxmlformats-officedocument.presentationml.slide+xml"/>
  <Override PartName="/ppt/slideMasters/slideMaster66.xml" ContentType="application/vnd.openxmlformats-officedocument.presentationml.slideMaster+xml"/>
  <Override PartName="/ppt/slides/slide66.xml" ContentType="application/vnd.openxmlformats-officedocument.presentationml.slide+xml"/>
  <Override PartName="/ppt/slideMasters/slideMaster67.xml" ContentType="application/vnd.openxmlformats-officedocument.presentationml.slideMaster+xml"/>
  <Override PartName="/ppt/slides/slide67.xml" ContentType="application/vnd.openxmlformats-officedocument.presentationml.slide+xml"/>
  <Override PartName="/ppt/slideMasters/slideMaster68.xml" ContentType="application/vnd.openxmlformats-officedocument.presentationml.slideMaster+xml"/>
  <Override PartName="/ppt/slides/slide68.xml" ContentType="application/vnd.openxmlformats-officedocument.presentationml.slide+xml"/>
  <Override PartName="/ppt/slideMasters/slideMaster69.xml" ContentType="application/vnd.openxmlformats-officedocument.presentationml.slideMaster+xml"/>
  <Override PartName="/ppt/slides/slide69.xml" ContentType="application/vnd.openxmlformats-officedocument.presentationml.slide+xml"/>
  <Override PartName="/ppt/slideMasters/slideMaster70.xml" ContentType="application/vnd.openxmlformats-officedocument.presentationml.slideMaster+xml"/>
  <Override PartName="/ppt/slides/slide70.xml" ContentType="application/vnd.openxmlformats-officedocument.presentationml.slide+xml"/>
  <Override PartName="/ppt/slideMasters/slideMaster71.xml" ContentType="application/vnd.openxmlformats-officedocument.presentationml.slideMaster+xml"/>
  <Override PartName="/ppt/slides/slide7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Lst>
  <p:notesMasterIdLst>
    <p:notesMasterId r:id="rId73"/>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70" Type="http://schemas.openxmlformats.org/officeDocument/2006/relationships/slide" Target="slides/slide69.xml"/><Relationship Id="rId71" Type="http://schemas.openxmlformats.org/officeDocument/2006/relationships/slide" Target="slides/slide70.xml"/><Relationship Id="rId72" Type="http://schemas.openxmlformats.org/officeDocument/2006/relationships/slide" Target="slides/slide71.xml"/><Relationship Id="rId73" Type="http://schemas.openxmlformats.org/officeDocument/2006/relationships/notesMaster" Target="notesMasters/notesMaster1.xml"/><Relationship Id="rId74" Type="http://schemas.openxmlformats.org/officeDocument/2006/relationships/presProps" Target="presProps.xml"/><Relationship Id="rId75" Type="http://schemas.openxmlformats.org/officeDocument/2006/relationships/viewProps" Target="viewProps.xml"/><Relationship Id="rId76" Type="http://schemas.openxmlformats.org/officeDocument/2006/relationships/theme" Target="theme/theme1.xml"/><Relationship Id="rId7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_rels/notesSlide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2.xml"/>
		</Relationships>
</file>

<file path=ppt/notesSlides/_rels/notesSlide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3.xml"/>
		</Relationships>
</file>

<file path=ppt/notesSlides/_rels/notesSlide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4.xml"/>
		</Relationships>
</file>

<file path=ppt/notesSlides/_rels/notesSlide6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5.xml"/>
		</Relationships>
</file>

<file path=ppt/notesSlides/_rels/notesSlide6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6.xml"/>
		</Relationships>
</file>

<file path=ppt/notesSlides/_rels/notesSlide6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7.xml"/>
		</Relationships>
</file>

<file path=ppt/notesSlides/_rels/notesSlide6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8.xml"/>
		</Relationships>
</file>

<file path=ppt/notesSlides/_rels/notesSlide6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9.xml"/>
		</Relationships>
</file>

<file path=ppt/notesSlides/_rels/notesSlide7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0.xml"/>
		</Relationships>
</file>

<file path=ppt/notesSlides/_rels/notesSlide7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1600200"/>
            <a:ext cx="9144000" cy="2011680"/>
          </a:xfrm>
          <a:prstGeom prst="rect">
            <a:avLst/>
          </a:prstGeom>
          <a:solidFill>
            <a:srgbClr val="1A2840"/>
          </a:solidFill>
          <a:ln w="12700">
            <a:solidFill>
              <a:srgbClr val="1A2840"/>
            </a:solidFill>
            <a:prstDash val="solid"/>
          </a:ln>
        </p:spPr>
      </p:sp>
      <p:sp>
        <p:nvSpPr>
          <p:cNvPr id="3" name="Shape 1"/>
          <p:cNvSpPr/>
          <p:nvPr/>
        </p:nvSpPr>
        <p:spPr>
          <a:xfrm>
            <a:off x="0" y="1600200"/>
            <a:ext cx="320040" cy="2011680"/>
          </a:xfrm>
          <a:prstGeom prst="rect">
            <a:avLst/>
          </a:prstGeom>
          <a:solidFill>
            <a:srgbClr val="F4A61D"/>
          </a:solidFill>
          <a:ln w="12700">
            <a:solidFill>
              <a:srgbClr val="F4A61D"/>
            </a:solidFill>
            <a:prstDash val="solid"/>
          </a:ln>
        </p:spPr>
      </p:sp>
      <p:sp>
        <p:nvSpPr>
          <p:cNvPr id="4" name="Text 2"/>
          <p:cNvSpPr/>
          <p:nvPr/>
        </p:nvSpPr>
        <p:spPr>
          <a:xfrm>
            <a:off x="548640" y="384048"/>
            <a:ext cx="8229600" cy="512064"/>
          </a:xfrm>
          <a:prstGeom prst="rect">
            <a:avLst/>
          </a:prstGeom>
          <a:noFill/>
          <a:ln/>
        </p:spPr>
        <p:txBody>
          <a:bodyPr wrap="square" lIns="0" tIns="0" rIns="0" bIns="0" rtlCol="0" anchor="ctr"/>
          <a:lstStyle/>
          <a:p>
            <a:pPr algn="l" indent="0" marL="0">
              <a:buNone/>
            </a:pPr>
            <a:r>
              <a:rPr lang="en-US" sz="1300" b="1" spc="500" kern="0" dirty="0">
                <a:solidFill>
                  <a:srgbClr val="F4A61D"/>
                </a:solidFill>
                <a:latin typeface="Arial Black" pitchFamily="34" charset="0"/>
                <a:ea typeface="Arial Black" pitchFamily="34" charset="-122"/>
                <a:cs typeface="Arial Black" pitchFamily="34" charset="-120"/>
              </a:rPr>
              <a:t>SOLAR ACCELERATOR</a:t>
            </a:r>
            <a:endParaRPr lang="en-US" sz="1300" dirty="0"/>
          </a:p>
        </p:txBody>
      </p:sp>
      <p:sp>
        <p:nvSpPr>
          <p:cNvPr id="5" name="Text 3"/>
          <p:cNvSpPr/>
          <p:nvPr/>
        </p:nvSpPr>
        <p:spPr>
          <a:xfrm>
            <a:off x="548640" y="868680"/>
            <a:ext cx="8229600" cy="804672"/>
          </a:xfrm>
          <a:prstGeom prst="rect">
            <a:avLst/>
          </a:prstGeom>
          <a:noFill/>
          <a:ln/>
        </p:spPr>
        <p:txBody>
          <a:bodyPr wrap="square" lIns="0" tIns="0" rIns="0" bIns="0" rtlCol="0" anchor="ctr"/>
          <a:lstStyle/>
          <a:p>
            <a:pPr algn="l" indent="0" marL="0">
              <a:buNone/>
            </a:pPr>
            <a:r>
              <a:rPr lang="en-US" sz="1700" dirty="0">
                <a:solidFill>
                  <a:srgbClr val="8FA3B1"/>
                </a:solidFill>
                <a:latin typeface="Calibri" pitchFamily="34" charset="0"/>
                <a:ea typeface="Calibri" pitchFamily="34" charset="-122"/>
                <a:cs typeface="Calibri" pitchFamily="34" charset="-120"/>
              </a:rPr>
              <a:t>7-Day Sales Rep</a:t>
            </a:r>
            <a:endParaRPr lang="en-US" sz="1700" dirty="0"/>
          </a:p>
          <a:p>
            <a:pPr algn="l" indent="0" marL="0">
              <a:buNone/>
            </a:pPr>
            <a:r>
              <a:rPr lang="en-US" sz="1700" dirty="0">
                <a:solidFill>
                  <a:srgbClr val="8FA3B1"/>
                </a:solidFill>
                <a:latin typeface="Calibri" pitchFamily="34" charset="0"/>
                <a:ea typeface="Calibri" pitchFamily="34" charset="-122"/>
                <a:cs typeface="Calibri" pitchFamily="34" charset="-120"/>
              </a:rPr>
              <a:t>Certification Program</a:t>
            </a:r>
            <a:endParaRPr lang="en-US" sz="1700" dirty="0"/>
          </a:p>
        </p:txBody>
      </p:sp>
      <p:sp>
        <p:nvSpPr>
          <p:cNvPr id="6" name="Text 4"/>
          <p:cNvSpPr/>
          <p:nvPr/>
        </p:nvSpPr>
        <p:spPr>
          <a:xfrm>
            <a:off x="548640" y="1691640"/>
            <a:ext cx="2743200" cy="640080"/>
          </a:xfrm>
          <a:prstGeom prst="rect">
            <a:avLst/>
          </a:prstGeom>
          <a:noFill/>
          <a:ln/>
        </p:spPr>
        <p:txBody>
          <a:bodyPr wrap="square" lIns="0" tIns="0" rIns="0" bIns="0" rtlCol="0" anchor="ctr"/>
          <a:lstStyle/>
          <a:p>
            <a:pPr algn="l" indent="0" marL="0">
              <a:buNone/>
            </a:pPr>
            <a:r>
              <a:rPr lang="en-US" sz="3800" b="1" dirty="0">
                <a:solidFill>
                  <a:srgbClr val="FFFFFF"/>
                </a:solidFill>
                <a:latin typeface="Arial Black" pitchFamily="34" charset="0"/>
                <a:ea typeface="Arial Black" pitchFamily="34" charset="-122"/>
                <a:cs typeface="Arial Black" pitchFamily="34" charset="-120"/>
              </a:rPr>
              <a:t>DAY 6</a:t>
            </a:r>
            <a:endParaRPr lang="en-US" sz="3800" dirty="0"/>
          </a:p>
        </p:txBody>
      </p:sp>
      <p:sp>
        <p:nvSpPr>
          <p:cNvPr id="7" name="Text 5"/>
          <p:cNvSpPr/>
          <p:nvPr/>
        </p:nvSpPr>
        <p:spPr>
          <a:xfrm>
            <a:off x="548640" y="2377440"/>
            <a:ext cx="8229600" cy="502920"/>
          </a:xfrm>
          <a:prstGeom prst="rect">
            <a:avLst/>
          </a:prstGeom>
          <a:noFill/>
          <a:ln/>
        </p:spPr>
        <p:txBody>
          <a:bodyPr wrap="square" lIns="0" tIns="0" rIns="0" bIns="0" rtlCol="0" anchor="ctr"/>
          <a:lstStyle/>
          <a:p>
            <a:pPr algn="l" indent="0" marL="0">
              <a:buNone/>
            </a:pPr>
            <a:r>
              <a:rPr lang="en-US" sz="2000" i="1" dirty="0">
                <a:solidFill>
                  <a:srgbClr val="F4A61D"/>
                </a:solidFill>
                <a:latin typeface="Calibri" pitchFamily="34" charset="0"/>
                <a:ea typeface="Calibri" pitchFamily="34" charset="-122"/>
                <a:cs typeface="Calibri" pitchFamily="34" charset="-120"/>
              </a:rPr>
              <a:t>Advanced Objection Mastery &amp; Deal Rescue</a:t>
            </a:r>
            <a:endParaRPr lang="en-US" sz="2000" dirty="0"/>
          </a:p>
        </p:txBody>
      </p:sp>
      <p:sp>
        <p:nvSpPr>
          <p:cNvPr id="8" name="Text 6"/>
          <p:cNvSpPr/>
          <p:nvPr/>
        </p:nvSpPr>
        <p:spPr>
          <a:xfrm>
            <a:off x="548640" y="2944368"/>
            <a:ext cx="8229600" cy="347472"/>
          </a:xfrm>
          <a:prstGeom prst="rect">
            <a:avLst/>
          </a:prstGeom>
          <a:noFill/>
          <a:ln/>
        </p:spPr>
        <p:txBody>
          <a:bodyPr wrap="square" lIns="0" tIns="0" rIns="0" bIns="0" rtlCol="0" anchor="ctr"/>
          <a:lstStyle/>
          <a:p>
            <a:pPr algn="l" indent="0" marL="0">
              <a:buNone/>
            </a:pPr>
            <a:r>
              <a:rPr lang="en-US" sz="1000" dirty="0">
                <a:solidFill>
                  <a:srgbClr val="A0AEC0"/>
                </a:solidFill>
                <a:latin typeface="Calibri" pitchFamily="34" charset="0"/>
                <a:ea typeface="Calibri" pitchFamily="34" charset="-122"/>
                <a:cs typeface="Calibri" pitchFamily="34" charset="-120"/>
              </a:rPr>
              <a:t>Modules 6.1–6.10  ·  Anatomy of Resistance · ACAC · Smoke Screens · Deal Rescue · Hostile Homeowners · Certification</a:t>
            </a:r>
            <a:endParaRPr lang="en-US" sz="1000" dirty="0"/>
          </a:p>
        </p:txBody>
      </p:sp>
      <p:sp>
        <p:nvSpPr>
          <p:cNvPr id="9" name="Shape 7"/>
          <p:cNvSpPr/>
          <p:nvPr/>
        </p:nvSpPr>
        <p:spPr>
          <a:xfrm>
            <a:off x="0" y="4498848"/>
            <a:ext cx="9144000" cy="644652"/>
          </a:xfrm>
          <a:prstGeom prst="rect">
            <a:avLst/>
          </a:prstGeom>
          <a:solidFill>
            <a:srgbClr val="F4A61D"/>
          </a:solidFill>
          <a:ln w="12700">
            <a:solidFill>
              <a:srgbClr val="F4A61D"/>
            </a:solidFill>
            <a:prstDash val="solid"/>
          </a:ln>
        </p:spPr>
      </p:sp>
      <p:sp>
        <p:nvSpPr>
          <p:cNvPr id="10" name="Text 8"/>
          <p:cNvSpPr/>
          <p:nvPr/>
        </p:nvSpPr>
        <p:spPr>
          <a:xfrm>
            <a:off x="457200" y="4517136"/>
            <a:ext cx="8229600" cy="608076"/>
          </a:xfrm>
          <a:prstGeom prst="rect">
            <a:avLst/>
          </a:prstGeom>
          <a:noFill/>
          <a:ln/>
        </p:spPr>
        <p:txBody>
          <a:bodyPr wrap="square" lIns="0" tIns="0" rIns="0" bIns="0" rtlCol="0" anchor="ctr"/>
          <a:lstStyle/>
          <a:p>
            <a:pPr algn="ctr" indent="0" marL="0">
              <a:buNone/>
            </a:pPr>
            <a:r>
              <a:rPr lang="en-US" sz="1400" b="1" dirty="0">
                <a:solidFill>
                  <a:srgbClr val="0D1B2A"/>
                </a:solidFill>
                <a:latin typeface="Arial Black" pitchFamily="34" charset="0"/>
                <a:ea typeface="Arial Black" pitchFamily="34" charset="-122"/>
                <a:cs typeface="Arial Black" pitchFamily="34" charset="-120"/>
              </a:rPr>
              <a:t>Deconstruct Every Objection. Rescue Every Deal. Become the Master of Resistance.</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9144000" cy="1691640"/>
          </a:xfrm>
          <a:prstGeom prst="rect">
            <a:avLst/>
          </a:prstGeom>
          <a:solidFill>
            <a:srgbClr val="F4A61D"/>
          </a:solidFill>
          <a:ln w="12700">
            <a:solidFill>
              <a:srgbClr val="F4A61D"/>
            </a:solidFill>
            <a:prstDash val="solid"/>
          </a:ln>
        </p:spPr>
      </p:sp>
      <p:sp>
        <p:nvSpPr>
          <p:cNvPr id="3" name="Text 1"/>
          <p:cNvSpPr/>
          <p:nvPr/>
        </p:nvSpPr>
        <p:spPr>
          <a:xfrm>
            <a:off x="365760" y="137160"/>
            <a:ext cx="8412480" cy="420624"/>
          </a:xfrm>
          <a:prstGeom prst="rect">
            <a:avLst/>
          </a:prstGeom>
          <a:noFill/>
          <a:ln/>
        </p:spPr>
        <p:txBody>
          <a:bodyPr wrap="square" lIns="0" tIns="0" rIns="0" bIns="0" rtlCol="0" anchor="ctr"/>
          <a:lstStyle/>
          <a:p>
            <a:pPr algn="l" indent="0" marL="0">
              <a:buNone/>
            </a:pPr>
            <a:r>
              <a:rPr lang="en-US" sz="1300" b="1" spc="400" kern="0" dirty="0">
                <a:solidFill>
                  <a:srgbClr val="0D1B2A"/>
                </a:solidFill>
                <a:latin typeface="Arial Black" pitchFamily="34" charset="0"/>
                <a:ea typeface="Arial Black" pitchFamily="34" charset="-122"/>
                <a:cs typeface="Arial Black" pitchFamily="34" charset="-120"/>
              </a:rPr>
              <a:t>MODULE 6.1</a:t>
            </a:r>
            <a:endParaRPr lang="en-US" sz="1300" dirty="0"/>
          </a:p>
        </p:txBody>
      </p:sp>
      <p:sp>
        <p:nvSpPr>
          <p:cNvPr id="4" name="Text 2"/>
          <p:cNvSpPr/>
          <p:nvPr/>
        </p:nvSpPr>
        <p:spPr>
          <a:xfrm>
            <a:off x="365760" y="530352"/>
            <a:ext cx="8412480" cy="1005840"/>
          </a:xfrm>
          <a:prstGeom prst="rect">
            <a:avLst/>
          </a:prstGeom>
          <a:noFill/>
          <a:ln/>
        </p:spPr>
        <p:txBody>
          <a:bodyPr wrap="square" lIns="0" tIns="0" rIns="0" bIns="0" rtlCol="0" anchor="ctr"/>
          <a:lstStyle/>
          <a:p>
            <a:pPr algn="l" indent="0" marL="0">
              <a:buNone/>
            </a:pPr>
            <a:r>
              <a:rPr lang="en-US" sz="2500" b="1" dirty="0">
                <a:solidFill>
                  <a:srgbClr val="0D1B2A"/>
                </a:solidFill>
                <a:latin typeface="Arial Black" pitchFamily="34" charset="0"/>
                <a:ea typeface="Arial Black" pitchFamily="34" charset="-122"/>
                <a:cs typeface="Arial Black" pitchFamily="34" charset="-120"/>
              </a:rPr>
              <a:t>The Anatomy of Resistance: Why They Say 'No'</a:t>
            </a:r>
            <a:endParaRPr lang="en-US" sz="2500" dirty="0"/>
          </a:p>
        </p:txBody>
      </p:sp>
      <p:sp>
        <p:nvSpPr>
          <p:cNvPr id="5" name="Text 3"/>
          <p:cNvSpPr/>
          <p:nvPr/>
        </p:nvSpPr>
        <p:spPr>
          <a:xfrm>
            <a:off x="365760" y="1920240"/>
            <a:ext cx="8412480" cy="502920"/>
          </a:xfrm>
          <a:prstGeom prst="rect">
            <a:avLst/>
          </a:prstGeom>
          <a:noFill/>
          <a:ln/>
        </p:spPr>
        <p:txBody>
          <a:bodyPr wrap="square" lIns="0" tIns="0" rIns="0" bIns="0" rtlCol="0" anchor="ctr"/>
          <a:lstStyle/>
          <a:p>
            <a:pPr algn="l" indent="0" marL="0">
              <a:buNone/>
            </a:pPr>
            <a:r>
              <a:rPr lang="en-US" sz="1500" b="1" i="1" dirty="0">
                <a:solidFill>
                  <a:srgbClr val="F4A61D"/>
                </a:solidFill>
                <a:latin typeface="Calibri" pitchFamily="34" charset="0"/>
                <a:ea typeface="Calibri" pitchFamily="34" charset="-122"/>
                <a:cs typeface="Calibri" pitchFamily="34" charset="-120"/>
              </a:rPr>
              <a:t>The Neurobiology of Sales Resistance — and How to Defuse It</a:t>
            </a:r>
            <a:endParaRPr lang="en-US" sz="1500" dirty="0"/>
          </a:p>
        </p:txBody>
      </p:sp>
      <p:sp>
        <p:nvSpPr>
          <p:cNvPr id="6" name="Shape 4"/>
          <p:cNvSpPr/>
          <p:nvPr/>
        </p:nvSpPr>
        <p:spPr>
          <a:xfrm>
            <a:off x="365760" y="2606040"/>
            <a:ext cx="164592" cy="164592"/>
          </a:xfrm>
          <a:prstGeom prst="ellipse">
            <a:avLst/>
          </a:prstGeom>
          <a:solidFill>
            <a:srgbClr val="F4A61D">
              <a:alpha val="40000"/>
            </a:srgbClr>
          </a:solidFill>
          <a:ln w="12700">
            <a:solidFill>
              <a:srgbClr val="F4A61D">
                <a:alpha val="40000"/>
              </a:srgbClr>
            </a:solidFill>
            <a:prstDash val="solid"/>
          </a:ln>
        </p:spPr>
      </p:sp>
      <p:sp>
        <p:nvSpPr>
          <p:cNvPr id="7" name="Shape 5"/>
          <p:cNvSpPr/>
          <p:nvPr/>
        </p:nvSpPr>
        <p:spPr>
          <a:xfrm>
            <a:off x="685800" y="2606040"/>
            <a:ext cx="164592" cy="164592"/>
          </a:xfrm>
          <a:prstGeom prst="ellipse">
            <a:avLst/>
          </a:prstGeom>
          <a:solidFill>
            <a:srgbClr val="F4A61D">
              <a:alpha val="40000"/>
            </a:srgbClr>
          </a:solidFill>
          <a:ln w="12700">
            <a:solidFill>
              <a:srgbClr val="F4A61D">
                <a:alpha val="40000"/>
              </a:srgbClr>
            </a:solidFill>
            <a:prstDash val="solid"/>
          </a:ln>
        </p:spPr>
      </p:sp>
      <p:sp>
        <p:nvSpPr>
          <p:cNvPr id="8" name="Shape 6"/>
          <p:cNvSpPr/>
          <p:nvPr/>
        </p:nvSpPr>
        <p:spPr>
          <a:xfrm>
            <a:off x="1005840" y="2606040"/>
            <a:ext cx="164592" cy="164592"/>
          </a:xfrm>
          <a:prstGeom prst="ellipse">
            <a:avLst/>
          </a:prstGeom>
          <a:solidFill>
            <a:srgbClr val="F4A61D">
              <a:alpha val="40000"/>
            </a:srgbClr>
          </a:solidFill>
          <a:ln w="12700">
            <a:solidFill>
              <a:srgbClr val="F4A61D">
                <a:alpha val="40000"/>
              </a:srgbClr>
            </a:solidFill>
            <a:prstDash val="solid"/>
          </a:ln>
        </p:spPr>
      </p:sp>
      <p:sp>
        <p:nvSpPr>
          <p:cNvPr id="9" name="Shape 7"/>
          <p:cNvSpPr/>
          <p:nvPr/>
        </p:nvSpPr>
        <p:spPr>
          <a:xfrm>
            <a:off x="1325880" y="2606040"/>
            <a:ext cx="164592" cy="164592"/>
          </a:xfrm>
          <a:prstGeom prst="ellipse">
            <a:avLst/>
          </a:prstGeom>
          <a:solidFill>
            <a:srgbClr val="F4A61D">
              <a:alpha val="40000"/>
            </a:srgbClr>
          </a:solidFill>
          <a:ln w="12700">
            <a:solidFill>
              <a:srgbClr val="F4A61D">
                <a:alpha val="40000"/>
              </a:srgbClr>
            </a:solidFill>
            <a:prstDash val="solid"/>
          </a:ln>
        </p:spPr>
      </p:sp>
      <p:sp>
        <p:nvSpPr>
          <p:cNvPr id="10" name="Shape 8"/>
          <p:cNvSpPr/>
          <p:nvPr/>
        </p:nvSpPr>
        <p:spPr>
          <a:xfrm>
            <a:off x="1645920" y="2606040"/>
            <a:ext cx="164592" cy="164592"/>
          </a:xfrm>
          <a:prstGeom prst="ellipse">
            <a:avLst/>
          </a:prstGeom>
          <a:solidFill>
            <a:srgbClr val="F4A61D">
              <a:alpha val="40000"/>
            </a:srgbClr>
          </a:solidFill>
          <a:ln w="12700">
            <a:solidFill>
              <a:srgbClr val="F4A61D">
                <a:alpha val="40000"/>
              </a:srgbClr>
            </a:solidFill>
            <a:prstDash val="solid"/>
          </a:ln>
        </p:spPr>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4480560"/>
            <a:ext cx="9144000" cy="662940"/>
          </a:xfrm>
          <a:prstGeom prst="rect">
            <a:avLst/>
          </a:prstGeom>
          <a:solidFill>
            <a:srgbClr val="F4A61D"/>
          </a:solidFill>
          <a:ln w="12700">
            <a:solidFill>
              <a:srgbClr val="F4A61D"/>
            </a:solidFill>
            <a:prstDash val="solid"/>
          </a:ln>
        </p:spPr>
      </p:sp>
      <p:sp>
        <p:nvSpPr>
          <p:cNvPr id="3" name="Text 1"/>
          <p:cNvSpPr/>
          <p:nvPr/>
        </p:nvSpPr>
        <p:spPr>
          <a:xfrm>
            <a:off x="457200" y="1097280"/>
            <a:ext cx="8229600" cy="457200"/>
          </a:xfrm>
          <a:prstGeom prst="rect">
            <a:avLst/>
          </a:prstGeom>
          <a:noFill/>
          <a:ln/>
        </p:spPr>
        <p:txBody>
          <a:bodyPr wrap="square" lIns="0" tIns="0" rIns="0" bIns="0" rtlCol="0" anchor="ctr"/>
          <a:lstStyle/>
          <a:p>
            <a:pPr algn="l" indent="0" marL="0">
              <a:buNone/>
            </a:pPr>
            <a:r>
              <a:rPr lang="en-US" sz="1200" b="1" spc="500" kern="0" dirty="0">
                <a:solidFill>
                  <a:srgbClr val="F4A61D"/>
                </a:solidFill>
                <a:latin typeface="Arial" pitchFamily="34" charset="0"/>
                <a:ea typeface="Arial" pitchFamily="34" charset="-122"/>
                <a:cs typeface="Arial" pitchFamily="34" charset="-120"/>
              </a:rPr>
              <a:t>MODULE 6.1 — ANATOMY OF RESISTANCE</a:t>
            </a:r>
            <a:endParaRPr lang="en-US" sz="1200" dirty="0"/>
          </a:p>
        </p:txBody>
      </p:sp>
      <p:sp>
        <p:nvSpPr>
          <p:cNvPr id="4" name="Text 2"/>
          <p:cNvSpPr/>
          <p:nvPr/>
        </p:nvSpPr>
        <p:spPr>
          <a:xfrm>
            <a:off x="457200" y="1536192"/>
            <a:ext cx="7772400" cy="1325880"/>
          </a:xfrm>
          <a:prstGeom prst="rect">
            <a:avLst/>
          </a:prstGeom>
          <a:noFill/>
          <a:ln/>
        </p:spPr>
        <p:txBody>
          <a:bodyPr wrap="square" lIns="0" tIns="0" rIns="0" bIns="0" rtlCol="0" anchor="ctr"/>
          <a:lstStyle/>
          <a:p>
            <a:pPr algn="l" indent="0" marL="0">
              <a:buNone/>
            </a:pPr>
            <a:r>
              <a:rPr lang="en-US" sz="3100" b="1" dirty="0">
                <a:solidFill>
                  <a:srgbClr val="FFFFFF"/>
                </a:solidFill>
                <a:latin typeface="Arial Black" pitchFamily="34" charset="0"/>
                <a:ea typeface="Arial Black" pitchFamily="34" charset="-122"/>
                <a:cs typeface="Arial Black" pitchFamily="34" charset="-120"/>
              </a:rPr>
              <a:t>It's Not Personal. It's Neurological.</a:t>
            </a:r>
            <a:endParaRPr lang="en-US" sz="3100" dirty="0"/>
          </a:p>
        </p:txBody>
      </p:sp>
      <p:sp>
        <p:nvSpPr>
          <p:cNvPr id="5" name="Text 3"/>
          <p:cNvSpPr/>
          <p:nvPr/>
        </p:nvSpPr>
        <p:spPr>
          <a:xfrm>
            <a:off x="457200" y="2971800"/>
            <a:ext cx="7772400" cy="1371600"/>
          </a:xfrm>
          <a:prstGeom prst="rect">
            <a:avLst/>
          </a:prstGeom>
          <a:noFill/>
          <a:ln/>
        </p:spPr>
        <p:txBody>
          <a:bodyPr wrap="square" lIns="0" tIns="0" rIns="0" bIns="0" rtlCol="0" anchor="ctr"/>
          <a:lstStyle/>
          <a:p>
            <a:pPr marL="342900" indent="-342900">
              <a:buSzPct val="100000"/>
              <a:buFont typeface="+mj-lt"/>
              <a:buAutoNum type="arabicPeriod" startAt="1"/>
            </a:pPr>
            <a:r>
              <a:rPr lang="en-US" sz="1300" dirty="0">
                <a:solidFill>
                  <a:srgbClr val="8FA3B1"/>
                </a:solidFill>
                <a:latin typeface="Calibri" pitchFamily="34" charset="0"/>
                <a:ea typeface="Calibri" pitchFamily="34" charset="-122"/>
                <a:cs typeface="Calibri" pitchFamily="34" charset="-120"/>
              </a:rPr>
              <a:t>The Amygdala Hijack: when the lizard brain overrides the logical brain</a:t>
            </a:r>
            <a:endParaRPr lang="en-US" sz="1300" dirty="0"/>
          </a:p>
          <a:p>
            <a:pPr marL="342900" indent="-342900">
              <a:buSzPct val="100000"/>
              <a:buFont typeface="+mj-lt"/>
              <a:buAutoNum type="arabicPeriod" startAt="1"/>
            </a:pPr>
            <a:r>
              <a:rPr lang="en-US" sz="1300" dirty="0">
                <a:solidFill>
                  <a:srgbClr val="8FA3B1"/>
                </a:solidFill>
                <a:latin typeface="Calibri" pitchFamily="34" charset="0"/>
                <a:ea typeface="Calibri" pitchFamily="34" charset="-122"/>
                <a:cs typeface="Calibri" pitchFamily="34" charset="-120"/>
              </a:rPr>
              <a:t>Fear of Regret (FOR): the most powerful objection in solar isn't price</a:t>
            </a:r>
            <a:endParaRPr lang="en-US" sz="1300" dirty="0"/>
          </a:p>
          <a:p>
            <a:pPr marL="342900" indent="-342900">
              <a:buSzPct val="100000"/>
              <a:buFont typeface="+mj-lt"/>
              <a:buAutoNum type="arabicPeriod" startAt="1"/>
            </a:pPr>
            <a:r>
              <a:rPr lang="en-US" sz="1300" dirty="0">
                <a:solidFill>
                  <a:srgbClr val="8FA3B1"/>
                </a:solidFill>
                <a:latin typeface="Calibri" pitchFamily="34" charset="0"/>
                <a:ea typeface="Calibri" pitchFamily="34" charset="-122"/>
                <a:cs typeface="Calibri" pitchFamily="34" charset="-120"/>
              </a:rPr>
              <a:t>Contractor Trauma: how past horror stories contaminate the current consultation</a:t>
            </a:r>
            <a:endParaRPr lang="en-US" sz="1300" dirty="0"/>
          </a:p>
          <a:p>
            <a:pPr marL="342900" indent="-342900">
              <a:buSzPct val="100000"/>
              <a:buFont typeface="+mj-lt"/>
              <a:buAutoNum type="arabicPeriod" startAt="1"/>
            </a:pPr>
            <a:r>
              <a:rPr lang="en-US" sz="1300" dirty="0">
                <a:solidFill>
                  <a:srgbClr val="8FA3B1"/>
                </a:solidFill>
                <a:latin typeface="Calibri" pitchFamily="34" charset="0"/>
                <a:ea typeface="Calibri" pitchFamily="34" charset="-122"/>
                <a:cs typeface="Calibri" pitchFamily="34" charset="-120"/>
              </a:rPr>
              <a:t>Safety Framing: making homeowners feel safe enough to tell you the truth</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F4A61D"/>
          </a:solidFill>
          <a:ln w="12700">
            <a:solidFill>
              <a:srgbClr val="F4A61D"/>
            </a:solidFill>
            <a:prstDash val="solid"/>
          </a:ln>
        </p:spPr>
      </p:sp>
      <p:sp>
        <p:nvSpPr>
          <p:cNvPr id="3" name="Text 1"/>
          <p:cNvSpPr/>
          <p:nvPr/>
        </p:nvSpPr>
        <p:spPr>
          <a:xfrm>
            <a:off x="274320" y="164592"/>
            <a:ext cx="8503920" cy="594360"/>
          </a:xfrm>
          <a:prstGeom prst="rect">
            <a:avLst/>
          </a:prstGeom>
          <a:noFill/>
          <a:ln/>
        </p:spPr>
        <p:txBody>
          <a:bodyPr wrap="square" lIns="0" tIns="0" rIns="0" bIns="0" rtlCol="0" anchor="ctr"/>
          <a:lstStyle/>
          <a:p>
            <a:pPr algn="l" indent="0" marL="0">
              <a:buNone/>
            </a:pPr>
            <a:r>
              <a:rPr lang="en-US" sz="2000" b="1" dirty="0">
                <a:solidFill>
                  <a:srgbClr val="F4A61D"/>
                </a:solidFill>
                <a:latin typeface="Arial Black" pitchFamily="34" charset="0"/>
                <a:ea typeface="Arial Black" pitchFamily="34" charset="-122"/>
                <a:cs typeface="Arial Black" pitchFamily="34" charset="-120"/>
              </a:rPr>
              <a:t>The Amygdala Hijack: When the Lizard Brain Takes Over</a:t>
            </a:r>
            <a:endParaRPr lang="en-US" sz="2000" dirty="0"/>
          </a:p>
        </p:txBody>
      </p:sp>
      <p:sp>
        <p:nvSpPr>
          <p:cNvPr id="4" name="Shape 2"/>
          <p:cNvSpPr/>
          <p:nvPr/>
        </p:nvSpPr>
        <p:spPr>
          <a:xfrm>
            <a:off x="274320" y="777240"/>
            <a:ext cx="8503920" cy="27432"/>
          </a:xfrm>
          <a:prstGeom prst="rect">
            <a:avLst/>
          </a:prstGeom>
          <a:solidFill>
            <a:srgbClr val="F4A61D">
              <a:alpha val="40000"/>
            </a:srgbClr>
          </a:solidFill>
          <a:ln w="12700">
            <a:solidFill>
              <a:srgbClr val="F4A61D">
                <a:alpha val="40000"/>
              </a:srgbClr>
            </a:solidFill>
            <a:prstDash val="solid"/>
          </a:ln>
        </p:spPr>
      </p:sp>
      <p:sp>
        <p:nvSpPr>
          <p:cNvPr id="5" name="Text 3"/>
          <p:cNvSpPr/>
          <p:nvPr/>
        </p:nvSpPr>
        <p:spPr>
          <a:xfrm>
            <a:off x="274320" y="914400"/>
            <a:ext cx="8503920" cy="2267712"/>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rgbClr val="FFFFFF"/>
                </a:solidFill>
                <a:latin typeface="Calibri" pitchFamily="34" charset="0"/>
                <a:ea typeface="Calibri" pitchFamily="34" charset="-122"/>
                <a:cs typeface="Calibri" pitchFamily="34" charset="-120"/>
              </a:rPr>
              <a:t>When a homeowner sees a $40,000+ proposal, the brain's threat-detection system fires — this is biological, not personal</a:t>
            </a:r>
            <a:endParaRPr lang="en-US" sz="1300" dirty="0"/>
          </a:p>
          <a:p>
            <a:pPr marL="342900" indent="-342900">
              <a:spcAft>
                <a:spcPts val="600"/>
              </a:spcAft>
              <a:buSzPct val="100000"/>
              <a:buChar char="•"/>
            </a:pPr>
            <a:r>
              <a:rPr lang="en-US" sz="1300" dirty="0">
                <a:solidFill>
                  <a:srgbClr val="FFFFFF"/>
                </a:solidFill>
                <a:latin typeface="Calibri" pitchFamily="34" charset="0"/>
                <a:ea typeface="Calibri" pitchFamily="34" charset="-122"/>
                <a:cs typeface="Calibri" pitchFamily="34" charset="-120"/>
              </a:rPr>
              <a:t>Signs of the Hijack: crossed arms, shortened breath, backward lean, one-word answers, sudden 'bathroom break'</a:t>
            </a:r>
            <a:endParaRPr lang="en-US" sz="1300" dirty="0"/>
          </a:p>
          <a:p>
            <a:pPr marL="342900" indent="-342900">
              <a:spcAft>
                <a:spcPts val="600"/>
              </a:spcAft>
              <a:buSzPct val="100000"/>
              <a:buChar char="•"/>
            </a:pPr>
            <a:r>
              <a:rPr lang="en-US" sz="1300" dirty="0">
                <a:solidFill>
                  <a:srgbClr val="FFFFFF"/>
                </a:solidFill>
                <a:latin typeface="Calibri" pitchFamily="34" charset="0"/>
                <a:ea typeface="Calibri" pitchFamily="34" charset="-122"/>
                <a:cs typeface="Calibri" pitchFamily="34" charset="-120"/>
              </a:rPr>
              <a:t>The Hijack is a response to perceived RISK — not to solar, not to you, not to the price</a:t>
            </a:r>
            <a:endParaRPr lang="en-US" sz="1300" dirty="0"/>
          </a:p>
          <a:p>
            <a:pPr marL="342900" indent="-342900">
              <a:spcAft>
                <a:spcPts val="600"/>
              </a:spcAft>
              <a:buSzPct val="100000"/>
              <a:buChar char="•"/>
            </a:pPr>
            <a:r>
              <a:rPr lang="en-US" sz="1300" dirty="0">
                <a:solidFill>
                  <a:srgbClr val="FFFFFF"/>
                </a:solidFill>
                <a:latin typeface="Calibri" pitchFamily="34" charset="0"/>
                <a:ea typeface="Calibri" pitchFamily="34" charset="-122"/>
                <a:cs typeface="Calibri" pitchFamily="34" charset="-120"/>
              </a:rPr>
              <a:t>Response: slow down, lower your voice, stop adding information — let the amygdala settle before re-engaging</a:t>
            </a:r>
            <a:endParaRPr lang="en-US" sz="1300" dirty="0"/>
          </a:p>
        </p:txBody>
      </p:sp>
      <p:sp>
        <p:nvSpPr>
          <p:cNvPr id="6" name="Shape 4"/>
          <p:cNvSpPr/>
          <p:nvPr/>
        </p:nvSpPr>
        <p:spPr>
          <a:xfrm>
            <a:off x="0" y="4663440"/>
            <a:ext cx="9144000" cy="480060"/>
          </a:xfrm>
          <a:prstGeom prst="rect">
            <a:avLst/>
          </a:prstGeom>
          <a:solidFill>
            <a:srgbClr val="E07B39">
              <a:alpha val="15000"/>
            </a:srgbClr>
          </a:solidFill>
          <a:ln w="12700">
            <a:solidFill>
              <a:srgbClr val="E07B39">
                <a:alpha val="15000"/>
              </a:srgbClr>
            </a:solidFill>
            <a:prstDash val="solid"/>
          </a:ln>
        </p:spPr>
      </p:sp>
      <p:sp>
        <p:nvSpPr>
          <p:cNvPr id="7" name="Text 5"/>
          <p:cNvSpPr/>
          <p:nvPr/>
        </p:nvSpPr>
        <p:spPr>
          <a:xfrm>
            <a:off x="274320" y="4690872"/>
            <a:ext cx="8686800" cy="384048"/>
          </a:xfrm>
          <a:prstGeom prst="rect">
            <a:avLst/>
          </a:prstGeom>
          <a:noFill/>
          <a:ln/>
        </p:spPr>
        <p:txBody>
          <a:bodyPr wrap="square" lIns="0" tIns="0" rIns="0" bIns="0" rtlCol="0" anchor="ctr"/>
          <a:lstStyle/>
          <a:p>
            <a:pPr algn="l" indent="0" marL="0">
              <a:buNone/>
            </a:pPr>
            <a:r>
              <a:rPr lang="en-US" sz="900" i="1" dirty="0">
                <a:solidFill>
                  <a:srgbClr val="E07B39"/>
                </a:solidFill>
                <a:latin typeface="Calibri" pitchFamily="34" charset="0"/>
                <a:ea typeface="Calibri" pitchFamily="34" charset="-122"/>
                <a:cs typeface="Calibri" pitchFamily="34" charset="-120"/>
              </a:rPr>
              <a:t>📋 TRAINER NOTE: Understanding the Amygdala Hijack gives reps permission to not take resistance personally. When a homeowner shuts down, the rep's instinct is to talk more and faster — the opposite of what the biology requires. Slow is pro.</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F4A61D"/>
          </a:solidFill>
          <a:ln w="12700">
            <a:solidFill>
              <a:srgbClr val="F4A61D"/>
            </a:solidFill>
            <a:prstDash val="solid"/>
          </a:ln>
        </p:spPr>
      </p:sp>
      <p:sp>
        <p:nvSpPr>
          <p:cNvPr id="3" name="Text 1"/>
          <p:cNvSpPr/>
          <p:nvPr/>
        </p:nvSpPr>
        <p:spPr>
          <a:xfrm>
            <a:off x="274320" y="164592"/>
            <a:ext cx="8503920" cy="594360"/>
          </a:xfrm>
          <a:prstGeom prst="rect">
            <a:avLst/>
          </a:prstGeom>
          <a:noFill/>
          <a:ln/>
        </p:spPr>
        <p:txBody>
          <a:bodyPr wrap="square" lIns="0" tIns="0" rIns="0" bIns="0" rtlCol="0" anchor="ctr"/>
          <a:lstStyle/>
          <a:p>
            <a:pPr algn="l" indent="0" marL="0">
              <a:buNone/>
            </a:pPr>
            <a:r>
              <a:rPr lang="en-US" sz="2000" b="1" dirty="0">
                <a:solidFill>
                  <a:srgbClr val="F4A61D"/>
                </a:solidFill>
                <a:latin typeface="Arial Black" pitchFamily="34" charset="0"/>
                <a:ea typeface="Arial Black" pitchFamily="34" charset="-122"/>
                <a:cs typeface="Arial Black" pitchFamily="34" charset="-120"/>
              </a:rPr>
              <a:t>Fear of Regret (FOR): The Hidden Objection That Kills Deals</a:t>
            </a:r>
            <a:endParaRPr lang="en-US" sz="2000" dirty="0"/>
          </a:p>
        </p:txBody>
      </p:sp>
      <p:sp>
        <p:nvSpPr>
          <p:cNvPr id="4" name="Shape 2"/>
          <p:cNvSpPr/>
          <p:nvPr/>
        </p:nvSpPr>
        <p:spPr>
          <a:xfrm>
            <a:off x="274320" y="777240"/>
            <a:ext cx="8503920" cy="27432"/>
          </a:xfrm>
          <a:prstGeom prst="rect">
            <a:avLst/>
          </a:prstGeom>
          <a:solidFill>
            <a:srgbClr val="F4A61D">
              <a:alpha val="40000"/>
            </a:srgbClr>
          </a:solidFill>
          <a:ln w="12700">
            <a:solidFill>
              <a:srgbClr val="F4A61D">
                <a:alpha val="40000"/>
              </a:srgbClr>
            </a:solidFill>
            <a:prstDash val="solid"/>
          </a:ln>
        </p:spPr>
      </p:sp>
      <p:sp>
        <p:nvSpPr>
          <p:cNvPr id="5" name="Text 3"/>
          <p:cNvSpPr/>
          <p:nvPr/>
        </p:nvSpPr>
        <p:spPr>
          <a:xfrm>
            <a:off x="274320" y="914400"/>
            <a:ext cx="8503920" cy="1444752"/>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rgbClr val="FFFFFF"/>
                </a:solidFill>
                <a:latin typeface="Calibri" pitchFamily="34" charset="0"/>
                <a:ea typeface="Calibri" pitchFamily="34" charset="-122"/>
                <a:cs typeface="Calibri" pitchFamily="34" charset="-120"/>
              </a:rPr>
              <a:t>The #1 objection in solar is NOT price — it is the fear of looking stupid to their spouse, family, or neighbors</a:t>
            </a:r>
            <a:endParaRPr lang="en-US" sz="1300" dirty="0"/>
          </a:p>
          <a:p>
            <a:pPr marL="342900" indent="-342900">
              <a:spcAft>
                <a:spcPts val="600"/>
              </a:spcAft>
              <a:buSzPct val="100000"/>
              <a:buChar char="•"/>
            </a:pPr>
            <a:r>
              <a:rPr lang="en-US" sz="1300" dirty="0">
                <a:solidFill>
                  <a:srgbClr val="FFFFFF"/>
                </a:solidFill>
                <a:latin typeface="Calibri" pitchFamily="34" charset="0"/>
                <a:ea typeface="Calibri" pitchFamily="34" charset="-122"/>
                <a:cs typeface="Calibri" pitchFamily="34" charset="-120"/>
              </a:rPr>
              <a:t>The Internal FOR: 'What if this is a scam and I signed?' — social humiliation risk</a:t>
            </a:r>
            <a:endParaRPr lang="en-US" sz="1300" dirty="0"/>
          </a:p>
          <a:p>
            <a:pPr marL="342900" indent="-342900">
              <a:spcAft>
                <a:spcPts val="600"/>
              </a:spcAft>
              <a:buSzPct val="100000"/>
              <a:buChar char="•"/>
            </a:pPr>
            <a:r>
              <a:rPr lang="en-US" sz="1300" dirty="0">
                <a:solidFill>
                  <a:srgbClr val="FFFFFF"/>
                </a:solidFill>
                <a:latin typeface="Calibri" pitchFamily="34" charset="0"/>
                <a:ea typeface="Calibri" pitchFamily="34" charset="-122"/>
                <a:cs typeface="Calibri" pitchFamily="34" charset="-120"/>
              </a:rPr>
              <a:t>The External FOR: 'My brother-in-law is going to say I got ripped off' — audience risk</a:t>
            </a:r>
            <a:endParaRPr lang="en-US" sz="1300" dirty="0"/>
          </a:p>
          <a:p>
            <a:pPr marL="342900" indent="-342900">
              <a:spcAft>
                <a:spcPts val="600"/>
              </a:spcAft>
              <a:buSzPct val="100000"/>
              <a:buChar char="•"/>
            </a:pPr>
            <a:r>
              <a:rPr lang="en-US" sz="1300" dirty="0">
                <a:solidFill>
                  <a:srgbClr val="FFFFFF"/>
                </a:solidFill>
                <a:latin typeface="Calibri" pitchFamily="34" charset="0"/>
                <a:ea typeface="Calibri" pitchFamily="34" charset="-122"/>
                <a:cs typeface="Calibri" pitchFamily="34" charset="-120"/>
              </a:rPr>
              <a:t>Counter: 'I completely understand — every smart person who cares about their family thinks about this. Here's how we make sure you're covered no matter what.'</a:t>
            </a:r>
            <a:endParaRPr lang="en-US" sz="1300" dirty="0"/>
          </a:p>
        </p:txBody>
      </p:sp>
      <p:sp>
        <p:nvSpPr>
          <p:cNvPr id="6" name="Shape 4"/>
          <p:cNvSpPr/>
          <p:nvPr/>
        </p:nvSpPr>
        <p:spPr>
          <a:xfrm>
            <a:off x="274320" y="2468880"/>
            <a:ext cx="8503920" cy="1874520"/>
          </a:xfrm>
          <a:prstGeom prst="rect">
            <a:avLst/>
          </a:prstGeom>
          <a:solidFill>
            <a:srgbClr val="1A2840"/>
          </a:solidFill>
          <a:ln w="19050">
            <a:solidFill>
              <a:srgbClr val="0891B2"/>
            </a:solidFill>
            <a:prstDash val="solid"/>
          </a:ln>
          <a:effectLst>
            <a:outerShdw sx="100000" sy="100000" kx="0" ky="0" algn="bl" rotWithShape="0" blurRad="101600" dist="38100" dir="8100000">
              <a:srgbClr val="000000">
                <a:alpha val="20000"/>
              </a:srgbClr>
            </a:outerShdw>
          </a:effectLst>
        </p:spPr>
      </p:sp>
      <p:sp>
        <p:nvSpPr>
          <p:cNvPr id="7" name="Shape 5"/>
          <p:cNvSpPr/>
          <p:nvPr/>
        </p:nvSpPr>
        <p:spPr>
          <a:xfrm>
            <a:off x="274320" y="2468880"/>
            <a:ext cx="1097280" cy="347472"/>
          </a:xfrm>
          <a:prstGeom prst="rect">
            <a:avLst/>
          </a:prstGeom>
          <a:solidFill>
            <a:srgbClr val="0891B2"/>
          </a:solidFill>
          <a:ln w="12700">
            <a:solidFill>
              <a:srgbClr val="0891B2"/>
            </a:solidFill>
            <a:prstDash val="solid"/>
          </a:ln>
        </p:spPr>
      </p:sp>
      <p:sp>
        <p:nvSpPr>
          <p:cNvPr id="8" name="Text 6"/>
          <p:cNvSpPr/>
          <p:nvPr/>
        </p:nvSpPr>
        <p:spPr>
          <a:xfrm>
            <a:off x="292608" y="2487168"/>
            <a:ext cx="1051560" cy="310896"/>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Arial Black" pitchFamily="34" charset="0"/>
                <a:ea typeface="Arial Black" pitchFamily="34" charset="-122"/>
                <a:cs typeface="Arial Black" pitchFamily="34" charset="-120"/>
              </a:rPr>
              <a:t>DIALOGUE</a:t>
            </a:r>
            <a:endParaRPr lang="en-US" sz="900" dirty="0"/>
          </a:p>
        </p:txBody>
      </p:sp>
      <p:sp>
        <p:nvSpPr>
          <p:cNvPr id="9" name="Text 7"/>
          <p:cNvSpPr/>
          <p:nvPr/>
        </p:nvSpPr>
        <p:spPr>
          <a:xfrm>
            <a:off x="411480" y="2926080"/>
            <a:ext cx="8275320" cy="1325880"/>
          </a:xfrm>
          <a:prstGeom prst="rect">
            <a:avLst/>
          </a:prstGeom>
          <a:noFill/>
          <a:ln/>
        </p:spPr>
        <p:txBody>
          <a:bodyPr wrap="square" lIns="0" tIns="0" rIns="0" bIns="0" rtlCol="0" anchor="t"/>
          <a:lstStyle/>
          <a:p>
            <a:pPr indent="0" marL="0">
              <a:buNone/>
            </a:pPr>
            <a:r>
              <a:rPr lang="en-US" sz="1100" b="1" dirty="0">
                <a:solidFill>
                  <a:srgbClr val="F4A61D"/>
                </a:solidFill>
                <a:latin typeface="Calibri" pitchFamily="34" charset="0"/>
                <a:ea typeface="Calibri" pitchFamily="34" charset="-122"/>
                <a:cs typeface="Calibri" pitchFamily="34" charset="-120"/>
              </a:rPr>
              <a:t>Rep:</a:t>
            </a:r>
            <a:endParaRPr lang="en-US" sz="1100" dirty="0"/>
          </a:p>
          <a:p>
            <a:pPr indent="0" marL="0">
              <a:buNone/>
            </a:pPr>
            <a:r>
              <a:rPr lang="en-US" sz="1100" dirty="0">
                <a:solidFill>
                  <a:srgbClr val="FFFFFF"/>
                </a:solidFill>
                <a:latin typeface="Calibri" pitchFamily="34" charset="0"/>
                <a:ea typeface="Calibri" pitchFamily="34" charset="-122"/>
                <a:cs typeface="Calibri" pitchFamily="34" charset="-120"/>
              </a:rPr>
              <a:t>Can I be honest with you? A lot of people in your position worry about one thing: what happens if they say yes and then someone — a friend, a family member — second-guesses the decision. Is that part of what's in the back of your mind?</a:t>
            </a:r>
            <a:endParaRPr lang="en-US" sz="1100" dirty="0"/>
          </a:p>
          <a:p>
            <a:pPr indent="0" marL="0">
              <a:buNone/>
            </a:pPr>
            <a:r>
              <a:rPr lang="en-US" sz="1100" b="1" dirty="0">
                <a:solidFill>
                  <a:srgbClr val="F4A61D"/>
                </a:solidFill>
                <a:latin typeface="Calibri" pitchFamily="34" charset="0"/>
                <a:ea typeface="Calibri" pitchFamily="34" charset="-122"/>
                <a:cs typeface="Calibri" pitchFamily="34" charset="-120"/>
              </a:rPr>
              <a:t>Homeowner:</a:t>
            </a:r>
            <a:endParaRPr lang="en-US" sz="1100" dirty="0"/>
          </a:p>
          <a:p>
            <a:pPr indent="0" marL="0">
              <a:buNone/>
            </a:pPr>
            <a:r>
              <a:rPr lang="en-US" sz="1100" dirty="0">
                <a:solidFill>
                  <a:srgbClr val="FFFFFF"/>
                </a:solidFill>
                <a:latin typeface="Calibri" pitchFamily="34" charset="0"/>
                <a:ea typeface="Calibri" pitchFamily="34" charset="-122"/>
                <a:cs typeface="Calibri" pitchFamily="34" charset="-120"/>
              </a:rPr>
              <a:t>Yeah... honestly, kind of.</a:t>
            </a:r>
            <a:endParaRPr lang="en-US" sz="1100" dirty="0"/>
          </a:p>
          <a:p>
            <a:pPr indent="0" marL="0">
              <a:buNone/>
            </a:pPr>
            <a:r>
              <a:rPr lang="en-US" sz="1100" b="1" dirty="0">
                <a:solidFill>
                  <a:srgbClr val="F4A61D"/>
                </a:solidFill>
                <a:latin typeface="Calibri" pitchFamily="34" charset="0"/>
                <a:ea typeface="Calibri" pitchFamily="34" charset="-122"/>
                <a:cs typeface="Calibri" pitchFamily="34" charset="-120"/>
              </a:rPr>
              <a:t>Rep:</a:t>
            </a:r>
            <a:endParaRPr lang="en-US" sz="1100" dirty="0"/>
          </a:p>
          <a:p>
            <a:pPr indent="0" marL="0">
              <a:buNone/>
            </a:pPr>
            <a:r>
              <a:rPr lang="en-US" sz="1100" dirty="0">
                <a:solidFill>
                  <a:srgbClr val="FFFFFF"/>
                </a:solidFill>
                <a:latin typeface="Calibri" pitchFamily="34" charset="0"/>
                <a:ea typeface="Calibri" pitchFamily="34" charset="-122"/>
                <a:cs typeface="Calibri" pitchFamily="34" charset="-120"/>
              </a:rPr>
              <a:t>That's the smartest thing you could be thinking about. Let me show you exactly how to answer that person when they ask.</a:t>
            </a:r>
            <a:endParaRPr lang="en-US" sz="1100" dirty="0"/>
          </a:p>
        </p:txBody>
      </p:sp>
      <p:sp>
        <p:nvSpPr>
          <p:cNvPr id="10" name="Shape 8"/>
          <p:cNvSpPr/>
          <p:nvPr/>
        </p:nvSpPr>
        <p:spPr>
          <a:xfrm>
            <a:off x="0" y="4663440"/>
            <a:ext cx="9144000" cy="480060"/>
          </a:xfrm>
          <a:prstGeom prst="rect">
            <a:avLst/>
          </a:prstGeom>
          <a:solidFill>
            <a:srgbClr val="E07B39">
              <a:alpha val="15000"/>
            </a:srgbClr>
          </a:solidFill>
          <a:ln w="12700">
            <a:solidFill>
              <a:srgbClr val="E07B39">
                <a:alpha val="15000"/>
              </a:srgbClr>
            </a:solidFill>
            <a:prstDash val="solid"/>
          </a:ln>
        </p:spPr>
      </p:sp>
      <p:sp>
        <p:nvSpPr>
          <p:cNvPr id="11" name="Text 9"/>
          <p:cNvSpPr/>
          <p:nvPr/>
        </p:nvSpPr>
        <p:spPr>
          <a:xfrm>
            <a:off x="274320" y="4690872"/>
            <a:ext cx="8686800" cy="384048"/>
          </a:xfrm>
          <a:prstGeom prst="rect">
            <a:avLst/>
          </a:prstGeom>
          <a:noFill/>
          <a:ln/>
        </p:spPr>
        <p:txBody>
          <a:bodyPr wrap="square" lIns="0" tIns="0" rIns="0" bIns="0" rtlCol="0" anchor="ctr"/>
          <a:lstStyle/>
          <a:p>
            <a:pPr algn="l" indent="0" marL="0">
              <a:buNone/>
            </a:pPr>
            <a:r>
              <a:rPr lang="en-US" sz="900" i="1" dirty="0">
                <a:solidFill>
                  <a:srgbClr val="E07B39"/>
                </a:solidFill>
                <a:latin typeface="Calibri" pitchFamily="34" charset="0"/>
                <a:ea typeface="Calibri" pitchFamily="34" charset="-122"/>
                <a:cs typeface="Calibri" pitchFamily="34" charset="-120"/>
              </a:rPr>
              <a:t>📋 TRAINER NOTE: FOR is invisible until you know to look for it. When a homeowner seems intellectually convinced but still won't sign, FOR is almost always present. Validate the social risk explicitly — don't pretend it doesn't exist.</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F4A61D"/>
          </a:solidFill>
          <a:ln w="12700">
            <a:solidFill>
              <a:srgbClr val="F4A61D"/>
            </a:solidFill>
            <a:prstDash val="solid"/>
          </a:ln>
        </p:spPr>
      </p:sp>
      <p:sp>
        <p:nvSpPr>
          <p:cNvPr id="3" name="Text 1"/>
          <p:cNvSpPr/>
          <p:nvPr/>
        </p:nvSpPr>
        <p:spPr>
          <a:xfrm>
            <a:off x="274320" y="164592"/>
            <a:ext cx="8503920" cy="594360"/>
          </a:xfrm>
          <a:prstGeom prst="rect">
            <a:avLst/>
          </a:prstGeom>
          <a:noFill/>
          <a:ln/>
        </p:spPr>
        <p:txBody>
          <a:bodyPr wrap="square" lIns="0" tIns="0" rIns="0" bIns="0" rtlCol="0" anchor="ctr"/>
          <a:lstStyle/>
          <a:p>
            <a:pPr algn="l" indent="0" marL="0">
              <a:buNone/>
            </a:pPr>
            <a:r>
              <a:rPr lang="en-US" sz="2000" b="1" dirty="0">
                <a:solidFill>
                  <a:srgbClr val="F4A61D"/>
                </a:solidFill>
                <a:latin typeface="Arial Black" pitchFamily="34" charset="0"/>
                <a:ea typeface="Arial Black" pitchFamily="34" charset="-122"/>
                <a:cs typeface="Arial Black" pitchFamily="34" charset="-120"/>
              </a:rPr>
              <a:t>The Contractor Trauma Trap</a:t>
            </a:r>
            <a:endParaRPr lang="en-US" sz="2000" dirty="0"/>
          </a:p>
        </p:txBody>
      </p:sp>
      <p:sp>
        <p:nvSpPr>
          <p:cNvPr id="4" name="Shape 2"/>
          <p:cNvSpPr/>
          <p:nvPr/>
        </p:nvSpPr>
        <p:spPr>
          <a:xfrm>
            <a:off x="274320" y="777240"/>
            <a:ext cx="8503920" cy="27432"/>
          </a:xfrm>
          <a:prstGeom prst="rect">
            <a:avLst/>
          </a:prstGeom>
          <a:solidFill>
            <a:srgbClr val="F4A61D">
              <a:alpha val="40000"/>
            </a:srgbClr>
          </a:solidFill>
          <a:ln w="12700">
            <a:solidFill>
              <a:srgbClr val="F4A61D">
                <a:alpha val="40000"/>
              </a:srgbClr>
            </a:solidFill>
            <a:prstDash val="solid"/>
          </a:ln>
        </p:spPr>
      </p:sp>
      <p:sp>
        <p:nvSpPr>
          <p:cNvPr id="5" name="Text 3"/>
          <p:cNvSpPr/>
          <p:nvPr/>
        </p:nvSpPr>
        <p:spPr>
          <a:xfrm>
            <a:off x="274320" y="914400"/>
            <a:ext cx="8503920" cy="2267712"/>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rgbClr val="FFFFFF"/>
                </a:solidFill>
                <a:latin typeface="Calibri" pitchFamily="34" charset="0"/>
                <a:ea typeface="Calibri" pitchFamily="34" charset="-122"/>
                <a:cs typeface="Calibri" pitchFamily="34" charset="-120"/>
              </a:rPr>
              <a:t>Many homeowners have been burned by roofers, HVAC companies, or other home service contractors — and solar looks like more of the same</a:t>
            </a:r>
            <a:endParaRPr lang="en-US" sz="1300" dirty="0"/>
          </a:p>
          <a:p>
            <a:pPr marL="342900" indent="-342900">
              <a:spcAft>
                <a:spcPts val="600"/>
              </a:spcAft>
              <a:buSzPct val="100000"/>
              <a:buChar char="•"/>
            </a:pPr>
            <a:r>
              <a:rPr lang="en-US" sz="1300" dirty="0">
                <a:solidFill>
                  <a:srgbClr val="FFFFFF"/>
                </a:solidFill>
                <a:latin typeface="Calibri" pitchFamily="34" charset="0"/>
                <a:ea typeface="Calibri" pitchFamily="34" charset="-122"/>
                <a:cs typeface="Calibri" pitchFamily="34" charset="-120"/>
              </a:rPr>
              <a:t>Signs of Contractor Trauma: hyper-focus on the contract terms, questions about what happens 'if you go out of business,' reluctance to let workers on their roof</a:t>
            </a:r>
            <a:endParaRPr lang="en-US" sz="1300" dirty="0"/>
          </a:p>
          <a:p>
            <a:pPr marL="342900" indent="-342900">
              <a:spcAft>
                <a:spcPts val="600"/>
              </a:spcAft>
              <a:buSzPct val="100000"/>
              <a:buChar char="•"/>
            </a:pPr>
            <a:r>
              <a:rPr lang="en-US" sz="1300" dirty="0">
                <a:solidFill>
                  <a:srgbClr val="FFFFFF"/>
                </a:solidFill>
                <a:latin typeface="Calibri" pitchFamily="34" charset="0"/>
                <a:ea typeface="Calibri" pitchFamily="34" charset="-122"/>
                <a:cs typeface="Calibri" pitchFamily="34" charset="-120"/>
              </a:rPr>
              <a:t>Response: acknowledge it explicitly — 'You've been burned before by a contractor. I want to address that directly.'</a:t>
            </a:r>
            <a:endParaRPr lang="en-US" sz="1300" dirty="0"/>
          </a:p>
          <a:p>
            <a:pPr marL="342900" indent="-342900">
              <a:spcAft>
                <a:spcPts val="600"/>
              </a:spcAft>
              <a:buSzPct val="100000"/>
              <a:buChar char="•"/>
            </a:pPr>
            <a:r>
              <a:rPr lang="en-US" sz="1300" dirty="0">
                <a:solidFill>
                  <a:srgbClr val="FFFFFF"/>
                </a:solidFill>
                <a:latin typeface="Calibri" pitchFamily="34" charset="0"/>
                <a:ea typeface="Calibri" pitchFamily="34" charset="-122"/>
                <a:cs typeface="Calibri" pitchFamily="34" charset="-120"/>
              </a:rPr>
              <a:t>Radical Transparency: show them the cancellation policy, the manufacturer warranty, the BBB rating — proactively, before they ask</a:t>
            </a:r>
            <a:endParaRPr lang="en-US" sz="1300" dirty="0"/>
          </a:p>
        </p:txBody>
      </p:sp>
      <p:sp>
        <p:nvSpPr>
          <p:cNvPr id="6" name="Shape 4"/>
          <p:cNvSpPr/>
          <p:nvPr/>
        </p:nvSpPr>
        <p:spPr>
          <a:xfrm>
            <a:off x="0" y="4663440"/>
            <a:ext cx="9144000" cy="480060"/>
          </a:xfrm>
          <a:prstGeom prst="rect">
            <a:avLst/>
          </a:prstGeom>
          <a:solidFill>
            <a:srgbClr val="E07B39">
              <a:alpha val="15000"/>
            </a:srgbClr>
          </a:solidFill>
          <a:ln w="12700">
            <a:solidFill>
              <a:srgbClr val="E07B39">
                <a:alpha val="15000"/>
              </a:srgbClr>
            </a:solidFill>
            <a:prstDash val="solid"/>
          </a:ln>
        </p:spPr>
      </p:sp>
      <p:sp>
        <p:nvSpPr>
          <p:cNvPr id="7" name="Text 5"/>
          <p:cNvSpPr/>
          <p:nvPr/>
        </p:nvSpPr>
        <p:spPr>
          <a:xfrm>
            <a:off x="274320" y="4690872"/>
            <a:ext cx="8686800" cy="384048"/>
          </a:xfrm>
          <a:prstGeom prst="rect">
            <a:avLst/>
          </a:prstGeom>
          <a:noFill/>
          <a:ln/>
        </p:spPr>
        <p:txBody>
          <a:bodyPr wrap="square" lIns="0" tIns="0" rIns="0" bIns="0" rtlCol="0" anchor="ctr"/>
          <a:lstStyle/>
          <a:p>
            <a:pPr algn="l" indent="0" marL="0">
              <a:buNone/>
            </a:pPr>
            <a:r>
              <a:rPr lang="en-US" sz="900" i="1" dirty="0">
                <a:solidFill>
                  <a:srgbClr val="E07B39"/>
                </a:solidFill>
                <a:latin typeface="Calibri" pitchFamily="34" charset="0"/>
                <a:ea typeface="Calibri" pitchFamily="34" charset="-122"/>
                <a:cs typeface="Calibri" pitchFamily="34" charset="-120"/>
              </a:rPr>
              <a:t>📋 TRAINER NOTE: The rep who proactively surfaces Contractor Trauma builds 10x more trust than the one who waits for the homeowner to bring it up nervously. 'I want to address the elephant in the room' signals confidence, not defensiveness.</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F4A61D"/>
          </a:solidFill>
          <a:ln w="12700">
            <a:solidFill>
              <a:srgbClr val="F4A61D"/>
            </a:solidFill>
            <a:prstDash val="solid"/>
          </a:ln>
        </p:spPr>
      </p:sp>
      <p:sp>
        <p:nvSpPr>
          <p:cNvPr id="3" name="Text 1"/>
          <p:cNvSpPr/>
          <p:nvPr/>
        </p:nvSpPr>
        <p:spPr>
          <a:xfrm>
            <a:off x="274320" y="164592"/>
            <a:ext cx="8503920" cy="566928"/>
          </a:xfrm>
          <a:prstGeom prst="rect">
            <a:avLst/>
          </a:prstGeom>
          <a:noFill/>
          <a:ln/>
        </p:spPr>
        <p:txBody>
          <a:bodyPr wrap="square" lIns="0" tIns="0" rIns="0" bIns="0" rtlCol="0" anchor="ctr"/>
          <a:lstStyle/>
          <a:p>
            <a:pPr algn="l" indent="0" marL="0">
              <a:buNone/>
            </a:pPr>
            <a:r>
              <a:rPr lang="en-US" sz="2000" b="1" dirty="0">
                <a:solidFill>
                  <a:srgbClr val="F4A61D"/>
                </a:solidFill>
                <a:latin typeface="Arial Black" pitchFamily="34" charset="0"/>
                <a:ea typeface="Arial Black" pitchFamily="34" charset="-122"/>
                <a:cs typeface="Arial Black" pitchFamily="34" charset="-120"/>
              </a:rPr>
              <a:t>Safety Framing: Making the Homeowner Feel Safe Enough to Be Honest</a:t>
            </a:r>
            <a:endParaRPr lang="en-US" sz="2000" dirty="0"/>
          </a:p>
        </p:txBody>
      </p:sp>
      <p:sp>
        <p:nvSpPr>
          <p:cNvPr id="4" name="Shape 2"/>
          <p:cNvSpPr/>
          <p:nvPr/>
        </p:nvSpPr>
        <p:spPr>
          <a:xfrm>
            <a:off x="274320" y="749808"/>
            <a:ext cx="8503920" cy="27432"/>
          </a:xfrm>
          <a:prstGeom prst="rect">
            <a:avLst/>
          </a:prstGeom>
          <a:solidFill>
            <a:srgbClr val="F4A61D">
              <a:alpha val="40000"/>
            </a:srgbClr>
          </a:solidFill>
          <a:ln w="12700">
            <a:solidFill>
              <a:srgbClr val="F4A61D">
                <a:alpha val="40000"/>
              </a:srgbClr>
            </a:solidFill>
            <a:prstDash val="solid"/>
          </a:ln>
        </p:spPr>
      </p:sp>
      <p:sp>
        <p:nvSpPr>
          <p:cNvPr id="5" name="Shape 3"/>
          <p:cNvSpPr/>
          <p:nvPr/>
        </p:nvSpPr>
        <p:spPr>
          <a:xfrm>
            <a:off x="274320" y="868680"/>
            <a:ext cx="4023360" cy="3566160"/>
          </a:xfrm>
          <a:prstGeom prst="rect">
            <a:avLst/>
          </a:prstGeom>
          <a:solidFill>
            <a:srgbClr val="1A2840"/>
          </a:solidFill>
          <a:ln w="12700">
            <a:solidFill>
              <a:srgbClr val="0891B2"/>
            </a:solidFill>
            <a:prstDash val="solid"/>
          </a:ln>
          <a:effectLst>
            <a:outerShdw sx="100000" sy="100000" kx="0" ky="0" algn="bl" rotWithShape="0" blurRad="101600" dist="38100" dir="8100000">
              <a:srgbClr val="000000">
                <a:alpha val="20000"/>
              </a:srgbClr>
            </a:outerShdw>
          </a:effectLst>
        </p:spPr>
      </p:sp>
      <p:sp>
        <p:nvSpPr>
          <p:cNvPr id="6" name="Shape 4"/>
          <p:cNvSpPr/>
          <p:nvPr/>
        </p:nvSpPr>
        <p:spPr>
          <a:xfrm>
            <a:off x="274320" y="868680"/>
            <a:ext cx="4023360" cy="384048"/>
          </a:xfrm>
          <a:prstGeom prst="rect">
            <a:avLst/>
          </a:prstGeom>
          <a:solidFill>
            <a:srgbClr val="0891B2"/>
          </a:solidFill>
          <a:ln w="12700">
            <a:solidFill>
              <a:srgbClr val="0891B2"/>
            </a:solidFill>
            <a:prstDash val="solid"/>
          </a:ln>
        </p:spPr>
      </p:sp>
      <p:sp>
        <p:nvSpPr>
          <p:cNvPr id="7" name="Text 5"/>
          <p:cNvSpPr/>
          <p:nvPr/>
        </p:nvSpPr>
        <p:spPr>
          <a:xfrm>
            <a:off x="320040" y="886968"/>
            <a:ext cx="3931920" cy="347472"/>
          </a:xfrm>
          <a:prstGeom prst="rect">
            <a:avLst/>
          </a:prstGeom>
          <a:noFill/>
          <a:ln/>
        </p:spPr>
        <p:txBody>
          <a:bodyPr wrap="square" lIns="0" tIns="0" rIns="0" bIns="0" rtlCol="0" anchor="ctr"/>
          <a:lstStyle/>
          <a:p>
            <a:pPr algn="ctr" indent="0" marL="0">
              <a:buNone/>
            </a:pPr>
            <a:r>
              <a:rPr lang="en-US" sz="1100" b="1" dirty="0">
                <a:solidFill>
                  <a:srgbClr val="FFFFFF"/>
                </a:solidFill>
                <a:latin typeface="Arial Black" pitchFamily="34" charset="0"/>
                <a:ea typeface="Arial Black" pitchFamily="34" charset="-122"/>
                <a:cs typeface="Arial Black" pitchFamily="34" charset="-120"/>
              </a:rPr>
              <a:t>❌  UNSAFE ENVIRONMENT (Rep Behavior)</a:t>
            </a:r>
            <a:endParaRPr lang="en-US" sz="1100" dirty="0"/>
          </a:p>
        </p:txBody>
      </p:sp>
      <p:sp>
        <p:nvSpPr>
          <p:cNvPr id="8" name="Text 6"/>
          <p:cNvSpPr/>
          <p:nvPr/>
        </p:nvSpPr>
        <p:spPr>
          <a:xfrm>
            <a:off x="384048" y="1325880"/>
            <a:ext cx="3840480" cy="3017520"/>
          </a:xfrm>
          <a:prstGeom prst="rect">
            <a:avLst/>
          </a:prstGeom>
          <a:noFill/>
          <a:ln/>
        </p:spPr>
        <p:txBody>
          <a:bodyPr wrap="square" lIns="0" tIns="0" rIns="0" bIns="0" rtlCol="0" anchor="t"/>
          <a:lstStyle/>
          <a:p>
            <a:pPr marL="342900" indent="-342900">
              <a:spcAft>
                <a:spcPts val="500"/>
              </a:spcAft>
              <a:buSzPct val="100000"/>
              <a:buChar char="•"/>
            </a:pPr>
            <a:r>
              <a:rPr lang="en-US" sz="1100" dirty="0">
                <a:solidFill>
                  <a:srgbClr val="FFFFFF"/>
                </a:solidFill>
                <a:latin typeface="Calibri" pitchFamily="34" charset="0"/>
                <a:ea typeface="Calibri" pitchFamily="34" charset="-122"/>
                <a:cs typeface="Calibri" pitchFamily="34" charset="-120"/>
              </a:rPr>
              <a:t>Jumps to rebuttals before fully acknowledging</a:t>
            </a:r>
            <a:endParaRPr lang="en-US" sz="1100" dirty="0"/>
          </a:p>
          <a:p>
            <a:pPr marL="342900" indent="-342900">
              <a:spcAft>
                <a:spcPts val="500"/>
              </a:spcAft>
              <a:buSzPct val="100000"/>
              <a:buChar char="•"/>
            </a:pPr>
            <a:r>
              <a:rPr lang="en-US" sz="1100" dirty="0">
                <a:solidFill>
                  <a:srgbClr val="FFFFFF"/>
                </a:solidFill>
                <a:latin typeface="Calibri" pitchFamily="34" charset="0"/>
                <a:ea typeface="Calibri" pitchFamily="34" charset="-122"/>
                <a:cs typeface="Calibri" pitchFamily="34" charset="-120"/>
              </a:rPr>
              <a:t>Uses pressure phrases: 'This offer expires today'</a:t>
            </a:r>
            <a:endParaRPr lang="en-US" sz="1100" dirty="0"/>
          </a:p>
          <a:p>
            <a:pPr marL="342900" indent="-342900">
              <a:spcAft>
                <a:spcPts val="500"/>
              </a:spcAft>
              <a:buSzPct val="100000"/>
              <a:buChar char="•"/>
            </a:pPr>
            <a:r>
              <a:rPr lang="en-US" sz="1100" dirty="0">
                <a:solidFill>
                  <a:srgbClr val="FFFFFF"/>
                </a:solidFill>
                <a:latin typeface="Calibri" pitchFamily="34" charset="0"/>
                <a:ea typeface="Calibri" pitchFamily="34" charset="-122"/>
                <a:cs typeface="Calibri" pitchFamily="34" charset="-120"/>
              </a:rPr>
              <a:t>Gets louder or faster when challenged</a:t>
            </a:r>
            <a:endParaRPr lang="en-US" sz="1100" dirty="0"/>
          </a:p>
          <a:p>
            <a:pPr marL="342900" indent="-342900">
              <a:spcAft>
                <a:spcPts val="500"/>
              </a:spcAft>
              <a:buSzPct val="100000"/>
              <a:buChar char="•"/>
            </a:pPr>
            <a:r>
              <a:rPr lang="en-US" sz="1100" dirty="0">
                <a:solidFill>
                  <a:srgbClr val="FFFFFF"/>
                </a:solidFill>
                <a:latin typeface="Calibri" pitchFamily="34" charset="0"/>
                <a:ea typeface="Calibri" pitchFamily="34" charset="-122"/>
                <a:cs typeface="Calibri" pitchFamily="34" charset="-120"/>
              </a:rPr>
              <a:t>Dismisses concerns with data before validating</a:t>
            </a:r>
            <a:endParaRPr lang="en-US" sz="1100" dirty="0"/>
          </a:p>
          <a:p>
            <a:pPr marL="342900" indent="-342900">
              <a:spcAft>
                <a:spcPts val="500"/>
              </a:spcAft>
              <a:buSzPct val="100000"/>
              <a:buChar char="•"/>
            </a:pPr>
            <a:r>
              <a:rPr lang="en-US" sz="1100" dirty="0">
                <a:solidFill>
                  <a:srgbClr val="FFFFFF"/>
                </a:solidFill>
                <a:latin typeface="Calibri" pitchFamily="34" charset="0"/>
                <a:ea typeface="Calibri" pitchFamily="34" charset="-122"/>
                <a:cs typeface="Calibri" pitchFamily="34" charset="-120"/>
              </a:rPr>
              <a:t>Shows any sign of desperation or frustration</a:t>
            </a:r>
            <a:endParaRPr lang="en-US" sz="1100" dirty="0"/>
          </a:p>
        </p:txBody>
      </p:sp>
      <p:sp>
        <p:nvSpPr>
          <p:cNvPr id="9" name="Shape 7"/>
          <p:cNvSpPr/>
          <p:nvPr/>
        </p:nvSpPr>
        <p:spPr>
          <a:xfrm>
            <a:off x="4846320" y="868680"/>
            <a:ext cx="4023360" cy="3566160"/>
          </a:xfrm>
          <a:prstGeom prst="rect">
            <a:avLst/>
          </a:prstGeom>
          <a:solidFill>
            <a:srgbClr val="1A2840"/>
          </a:solidFill>
          <a:ln w="12700">
            <a:solidFill>
              <a:srgbClr val="F4A61D"/>
            </a:solidFill>
            <a:prstDash val="solid"/>
          </a:ln>
          <a:effectLst>
            <a:outerShdw sx="100000" sy="100000" kx="0" ky="0" algn="bl" rotWithShape="0" blurRad="101600" dist="38100" dir="8100000">
              <a:srgbClr val="000000">
                <a:alpha val="20000"/>
              </a:srgbClr>
            </a:outerShdw>
          </a:effectLst>
        </p:spPr>
      </p:sp>
      <p:sp>
        <p:nvSpPr>
          <p:cNvPr id="10" name="Shape 8"/>
          <p:cNvSpPr/>
          <p:nvPr/>
        </p:nvSpPr>
        <p:spPr>
          <a:xfrm>
            <a:off x="4846320" y="868680"/>
            <a:ext cx="4023360" cy="384048"/>
          </a:xfrm>
          <a:prstGeom prst="rect">
            <a:avLst/>
          </a:prstGeom>
          <a:solidFill>
            <a:srgbClr val="F4A61D"/>
          </a:solidFill>
          <a:ln w="12700">
            <a:solidFill>
              <a:srgbClr val="F4A61D"/>
            </a:solidFill>
            <a:prstDash val="solid"/>
          </a:ln>
        </p:spPr>
      </p:sp>
      <p:sp>
        <p:nvSpPr>
          <p:cNvPr id="11" name="Text 9"/>
          <p:cNvSpPr/>
          <p:nvPr/>
        </p:nvSpPr>
        <p:spPr>
          <a:xfrm>
            <a:off x="4892040" y="886968"/>
            <a:ext cx="3931920" cy="347472"/>
          </a:xfrm>
          <a:prstGeom prst="rect">
            <a:avLst/>
          </a:prstGeom>
          <a:noFill/>
          <a:ln/>
        </p:spPr>
        <p:txBody>
          <a:bodyPr wrap="square" lIns="0" tIns="0" rIns="0" bIns="0" rtlCol="0" anchor="ctr"/>
          <a:lstStyle/>
          <a:p>
            <a:pPr algn="ctr" indent="0" marL="0">
              <a:buNone/>
            </a:pPr>
            <a:r>
              <a:rPr lang="en-US" sz="1100" b="1" dirty="0">
                <a:solidFill>
                  <a:srgbClr val="0D1B2A"/>
                </a:solidFill>
                <a:latin typeface="Arial Black" pitchFamily="34" charset="0"/>
                <a:ea typeface="Arial Black" pitchFamily="34" charset="-122"/>
                <a:cs typeface="Arial Black" pitchFamily="34" charset="-120"/>
              </a:rPr>
              <a:t>✅  SAFE ENVIRONMENT (Rep Behavior)</a:t>
            </a:r>
            <a:endParaRPr lang="en-US" sz="1100" dirty="0"/>
          </a:p>
        </p:txBody>
      </p:sp>
      <p:sp>
        <p:nvSpPr>
          <p:cNvPr id="12" name="Text 10"/>
          <p:cNvSpPr/>
          <p:nvPr/>
        </p:nvSpPr>
        <p:spPr>
          <a:xfrm>
            <a:off x="4956048" y="1325880"/>
            <a:ext cx="3840480" cy="3017520"/>
          </a:xfrm>
          <a:prstGeom prst="rect">
            <a:avLst/>
          </a:prstGeom>
          <a:noFill/>
          <a:ln/>
        </p:spPr>
        <p:txBody>
          <a:bodyPr wrap="square" lIns="0" tIns="0" rIns="0" bIns="0" rtlCol="0" anchor="t"/>
          <a:lstStyle/>
          <a:p>
            <a:pPr marL="342900" indent="-342900">
              <a:spcAft>
                <a:spcPts val="500"/>
              </a:spcAft>
              <a:buSzPct val="100000"/>
              <a:buChar char="•"/>
            </a:pPr>
            <a:r>
              <a:rPr lang="en-US" sz="1100" dirty="0">
                <a:solidFill>
                  <a:srgbClr val="FFFFFF"/>
                </a:solidFill>
                <a:latin typeface="Calibri" pitchFamily="34" charset="0"/>
                <a:ea typeface="Calibri" pitchFamily="34" charset="-122"/>
                <a:cs typeface="Calibri" pitchFamily="34" charset="-120"/>
              </a:rPr>
              <a:t>Labels the fear before offering the solution</a:t>
            </a:r>
            <a:endParaRPr lang="en-US" sz="1100" dirty="0"/>
          </a:p>
          <a:p>
            <a:pPr marL="342900" indent="-342900">
              <a:spcAft>
                <a:spcPts val="500"/>
              </a:spcAft>
              <a:buSzPct val="100000"/>
              <a:buChar char="•"/>
            </a:pPr>
            <a:r>
              <a:rPr lang="en-US" sz="1100" dirty="0">
                <a:solidFill>
                  <a:srgbClr val="FFFFFF"/>
                </a:solidFill>
                <a:latin typeface="Calibri" pitchFamily="34" charset="0"/>
                <a:ea typeface="Calibri" pitchFamily="34" charset="-122"/>
                <a:cs typeface="Calibri" pitchFamily="34" charset="-120"/>
              </a:rPr>
              <a:t>Uses the Late Night DJ voice — slow, warm, confident</a:t>
            </a:r>
            <a:endParaRPr lang="en-US" sz="1100" dirty="0"/>
          </a:p>
          <a:p>
            <a:pPr marL="342900" indent="-342900">
              <a:spcAft>
                <a:spcPts val="500"/>
              </a:spcAft>
              <a:buSzPct val="100000"/>
              <a:buChar char="•"/>
            </a:pPr>
            <a:r>
              <a:rPr lang="en-US" sz="1100" dirty="0">
                <a:solidFill>
                  <a:srgbClr val="FFFFFF"/>
                </a:solidFill>
                <a:latin typeface="Calibri" pitchFamily="34" charset="0"/>
                <a:ea typeface="Calibri" pitchFamily="34" charset="-122"/>
                <a:cs typeface="Calibri" pitchFamily="34" charset="-120"/>
              </a:rPr>
              <a:t>Pauses after objections — lets silence do the work</a:t>
            </a:r>
            <a:endParaRPr lang="en-US" sz="1100" dirty="0"/>
          </a:p>
          <a:p>
            <a:pPr marL="342900" indent="-342900">
              <a:spcAft>
                <a:spcPts val="500"/>
              </a:spcAft>
              <a:buSzPct val="100000"/>
              <a:buChar char="•"/>
            </a:pPr>
            <a:r>
              <a:rPr lang="en-US" sz="1100" dirty="0">
                <a:solidFill>
                  <a:srgbClr val="FFFFFF"/>
                </a:solidFill>
                <a:latin typeface="Calibri" pitchFamily="34" charset="0"/>
                <a:ea typeface="Calibri" pitchFamily="34" charset="-122"/>
                <a:cs typeface="Calibri" pitchFamily="34" charset="-120"/>
              </a:rPr>
              <a:t>Invites honesty: 'Tell me what's really on your mind'</a:t>
            </a:r>
            <a:endParaRPr lang="en-US" sz="1100" dirty="0"/>
          </a:p>
          <a:p>
            <a:pPr marL="342900" indent="-342900">
              <a:spcAft>
                <a:spcPts val="500"/>
              </a:spcAft>
              <a:buSzPct val="100000"/>
              <a:buChar char="•"/>
            </a:pPr>
            <a:r>
              <a:rPr lang="en-US" sz="1100" dirty="0">
                <a:solidFill>
                  <a:srgbClr val="FFFFFF"/>
                </a:solidFill>
                <a:latin typeface="Calibri" pitchFamily="34" charset="0"/>
                <a:ea typeface="Calibri" pitchFamily="34" charset="-122"/>
                <a:cs typeface="Calibri" pitchFamily="34" charset="-120"/>
              </a:rPr>
              <a:t>'If this doesn't make sense for you, I'll tell you'</a:t>
            </a:r>
            <a:endParaRPr lang="en-US" sz="1100" dirty="0"/>
          </a:p>
        </p:txBody>
      </p:sp>
      <p:sp>
        <p:nvSpPr>
          <p:cNvPr id="13" name="Shape 11"/>
          <p:cNvSpPr/>
          <p:nvPr/>
        </p:nvSpPr>
        <p:spPr>
          <a:xfrm>
            <a:off x="0" y="4663440"/>
            <a:ext cx="9144000" cy="480060"/>
          </a:xfrm>
          <a:prstGeom prst="rect">
            <a:avLst/>
          </a:prstGeom>
          <a:solidFill>
            <a:srgbClr val="E07B39">
              <a:alpha val="15000"/>
            </a:srgbClr>
          </a:solidFill>
          <a:ln w="12700">
            <a:solidFill>
              <a:srgbClr val="E07B39">
                <a:alpha val="15000"/>
              </a:srgbClr>
            </a:solidFill>
            <a:prstDash val="solid"/>
          </a:ln>
        </p:spPr>
      </p:sp>
      <p:sp>
        <p:nvSpPr>
          <p:cNvPr id="14" name="Text 12"/>
          <p:cNvSpPr/>
          <p:nvPr/>
        </p:nvSpPr>
        <p:spPr>
          <a:xfrm>
            <a:off x="274320" y="4690872"/>
            <a:ext cx="8686800" cy="384048"/>
          </a:xfrm>
          <a:prstGeom prst="rect">
            <a:avLst/>
          </a:prstGeom>
          <a:noFill/>
          <a:ln/>
        </p:spPr>
        <p:txBody>
          <a:bodyPr wrap="square" lIns="0" tIns="0" rIns="0" bIns="0" rtlCol="0" anchor="ctr"/>
          <a:lstStyle/>
          <a:p>
            <a:pPr algn="l" indent="0" marL="0">
              <a:buNone/>
            </a:pPr>
            <a:r>
              <a:rPr lang="en-US" sz="900" i="1" dirty="0">
                <a:solidFill>
                  <a:srgbClr val="E07B39"/>
                </a:solidFill>
                <a:latin typeface="Calibri" pitchFamily="34" charset="0"/>
                <a:ea typeface="Calibri" pitchFamily="34" charset="-122"/>
                <a:cs typeface="Calibri" pitchFamily="34" charset="-120"/>
              </a:rPr>
              <a:t>📋 TRAINER NOTE: Psychological safety is the single biggest lever in the closing environment. Homeowners who feel safe tell the truth. Homeowners who don't feel safe tell you what they think will get you out of the house fastest.</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E07B39"/>
          </a:solidFill>
          <a:ln w="12700">
            <a:solidFill>
              <a:srgbClr val="E07B39"/>
            </a:solidFill>
            <a:prstDash val="solid"/>
          </a:ln>
        </p:spPr>
      </p:sp>
      <p:sp>
        <p:nvSpPr>
          <p:cNvPr id="3" name="Text 1"/>
          <p:cNvSpPr/>
          <p:nvPr/>
        </p:nvSpPr>
        <p:spPr>
          <a:xfrm>
            <a:off x="365760" y="73152"/>
            <a:ext cx="3657600" cy="365760"/>
          </a:xfrm>
          <a:prstGeom prst="rect">
            <a:avLst/>
          </a:prstGeom>
          <a:noFill/>
          <a:ln/>
        </p:spPr>
        <p:txBody>
          <a:bodyPr wrap="square" lIns="0" tIns="0" rIns="0" bIns="0" rtlCol="0" anchor="ctr"/>
          <a:lstStyle/>
          <a:p>
            <a:pPr algn="l" indent="0" marL="0">
              <a:buNone/>
            </a:pPr>
            <a:r>
              <a:rPr lang="en-US" sz="1200" b="1" spc="300" kern="0" dirty="0">
                <a:solidFill>
                  <a:srgbClr val="0D1B2A"/>
                </a:solidFill>
                <a:latin typeface="Arial Black" pitchFamily="34" charset="0"/>
                <a:ea typeface="Arial Black" pitchFamily="34" charset="-122"/>
                <a:cs typeface="Arial Black" pitchFamily="34" charset="-120"/>
              </a:rPr>
              <a:t>🎯  ACTIVITY</a:t>
            </a:r>
            <a:endParaRPr lang="en-US" sz="1200" dirty="0"/>
          </a:p>
        </p:txBody>
      </p:sp>
      <p:sp>
        <p:nvSpPr>
          <p:cNvPr id="4" name="Text 2"/>
          <p:cNvSpPr/>
          <p:nvPr/>
        </p:nvSpPr>
        <p:spPr>
          <a:xfrm>
            <a:off x="365760" y="457200"/>
            <a:ext cx="8412480" cy="457200"/>
          </a:xfrm>
          <a:prstGeom prst="rect">
            <a:avLst/>
          </a:prstGeom>
          <a:noFill/>
          <a:ln/>
        </p:spPr>
        <p:txBody>
          <a:bodyPr wrap="square" lIns="0" tIns="0" rIns="0" bIns="0" rtlCol="0" anchor="ctr"/>
          <a:lstStyle/>
          <a:p>
            <a:pPr algn="l" indent="0" marL="0">
              <a:buNone/>
            </a:pPr>
            <a:r>
              <a:rPr lang="en-US" sz="1700" b="1" dirty="0">
                <a:solidFill>
                  <a:srgbClr val="0D1B2A"/>
                </a:solidFill>
                <a:latin typeface="Arial Black" pitchFamily="34" charset="0"/>
                <a:ea typeface="Arial Black" pitchFamily="34" charset="-122"/>
                <a:cs typeface="Arial Black" pitchFamily="34" charset="-120"/>
              </a:rPr>
              <a:t>Activity: The Fear Map Exercise</a:t>
            </a:r>
            <a:endParaRPr lang="en-US" sz="1700" dirty="0"/>
          </a:p>
        </p:txBody>
      </p:sp>
      <p:sp>
        <p:nvSpPr>
          <p:cNvPr id="5" name="Shape 3"/>
          <p:cNvSpPr/>
          <p:nvPr/>
        </p:nvSpPr>
        <p:spPr>
          <a:xfrm>
            <a:off x="274320" y="1143000"/>
            <a:ext cx="8595360" cy="475488"/>
          </a:xfrm>
          <a:prstGeom prst="rect">
            <a:avLst/>
          </a:prstGeom>
          <a:solidFill>
            <a:srgbClr val="1A2840"/>
          </a:solidFill>
          <a:ln w="12700">
            <a:solidFill>
              <a:srgbClr val="0891B2"/>
            </a:solidFill>
            <a:prstDash val="solid"/>
          </a:ln>
          <a:effectLst>
            <a:outerShdw sx="100000" sy="100000" kx="0" ky="0" algn="bl" rotWithShape="0" blurRad="101600" dist="38100" dir="8100000">
              <a:srgbClr val="000000">
                <a:alpha val="20000"/>
              </a:srgbClr>
            </a:outerShdw>
          </a:effectLst>
        </p:spPr>
      </p:sp>
      <p:sp>
        <p:nvSpPr>
          <p:cNvPr id="6" name="Text 4"/>
          <p:cNvSpPr/>
          <p:nvPr/>
        </p:nvSpPr>
        <p:spPr>
          <a:xfrm>
            <a:off x="411480" y="1170432"/>
            <a:ext cx="8321040" cy="420624"/>
          </a:xfrm>
          <a:prstGeom prst="rect">
            <a:avLst/>
          </a:prstGeom>
          <a:noFill/>
          <a:ln/>
        </p:spPr>
        <p:txBody>
          <a:bodyPr wrap="square" lIns="0" tIns="0" rIns="0" bIns="0" rtlCol="0" anchor="ctr"/>
          <a:lstStyle/>
          <a:p>
            <a:pPr algn="l" indent="0" marL="0">
              <a:buNone/>
            </a:pPr>
            <a:r>
              <a:rPr lang="en-US" sz="1100" b="1" i="1" dirty="0">
                <a:solidFill>
                  <a:srgbClr val="0891B2"/>
                </a:solidFill>
                <a:latin typeface="Calibri" pitchFamily="34" charset="0"/>
                <a:ea typeface="Calibri" pitchFamily="34" charset="-122"/>
                <a:cs typeface="Calibri" pitchFamily="34" charset="-120"/>
              </a:rPr>
              <a:t>OBJECTIVE: Categorize every reason a homeowner might be afraid to sign — and prescribe the antidote</a:t>
            </a:r>
            <a:endParaRPr lang="en-US" sz="1100" dirty="0"/>
          </a:p>
        </p:txBody>
      </p:sp>
      <p:sp>
        <p:nvSpPr>
          <p:cNvPr id="7" name="Text 5"/>
          <p:cNvSpPr/>
          <p:nvPr/>
        </p:nvSpPr>
        <p:spPr>
          <a:xfrm>
            <a:off x="365760" y="1755648"/>
            <a:ext cx="6858000" cy="2834640"/>
          </a:xfrm>
          <a:prstGeom prst="rect">
            <a:avLst/>
          </a:prstGeom>
          <a:noFill/>
          <a:ln/>
        </p:spPr>
        <p:txBody>
          <a:bodyPr wrap="square" lIns="0" tIns="0" rIns="0" bIns="0" rtlCol="0" anchor="t"/>
          <a:lstStyle/>
          <a:p>
            <a:pPr indent="0" marL="0">
              <a:spcAft>
                <a:spcPts val="800"/>
              </a:spcAft>
              <a:buNone/>
            </a:pPr>
            <a:r>
              <a:rPr lang="en-US" sz="1200" dirty="0">
                <a:solidFill>
                  <a:srgbClr val="FFFFFF"/>
                </a:solidFill>
                <a:latin typeface="Calibri" pitchFamily="34" charset="0"/>
                <a:ea typeface="Calibri" pitchFamily="34" charset="-122"/>
                <a:cs typeface="Calibri" pitchFamily="34" charset="-120"/>
              </a:rPr>
              <a:t>1.  Each rep writes down 10 reasons a homeowner would be afraid to sign right now</a:t>
            </a:r>
            <a:endParaRPr lang="en-US" sz="1200" dirty="0"/>
          </a:p>
          <a:p>
            <a:pPr indent="0" marL="0">
              <a:spcAft>
                <a:spcPts val="800"/>
              </a:spcAft>
              <a:buNone/>
            </a:pPr>
            <a:r>
              <a:rPr lang="en-US" sz="1200" dirty="0">
                <a:solidFill>
                  <a:srgbClr val="FFFFFF"/>
                </a:solidFill>
                <a:latin typeface="Calibri" pitchFamily="34" charset="0"/>
                <a:ea typeface="Calibri" pitchFamily="34" charset="-122"/>
                <a:cs typeface="Calibri" pitchFamily="34" charset="-120"/>
              </a:rPr>
              <a:t>2.  Categorize each fear as: LOGICAL (data can solve it) or EMOTIONAL (validation must come first)</a:t>
            </a:r>
            <a:endParaRPr lang="en-US" sz="1200" dirty="0"/>
          </a:p>
          <a:p>
            <a:pPr indent="0" marL="0">
              <a:spcAft>
                <a:spcPts val="800"/>
              </a:spcAft>
              <a:buNone/>
            </a:pPr>
            <a:r>
              <a:rPr lang="en-US" sz="1200" dirty="0">
                <a:solidFill>
                  <a:srgbClr val="FFFFFF"/>
                </a:solidFill>
                <a:latin typeface="Calibri" pitchFamily="34" charset="0"/>
                <a:ea typeface="Calibri" pitchFamily="34" charset="-122"/>
                <a:cs typeface="Calibri" pitchFamily="34" charset="-120"/>
              </a:rPr>
              <a:t>3.  For each Emotional fear, write a one-sentence 'Safety Frame' that acknowledges it without defending against it</a:t>
            </a:r>
            <a:endParaRPr lang="en-US" sz="1200" dirty="0"/>
          </a:p>
          <a:p>
            <a:pPr indent="0" marL="0">
              <a:spcAft>
                <a:spcPts val="800"/>
              </a:spcAft>
              <a:buNone/>
            </a:pPr>
            <a:r>
              <a:rPr lang="en-US" sz="1200" dirty="0">
                <a:solidFill>
                  <a:srgbClr val="FFFFFF"/>
                </a:solidFill>
                <a:latin typeface="Calibri" pitchFamily="34" charset="0"/>
                <a:ea typeface="Calibri" pitchFamily="34" charset="-122"/>
                <a:cs typeface="Calibri" pitchFamily="34" charset="-120"/>
              </a:rPr>
              <a:t>4.  Share the top 3 with the group — which fears are most universal in your market?</a:t>
            </a:r>
            <a:endParaRPr lang="en-US" sz="1200" dirty="0"/>
          </a:p>
          <a:p>
            <a:pPr indent="0" marL="0">
              <a:spcAft>
                <a:spcPts val="800"/>
              </a:spcAft>
              <a:buNone/>
            </a:pPr>
            <a:r>
              <a:rPr lang="en-US" sz="1200" dirty="0">
                <a:solidFill>
                  <a:srgbClr val="FFFFFF"/>
                </a:solidFill>
                <a:latin typeface="Calibri" pitchFamily="34" charset="0"/>
                <a:ea typeface="Calibri" pitchFamily="34" charset="-122"/>
                <a:cs typeface="Calibri" pitchFamily="34" charset="-120"/>
              </a:rPr>
              <a:t>5.  Deliverable: A written 'Empathy Opener' script for homeowners who show signs of Contractor Trauma</a:t>
            </a:r>
            <a:endParaRPr lang="en-US" sz="1200" dirty="0"/>
          </a:p>
        </p:txBody>
      </p:sp>
      <p:sp>
        <p:nvSpPr>
          <p:cNvPr id="8" name="Shape 6"/>
          <p:cNvSpPr/>
          <p:nvPr/>
        </p:nvSpPr>
        <p:spPr>
          <a:xfrm>
            <a:off x="7132320" y="1755648"/>
            <a:ext cx="1737360" cy="914400"/>
          </a:xfrm>
          <a:prstGeom prst="rect">
            <a:avLst/>
          </a:prstGeom>
          <a:solidFill>
            <a:srgbClr val="F4A61D"/>
          </a:solidFill>
          <a:ln w="12700">
            <a:solidFill>
              <a:srgbClr val="F4A61D"/>
            </a:solidFill>
            <a:prstDash val="solid"/>
          </a:ln>
          <a:effectLst>
            <a:outerShdw sx="100000" sy="100000" kx="0" ky="0" algn="bl" rotWithShape="0" blurRad="101600" dist="38100" dir="8100000">
              <a:srgbClr val="000000">
                <a:alpha val="20000"/>
              </a:srgbClr>
            </a:outerShdw>
          </a:effectLst>
        </p:spPr>
      </p:sp>
      <p:sp>
        <p:nvSpPr>
          <p:cNvPr id="9" name="Text 7"/>
          <p:cNvSpPr/>
          <p:nvPr/>
        </p:nvSpPr>
        <p:spPr>
          <a:xfrm>
            <a:off x="7150608" y="1773936"/>
            <a:ext cx="1691640" cy="877824"/>
          </a:xfrm>
          <a:prstGeom prst="rect">
            <a:avLst/>
          </a:prstGeom>
          <a:noFill/>
          <a:ln/>
        </p:spPr>
        <p:txBody>
          <a:bodyPr wrap="square" lIns="0" tIns="0" rIns="0" bIns="0" rtlCol="0" anchor="ctr"/>
          <a:lstStyle/>
          <a:p>
            <a:pPr algn="ctr" indent="0" marL="0">
              <a:buNone/>
            </a:pPr>
            <a:r>
              <a:rPr lang="en-US" sz="1400" b="1" dirty="0">
                <a:solidFill>
                  <a:srgbClr val="0D1B2A"/>
                </a:solidFill>
                <a:latin typeface="Arial Black" pitchFamily="34" charset="0"/>
                <a:ea typeface="Arial Black" pitchFamily="34" charset="-122"/>
                <a:cs typeface="Arial Black" pitchFamily="34" charset="-120"/>
              </a:rPr>
              <a:t>30 MIN</a:t>
            </a:r>
            <a:endParaRPr lang="en-US" sz="1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9144000" cy="1691640"/>
          </a:xfrm>
          <a:prstGeom prst="rect">
            <a:avLst/>
          </a:prstGeom>
          <a:solidFill>
            <a:srgbClr val="F4A61D"/>
          </a:solidFill>
          <a:ln w="12700">
            <a:solidFill>
              <a:srgbClr val="F4A61D"/>
            </a:solidFill>
            <a:prstDash val="solid"/>
          </a:ln>
        </p:spPr>
      </p:sp>
      <p:sp>
        <p:nvSpPr>
          <p:cNvPr id="3" name="Text 1"/>
          <p:cNvSpPr/>
          <p:nvPr/>
        </p:nvSpPr>
        <p:spPr>
          <a:xfrm>
            <a:off x="365760" y="137160"/>
            <a:ext cx="8412480" cy="420624"/>
          </a:xfrm>
          <a:prstGeom prst="rect">
            <a:avLst/>
          </a:prstGeom>
          <a:noFill/>
          <a:ln/>
        </p:spPr>
        <p:txBody>
          <a:bodyPr wrap="square" lIns="0" tIns="0" rIns="0" bIns="0" rtlCol="0" anchor="ctr"/>
          <a:lstStyle/>
          <a:p>
            <a:pPr algn="l" indent="0" marL="0">
              <a:buNone/>
            </a:pPr>
            <a:r>
              <a:rPr lang="en-US" sz="1300" b="1" spc="400" kern="0" dirty="0">
                <a:solidFill>
                  <a:srgbClr val="0D1B2A"/>
                </a:solidFill>
                <a:latin typeface="Arial Black" pitchFamily="34" charset="0"/>
                <a:ea typeface="Arial Black" pitchFamily="34" charset="-122"/>
                <a:cs typeface="Arial Black" pitchFamily="34" charset="-120"/>
              </a:rPr>
              <a:t>MODULE 6.2</a:t>
            </a:r>
            <a:endParaRPr lang="en-US" sz="1300" dirty="0"/>
          </a:p>
        </p:txBody>
      </p:sp>
      <p:sp>
        <p:nvSpPr>
          <p:cNvPr id="4" name="Text 2"/>
          <p:cNvSpPr/>
          <p:nvPr/>
        </p:nvSpPr>
        <p:spPr>
          <a:xfrm>
            <a:off x="365760" y="530352"/>
            <a:ext cx="8412480" cy="1005840"/>
          </a:xfrm>
          <a:prstGeom prst="rect">
            <a:avLst/>
          </a:prstGeom>
          <a:noFill/>
          <a:ln/>
        </p:spPr>
        <p:txBody>
          <a:bodyPr wrap="square" lIns="0" tIns="0" rIns="0" bIns="0" rtlCol="0" anchor="ctr"/>
          <a:lstStyle/>
          <a:p>
            <a:pPr algn="l" indent="0" marL="0">
              <a:buNone/>
            </a:pPr>
            <a:r>
              <a:rPr lang="en-US" sz="2500" b="1" dirty="0">
                <a:solidFill>
                  <a:srgbClr val="0D1B2A"/>
                </a:solidFill>
                <a:latin typeface="Arial Black" pitchFamily="34" charset="0"/>
                <a:ea typeface="Arial Black" pitchFamily="34" charset="-122"/>
                <a:cs typeface="Arial Black" pitchFamily="34" charset="-120"/>
              </a:rPr>
              <a:t>The ACAC Framework: The Universal Objection Handler</a:t>
            </a:r>
            <a:endParaRPr lang="en-US" sz="2500" dirty="0"/>
          </a:p>
        </p:txBody>
      </p:sp>
      <p:sp>
        <p:nvSpPr>
          <p:cNvPr id="5" name="Text 3"/>
          <p:cNvSpPr/>
          <p:nvPr/>
        </p:nvSpPr>
        <p:spPr>
          <a:xfrm>
            <a:off x="365760" y="1920240"/>
            <a:ext cx="8412480" cy="502920"/>
          </a:xfrm>
          <a:prstGeom prst="rect">
            <a:avLst/>
          </a:prstGeom>
          <a:noFill/>
          <a:ln/>
        </p:spPr>
        <p:txBody>
          <a:bodyPr wrap="square" lIns="0" tIns="0" rIns="0" bIns="0" rtlCol="0" anchor="ctr"/>
          <a:lstStyle/>
          <a:p>
            <a:pPr algn="l" indent="0" marL="0">
              <a:buNone/>
            </a:pPr>
            <a:r>
              <a:rPr lang="en-US" sz="1500" b="1" i="1" dirty="0">
                <a:solidFill>
                  <a:srgbClr val="F4A61D"/>
                </a:solidFill>
                <a:latin typeface="Calibri" pitchFamily="34" charset="0"/>
                <a:ea typeface="Calibri" pitchFamily="34" charset="-122"/>
                <a:cs typeface="Calibri" pitchFamily="34" charset="-120"/>
              </a:rPr>
              <a:t>4 Steps. Every Objection. Every Time.</a:t>
            </a:r>
            <a:endParaRPr lang="en-US" sz="1500" dirty="0"/>
          </a:p>
        </p:txBody>
      </p:sp>
      <p:sp>
        <p:nvSpPr>
          <p:cNvPr id="6" name="Shape 4"/>
          <p:cNvSpPr/>
          <p:nvPr/>
        </p:nvSpPr>
        <p:spPr>
          <a:xfrm>
            <a:off x="365760" y="2606040"/>
            <a:ext cx="164592" cy="164592"/>
          </a:xfrm>
          <a:prstGeom prst="ellipse">
            <a:avLst/>
          </a:prstGeom>
          <a:solidFill>
            <a:srgbClr val="F4A61D">
              <a:alpha val="40000"/>
            </a:srgbClr>
          </a:solidFill>
          <a:ln w="12700">
            <a:solidFill>
              <a:srgbClr val="F4A61D">
                <a:alpha val="40000"/>
              </a:srgbClr>
            </a:solidFill>
            <a:prstDash val="solid"/>
          </a:ln>
        </p:spPr>
      </p:sp>
      <p:sp>
        <p:nvSpPr>
          <p:cNvPr id="7" name="Shape 5"/>
          <p:cNvSpPr/>
          <p:nvPr/>
        </p:nvSpPr>
        <p:spPr>
          <a:xfrm>
            <a:off x="685800" y="2606040"/>
            <a:ext cx="164592" cy="164592"/>
          </a:xfrm>
          <a:prstGeom prst="ellipse">
            <a:avLst/>
          </a:prstGeom>
          <a:solidFill>
            <a:srgbClr val="F4A61D">
              <a:alpha val="40000"/>
            </a:srgbClr>
          </a:solidFill>
          <a:ln w="12700">
            <a:solidFill>
              <a:srgbClr val="F4A61D">
                <a:alpha val="40000"/>
              </a:srgbClr>
            </a:solidFill>
            <a:prstDash val="solid"/>
          </a:ln>
        </p:spPr>
      </p:sp>
      <p:sp>
        <p:nvSpPr>
          <p:cNvPr id="8" name="Shape 6"/>
          <p:cNvSpPr/>
          <p:nvPr/>
        </p:nvSpPr>
        <p:spPr>
          <a:xfrm>
            <a:off x="1005840" y="2606040"/>
            <a:ext cx="164592" cy="164592"/>
          </a:xfrm>
          <a:prstGeom prst="ellipse">
            <a:avLst/>
          </a:prstGeom>
          <a:solidFill>
            <a:srgbClr val="F4A61D">
              <a:alpha val="40000"/>
            </a:srgbClr>
          </a:solidFill>
          <a:ln w="12700">
            <a:solidFill>
              <a:srgbClr val="F4A61D">
                <a:alpha val="40000"/>
              </a:srgbClr>
            </a:solidFill>
            <a:prstDash val="solid"/>
          </a:ln>
        </p:spPr>
      </p:sp>
      <p:sp>
        <p:nvSpPr>
          <p:cNvPr id="9" name="Shape 7"/>
          <p:cNvSpPr/>
          <p:nvPr/>
        </p:nvSpPr>
        <p:spPr>
          <a:xfrm>
            <a:off x="1325880" y="2606040"/>
            <a:ext cx="164592" cy="164592"/>
          </a:xfrm>
          <a:prstGeom prst="ellipse">
            <a:avLst/>
          </a:prstGeom>
          <a:solidFill>
            <a:srgbClr val="F4A61D">
              <a:alpha val="40000"/>
            </a:srgbClr>
          </a:solidFill>
          <a:ln w="12700">
            <a:solidFill>
              <a:srgbClr val="F4A61D">
                <a:alpha val="40000"/>
              </a:srgbClr>
            </a:solidFill>
            <a:prstDash val="solid"/>
          </a:ln>
        </p:spPr>
      </p:sp>
      <p:sp>
        <p:nvSpPr>
          <p:cNvPr id="10" name="Shape 8"/>
          <p:cNvSpPr/>
          <p:nvPr/>
        </p:nvSpPr>
        <p:spPr>
          <a:xfrm>
            <a:off x="1645920" y="2606040"/>
            <a:ext cx="164592" cy="164592"/>
          </a:xfrm>
          <a:prstGeom prst="ellipse">
            <a:avLst/>
          </a:prstGeom>
          <a:solidFill>
            <a:srgbClr val="F4A61D">
              <a:alpha val="40000"/>
            </a:srgbClr>
          </a:solidFill>
          <a:ln w="12700">
            <a:solidFill>
              <a:srgbClr val="F4A61D">
                <a:alpha val="40000"/>
              </a:srgbClr>
            </a:solidFill>
            <a:prstDash val="solid"/>
          </a:ln>
        </p:spPr>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4480560"/>
            <a:ext cx="9144000" cy="662940"/>
          </a:xfrm>
          <a:prstGeom prst="rect">
            <a:avLst/>
          </a:prstGeom>
          <a:solidFill>
            <a:srgbClr val="F4A61D"/>
          </a:solidFill>
          <a:ln w="12700">
            <a:solidFill>
              <a:srgbClr val="F4A61D"/>
            </a:solidFill>
            <a:prstDash val="solid"/>
          </a:ln>
        </p:spPr>
      </p:sp>
      <p:sp>
        <p:nvSpPr>
          <p:cNvPr id="3" name="Text 1"/>
          <p:cNvSpPr/>
          <p:nvPr/>
        </p:nvSpPr>
        <p:spPr>
          <a:xfrm>
            <a:off x="457200" y="1097280"/>
            <a:ext cx="8229600" cy="457200"/>
          </a:xfrm>
          <a:prstGeom prst="rect">
            <a:avLst/>
          </a:prstGeom>
          <a:noFill/>
          <a:ln/>
        </p:spPr>
        <p:txBody>
          <a:bodyPr wrap="square" lIns="0" tIns="0" rIns="0" bIns="0" rtlCol="0" anchor="ctr"/>
          <a:lstStyle/>
          <a:p>
            <a:pPr algn="l" indent="0" marL="0">
              <a:buNone/>
            </a:pPr>
            <a:r>
              <a:rPr lang="en-US" sz="1200" b="1" spc="500" kern="0" dirty="0">
                <a:solidFill>
                  <a:srgbClr val="F4A61D"/>
                </a:solidFill>
                <a:latin typeface="Arial" pitchFamily="34" charset="0"/>
                <a:ea typeface="Arial" pitchFamily="34" charset="-122"/>
                <a:cs typeface="Arial" pitchFamily="34" charset="-120"/>
              </a:rPr>
              <a:t>MODULE 6.2 — THE ACAC FRAMEWORK</a:t>
            </a:r>
            <a:endParaRPr lang="en-US" sz="1200" dirty="0"/>
          </a:p>
        </p:txBody>
      </p:sp>
      <p:sp>
        <p:nvSpPr>
          <p:cNvPr id="4" name="Text 2"/>
          <p:cNvSpPr/>
          <p:nvPr/>
        </p:nvSpPr>
        <p:spPr>
          <a:xfrm>
            <a:off x="457200" y="1536192"/>
            <a:ext cx="7772400" cy="1325880"/>
          </a:xfrm>
          <a:prstGeom prst="rect">
            <a:avLst/>
          </a:prstGeom>
          <a:noFill/>
          <a:ln/>
        </p:spPr>
        <p:txBody>
          <a:bodyPr wrap="square" lIns="0" tIns="0" rIns="0" bIns="0" rtlCol="0" anchor="ctr"/>
          <a:lstStyle/>
          <a:p>
            <a:pPr algn="l" indent="0" marL="0">
              <a:buNone/>
            </a:pPr>
            <a:r>
              <a:rPr lang="en-US" sz="3100" b="1" dirty="0">
                <a:solidFill>
                  <a:srgbClr val="FFFFFF"/>
                </a:solidFill>
                <a:latin typeface="Arial Black" pitchFamily="34" charset="0"/>
                <a:ea typeface="Arial Black" pitchFamily="34" charset="-122"/>
                <a:cs typeface="Arial Black" pitchFamily="34" charset="-120"/>
              </a:rPr>
              <a:t>Acknowledge → Clarify → Address → Confirm</a:t>
            </a:r>
            <a:endParaRPr lang="en-US" sz="3100" dirty="0"/>
          </a:p>
        </p:txBody>
      </p:sp>
      <p:sp>
        <p:nvSpPr>
          <p:cNvPr id="5" name="Text 3"/>
          <p:cNvSpPr/>
          <p:nvPr/>
        </p:nvSpPr>
        <p:spPr>
          <a:xfrm>
            <a:off x="457200" y="2971800"/>
            <a:ext cx="7772400" cy="1371600"/>
          </a:xfrm>
          <a:prstGeom prst="rect">
            <a:avLst/>
          </a:prstGeom>
          <a:noFill/>
          <a:ln/>
        </p:spPr>
        <p:txBody>
          <a:bodyPr wrap="square" lIns="0" tIns="0" rIns="0" bIns="0" rtlCol="0" anchor="ctr"/>
          <a:lstStyle/>
          <a:p>
            <a:pPr marL="342900" indent="-342900">
              <a:buSzPct val="100000"/>
              <a:buFont typeface="+mj-lt"/>
              <a:buAutoNum type="arabicPeriod" startAt="1"/>
            </a:pPr>
            <a:r>
              <a:rPr lang="en-US" sz="1300" dirty="0">
                <a:solidFill>
                  <a:srgbClr val="8FA3B1"/>
                </a:solidFill>
                <a:latin typeface="Calibri" pitchFamily="34" charset="0"/>
                <a:ea typeface="Calibri" pitchFamily="34" charset="-122"/>
                <a:cs typeface="Calibri" pitchFamily="34" charset="-120"/>
              </a:rPr>
              <a:t>Acknowledge: the Cushion that prevents the argumentative tone</a:t>
            </a:r>
            <a:endParaRPr lang="en-US" sz="1300" dirty="0"/>
          </a:p>
          <a:p>
            <a:pPr marL="342900" indent="-342900">
              <a:buSzPct val="100000"/>
              <a:buFont typeface="+mj-lt"/>
              <a:buAutoNum type="arabicPeriod" startAt="1"/>
            </a:pPr>
            <a:r>
              <a:rPr lang="en-US" sz="1300" dirty="0">
                <a:solidFill>
                  <a:srgbClr val="8FA3B1"/>
                </a:solidFill>
                <a:latin typeface="Calibri" pitchFamily="34" charset="0"/>
                <a:ea typeface="Calibri" pitchFamily="34" charset="-122"/>
                <a:cs typeface="Calibri" pitchFamily="34" charset="-120"/>
              </a:rPr>
              <a:t>Clarify: asking 'What specifically?' instead of defending</a:t>
            </a:r>
            <a:endParaRPr lang="en-US" sz="1300" dirty="0"/>
          </a:p>
          <a:p>
            <a:pPr marL="342900" indent="-342900">
              <a:buSzPct val="100000"/>
              <a:buFont typeface="+mj-lt"/>
              <a:buAutoNum type="arabicPeriod" startAt="1"/>
            </a:pPr>
            <a:r>
              <a:rPr lang="en-US" sz="1300" dirty="0">
                <a:solidFill>
                  <a:srgbClr val="8FA3B1"/>
                </a:solidFill>
                <a:latin typeface="Calibri" pitchFamily="34" charset="0"/>
                <a:ea typeface="Calibri" pitchFamily="34" charset="-122"/>
                <a:cs typeface="Calibri" pitchFamily="34" charset="-120"/>
              </a:rPr>
              <a:t>Address: Feel-Felt-Found and Third-Party Proof methods</a:t>
            </a:r>
            <a:endParaRPr lang="en-US" sz="1300" dirty="0"/>
          </a:p>
          <a:p>
            <a:pPr marL="342900" indent="-342900">
              <a:buSzPct val="100000"/>
              <a:buFont typeface="+mj-lt"/>
              <a:buAutoNum type="arabicPeriod" startAt="1"/>
            </a:pPr>
            <a:r>
              <a:rPr lang="en-US" sz="1300" dirty="0">
                <a:solidFill>
                  <a:srgbClr val="8FA3B1"/>
                </a:solidFill>
                <a:latin typeface="Calibri" pitchFamily="34" charset="0"/>
                <a:ea typeface="Calibri" pitchFamily="34" charset="-122"/>
                <a:cs typeface="Calibri" pitchFamily="34" charset="-120"/>
              </a:rPr>
              <a:t>Confirm: the Close-Back that kills the 'Zombie Objection'</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F4A61D"/>
          </a:solidFill>
          <a:ln w="12700">
            <a:solidFill>
              <a:srgbClr val="F4A61D"/>
            </a:solidFill>
            <a:prstDash val="solid"/>
          </a:ln>
        </p:spPr>
      </p:sp>
      <p:sp>
        <p:nvSpPr>
          <p:cNvPr id="3" name="Text 1"/>
          <p:cNvSpPr/>
          <p:nvPr/>
        </p:nvSpPr>
        <p:spPr>
          <a:xfrm>
            <a:off x="274320" y="164592"/>
            <a:ext cx="8503920" cy="594360"/>
          </a:xfrm>
          <a:prstGeom prst="rect">
            <a:avLst/>
          </a:prstGeom>
          <a:noFill/>
          <a:ln/>
        </p:spPr>
        <p:txBody>
          <a:bodyPr wrap="square" lIns="0" tIns="0" rIns="0" bIns="0" rtlCol="0" anchor="ctr"/>
          <a:lstStyle/>
          <a:p>
            <a:pPr algn="l" indent="0" marL="0">
              <a:buNone/>
            </a:pPr>
            <a:r>
              <a:rPr lang="en-US" sz="1900" b="1" dirty="0">
                <a:solidFill>
                  <a:srgbClr val="F4A61D"/>
                </a:solidFill>
                <a:latin typeface="Arial Black" pitchFamily="34" charset="0"/>
                <a:ea typeface="Arial Black" pitchFamily="34" charset="-122"/>
                <a:cs typeface="Arial Black" pitchFamily="34" charset="-120"/>
              </a:rPr>
              <a:t>The ACAC Framework: 4 Steps, Every Objection, Every Time</a:t>
            </a:r>
            <a:endParaRPr lang="en-US" sz="1900" dirty="0"/>
          </a:p>
        </p:txBody>
      </p:sp>
      <p:sp>
        <p:nvSpPr>
          <p:cNvPr id="4" name="Shape 2"/>
          <p:cNvSpPr/>
          <p:nvPr/>
        </p:nvSpPr>
        <p:spPr>
          <a:xfrm>
            <a:off x="274320" y="777240"/>
            <a:ext cx="8503920" cy="27432"/>
          </a:xfrm>
          <a:prstGeom prst="rect">
            <a:avLst/>
          </a:prstGeom>
          <a:solidFill>
            <a:srgbClr val="F4A61D">
              <a:alpha val="40000"/>
            </a:srgbClr>
          </a:solidFill>
          <a:ln w="12700">
            <a:solidFill>
              <a:srgbClr val="F4A61D">
                <a:alpha val="40000"/>
              </a:srgbClr>
            </a:solidFill>
            <a:prstDash val="solid"/>
          </a:ln>
        </p:spPr>
      </p:sp>
      <p:sp>
        <p:nvSpPr>
          <p:cNvPr id="5" name="Shape 3"/>
          <p:cNvSpPr/>
          <p:nvPr/>
        </p:nvSpPr>
        <p:spPr>
          <a:xfrm>
            <a:off x="274320" y="914400"/>
            <a:ext cx="2057400" cy="3566160"/>
          </a:xfrm>
          <a:prstGeom prst="rect">
            <a:avLst/>
          </a:prstGeom>
          <a:solidFill>
            <a:srgbClr val="1A2840"/>
          </a:solidFill>
          <a:ln w="25400">
            <a:solidFill>
              <a:srgbClr val="F4A61D"/>
            </a:solidFill>
            <a:prstDash val="solid"/>
          </a:ln>
          <a:effectLst>
            <a:outerShdw sx="100000" sy="100000" kx="0" ky="0" algn="bl" rotWithShape="0" blurRad="101600" dist="38100" dir="8100000">
              <a:srgbClr val="000000">
                <a:alpha val="20000"/>
              </a:srgbClr>
            </a:outerShdw>
          </a:effectLst>
        </p:spPr>
      </p:sp>
      <p:sp>
        <p:nvSpPr>
          <p:cNvPr id="6" name="Shape 4"/>
          <p:cNvSpPr/>
          <p:nvPr/>
        </p:nvSpPr>
        <p:spPr>
          <a:xfrm>
            <a:off x="274320" y="914400"/>
            <a:ext cx="2057400" cy="658368"/>
          </a:xfrm>
          <a:prstGeom prst="rect">
            <a:avLst/>
          </a:prstGeom>
          <a:solidFill>
            <a:srgbClr val="F4A61D"/>
          </a:solidFill>
          <a:ln w="12700">
            <a:solidFill>
              <a:srgbClr val="F4A61D"/>
            </a:solidFill>
            <a:prstDash val="solid"/>
          </a:ln>
        </p:spPr>
      </p:sp>
      <p:sp>
        <p:nvSpPr>
          <p:cNvPr id="7" name="Text 5"/>
          <p:cNvSpPr/>
          <p:nvPr/>
        </p:nvSpPr>
        <p:spPr>
          <a:xfrm>
            <a:off x="320040" y="932688"/>
            <a:ext cx="621792" cy="621792"/>
          </a:xfrm>
          <a:prstGeom prst="rect">
            <a:avLst/>
          </a:prstGeom>
          <a:noFill/>
          <a:ln/>
        </p:spPr>
        <p:txBody>
          <a:bodyPr wrap="square" lIns="0" tIns="0" rIns="0" bIns="0" rtlCol="0" anchor="ctr"/>
          <a:lstStyle/>
          <a:p>
            <a:pPr algn="ctr" indent="0" marL="0">
              <a:buNone/>
            </a:pPr>
            <a:r>
              <a:rPr lang="en-US" sz="3400" b="1" dirty="0">
                <a:solidFill>
                  <a:srgbClr val="FFFFFF"/>
                </a:solidFill>
                <a:latin typeface="Arial Black" pitchFamily="34" charset="0"/>
                <a:ea typeface="Arial Black" pitchFamily="34" charset="-122"/>
                <a:cs typeface="Arial Black" pitchFamily="34" charset="-120"/>
              </a:rPr>
              <a:t>A</a:t>
            </a:r>
            <a:endParaRPr lang="en-US" sz="3400" dirty="0"/>
          </a:p>
        </p:txBody>
      </p:sp>
      <p:sp>
        <p:nvSpPr>
          <p:cNvPr id="8" name="Text 6"/>
          <p:cNvSpPr/>
          <p:nvPr/>
        </p:nvSpPr>
        <p:spPr>
          <a:xfrm>
            <a:off x="932688" y="1005840"/>
            <a:ext cx="1325880" cy="475488"/>
          </a:xfrm>
          <a:prstGeom prst="rect">
            <a:avLst/>
          </a:prstGeom>
          <a:noFill/>
          <a:ln/>
        </p:spPr>
        <p:txBody>
          <a:bodyPr wrap="square" lIns="0" tIns="0" rIns="0" bIns="0" rtlCol="0" anchor="ctr"/>
          <a:lstStyle/>
          <a:p>
            <a:pPr algn="l" indent="0" marL="0">
              <a:buNone/>
            </a:pPr>
            <a:r>
              <a:rPr lang="en-US" sz="1400" b="1" dirty="0">
                <a:solidFill>
                  <a:srgbClr val="FFFFFF"/>
                </a:solidFill>
                <a:latin typeface="Arial Black" pitchFamily="34" charset="0"/>
                <a:ea typeface="Arial Black" pitchFamily="34" charset="-122"/>
                <a:cs typeface="Arial Black" pitchFamily="34" charset="-120"/>
              </a:rPr>
              <a:t>Acknowledge</a:t>
            </a:r>
            <a:endParaRPr lang="en-US" sz="1400" dirty="0"/>
          </a:p>
        </p:txBody>
      </p:sp>
      <p:sp>
        <p:nvSpPr>
          <p:cNvPr id="9" name="Text 7"/>
          <p:cNvSpPr/>
          <p:nvPr/>
        </p:nvSpPr>
        <p:spPr>
          <a:xfrm>
            <a:off x="365760" y="1645920"/>
            <a:ext cx="1874520" cy="502920"/>
          </a:xfrm>
          <a:prstGeom prst="rect">
            <a:avLst/>
          </a:prstGeom>
          <a:noFill/>
          <a:ln/>
        </p:spPr>
        <p:txBody>
          <a:bodyPr wrap="square" lIns="0" tIns="0" rIns="0" bIns="0" rtlCol="0" anchor="ctr"/>
          <a:lstStyle/>
          <a:p>
            <a:pPr algn="ctr" indent="0" marL="0">
              <a:buNone/>
            </a:pPr>
            <a:r>
              <a:rPr lang="en-US" sz="1100" b="1" dirty="0">
                <a:solidFill>
                  <a:srgbClr val="F4A61D"/>
                </a:solidFill>
                <a:latin typeface="Arial Black" pitchFamily="34" charset="0"/>
                <a:ea typeface="Arial Black" pitchFamily="34" charset="-122"/>
                <a:cs typeface="Arial Black" pitchFamily="34" charset="-120"/>
              </a:rPr>
              <a:t>The Cushion</a:t>
            </a:r>
            <a:endParaRPr lang="en-US" sz="1100" dirty="0"/>
          </a:p>
        </p:txBody>
      </p:sp>
      <p:sp>
        <p:nvSpPr>
          <p:cNvPr id="10" name="Text 8"/>
          <p:cNvSpPr/>
          <p:nvPr/>
        </p:nvSpPr>
        <p:spPr>
          <a:xfrm>
            <a:off x="365760" y="2194560"/>
            <a:ext cx="1874520" cy="2194560"/>
          </a:xfrm>
          <a:prstGeom prst="rect">
            <a:avLst/>
          </a:prstGeom>
          <a:noFill/>
          <a:ln/>
        </p:spPr>
        <p:txBody>
          <a:bodyPr wrap="square" lIns="0" tIns="0" rIns="0" bIns="0" rtlCol="0" anchor="t"/>
          <a:lstStyle/>
          <a:p>
            <a:pPr marL="342900" indent="-342900">
              <a:spcAft>
                <a:spcPts val="400"/>
              </a:spcAft>
              <a:buSzPct val="100000"/>
              <a:buChar char="•"/>
            </a:pPr>
            <a:r>
              <a:rPr lang="en-US" sz="1000" dirty="0">
                <a:solidFill>
                  <a:srgbClr val="FFFFFF"/>
                </a:solidFill>
                <a:latin typeface="Calibri" pitchFamily="34" charset="0"/>
                <a:ea typeface="Calibri" pitchFamily="34" charset="-122"/>
                <a:cs typeface="Calibri" pitchFamily="34" charset="-120"/>
              </a:rPr>
              <a:t>'I hear you — if I were in your position I'd think the same thing'</a:t>
            </a:r>
            <a:endParaRPr lang="en-US" sz="1000" dirty="0"/>
          </a:p>
          <a:p>
            <a:pPr marL="342900" indent="-342900">
              <a:spcAft>
                <a:spcPts val="400"/>
              </a:spcAft>
              <a:buSzPct val="100000"/>
              <a:buChar char="•"/>
            </a:pPr>
            <a:r>
              <a:rPr lang="en-US" sz="1000" dirty="0">
                <a:solidFill>
                  <a:srgbClr val="FFFFFF"/>
                </a:solidFill>
                <a:latin typeface="Calibri" pitchFamily="34" charset="0"/>
                <a:ea typeface="Calibri" pitchFamily="34" charset="-122"/>
                <a:cs typeface="Calibri" pitchFamily="34" charset="-120"/>
              </a:rPr>
              <a:t>Never skip this step</a:t>
            </a:r>
            <a:endParaRPr lang="en-US" sz="1000" dirty="0"/>
          </a:p>
          <a:p>
            <a:pPr marL="342900" indent="-342900">
              <a:spcAft>
                <a:spcPts val="400"/>
              </a:spcAft>
              <a:buSzPct val="100000"/>
              <a:buChar char="•"/>
            </a:pPr>
            <a:r>
              <a:rPr lang="en-US" sz="1000" dirty="0">
                <a:solidFill>
                  <a:srgbClr val="FFFFFF"/>
                </a:solidFill>
                <a:latin typeface="Calibri" pitchFamily="34" charset="0"/>
                <a:ea typeface="Calibri" pitchFamily="34" charset="-122"/>
                <a:cs typeface="Calibri" pitchFamily="34" charset="-120"/>
              </a:rPr>
              <a:t>Lowers defense before logic lands</a:t>
            </a:r>
            <a:endParaRPr lang="en-US" sz="1000" dirty="0"/>
          </a:p>
          <a:p>
            <a:pPr marL="342900" indent="-342900">
              <a:spcAft>
                <a:spcPts val="400"/>
              </a:spcAft>
              <a:buSzPct val="100000"/>
              <a:buChar char="•"/>
            </a:pPr>
            <a:r>
              <a:rPr lang="en-US" sz="1000" dirty="0">
                <a:solidFill>
                  <a:srgbClr val="FFFFFF"/>
                </a:solidFill>
                <a:latin typeface="Calibri" pitchFamily="34" charset="0"/>
                <a:ea typeface="Calibri" pitchFamily="34" charset="-122"/>
                <a:cs typeface="Calibri" pitchFamily="34" charset="-120"/>
              </a:rPr>
              <a:t>Buys time to think before responding</a:t>
            </a:r>
            <a:endParaRPr lang="en-US" sz="1000" dirty="0"/>
          </a:p>
        </p:txBody>
      </p:sp>
      <p:sp>
        <p:nvSpPr>
          <p:cNvPr id="11" name="Shape 9"/>
          <p:cNvSpPr/>
          <p:nvPr/>
        </p:nvSpPr>
        <p:spPr>
          <a:xfrm>
            <a:off x="2340864" y="2468880"/>
            <a:ext cx="118872" cy="274320"/>
          </a:xfrm>
          <a:prstGeom prst="rect">
            <a:avLst/>
          </a:prstGeom>
          <a:solidFill>
            <a:srgbClr val="F4A61D"/>
          </a:solidFill>
          <a:ln w="12700">
            <a:solidFill>
              <a:srgbClr val="F4A61D"/>
            </a:solidFill>
            <a:prstDash val="solid"/>
          </a:ln>
        </p:spPr>
      </p:sp>
      <p:sp>
        <p:nvSpPr>
          <p:cNvPr id="12" name="Shape 10"/>
          <p:cNvSpPr/>
          <p:nvPr/>
        </p:nvSpPr>
        <p:spPr>
          <a:xfrm>
            <a:off x="2468880" y="914400"/>
            <a:ext cx="2057400" cy="3566160"/>
          </a:xfrm>
          <a:prstGeom prst="rect">
            <a:avLst/>
          </a:prstGeom>
          <a:solidFill>
            <a:srgbClr val="1A2840"/>
          </a:solidFill>
          <a:ln w="25400">
            <a:solidFill>
              <a:srgbClr val="0891B2"/>
            </a:solidFill>
            <a:prstDash val="solid"/>
          </a:ln>
          <a:effectLst>
            <a:outerShdw sx="100000" sy="100000" kx="0" ky="0" algn="bl" rotWithShape="0" blurRad="101600" dist="38100" dir="8100000">
              <a:srgbClr val="000000">
                <a:alpha val="20000"/>
              </a:srgbClr>
            </a:outerShdw>
          </a:effectLst>
        </p:spPr>
      </p:sp>
      <p:sp>
        <p:nvSpPr>
          <p:cNvPr id="13" name="Shape 11"/>
          <p:cNvSpPr/>
          <p:nvPr/>
        </p:nvSpPr>
        <p:spPr>
          <a:xfrm>
            <a:off x="2468880" y="914400"/>
            <a:ext cx="2057400" cy="658368"/>
          </a:xfrm>
          <a:prstGeom prst="rect">
            <a:avLst/>
          </a:prstGeom>
          <a:solidFill>
            <a:srgbClr val="0891B2"/>
          </a:solidFill>
          <a:ln w="12700">
            <a:solidFill>
              <a:srgbClr val="0891B2"/>
            </a:solidFill>
            <a:prstDash val="solid"/>
          </a:ln>
        </p:spPr>
      </p:sp>
      <p:sp>
        <p:nvSpPr>
          <p:cNvPr id="14" name="Text 12"/>
          <p:cNvSpPr/>
          <p:nvPr/>
        </p:nvSpPr>
        <p:spPr>
          <a:xfrm>
            <a:off x="2514600" y="932688"/>
            <a:ext cx="621792" cy="621792"/>
          </a:xfrm>
          <a:prstGeom prst="rect">
            <a:avLst/>
          </a:prstGeom>
          <a:noFill/>
          <a:ln/>
        </p:spPr>
        <p:txBody>
          <a:bodyPr wrap="square" lIns="0" tIns="0" rIns="0" bIns="0" rtlCol="0" anchor="ctr"/>
          <a:lstStyle/>
          <a:p>
            <a:pPr algn="ctr" indent="0" marL="0">
              <a:buNone/>
            </a:pPr>
            <a:r>
              <a:rPr lang="en-US" sz="3400" b="1" dirty="0">
                <a:solidFill>
                  <a:srgbClr val="0D1B2A"/>
                </a:solidFill>
                <a:latin typeface="Arial Black" pitchFamily="34" charset="0"/>
                <a:ea typeface="Arial Black" pitchFamily="34" charset="-122"/>
                <a:cs typeface="Arial Black" pitchFamily="34" charset="-120"/>
              </a:rPr>
              <a:t>C</a:t>
            </a:r>
            <a:endParaRPr lang="en-US" sz="3400" dirty="0"/>
          </a:p>
        </p:txBody>
      </p:sp>
      <p:sp>
        <p:nvSpPr>
          <p:cNvPr id="15" name="Text 13"/>
          <p:cNvSpPr/>
          <p:nvPr/>
        </p:nvSpPr>
        <p:spPr>
          <a:xfrm>
            <a:off x="3127248" y="1005840"/>
            <a:ext cx="1325880" cy="475488"/>
          </a:xfrm>
          <a:prstGeom prst="rect">
            <a:avLst/>
          </a:prstGeom>
          <a:noFill/>
          <a:ln/>
        </p:spPr>
        <p:txBody>
          <a:bodyPr wrap="square" lIns="0" tIns="0" rIns="0" bIns="0" rtlCol="0" anchor="ctr"/>
          <a:lstStyle/>
          <a:p>
            <a:pPr algn="l" indent="0" marL="0">
              <a:buNone/>
            </a:pPr>
            <a:r>
              <a:rPr lang="en-US" sz="1400" b="1" dirty="0">
                <a:solidFill>
                  <a:srgbClr val="0D1B2A"/>
                </a:solidFill>
                <a:latin typeface="Arial Black" pitchFamily="34" charset="0"/>
                <a:ea typeface="Arial Black" pitchFamily="34" charset="-122"/>
                <a:cs typeface="Arial Black" pitchFamily="34" charset="-120"/>
              </a:rPr>
              <a:t>Clarify</a:t>
            </a:r>
            <a:endParaRPr lang="en-US" sz="1400" dirty="0"/>
          </a:p>
        </p:txBody>
      </p:sp>
      <p:sp>
        <p:nvSpPr>
          <p:cNvPr id="16" name="Text 14"/>
          <p:cNvSpPr/>
          <p:nvPr/>
        </p:nvSpPr>
        <p:spPr>
          <a:xfrm>
            <a:off x="2560320" y="1645920"/>
            <a:ext cx="1874520" cy="502920"/>
          </a:xfrm>
          <a:prstGeom prst="rect">
            <a:avLst/>
          </a:prstGeom>
          <a:noFill/>
          <a:ln/>
        </p:spPr>
        <p:txBody>
          <a:bodyPr wrap="square" lIns="0" tIns="0" rIns="0" bIns="0" rtlCol="0" anchor="ctr"/>
          <a:lstStyle/>
          <a:p>
            <a:pPr algn="ctr" indent="0" marL="0">
              <a:buNone/>
            </a:pPr>
            <a:r>
              <a:rPr lang="en-US" sz="1100" b="1" dirty="0">
                <a:solidFill>
                  <a:srgbClr val="0891B2"/>
                </a:solidFill>
                <a:latin typeface="Arial Black" pitchFamily="34" charset="0"/>
                <a:ea typeface="Arial Black" pitchFamily="34" charset="-122"/>
                <a:cs typeface="Arial Black" pitchFamily="34" charset="-120"/>
              </a:rPr>
              <a:t>The Deep Dive</a:t>
            </a:r>
            <a:endParaRPr lang="en-US" sz="1100" dirty="0"/>
          </a:p>
        </p:txBody>
      </p:sp>
      <p:sp>
        <p:nvSpPr>
          <p:cNvPr id="17" name="Text 15"/>
          <p:cNvSpPr/>
          <p:nvPr/>
        </p:nvSpPr>
        <p:spPr>
          <a:xfrm>
            <a:off x="2560320" y="2194560"/>
            <a:ext cx="1874520" cy="2194560"/>
          </a:xfrm>
          <a:prstGeom prst="rect">
            <a:avLst/>
          </a:prstGeom>
          <a:noFill/>
          <a:ln/>
        </p:spPr>
        <p:txBody>
          <a:bodyPr wrap="square" lIns="0" tIns="0" rIns="0" bIns="0" rtlCol="0" anchor="t"/>
          <a:lstStyle/>
          <a:p>
            <a:pPr marL="342900" indent="-342900">
              <a:spcAft>
                <a:spcPts val="400"/>
              </a:spcAft>
              <a:buSzPct val="100000"/>
              <a:buChar char="•"/>
            </a:pPr>
            <a:r>
              <a:rPr lang="en-US" sz="1000" dirty="0">
                <a:solidFill>
                  <a:srgbClr val="FFFFFF"/>
                </a:solidFill>
                <a:latin typeface="Calibri" pitchFamily="34" charset="0"/>
                <a:ea typeface="Calibri" pitchFamily="34" charset="-122"/>
                <a:cs typeface="Calibri" pitchFamily="34" charset="-120"/>
              </a:rPr>
              <a:t>'When you say [X], what specifically do you mean?'</a:t>
            </a:r>
            <a:endParaRPr lang="en-US" sz="1000" dirty="0"/>
          </a:p>
          <a:p>
            <a:pPr marL="342900" indent="-342900">
              <a:spcAft>
                <a:spcPts val="400"/>
              </a:spcAft>
              <a:buSzPct val="100000"/>
              <a:buChar char="•"/>
            </a:pPr>
            <a:r>
              <a:rPr lang="en-US" sz="1000" dirty="0">
                <a:solidFill>
                  <a:srgbClr val="FFFFFF"/>
                </a:solidFill>
                <a:latin typeface="Calibri" pitchFamily="34" charset="0"/>
                <a:ea typeface="Calibri" pitchFamily="34" charset="-122"/>
                <a:cs typeface="Calibri" pitchFamily="34" charset="-120"/>
              </a:rPr>
              <a:t>Find the exact fear, not the surface statement</a:t>
            </a:r>
            <a:endParaRPr lang="en-US" sz="1000" dirty="0"/>
          </a:p>
          <a:p>
            <a:pPr marL="342900" indent="-342900">
              <a:spcAft>
                <a:spcPts val="400"/>
              </a:spcAft>
              <a:buSzPct val="100000"/>
              <a:buChar char="•"/>
            </a:pPr>
            <a:r>
              <a:rPr lang="en-US" sz="1000" dirty="0">
                <a:solidFill>
                  <a:srgbClr val="FFFFFF"/>
                </a:solidFill>
                <a:latin typeface="Calibri" pitchFamily="34" charset="0"/>
                <a:ea typeface="Calibri" pitchFamily="34" charset="-122"/>
                <a:cs typeface="Calibri" pitchFamily="34" charset="-120"/>
              </a:rPr>
              <a:t>Avoid assuming — ask first</a:t>
            </a:r>
            <a:endParaRPr lang="en-US" sz="1000" dirty="0"/>
          </a:p>
          <a:p>
            <a:pPr marL="342900" indent="-342900">
              <a:spcAft>
                <a:spcPts val="400"/>
              </a:spcAft>
              <a:buSzPct val="100000"/>
              <a:buChar char="•"/>
            </a:pPr>
            <a:r>
              <a:rPr lang="en-US" sz="1000" dirty="0">
                <a:solidFill>
                  <a:srgbClr val="FFFFFF"/>
                </a:solidFill>
                <a:latin typeface="Calibri" pitchFamily="34" charset="0"/>
                <a:ea typeface="Calibri" pitchFamily="34" charset="-122"/>
                <a:cs typeface="Calibri" pitchFamily="34" charset="-120"/>
              </a:rPr>
              <a:t>One question, then stop talking</a:t>
            </a:r>
            <a:endParaRPr lang="en-US" sz="1000" dirty="0"/>
          </a:p>
        </p:txBody>
      </p:sp>
      <p:sp>
        <p:nvSpPr>
          <p:cNvPr id="18" name="Shape 16"/>
          <p:cNvSpPr/>
          <p:nvPr/>
        </p:nvSpPr>
        <p:spPr>
          <a:xfrm>
            <a:off x="4535424" y="2468880"/>
            <a:ext cx="118872" cy="274320"/>
          </a:xfrm>
          <a:prstGeom prst="rect">
            <a:avLst/>
          </a:prstGeom>
          <a:solidFill>
            <a:srgbClr val="F4A61D"/>
          </a:solidFill>
          <a:ln w="12700">
            <a:solidFill>
              <a:srgbClr val="F4A61D"/>
            </a:solidFill>
            <a:prstDash val="solid"/>
          </a:ln>
        </p:spPr>
      </p:sp>
      <p:sp>
        <p:nvSpPr>
          <p:cNvPr id="19" name="Shape 17"/>
          <p:cNvSpPr/>
          <p:nvPr/>
        </p:nvSpPr>
        <p:spPr>
          <a:xfrm>
            <a:off x="4663440" y="914400"/>
            <a:ext cx="2057400" cy="3566160"/>
          </a:xfrm>
          <a:prstGeom prst="rect">
            <a:avLst/>
          </a:prstGeom>
          <a:solidFill>
            <a:srgbClr val="1A2840"/>
          </a:solidFill>
          <a:ln w="25400">
            <a:solidFill>
              <a:srgbClr val="2D9B4E"/>
            </a:solidFill>
            <a:prstDash val="solid"/>
          </a:ln>
          <a:effectLst>
            <a:outerShdw sx="100000" sy="100000" kx="0" ky="0" algn="bl" rotWithShape="0" blurRad="101600" dist="38100" dir="8100000">
              <a:srgbClr val="000000">
                <a:alpha val="20000"/>
              </a:srgbClr>
            </a:outerShdw>
          </a:effectLst>
        </p:spPr>
      </p:sp>
      <p:sp>
        <p:nvSpPr>
          <p:cNvPr id="20" name="Shape 18"/>
          <p:cNvSpPr/>
          <p:nvPr/>
        </p:nvSpPr>
        <p:spPr>
          <a:xfrm>
            <a:off x="4663440" y="914400"/>
            <a:ext cx="2057400" cy="658368"/>
          </a:xfrm>
          <a:prstGeom prst="rect">
            <a:avLst/>
          </a:prstGeom>
          <a:solidFill>
            <a:srgbClr val="2D9B4E"/>
          </a:solidFill>
          <a:ln w="12700">
            <a:solidFill>
              <a:srgbClr val="2D9B4E"/>
            </a:solidFill>
            <a:prstDash val="solid"/>
          </a:ln>
        </p:spPr>
      </p:sp>
      <p:sp>
        <p:nvSpPr>
          <p:cNvPr id="21" name="Text 19"/>
          <p:cNvSpPr/>
          <p:nvPr/>
        </p:nvSpPr>
        <p:spPr>
          <a:xfrm>
            <a:off x="4709160" y="932688"/>
            <a:ext cx="621792" cy="621792"/>
          </a:xfrm>
          <a:prstGeom prst="rect">
            <a:avLst/>
          </a:prstGeom>
          <a:noFill/>
          <a:ln/>
        </p:spPr>
        <p:txBody>
          <a:bodyPr wrap="square" lIns="0" tIns="0" rIns="0" bIns="0" rtlCol="0" anchor="ctr"/>
          <a:lstStyle/>
          <a:p>
            <a:pPr algn="ctr" indent="0" marL="0">
              <a:buNone/>
            </a:pPr>
            <a:r>
              <a:rPr lang="en-US" sz="3400" b="1" dirty="0">
                <a:solidFill>
                  <a:srgbClr val="FFFFFF"/>
                </a:solidFill>
                <a:latin typeface="Arial Black" pitchFamily="34" charset="0"/>
                <a:ea typeface="Arial Black" pitchFamily="34" charset="-122"/>
                <a:cs typeface="Arial Black" pitchFamily="34" charset="-120"/>
              </a:rPr>
              <a:t>A</a:t>
            </a:r>
            <a:endParaRPr lang="en-US" sz="3400" dirty="0"/>
          </a:p>
        </p:txBody>
      </p:sp>
      <p:sp>
        <p:nvSpPr>
          <p:cNvPr id="22" name="Text 20"/>
          <p:cNvSpPr/>
          <p:nvPr/>
        </p:nvSpPr>
        <p:spPr>
          <a:xfrm>
            <a:off x="5321808" y="1005840"/>
            <a:ext cx="1325880" cy="475488"/>
          </a:xfrm>
          <a:prstGeom prst="rect">
            <a:avLst/>
          </a:prstGeom>
          <a:noFill/>
          <a:ln/>
        </p:spPr>
        <p:txBody>
          <a:bodyPr wrap="square" lIns="0" tIns="0" rIns="0" bIns="0" rtlCol="0" anchor="ctr"/>
          <a:lstStyle/>
          <a:p>
            <a:pPr algn="l" indent="0" marL="0">
              <a:buNone/>
            </a:pPr>
            <a:r>
              <a:rPr lang="en-US" sz="1400" b="1" dirty="0">
                <a:solidFill>
                  <a:srgbClr val="FFFFFF"/>
                </a:solidFill>
                <a:latin typeface="Arial Black" pitchFamily="34" charset="0"/>
                <a:ea typeface="Arial Black" pitchFamily="34" charset="-122"/>
                <a:cs typeface="Arial Black" pitchFamily="34" charset="-120"/>
              </a:rPr>
              <a:t>Address</a:t>
            </a:r>
            <a:endParaRPr lang="en-US" sz="1400" dirty="0"/>
          </a:p>
        </p:txBody>
      </p:sp>
      <p:sp>
        <p:nvSpPr>
          <p:cNvPr id="23" name="Text 21"/>
          <p:cNvSpPr/>
          <p:nvPr/>
        </p:nvSpPr>
        <p:spPr>
          <a:xfrm>
            <a:off x="4754880" y="1645920"/>
            <a:ext cx="1874520" cy="502920"/>
          </a:xfrm>
          <a:prstGeom prst="rect">
            <a:avLst/>
          </a:prstGeom>
          <a:noFill/>
          <a:ln/>
        </p:spPr>
        <p:txBody>
          <a:bodyPr wrap="square" lIns="0" tIns="0" rIns="0" bIns="0" rtlCol="0" anchor="ctr"/>
          <a:lstStyle/>
          <a:p>
            <a:pPr algn="ctr" indent="0" marL="0">
              <a:buNone/>
            </a:pPr>
            <a:r>
              <a:rPr lang="en-US" sz="1100" b="1" dirty="0">
                <a:solidFill>
                  <a:srgbClr val="2D9B4E"/>
                </a:solidFill>
                <a:latin typeface="Arial Black" pitchFamily="34" charset="0"/>
                <a:ea typeface="Arial Black" pitchFamily="34" charset="-122"/>
                <a:cs typeface="Arial Black" pitchFamily="34" charset="-120"/>
              </a:rPr>
              <a:t>The Solution</a:t>
            </a:r>
            <a:endParaRPr lang="en-US" sz="1100" dirty="0"/>
          </a:p>
        </p:txBody>
      </p:sp>
      <p:sp>
        <p:nvSpPr>
          <p:cNvPr id="24" name="Text 22"/>
          <p:cNvSpPr/>
          <p:nvPr/>
        </p:nvSpPr>
        <p:spPr>
          <a:xfrm>
            <a:off x="4754880" y="2194560"/>
            <a:ext cx="1874520" cy="2194560"/>
          </a:xfrm>
          <a:prstGeom prst="rect">
            <a:avLst/>
          </a:prstGeom>
          <a:noFill/>
          <a:ln/>
        </p:spPr>
        <p:txBody>
          <a:bodyPr wrap="square" lIns="0" tIns="0" rIns="0" bIns="0" rtlCol="0" anchor="t"/>
          <a:lstStyle/>
          <a:p>
            <a:pPr marL="342900" indent="-342900">
              <a:spcAft>
                <a:spcPts val="400"/>
              </a:spcAft>
              <a:buSzPct val="100000"/>
              <a:buChar char="•"/>
            </a:pPr>
            <a:r>
              <a:rPr lang="en-US" sz="1000" dirty="0">
                <a:solidFill>
                  <a:srgbClr val="FFFFFF"/>
                </a:solidFill>
                <a:latin typeface="Calibri" pitchFamily="34" charset="0"/>
                <a:ea typeface="Calibri" pitchFamily="34" charset="-122"/>
                <a:cs typeface="Calibri" pitchFamily="34" charset="-120"/>
              </a:rPr>
              <a:t>Feel-Felt-Found: 'Others felt the same — here's what they found'</a:t>
            </a:r>
            <a:endParaRPr lang="en-US" sz="1000" dirty="0"/>
          </a:p>
          <a:p>
            <a:pPr marL="342900" indent="-342900">
              <a:spcAft>
                <a:spcPts val="400"/>
              </a:spcAft>
              <a:buSzPct val="100000"/>
              <a:buChar char="•"/>
            </a:pPr>
            <a:r>
              <a:rPr lang="en-US" sz="1000" dirty="0">
                <a:solidFill>
                  <a:srgbClr val="FFFFFF"/>
                </a:solidFill>
                <a:latin typeface="Calibri" pitchFamily="34" charset="0"/>
                <a:ea typeface="Calibri" pitchFamily="34" charset="-122"/>
                <a:cs typeface="Calibri" pitchFamily="34" charset="-120"/>
              </a:rPr>
              <a:t>Third-party proof: data, reviews, filings</a:t>
            </a:r>
            <a:endParaRPr lang="en-US" sz="1000" dirty="0"/>
          </a:p>
          <a:p>
            <a:pPr marL="342900" indent="-342900">
              <a:spcAft>
                <a:spcPts val="400"/>
              </a:spcAft>
              <a:buSzPct val="100000"/>
              <a:buChar char="•"/>
            </a:pPr>
            <a:r>
              <a:rPr lang="en-US" sz="1000" dirty="0">
                <a:solidFill>
                  <a:srgbClr val="FFFFFF"/>
                </a:solidFill>
                <a:latin typeface="Calibri" pitchFamily="34" charset="0"/>
                <a:ea typeface="Calibri" pitchFamily="34" charset="-122"/>
                <a:cs typeface="Calibri" pitchFamily="34" charset="-120"/>
              </a:rPr>
              <a:t>Don't over-explain — one clear solution</a:t>
            </a:r>
            <a:endParaRPr lang="en-US" sz="1000" dirty="0"/>
          </a:p>
          <a:p>
            <a:pPr marL="342900" indent="-342900">
              <a:spcAft>
                <a:spcPts val="400"/>
              </a:spcAft>
              <a:buSzPct val="100000"/>
              <a:buChar char="•"/>
            </a:pPr>
            <a:r>
              <a:rPr lang="en-US" sz="1000" dirty="0">
                <a:solidFill>
                  <a:srgbClr val="FFFFFF"/>
                </a:solidFill>
                <a:latin typeface="Calibri" pitchFamily="34" charset="0"/>
                <a:ea typeface="Calibri" pitchFamily="34" charset="-122"/>
                <a:cs typeface="Calibri" pitchFamily="34" charset="-120"/>
              </a:rPr>
              <a:t>Match solution to the clarified fear</a:t>
            </a:r>
            <a:endParaRPr lang="en-US" sz="1000" dirty="0"/>
          </a:p>
        </p:txBody>
      </p:sp>
      <p:sp>
        <p:nvSpPr>
          <p:cNvPr id="25" name="Shape 23"/>
          <p:cNvSpPr/>
          <p:nvPr/>
        </p:nvSpPr>
        <p:spPr>
          <a:xfrm>
            <a:off x="6729984" y="2468880"/>
            <a:ext cx="118872" cy="274320"/>
          </a:xfrm>
          <a:prstGeom prst="rect">
            <a:avLst/>
          </a:prstGeom>
          <a:solidFill>
            <a:srgbClr val="F4A61D"/>
          </a:solidFill>
          <a:ln w="12700">
            <a:solidFill>
              <a:srgbClr val="F4A61D"/>
            </a:solidFill>
            <a:prstDash val="solid"/>
          </a:ln>
        </p:spPr>
      </p:sp>
      <p:sp>
        <p:nvSpPr>
          <p:cNvPr id="26" name="Shape 24"/>
          <p:cNvSpPr/>
          <p:nvPr/>
        </p:nvSpPr>
        <p:spPr>
          <a:xfrm>
            <a:off x="6858000" y="914400"/>
            <a:ext cx="2057400" cy="3566160"/>
          </a:xfrm>
          <a:prstGeom prst="rect">
            <a:avLst/>
          </a:prstGeom>
          <a:solidFill>
            <a:srgbClr val="1A2840"/>
          </a:solidFill>
          <a:ln w="25400">
            <a:solidFill>
              <a:srgbClr val="E07B39"/>
            </a:solidFill>
            <a:prstDash val="solid"/>
          </a:ln>
          <a:effectLst>
            <a:outerShdw sx="100000" sy="100000" kx="0" ky="0" algn="bl" rotWithShape="0" blurRad="101600" dist="38100" dir="8100000">
              <a:srgbClr val="000000">
                <a:alpha val="20000"/>
              </a:srgbClr>
            </a:outerShdw>
          </a:effectLst>
        </p:spPr>
      </p:sp>
      <p:sp>
        <p:nvSpPr>
          <p:cNvPr id="27" name="Shape 25"/>
          <p:cNvSpPr/>
          <p:nvPr/>
        </p:nvSpPr>
        <p:spPr>
          <a:xfrm>
            <a:off x="6858000" y="914400"/>
            <a:ext cx="2057400" cy="658368"/>
          </a:xfrm>
          <a:prstGeom prst="rect">
            <a:avLst/>
          </a:prstGeom>
          <a:solidFill>
            <a:srgbClr val="E07B39"/>
          </a:solidFill>
          <a:ln w="12700">
            <a:solidFill>
              <a:srgbClr val="E07B39"/>
            </a:solidFill>
            <a:prstDash val="solid"/>
          </a:ln>
        </p:spPr>
      </p:sp>
      <p:sp>
        <p:nvSpPr>
          <p:cNvPr id="28" name="Text 26"/>
          <p:cNvSpPr/>
          <p:nvPr/>
        </p:nvSpPr>
        <p:spPr>
          <a:xfrm>
            <a:off x="6903720" y="932688"/>
            <a:ext cx="621792" cy="621792"/>
          </a:xfrm>
          <a:prstGeom prst="rect">
            <a:avLst/>
          </a:prstGeom>
          <a:noFill/>
          <a:ln/>
        </p:spPr>
        <p:txBody>
          <a:bodyPr wrap="square" lIns="0" tIns="0" rIns="0" bIns="0" rtlCol="0" anchor="ctr"/>
          <a:lstStyle/>
          <a:p>
            <a:pPr algn="ctr" indent="0" marL="0">
              <a:buNone/>
            </a:pPr>
            <a:r>
              <a:rPr lang="en-US" sz="3400" b="1" dirty="0">
                <a:solidFill>
                  <a:srgbClr val="FFFFFF"/>
                </a:solidFill>
                <a:latin typeface="Arial Black" pitchFamily="34" charset="0"/>
                <a:ea typeface="Arial Black" pitchFamily="34" charset="-122"/>
                <a:cs typeface="Arial Black" pitchFamily="34" charset="-120"/>
              </a:rPr>
              <a:t>C</a:t>
            </a:r>
            <a:endParaRPr lang="en-US" sz="3400" dirty="0"/>
          </a:p>
        </p:txBody>
      </p:sp>
      <p:sp>
        <p:nvSpPr>
          <p:cNvPr id="29" name="Text 27"/>
          <p:cNvSpPr/>
          <p:nvPr/>
        </p:nvSpPr>
        <p:spPr>
          <a:xfrm>
            <a:off x="7516368" y="1005840"/>
            <a:ext cx="1325880" cy="475488"/>
          </a:xfrm>
          <a:prstGeom prst="rect">
            <a:avLst/>
          </a:prstGeom>
          <a:noFill/>
          <a:ln/>
        </p:spPr>
        <p:txBody>
          <a:bodyPr wrap="square" lIns="0" tIns="0" rIns="0" bIns="0" rtlCol="0" anchor="ctr"/>
          <a:lstStyle/>
          <a:p>
            <a:pPr algn="l" indent="0" marL="0">
              <a:buNone/>
            </a:pPr>
            <a:r>
              <a:rPr lang="en-US" sz="1400" b="1" dirty="0">
                <a:solidFill>
                  <a:srgbClr val="FFFFFF"/>
                </a:solidFill>
                <a:latin typeface="Arial Black" pitchFamily="34" charset="0"/>
                <a:ea typeface="Arial Black" pitchFamily="34" charset="-122"/>
                <a:cs typeface="Arial Black" pitchFamily="34" charset="-120"/>
              </a:rPr>
              <a:t>Confirm</a:t>
            </a:r>
            <a:endParaRPr lang="en-US" sz="1400" dirty="0"/>
          </a:p>
        </p:txBody>
      </p:sp>
      <p:sp>
        <p:nvSpPr>
          <p:cNvPr id="30" name="Text 28"/>
          <p:cNvSpPr/>
          <p:nvPr/>
        </p:nvSpPr>
        <p:spPr>
          <a:xfrm>
            <a:off x="6949440" y="1645920"/>
            <a:ext cx="1874520" cy="502920"/>
          </a:xfrm>
          <a:prstGeom prst="rect">
            <a:avLst/>
          </a:prstGeom>
          <a:noFill/>
          <a:ln/>
        </p:spPr>
        <p:txBody>
          <a:bodyPr wrap="square" lIns="0" tIns="0" rIns="0" bIns="0" rtlCol="0" anchor="ctr"/>
          <a:lstStyle/>
          <a:p>
            <a:pPr algn="ctr" indent="0" marL="0">
              <a:buNone/>
            </a:pPr>
            <a:r>
              <a:rPr lang="en-US" sz="1100" b="1" dirty="0">
                <a:solidFill>
                  <a:srgbClr val="E07B39"/>
                </a:solidFill>
                <a:latin typeface="Arial Black" pitchFamily="34" charset="0"/>
                <a:ea typeface="Arial Black" pitchFamily="34" charset="-122"/>
                <a:cs typeface="Arial Black" pitchFamily="34" charset="-120"/>
              </a:rPr>
              <a:t>The Close-Back</a:t>
            </a:r>
            <a:endParaRPr lang="en-US" sz="1100" dirty="0"/>
          </a:p>
        </p:txBody>
      </p:sp>
      <p:sp>
        <p:nvSpPr>
          <p:cNvPr id="31" name="Text 29"/>
          <p:cNvSpPr/>
          <p:nvPr/>
        </p:nvSpPr>
        <p:spPr>
          <a:xfrm>
            <a:off x="6949440" y="2194560"/>
            <a:ext cx="1874520" cy="2194560"/>
          </a:xfrm>
          <a:prstGeom prst="rect">
            <a:avLst/>
          </a:prstGeom>
          <a:noFill/>
          <a:ln/>
        </p:spPr>
        <p:txBody>
          <a:bodyPr wrap="square" lIns="0" tIns="0" rIns="0" bIns="0" rtlCol="0" anchor="t"/>
          <a:lstStyle/>
          <a:p>
            <a:pPr marL="342900" indent="-342900">
              <a:spcAft>
                <a:spcPts val="400"/>
              </a:spcAft>
              <a:buSzPct val="100000"/>
              <a:buChar char="•"/>
            </a:pPr>
            <a:r>
              <a:rPr lang="en-US" sz="1000" dirty="0">
                <a:solidFill>
                  <a:srgbClr val="FFFFFF"/>
                </a:solidFill>
                <a:latin typeface="Calibri" pitchFamily="34" charset="0"/>
                <a:ea typeface="Calibri" pitchFamily="34" charset="-122"/>
                <a:cs typeface="Calibri" pitchFamily="34" charset="-120"/>
              </a:rPr>
              <a:t>'Does that fully clear that up for you?'</a:t>
            </a:r>
            <a:endParaRPr lang="en-US" sz="1000" dirty="0"/>
          </a:p>
          <a:p>
            <a:pPr marL="342900" indent="-342900">
              <a:spcAft>
                <a:spcPts val="400"/>
              </a:spcAft>
              <a:buSzPct val="100000"/>
              <a:buChar char="•"/>
            </a:pPr>
            <a:r>
              <a:rPr lang="en-US" sz="1000" dirty="0">
                <a:solidFill>
                  <a:srgbClr val="FFFFFF"/>
                </a:solidFill>
                <a:latin typeface="Calibri" pitchFamily="34" charset="0"/>
                <a:ea typeface="Calibri" pitchFamily="34" charset="-122"/>
                <a:cs typeface="Calibri" pitchFamily="34" charset="-120"/>
              </a:rPr>
              <a:t>Kill the Zombie Objection before moving on</a:t>
            </a:r>
            <a:endParaRPr lang="en-US" sz="1000" dirty="0"/>
          </a:p>
          <a:p>
            <a:pPr marL="342900" indent="-342900">
              <a:spcAft>
                <a:spcPts val="400"/>
              </a:spcAft>
              <a:buSzPct val="100000"/>
              <a:buChar char="•"/>
            </a:pPr>
            <a:r>
              <a:rPr lang="en-US" sz="1000" dirty="0">
                <a:solidFill>
                  <a:srgbClr val="FFFFFF"/>
                </a:solidFill>
                <a:latin typeface="Calibri" pitchFamily="34" charset="0"/>
                <a:ea typeface="Calibri" pitchFamily="34" charset="-122"/>
                <a:cs typeface="Calibri" pitchFamily="34" charset="-120"/>
              </a:rPr>
              <a:t>If not resolved: re-clarify, don't re-defend</a:t>
            </a:r>
            <a:endParaRPr lang="en-US" sz="1000" dirty="0"/>
          </a:p>
          <a:p>
            <a:pPr marL="342900" indent="-342900">
              <a:spcAft>
                <a:spcPts val="400"/>
              </a:spcAft>
              <a:buSzPct val="100000"/>
              <a:buChar char="•"/>
            </a:pPr>
            <a:r>
              <a:rPr lang="en-US" sz="1000" dirty="0">
                <a:solidFill>
                  <a:srgbClr val="FFFFFF"/>
                </a:solidFill>
                <a:latin typeface="Calibri" pitchFamily="34" charset="0"/>
                <a:ea typeface="Calibri" pitchFamily="34" charset="-122"/>
                <a:cs typeface="Calibri" pitchFamily="34" charset="-120"/>
              </a:rPr>
              <a:t>Small 'Yes' = green light to advance</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F4A61D"/>
          </a:solidFill>
          <a:ln w="12700">
            <a:solidFill>
              <a:srgbClr val="F4A61D"/>
            </a:solidFill>
            <a:prstDash val="solid"/>
          </a:ln>
        </p:spPr>
      </p:sp>
      <p:sp>
        <p:nvSpPr>
          <p:cNvPr id="3" name="Text 1"/>
          <p:cNvSpPr/>
          <p:nvPr/>
        </p:nvSpPr>
        <p:spPr>
          <a:xfrm>
            <a:off x="274320" y="164592"/>
            <a:ext cx="8503920" cy="594360"/>
          </a:xfrm>
          <a:prstGeom prst="rect">
            <a:avLst/>
          </a:prstGeom>
          <a:noFill/>
          <a:ln/>
        </p:spPr>
        <p:txBody>
          <a:bodyPr wrap="square" lIns="0" tIns="0" rIns="0" bIns="0" rtlCol="0" anchor="ctr"/>
          <a:lstStyle/>
          <a:p>
            <a:pPr algn="l" indent="0" marL="0">
              <a:buNone/>
            </a:pPr>
            <a:r>
              <a:rPr lang="en-US" sz="2000" b="1" dirty="0">
                <a:solidFill>
                  <a:srgbClr val="F4A61D"/>
                </a:solidFill>
                <a:latin typeface="Arial Black" pitchFamily="34" charset="0"/>
                <a:ea typeface="Arial Black" pitchFamily="34" charset="-122"/>
                <a:cs typeface="Arial Black" pitchFamily="34" charset="-120"/>
              </a:rPr>
              <a:t>Step 1 — Acknowledge: The Cushion Technique</a:t>
            </a:r>
            <a:endParaRPr lang="en-US" sz="2000" dirty="0"/>
          </a:p>
        </p:txBody>
      </p:sp>
      <p:sp>
        <p:nvSpPr>
          <p:cNvPr id="4" name="Shape 2"/>
          <p:cNvSpPr/>
          <p:nvPr/>
        </p:nvSpPr>
        <p:spPr>
          <a:xfrm>
            <a:off x="274320" y="777240"/>
            <a:ext cx="8503920" cy="27432"/>
          </a:xfrm>
          <a:prstGeom prst="rect">
            <a:avLst/>
          </a:prstGeom>
          <a:solidFill>
            <a:srgbClr val="F4A61D">
              <a:alpha val="40000"/>
            </a:srgbClr>
          </a:solidFill>
          <a:ln w="12700">
            <a:solidFill>
              <a:srgbClr val="F4A61D">
                <a:alpha val="40000"/>
              </a:srgbClr>
            </a:solidFill>
            <a:prstDash val="solid"/>
          </a:ln>
        </p:spPr>
      </p:sp>
      <p:sp>
        <p:nvSpPr>
          <p:cNvPr id="5" name="Text 3"/>
          <p:cNvSpPr/>
          <p:nvPr/>
        </p:nvSpPr>
        <p:spPr>
          <a:xfrm>
            <a:off x="274320" y="914400"/>
            <a:ext cx="8503920" cy="1444752"/>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rgbClr val="FFFFFF"/>
                </a:solidFill>
                <a:latin typeface="Calibri" pitchFamily="34" charset="0"/>
                <a:ea typeface="Calibri" pitchFamily="34" charset="-122"/>
                <a:cs typeface="Calibri" pitchFamily="34" charset="-120"/>
              </a:rPr>
              <a:t>'I hear that — and honestly, if I were sitting in your seat, I'd be thinking the exact same thing'</a:t>
            </a:r>
            <a:endParaRPr lang="en-US" sz="1300" dirty="0"/>
          </a:p>
          <a:p>
            <a:pPr marL="342900" indent="-342900">
              <a:spcAft>
                <a:spcPts val="600"/>
              </a:spcAft>
              <a:buSzPct val="100000"/>
              <a:buChar char="•"/>
            </a:pPr>
            <a:r>
              <a:rPr lang="en-US" sz="1300" dirty="0">
                <a:solidFill>
                  <a:srgbClr val="FFFFFF"/>
                </a:solidFill>
                <a:latin typeface="Calibri" pitchFamily="34" charset="0"/>
                <a:ea typeface="Calibri" pitchFamily="34" charset="-122"/>
                <a:cs typeface="Calibri" pitchFamily="34" charset="-120"/>
              </a:rPr>
              <a:t>The Cushion is not agreement — it is empathy. You are validating their right to feel that way.</a:t>
            </a:r>
            <a:endParaRPr lang="en-US" sz="1300" dirty="0"/>
          </a:p>
          <a:p>
            <a:pPr marL="342900" indent="-342900">
              <a:spcAft>
                <a:spcPts val="600"/>
              </a:spcAft>
              <a:buSzPct val="100000"/>
              <a:buChar char="•"/>
            </a:pPr>
            <a:r>
              <a:rPr lang="en-US" sz="1300" dirty="0">
                <a:solidFill>
                  <a:srgbClr val="FFFFFF"/>
                </a:solidFill>
                <a:latin typeface="Calibri" pitchFamily="34" charset="0"/>
                <a:ea typeface="Calibri" pitchFamily="34" charset="-122"/>
                <a:cs typeface="Calibri" pitchFamily="34" charset="-120"/>
              </a:rPr>
              <a:t>Critical rule: never go to Step 2 (Clarify) before Step 1 (Acknowledge) is visibly received</a:t>
            </a:r>
            <a:endParaRPr lang="en-US" sz="1300" dirty="0"/>
          </a:p>
          <a:p>
            <a:pPr marL="342900" indent="-342900">
              <a:spcAft>
                <a:spcPts val="600"/>
              </a:spcAft>
              <a:buSzPct val="100000"/>
              <a:buChar char="•"/>
            </a:pPr>
            <a:r>
              <a:rPr lang="en-US" sz="1300" dirty="0">
                <a:solidFill>
                  <a:srgbClr val="FFFFFF"/>
                </a:solidFill>
                <a:latin typeface="Calibri" pitchFamily="34" charset="0"/>
                <a:ea typeface="Calibri" pitchFamily="34" charset="-122"/>
                <a:cs typeface="Calibri" pitchFamily="34" charset="-120"/>
              </a:rPr>
              <a:t>Signs the Cushion landed: uncrossed arms, audible exhale, eye contact returns, 'Yeah... exactly'</a:t>
            </a:r>
            <a:endParaRPr lang="en-US" sz="1300" dirty="0"/>
          </a:p>
        </p:txBody>
      </p:sp>
      <p:sp>
        <p:nvSpPr>
          <p:cNvPr id="6" name="Shape 4"/>
          <p:cNvSpPr/>
          <p:nvPr/>
        </p:nvSpPr>
        <p:spPr>
          <a:xfrm>
            <a:off x="274320" y="2468880"/>
            <a:ext cx="8503920" cy="1874520"/>
          </a:xfrm>
          <a:prstGeom prst="rect">
            <a:avLst/>
          </a:prstGeom>
          <a:solidFill>
            <a:srgbClr val="1A2840"/>
          </a:solidFill>
          <a:ln w="19050">
            <a:solidFill>
              <a:srgbClr val="0891B2"/>
            </a:solidFill>
            <a:prstDash val="solid"/>
          </a:ln>
          <a:effectLst>
            <a:outerShdw sx="100000" sy="100000" kx="0" ky="0" algn="bl" rotWithShape="0" blurRad="101600" dist="38100" dir="8100000">
              <a:srgbClr val="000000">
                <a:alpha val="20000"/>
              </a:srgbClr>
            </a:outerShdw>
          </a:effectLst>
        </p:spPr>
      </p:sp>
      <p:sp>
        <p:nvSpPr>
          <p:cNvPr id="7" name="Shape 5"/>
          <p:cNvSpPr/>
          <p:nvPr/>
        </p:nvSpPr>
        <p:spPr>
          <a:xfrm>
            <a:off x="274320" y="2468880"/>
            <a:ext cx="1097280" cy="347472"/>
          </a:xfrm>
          <a:prstGeom prst="rect">
            <a:avLst/>
          </a:prstGeom>
          <a:solidFill>
            <a:srgbClr val="0891B2"/>
          </a:solidFill>
          <a:ln w="12700">
            <a:solidFill>
              <a:srgbClr val="0891B2"/>
            </a:solidFill>
            <a:prstDash val="solid"/>
          </a:ln>
        </p:spPr>
      </p:sp>
      <p:sp>
        <p:nvSpPr>
          <p:cNvPr id="8" name="Text 6"/>
          <p:cNvSpPr/>
          <p:nvPr/>
        </p:nvSpPr>
        <p:spPr>
          <a:xfrm>
            <a:off x="292608" y="2487168"/>
            <a:ext cx="1051560" cy="310896"/>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Arial Black" pitchFamily="34" charset="0"/>
                <a:ea typeface="Arial Black" pitchFamily="34" charset="-122"/>
                <a:cs typeface="Arial Black" pitchFamily="34" charset="-120"/>
              </a:rPr>
              <a:t>DIALOGUE</a:t>
            </a:r>
            <a:endParaRPr lang="en-US" sz="900" dirty="0"/>
          </a:p>
        </p:txBody>
      </p:sp>
      <p:sp>
        <p:nvSpPr>
          <p:cNvPr id="9" name="Text 7"/>
          <p:cNvSpPr/>
          <p:nvPr/>
        </p:nvSpPr>
        <p:spPr>
          <a:xfrm>
            <a:off x="411480" y="2926080"/>
            <a:ext cx="8275320" cy="1325880"/>
          </a:xfrm>
          <a:prstGeom prst="rect">
            <a:avLst/>
          </a:prstGeom>
          <a:noFill/>
          <a:ln/>
        </p:spPr>
        <p:txBody>
          <a:bodyPr wrap="square" lIns="0" tIns="0" rIns="0" bIns="0" rtlCol="0" anchor="t"/>
          <a:lstStyle/>
          <a:p>
            <a:pPr indent="0" marL="0">
              <a:buNone/>
            </a:pPr>
            <a:r>
              <a:rPr lang="en-US" sz="1100" b="1" dirty="0">
                <a:solidFill>
                  <a:srgbClr val="F4A61D"/>
                </a:solidFill>
                <a:latin typeface="Calibri" pitchFamily="34" charset="0"/>
                <a:ea typeface="Calibri" pitchFamily="34" charset="-122"/>
                <a:cs typeface="Calibri" pitchFamily="34" charset="-120"/>
              </a:rPr>
              <a:t>Homeowner:</a:t>
            </a:r>
            <a:endParaRPr lang="en-US" sz="1100" dirty="0"/>
          </a:p>
          <a:p>
            <a:pPr indent="0" marL="0">
              <a:buNone/>
            </a:pPr>
            <a:r>
              <a:rPr lang="en-US" sz="1100" dirty="0">
                <a:solidFill>
                  <a:srgbClr val="FFFFFF"/>
                </a:solidFill>
                <a:latin typeface="Calibri" pitchFamily="34" charset="0"/>
                <a:ea typeface="Calibri" pitchFamily="34" charset="-122"/>
                <a:cs typeface="Calibri" pitchFamily="34" charset="-120"/>
              </a:rPr>
              <a:t>I just don't trust solar companies.</a:t>
            </a:r>
            <a:endParaRPr lang="en-US" sz="1100" dirty="0"/>
          </a:p>
          <a:p>
            <a:pPr indent="0" marL="0">
              <a:buNone/>
            </a:pPr>
            <a:r>
              <a:rPr lang="en-US" sz="1100" b="1" dirty="0">
                <a:solidFill>
                  <a:srgbClr val="F4A61D"/>
                </a:solidFill>
                <a:latin typeface="Calibri" pitchFamily="34" charset="0"/>
                <a:ea typeface="Calibri" pitchFamily="34" charset="-122"/>
                <a:cs typeface="Calibri" pitchFamily="34" charset="-120"/>
              </a:rPr>
              <a:t>Rep (wrong):</a:t>
            </a:r>
            <a:endParaRPr lang="en-US" sz="1100" dirty="0"/>
          </a:p>
          <a:p>
            <a:pPr indent="0" marL="0">
              <a:buNone/>
            </a:pPr>
            <a:r>
              <a:rPr lang="en-US" sz="1100" dirty="0">
                <a:solidFill>
                  <a:srgbClr val="FFFFFF"/>
                </a:solidFill>
                <a:latin typeface="Calibri" pitchFamily="34" charset="0"/>
                <a:ea typeface="Calibri" pitchFamily="34" charset="-122"/>
                <a:cs typeface="Calibri" pitchFamily="34" charset="-120"/>
              </a:rPr>
              <a:t>We've been in business 12 years and have an A+ BBB rating—</a:t>
            </a:r>
            <a:endParaRPr lang="en-US" sz="1100" dirty="0"/>
          </a:p>
          <a:p>
            <a:pPr indent="0" marL="0">
              <a:buNone/>
            </a:pPr>
            <a:r>
              <a:rPr lang="en-US" sz="1100" b="1" dirty="0">
                <a:solidFill>
                  <a:srgbClr val="F4A61D"/>
                </a:solidFill>
                <a:latin typeface="Calibri" pitchFamily="34" charset="0"/>
                <a:ea typeface="Calibri" pitchFamily="34" charset="-122"/>
                <a:cs typeface="Calibri" pitchFamily="34" charset="-120"/>
              </a:rPr>
              <a:t>Rep (right):</a:t>
            </a:r>
            <a:endParaRPr lang="en-US" sz="1100" dirty="0"/>
          </a:p>
          <a:p>
            <a:pPr indent="0" marL="0">
              <a:buNone/>
            </a:pPr>
            <a:r>
              <a:rPr lang="en-US" sz="1100" dirty="0">
                <a:solidFill>
                  <a:srgbClr val="FFFFFF"/>
                </a:solidFill>
                <a:latin typeface="Calibri" pitchFamily="34" charset="0"/>
                <a:ea typeface="Calibri" pitchFamily="34" charset="-122"/>
                <a:cs typeface="Calibri" pitchFamily="34" charset="-120"/>
              </a:rPr>
              <a:t>You know what? That's a completely fair way to feel. The industry has some real bad actors. If I hadn't personally seen what this does for families, I'd probably feel the same way. Can I ask — is it the industry in general, or something specific you've heard?</a:t>
            </a:r>
            <a:endParaRPr lang="en-US" sz="1100" dirty="0"/>
          </a:p>
        </p:txBody>
      </p:sp>
      <p:sp>
        <p:nvSpPr>
          <p:cNvPr id="10" name="Shape 8"/>
          <p:cNvSpPr/>
          <p:nvPr/>
        </p:nvSpPr>
        <p:spPr>
          <a:xfrm>
            <a:off x="0" y="4663440"/>
            <a:ext cx="9144000" cy="480060"/>
          </a:xfrm>
          <a:prstGeom prst="rect">
            <a:avLst/>
          </a:prstGeom>
          <a:solidFill>
            <a:srgbClr val="E07B39">
              <a:alpha val="15000"/>
            </a:srgbClr>
          </a:solidFill>
          <a:ln w="12700">
            <a:solidFill>
              <a:srgbClr val="E07B39">
                <a:alpha val="15000"/>
              </a:srgbClr>
            </a:solidFill>
            <a:prstDash val="solid"/>
          </a:ln>
        </p:spPr>
      </p:sp>
      <p:sp>
        <p:nvSpPr>
          <p:cNvPr id="11" name="Text 9"/>
          <p:cNvSpPr/>
          <p:nvPr/>
        </p:nvSpPr>
        <p:spPr>
          <a:xfrm>
            <a:off x="274320" y="4690872"/>
            <a:ext cx="8686800" cy="384048"/>
          </a:xfrm>
          <a:prstGeom prst="rect">
            <a:avLst/>
          </a:prstGeom>
          <a:noFill/>
          <a:ln/>
        </p:spPr>
        <p:txBody>
          <a:bodyPr wrap="square" lIns="0" tIns="0" rIns="0" bIns="0" rtlCol="0" anchor="ctr"/>
          <a:lstStyle/>
          <a:p>
            <a:pPr algn="l" indent="0" marL="0">
              <a:buNone/>
            </a:pPr>
            <a:r>
              <a:rPr lang="en-US" sz="900" i="1" dirty="0">
                <a:solidFill>
                  <a:srgbClr val="E07B39"/>
                </a:solidFill>
                <a:latin typeface="Calibri" pitchFamily="34" charset="0"/>
                <a:ea typeface="Calibri" pitchFamily="34" charset="-122"/>
                <a:cs typeface="Calibri" pitchFamily="34" charset="-120"/>
              </a:rPr>
              <a:t>📋 TRAINER NOTE: The Cushion is the single most skipped step in sales, and its absence is the single biggest reason objections escalate into arguments. A rep who never skips the Cushion will close significantly more deals than one who is technically superior but impatient.</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F4A61D"/>
          </a:solidFill>
          <a:ln w="12700">
            <a:solidFill>
              <a:srgbClr val="F4A61D"/>
            </a:solidFill>
            <a:prstDash val="solid"/>
          </a:ln>
        </p:spPr>
      </p:sp>
      <p:sp>
        <p:nvSpPr>
          <p:cNvPr id="3" name="Text 1"/>
          <p:cNvSpPr/>
          <p:nvPr/>
        </p:nvSpPr>
        <p:spPr>
          <a:xfrm>
            <a:off x="274320" y="164592"/>
            <a:ext cx="8503920" cy="594360"/>
          </a:xfrm>
          <a:prstGeom prst="rect">
            <a:avLst/>
          </a:prstGeom>
          <a:noFill/>
          <a:ln/>
        </p:spPr>
        <p:txBody>
          <a:bodyPr wrap="square" lIns="0" tIns="0" rIns="0" bIns="0" rtlCol="0" anchor="ctr"/>
          <a:lstStyle/>
          <a:p>
            <a:pPr algn="l" indent="0" marL="0">
              <a:buNone/>
            </a:pPr>
            <a:r>
              <a:rPr lang="en-US" sz="2000" b="1" dirty="0">
                <a:solidFill>
                  <a:srgbClr val="F4A61D"/>
                </a:solidFill>
                <a:latin typeface="Arial Black" pitchFamily="34" charset="0"/>
                <a:ea typeface="Arial Black" pitchFamily="34" charset="-122"/>
                <a:cs typeface="Arial Black" pitchFamily="34" charset="-120"/>
              </a:rPr>
              <a:t>Step 2 — Clarify: The 'What Specifically?' Pivot</a:t>
            </a:r>
            <a:endParaRPr lang="en-US" sz="2000" dirty="0"/>
          </a:p>
        </p:txBody>
      </p:sp>
      <p:sp>
        <p:nvSpPr>
          <p:cNvPr id="4" name="Shape 2"/>
          <p:cNvSpPr/>
          <p:nvPr/>
        </p:nvSpPr>
        <p:spPr>
          <a:xfrm>
            <a:off x="274320" y="777240"/>
            <a:ext cx="8503920" cy="27432"/>
          </a:xfrm>
          <a:prstGeom prst="rect">
            <a:avLst/>
          </a:prstGeom>
          <a:solidFill>
            <a:srgbClr val="F4A61D">
              <a:alpha val="40000"/>
            </a:srgbClr>
          </a:solidFill>
          <a:ln w="12700">
            <a:solidFill>
              <a:srgbClr val="F4A61D">
                <a:alpha val="40000"/>
              </a:srgbClr>
            </a:solidFill>
            <a:prstDash val="solid"/>
          </a:ln>
        </p:spPr>
      </p:sp>
      <p:sp>
        <p:nvSpPr>
          <p:cNvPr id="5" name="Text 3"/>
          <p:cNvSpPr/>
          <p:nvPr/>
        </p:nvSpPr>
        <p:spPr>
          <a:xfrm>
            <a:off x="274320" y="914400"/>
            <a:ext cx="8503920" cy="2267712"/>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rgbClr val="FFFFFF"/>
                </a:solidFill>
                <a:latin typeface="Calibri" pitchFamily="34" charset="0"/>
                <a:ea typeface="Calibri" pitchFamily="34" charset="-122"/>
                <a:cs typeface="Calibri" pitchFamily="34" charset="-120"/>
              </a:rPr>
              <a:t>'When you say the price is high — are you comparing it to what you expected, or to what you're already paying the utility?'</a:t>
            </a:r>
            <a:endParaRPr lang="en-US" sz="1300" dirty="0"/>
          </a:p>
          <a:p>
            <a:pPr marL="342900" indent="-342900">
              <a:spcAft>
                <a:spcPts val="600"/>
              </a:spcAft>
              <a:buSzPct val="100000"/>
              <a:buChar char="•"/>
            </a:pPr>
            <a:r>
              <a:rPr lang="en-US" sz="1300" dirty="0">
                <a:solidFill>
                  <a:srgbClr val="FFFFFF"/>
                </a:solidFill>
                <a:latin typeface="Calibri" pitchFamily="34" charset="0"/>
                <a:ea typeface="Calibri" pitchFamily="34" charset="-122"/>
                <a:cs typeface="Calibri" pitchFamily="34" charset="-120"/>
              </a:rPr>
              <a:t>'When you say you want to think about it — is it the math, the company, or the timing that needs more thought?'</a:t>
            </a:r>
            <a:endParaRPr lang="en-US" sz="1300" dirty="0"/>
          </a:p>
          <a:p>
            <a:pPr marL="342900" indent="-342900">
              <a:spcAft>
                <a:spcPts val="600"/>
              </a:spcAft>
              <a:buSzPct val="100000"/>
              <a:buChar char="•"/>
            </a:pPr>
            <a:r>
              <a:rPr lang="en-US" sz="1300" dirty="0">
                <a:solidFill>
                  <a:srgbClr val="FFFFFF"/>
                </a:solidFill>
                <a:latin typeface="Calibri" pitchFamily="34" charset="0"/>
                <a:ea typeface="Calibri" pitchFamily="34" charset="-122"/>
                <a:cs typeface="Calibri" pitchFamily="34" charset="-120"/>
              </a:rPr>
              <a:t>'When you say it seems risky — what's the specific risk you're most worried about?'</a:t>
            </a:r>
            <a:endParaRPr lang="en-US" sz="1300" dirty="0"/>
          </a:p>
          <a:p>
            <a:pPr marL="342900" indent="-342900">
              <a:spcAft>
                <a:spcPts val="600"/>
              </a:spcAft>
              <a:buSzPct val="100000"/>
              <a:buChar char="•"/>
            </a:pPr>
            <a:r>
              <a:rPr lang="en-US" sz="1300" dirty="0">
                <a:solidFill>
                  <a:srgbClr val="FFFFFF"/>
                </a:solidFill>
                <a:latin typeface="Calibri" pitchFamily="34" charset="0"/>
                <a:ea typeface="Calibri" pitchFamily="34" charset="-122"/>
                <a:cs typeface="Calibri" pitchFamily="34" charset="-120"/>
              </a:rPr>
              <a:t>Rule: ask one clarifying question, then stop. Do not add more questions or data before they answer.</a:t>
            </a:r>
            <a:endParaRPr lang="en-US" sz="1300" dirty="0"/>
          </a:p>
        </p:txBody>
      </p:sp>
      <p:sp>
        <p:nvSpPr>
          <p:cNvPr id="6" name="Shape 4"/>
          <p:cNvSpPr/>
          <p:nvPr/>
        </p:nvSpPr>
        <p:spPr>
          <a:xfrm>
            <a:off x="0" y="4663440"/>
            <a:ext cx="9144000" cy="480060"/>
          </a:xfrm>
          <a:prstGeom prst="rect">
            <a:avLst/>
          </a:prstGeom>
          <a:solidFill>
            <a:srgbClr val="E07B39">
              <a:alpha val="15000"/>
            </a:srgbClr>
          </a:solidFill>
          <a:ln w="12700">
            <a:solidFill>
              <a:srgbClr val="E07B39">
                <a:alpha val="15000"/>
              </a:srgbClr>
            </a:solidFill>
            <a:prstDash val="solid"/>
          </a:ln>
        </p:spPr>
      </p:sp>
      <p:sp>
        <p:nvSpPr>
          <p:cNvPr id="7" name="Text 5"/>
          <p:cNvSpPr/>
          <p:nvPr/>
        </p:nvSpPr>
        <p:spPr>
          <a:xfrm>
            <a:off x="274320" y="4690872"/>
            <a:ext cx="8686800" cy="384048"/>
          </a:xfrm>
          <a:prstGeom prst="rect">
            <a:avLst/>
          </a:prstGeom>
          <a:noFill/>
          <a:ln/>
        </p:spPr>
        <p:txBody>
          <a:bodyPr wrap="square" lIns="0" tIns="0" rIns="0" bIns="0" rtlCol="0" anchor="ctr"/>
          <a:lstStyle/>
          <a:p>
            <a:pPr algn="l" indent="0" marL="0">
              <a:buNone/>
            </a:pPr>
            <a:r>
              <a:rPr lang="en-US" sz="900" i="1" dirty="0">
                <a:solidFill>
                  <a:srgbClr val="E07B39"/>
                </a:solidFill>
                <a:latin typeface="Calibri" pitchFamily="34" charset="0"/>
                <a:ea typeface="Calibri" pitchFamily="34" charset="-122"/>
                <a:cs typeface="Calibri" pitchFamily="34" charset="-120"/>
              </a:rPr>
              <a:t>📋 TRAINER NOTE: Most objections are umbrellas covering multiple specific fears. Clarifying questions identify which fear is actually present. 'The price is high' can mean: I can't afford it, I think I can find it cheaper, or the monthly payment scares me. Each requires a completely different Address.</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F4A61D"/>
          </a:solidFill>
          <a:ln w="12700">
            <a:solidFill>
              <a:srgbClr val="F4A61D"/>
            </a:solidFill>
            <a:prstDash val="solid"/>
          </a:ln>
        </p:spPr>
      </p:sp>
      <p:sp>
        <p:nvSpPr>
          <p:cNvPr id="3" name="Text 1"/>
          <p:cNvSpPr/>
          <p:nvPr/>
        </p:nvSpPr>
        <p:spPr>
          <a:xfrm>
            <a:off x="274320" y="164592"/>
            <a:ext cx="8503920" cy="594360"/>
          </a:xfrm>
          <a:prstGeom prst="rect">
            <a:avLst/>
          </a:prstGeom>
          <a:noFill/>
          <a:ln/>
        </p:spPr>
        <p:txBody>
          <a:bodyPr wrap="square" lIns="0" tIns="0" rIns="0" bIns="0" rtlCol="0" anchor="ctr"/>
          <a:lstStyle/>
          <a:p>
            <a:pPr algn="l" indent="0" marL="0">
              <a:buNone/>
            </a:pPr>
            <a:r>
              <a:rPr lang="en-US" sz="2000" b="1" dirty="0">
                <a:solidFill>
                  <a:srgbClr val="F4A61D"/>
                </a:solidFill>
                <a:latin typeface="Arial Black" pitchFamily="34" charset="0"/>
                <a:ea typeface="Arial Black" pitchFamily="34" charset="-122"/>
                <a:cs typeface="Arial Black" pitchFamily="34" charset="-120"/>
              </a:rPr>
              <a:t>Step 3 — Address: Feel-Felt-Found + Third-Party Proof</a:t>
            </a:r>
            <a:endParaRPr lang="en-US" sz="2000" dirty="0"/>
          </a:p>
        </p:txBody>
      </p:sp>
      <p:sp>
        <p:nvSpPr>
          <p:cNvPr id="4" name="Shape 2"/>
          <p:cNvSpPr/>
          <p:nvPr/>
        </p:nvSpPr>
        <p:spPr>
          <a:xfrm>
            <a:off x="274320" y="777240"/>
            <a:ext cx="8503920" cy="27432"/>
          </a:xfrm>
          <a:prstGeom prst="rect">
            <a:avLst/>
          </a:prstGeom>
          <a:solidFill>
            <a:srgbClr val="F4A61D">
              <a:alpha val="40000"/>
            </a:srgbClr>
          </a:solidFill>
          <a:ln w="12700">
            <a:solidFill>
              <a:srgbClr val="F4A61D">
                <a:alpha val="40000"/>
              </a:srgbClr>
            </a:solidFill>
            <a:prstDash val="solid"/>
          </a:ln>
        </p:spPr>
      </p:sp>
      <p:sp>
        <p:nvSpPr>
          <p:cNvPr id="5" name="Text 3"/>
          <p:cNvSpPr/>
          <p:nvPr/>
        </p:nvSpPr>
        <p:spPr>
          <a:xfrm>
            <a:off x="274320" y="914400"/>
            <a:ext cx="8503920" cy="2267712"/>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rgbClr val="FFFFFF"/>
                </a:solidFill>
                <a:latin typeface="Calibri" pitchFamily="34" charset="0"/>
                <a:ea typeface="Calibri" pitchFamily="34" charset="-122"/>
                <a:cs typeface="Calibri" pitchFamily="34" charset="-120"/>
              </a:rPr>
              <a:t>Feel-Felt-Found: 'I understand how you feel. Other homeowners have felt exactly the same way. Here's what they found after going ahead.'</a:t>
            </a:r>
            <a:endParaRPr lang="en-US" sz="1300" dirty="0"/>
          </a:p>
          <a:p>
            <a:pPr marL="342900" indent="-342900">
              <a:spcAft>
                <a:spcPts val="600"/>
              </a:spcAft>
              <a:buSzPct val="100000"/>
              <a:buChar char="•"/>
            </a:pPr>
            <a:r>
              <a:rPr lang="en-US" sz="1300" dirty="0">
                <a:solidFill>
                  <a:srgbClr val="FFFFFF"/>
                </a:solidFill>
                <a:latin typeface="Calibri" pitchFamily="34" charset="0"/>
                <a:ea typeface="Calibri" pitchFamily="34" charset="-122"/>
                <a:cs typeface="Calibri" pitchFamily="34" charset="-120"/>
              </a:rPr>
              <a:t>Third-Party Proof: 'Don't take my word for it — here's the Google review from a family in your neighborhood who had the same concern'</a:t>
            </a:r>
            <a:endParaRPr lang="en-US" sz="1300" dirty="0"/>
          </a:p>
          <a:p>
            <a:pPr marL="342900" indent="-342900">
              <a:spcAft>
                <a:spcPts val="600"/>
              </a:spcAft>
              <a:buSzPct val="100000"/>
              <a:buChar char="•"/>
            </a:pPr>
            <a:r>
              <a:rPr lang="en-US" sz="1300" dirty="0">
                <a:solidFill>
                  <a:srgbClr val="FFFFFF"/>
                </a:solidFill>
                <a:latin typeface="Calibri" pitchFamily="34" charset="0"/>
                <a:ea typeface="Calibri" pitchFamily="34" charset="-122"/>
                <a:cs typeface="Calibri" pitchFamily="34" charset="-120"/>
              </a:rPr>
              <a:t>One clear solution only — multiple solutions signal desperation and reopen the objection</a:t>
            </a:r>
            <a:endParaRPr lang="en-US" sz="1300" dirty="0"/>
          </a:p>
          <a:p>
            <a:pPr marL="342900" indent="-342900">
              <a:spcAft>
                <a:spcPts val="600"/>
              </a:spcAft>
              <a:buSzPct val="100000"/>
              <a:buChar char="•"/>
            </a:pPr>
            <a:r>
              <a:rPr lang="en-US" sz="1300" dirty="0">
                <a:solidFill>
                  <a:srgbClr val="FFFFFF"/>
                </a:solidFill>
                <a:latin typeface="Calibri" pitchFamily="34" charset="0"/>
                <a:ea typeface="Calibri" pitchFamily="34" charset="-122"/>
                <a:cs typeface="Calibri" pitchFamily="34" charset="-120"/>
              </a:rPr>
              <a:t>Match the solution type to the fear type: Logical fears → data. Emotional fears → social proof + validation.</a:t>
            </a:r>
            <a:endParaRPr lang="en-US" sz="1300" dirty="0"/>
          </a:p>
        </p:txBody>
      </p:sp>
      <p:sp>
        <p:nvSpPr>
          <p:cNvPr id="6" name="Shape 4"/>
          <p:cNvSpPr/>
          <p:nvPr/>
        </p:nvSpPr>
        <p:spPr>
          <a:xfrm>
            <a:off x="0" y="4663440"/>
            <a:ext cx="9144000" cy="480060"/>
          </a:xfrm>
          <a:prstGeom prst="rect">
            <a:avLst/>
          </a:prstGeom>
          <a:solidFill>
            <a:srgbClr val="E07B39">
              <a:alpha val="15000"/>
            </a:srgbClr>
          </a:solidFill>
          <a:ln w="12700">
            <a:solidFill>
              <a:srgbClr val="E07B39">
                <a:alpha val="15000"/>
              </a:srgbClr>
            </a:solidFill>
            <a:prstDash val="solid"/>
          </a:ln>
        </p:spPr>
      </p:sp>
      <p:sp>
        <p:nvSpPr>
          <p:cNvPr id="7" name="Text 5"/>
          <p:cNvSpPr/>
          <p:nvPr/>
        </p:nvSpPr>
        <p:spPr>
          <a:xfrm>
            <a:off x="274320" y="4690872"/>
            <a:ext cx="8686800" cy="384048"/>
          </a:xfrm>
          <a:prstGeom prst="rect">
            <a:avLst/>
          </a:prstGeom>
          <a:noFill/>
          <a:ln/>
        </p:spPr>
        <p:txBody>
          <a:bodyPr wrap="square" lIns="0" tIns="0" rIns="0" bIns="0" rtlCol="0" anchor="ctr"/>
          <a:lstStyle/>
          <a:p>
            <a:pPr algn="l" indent="0" marL="0">
              <a:buNone/>
            </a:pPr>
            <a:r>
              <a:rPr lang="en-US" sz="900" i="1" dirty="0">
                <a:solidFill>
                  <a:srgbClr val="E07B39"/>
                </a:solidFill>
                <a:latin typeface="Calibri" pitchFamily="34" charset="0"/>
                <a:ea typeface="Calibri" pitchFamily="34" charset="-122"/>
                <a:cs typeface="Calibri" pitchFamily="34" charset="-120"/>
              </a:rPr>
              <a:t>📋 TRAINER NOTE: Feel-Felt-Found works because it removes isolation — the homeowner is no longer the only person who has felt this way. Third-Party Proof works because external voices carry more credibility than anything the rep says.</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F4A61D"/>
          </a:solidFill>
          <a:ln w="12700">
            <a:solidFill>
              <a:srgbClr val="F4A61D"/>
            </a:solidFill>
            <a:prstDash val="solid"/>
          </a:ln>
        </p:spPr>
      </p:sp>
      <p:sp>
        <p:nvSpPr>
          <p:cNvPr id="3" name="Text 1"/>
          <p:cNvSpPr/>
          <p:nvPr/>
        </p:nvSpPr>
        <p:spPr>
          <a:xfrm>
            <a:off x="274320" y="164592"/>
            <a:ext cx="8503920" cy="594360"/>
          </a:xfrm>
          <a:prstGeom prst="rect">
            <a:avLst/>
          </a:prstGeom>
          <a:noFill/>
          <a:ln/>
        </p:spPr>
        <p:txBody>
          <a:bodyPr wrap="square" lIns="0" tIns="0" rIns="0" bIns="0" rtlCol="0" anchor="ctr"/>
          <a:lstStyle/>
          <a:p>
            <a:pPr algn="l" indent="0" marL="0">
              <a:buNone/>
            </a:pPr>
            <a:r>
              <a:rPr lang="en-US" sz="2000" b="1" dirty="0">
                <a:solidFill>
                  <a:srgbClr val="F4A61D"/>
                </a:solidFill>
                <a:latin typeface="Arial Black" pitchFamily="34" charset="0"/>
                <a:ea typeface="Arial Black" pitchFamily="34" charset="-122"/>
                <a:cs typeface="Arial Black" pitchFamily="34" charset="-120"/>
              </a:rPr>
              <a:t>Step 4 — Confirm: The Close-Back That Kills Zombie Objections</a:t>
            </a:r>
            <a:endParaRPr lang="en-US" sz="2000" dirty="0"/>
          </a:p>
        </p:txBody>
      </p:sp>
      <p:sp>
        <p:nvSpPr>
          <p:cNvPr id="4" name="Shape 2"/>
          <p:cNvSpPr/>
          <p:nvPr/>
        </p:nvSpPr>
        <p:spPr>
          <a:xfrm>
            <a:off x="274320" y="777240"/>
            <a:ext cx="8503920" cy="27432"/>
          </a:xfrm>
          <a:prstGeom prst="rect">
            <a:avLst/>
          </a:prstGeom>
          <a:solidFill>
            <a:srgbClr val="F4A61D">
              <a:alpha val="40000"/>
            </a:srgbClr>
          </a:solidFill>
          <a:ln w="12700">
            <a:solidFill>
              <a:srgbClr val="F4A61D">
                <a:alpha val="40000"/>
              </a:srgbClr>
            </a:solidFill>
            <a:prstDash val="solid"/>
          </a:ln>
        </p:spPr>
      </p:sp>
      <p:sp>
        <p:nvSpPr>
          <p:cNvPr id="5" name="Text 3"/>
          <p:cNvSpPr/>
          <p:nvPr/>
        </p:nvSpPr>
        <p:spPr>
          <a:xfrm>
            <a:off x="274320" y="914400"/>
            <a:ext cx="8503920" cy="2267712"/>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rgbClr val="FFFFFF"/>
                </a:solidFill>
                <a:latin typeface="Calibri" pitchFamily="34" charset="0"/>
                <a:ea typeface="Calibri" pitchFamily="34" charset="-122"/>
                <a:cs typeface="Calibri" pitchFamily="34" charset="-120"/>
              </a:rPr>
              <a:t>'Does that fully clear that up for you, or is there still a question there?'</a:t>
            </a:r>
            <a:endParaRPr lang="en-US" sz="1300" dirty="0"/>
          </a:p>
          <a:p>
            <a:pPr marL="342900" indent="-342900">
              <a:spcAft>
                <a:spcPts val="600"/>
              </a:spcAft>
              <a:buSzPct val="100000"/>
              <a:buChar char="•"/>
            </a:pPr>
            <a:r>
              <a:rPr lang="en-US" sz="1300" dirty="0">
                <a:solidFill>
                  <a:srgbClr val="FFFFFF"/>
                </a:solidFill>
                <a:latin typeface="Calibri" pitchFamily="34" charset="0"/>
                <a:ea typeface="Calibri" pitchFamily="34" charset="-122"/>
                <a:cs typeface="Calibri" pitchFamily="34" charset="-120"/>
              </a:rPr>
              <a:t>A Zombie Objection = one that was 'answered' but not actually resolved — it comes back at the worst possible moment</a:t>
            </a:r>
            <a:endParaRPr lang="en-US" sz="1300" dirty="0"/>
          </a:p>
          <a:p>
            <a:pPr marL="342900" indent="-342900">
              <a:spcAft>
                <a:spcPts val="600"/>
              </a:spcAft>
              <a:buSzPct val="100000"/>
              <a:buChar char="•"/>
            </a:pPr>
            <a:r>
              <a:rPr lang="en-US" sz="1300" dirty="0">
                <a:solidFill>
                  <a:srgbClr val="FFFFFF"/>
                </a:solidFill>
                <a:latin typeface="Calibri" pitchFamily="34" charset="0"/>
                <a:ea typeface="Calibri" pitchFamily="34" charset="-122"/>
                <a:cs typeface="Calibri" pitchFamily="34" charset="-120"/>
              </a:rPr>
              <a:t>If their answer is 'mostly' or 'I guess' — they are still in the Clarify phase. Re-ask. Do not advance.</a:t>
            </a:r>
            <a:endParaRPr lang="en-US" sz="1300" dirty="0"/>
          </a:p>
          <a:p>
            <a:pPr marL="342900" indent="-342900">
              <a:spcAft>
                <a:spcPts val="600"/>
              </a:spcAft>
              <a:buSzPct val="100000"/>
              <a:buChar char="•"/>
            </a:pPr>
            <a:r>
              <a:rPr lang="en-US" sz="1300" dirty="0">
                <a:solidFill>
                  <a:srgbClr val="FFFFFF"/>
                </a:solidFill>
                <a:latin typeface="Calibri" pitchFamily="34" charset="0"/>
                <a:ea typeface="Calibri" pitchFamily="34" charset="-122"/>
                <a:cs typeface="Calibri" pitchFamily="34" charset="-120"/>
              </a:rPr>
              <a:t>A clean 'Yes, that makes sense' is the only green light to move forward</a:t>
            </a:r>
            <a:endParaRPr lang="en-US" sz="1300" dirty="0"/>
          </a:p>
        </p:txBody>
      </p:sp>
      <p:sp>
        <p:nvSpPr>
          <p:cNvPr id="6" name="Shape 4"/>
          <p:cNvSpPr/>
          <p:nvPr/>
        </p:nvSpPr>
        <p:spPr>
          <a:xfrm>
            <a:off x="0" y="4663440"/>
            <a:ext cx="9144000" cy="480060"/>
          </a:xfrm>
          <a:prstGeom prst="rect">
            <a:avLst/>
          </a:prstGeom>
          <a:solidFill>
            <a:srgbClr val="E07B39">
              <a:alpha val="15000"/>
            </a:srgbClr>
          </a:solidFill>
          <a:ln w="12700">
            <a:solidFill>
              <a:srgbClr val="E07B39">
                <a:alpha val="15000"/>
              </a:srgbClr>
            </a:solidFill>
            <a:prstDash val="solid"/>
          </a:ln>
        </p:spPr>
      </p:sp>
      <p:sp>
        <p:nvSpPr>
          <p:cNvPr id="7" name="Text 5"/>
          <p:cNvSpPr/>
          <p:nvPr/>
        </p:nvSpPr>
        <p:spPr>
          <a:xfrm>
            <a:off x="274320" y="4690872"/>
            <a:ext cx="8686800" cy="384048"/>
          </a:xfrm>
          <a:prstGeom prst="rect">
            <a:avLst/>
          </a:prstGeom>
          <a:noFill/>
          <a:ln/>
        </p:spPr>
        <p:txBody>
          <a:bodyPr wrap="square" lIns="0" tIns="0" rIns="0" bIns="0" rtlCol="0" anchor="ctr"/>
          <a:lstStyle/>
          <a:p>
            <a:pPr algn="l" indent="0" marL="0">
              <a:buNone/>
            </a:pPr>
            <a:r>
              <a:rPr lang="en-US" sz="900" i="1" dirty="0">
                <a:solidFill>
                  <a:srgbClr val="E07B39"/>
                </a:solidFill>
                <a:latin typeface="Calibri" pitchFamily="34" charset="0"/>
                <a:ea typeface="Calibri" pitchFamily="34" charset="-122"/>
                <a:cs typeface="Calibri" pitchFamily="34" charset="-120"/>
              </a:rPr>
              <a:t>📋 TRAINER NOTE: The Confirm step is the most powerful close in objection handling — and the most skipped. Reps feel uncomfortable asking if the objection was truly resolved because they fear the answer is 'not really.' But that fear costs deals. The Zombie Objection that isn't confirmed kills the close at the worst possible moment.</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F4A61D"/>
          </a:solidFill>
          <a:ln w="12700">
            <a:solidFill>
              <a:srgbClr val="F4A61D"/>
            </a:solidFill>
            <a:prstDash val="solid"/>
          </a:ln>
        </p:spPr>
      </p:sp>
      <p:sp>
        <p:nvSpPr>
          <p:cNvPr id="3" name="Text 1"/>
          <p:cNvSpPr/>
          <p:nvPr/>
        </p:nvSpPr>
        <p:spPr>
          <a:xfrm>
            <a:off x="274320" y="164592"/>
            <a:ext cx="8503920" cy="530352"/>
          </a:xfrm>
          <a:prstGeom prst="rect">
            <a:avLst/>
          </a:prstGeom>
          <a:noFill/>
          <a:ln/>
        </p:spPr>
        <p:txBody>
          <a:bodyPr wrap="square" lIns="0" tIns="0" rIns="0" bIns="0" rtlCol="0" anchor="ctr"/>
          <a:lstStyle/>
          <a:p>
            <a:pPr algn="l" indent="0" marL="0">
              <a:buNone/>
            </a:pPr>
            <a:r>
              <a:rPr lang="en-US" sz="2000" b="1" dirty="0">
                <a:solidFill>
                  <a:srgbClr val="F4A61D"/>
                </a:solidFill>
                <a:latin typeface="Arial Black" pitchFamily="34" charset="0"/>
                <a:ea typeface="Arial Black" pitchFamily="34" charset="-122"/>
                <a:cs typeface="Arial Black" pitchFamily="34" charset="-120"/>
              </a:rPr>
              <a:t>ACAC in Action: 5 Real Objections, Full Framework</a:t>
            </a:r>
            <a:endParaRPr lang="en-US" sz="2000" dirty="0"/>
          </a:p>
        </p:txBody>
      </p:sp>
      <p:sp>
        <p:nvSpPr>
          <p:cNvPr id="4" name="Shape 2"/>
          <p:cNvSpPr/>
          <p:nvPr/>
        </p:nvSpPr>
        <p:spPr>
          <a:xfrm>
            <a:off x="274320" y="713232"/>
            <a:ext cx="8503920" cy="27432"/>
          </a:xfrm>
          <a:prstGeom prst="rect">
            <a:avLst/>
          </a:prstGeom>
          <a:solidFill>
            <a:srgbClr val="F4A61D">
              <a:alpha val="40000"/>
            </a:srgbClr>
          </a:solidFill>
          <a:ln w="12700">
            <a:solidFill>
              <a:srgbClr val="F4A61D">
                <a:alpha val="40000"/>
              </a:srgbClr>
            </a:solidFill>
            <a:prstDash val="solid"/>
          </a:ln>
        </p:spPr>
      </p:sp>
      <p:sp>
        <p:nvSpPr>
          <p:cNvPr id="5" name="Shape 3"/>
          <p:cNvSpPr/>
          <p:nvPr/>
        </p:nvSpPr>
        <p:spPr>
          <a:xfrm>
            <a:off x="274320" y="804672"/>
            <a:ext cx="4160520" cy="347472"/>
          </a:xfrm>
          <a:prstGeom prst="rect">
            <a:avLst/>
          </a:prstGeom>
          <a:solidFill>
            <a:srgbClr val="C0392B"/>
          </a:solidFill>
          <a:ln w="12700">
            <a:solidFill>
              <a:srgbClr val="C0392B"/>
            </a:solidFill>
            <a:prstDash val="solid"/>
          </a:ln>
        </p:spPr>
      </p:sp>
      <p:sp>
        <p:nvSpPr>
          <p:cNvPr id="6" name="Shape 4"/>
          <p:cNvSpPr/>
          <p:nvPr/>
        </p:nvSpPr>
        <p:spPr>
          <a:xfrm>
            <a:off x="4572000" y="804672"/>
            <a:ext cx="4206240" cy="347472"/>
          </a:xfrm>
          <a:prstGeom prst="rect">
            <a:avLst/>
          </a:prstGeom>
          <a:solidFill>
            <a:srgbClr val="2D9B4E"/>
          </a:solidFill>
          <a:ln w="12700">
            <a:solidFill>
              <a:srgbClr val="2D9B4E"/>
            </a:solidFill>
            <a:prstDash val="solid"/>
          </a:ln>
        </p:spPr>
      </p:sp>
      <p:sp>
        <p:nvSpPr>
          <p:cNvPr id="7" name="Text 5"/>
          <p:cNvSpPr/>
          <p:nvPr/>
        </p:nvSpPr>
        <p:spPr>
          <a:xfrm>
            <a:off x="320040" y="822960"/>
            <a:ext cx="4069080"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Arial Black" pitchFamily="34" charset="0"/>
                <a:ea typeface="Arial Black" pitchFamily="34" charset="-122"/>
                <a:cs typeface="Arial Black" pitchFamily="34" charset="-120"/>
              </a:rPr>
              <a:t>🚩  HOMEOWNER SAYS</a:t>
            </a:r>
            <a:endParaRPr lang="en-US" sz="1100" dirty="0"/>
          </a:p>
        </p:txBody>
      </p:sp>
      <p:sp>
        <p:nvSpPr>
          <p:cNvPr id="8" name="Text 6"/>
          <p:cNvSpPr/>
          <p:nvPr/>
        </p:nvSpPr>
        <p:spPr>
          <a:xfrm>
            <a:off x="4617720" y="822960"/>
            <a:ext cx="4114800"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Arial Black" pitchFamily="34" charset="0"/>
                <a:ea typeface="Arial Black" pitchFamily="34" charset="-122"/>
                <a:cs typeface="Arial Black" pitchFamily="34" charset="-120"/>
              </a:rPr>
              <a:t>✅  REP RESPONDS (ACAC)</a:t>
            </a:r>
            <a:endParaRPr lang="en-US" sz="1100" dirty="0"/>
          </a:p>
        </p:txBody>
      </p:sp>
      <p:sp>
        <p:nvSpPr>
          <p:cNvPr id="9" name="Shape 7"/>
          <p:cNvSpPr/>
          <p:nvPr/>
        </p:nvSpPr>
        <p:spPr>
          <a:xfrm>
            <a:off x="274320" y="1225296"/>
            <a:ext cx="4160520" cy="585216"/>
          </a:xfrm>
          <a:prstGeom prst="rect">
            <a:avLst/>
          </a:prstGeom>
          <a:solidFill>
            <a:srgbClr val="1A2840"/>
          </a:solidFill>
          <a:ln w="6350">
            <a:solidFill>
              <a:srgbClr val="4A5568"/>
            </a:solidFill>
            <a:prstDash val="solid"/>
          </a:ln>
        </p:spPr>
      </p:sp>
      <p:sp>
        <p:nvSpPr>
          <p:cNvPr id="10" name="Shape 8"/>
          <p:cNvSpPr/>
          <p:nvPr/>
        </p:nvSpPr>
        <p:spPr>
          <a:xfrm>
            <a:off x="4572000" y="1225296"/>
            <a:ext cx="4206240" cy="585216"/>
          </a:xfrm>
          <a:prstGeom prst="rect">
            <a:avLst/>
          </a:prstGeom>
          <a:solidFill>
            <a:srgbClr val="1A2840"/>
          </a:solidFill>
          <a:ln w="6350">
            <a:solidFill>
              <a:srgbClr val="4A5568"/>
            </a:solidFill>
            <a:prstDash val="solid"/>
          </a:ln>
        </p:spPr>
      </p:sp>
      <p:sp>
        <p:nvSpPr>
          <p:cNvPr id="11" name="Text 9"/>
          <p:cNvSpPr/>
          <p:nvPr/>
        </p:nvSpPr>
        <p:spPr>
          <a:xfrm>
            <a:off x="365760" y="1271016"/>
            <a:ext cx="3977640" cy="493776"/>
          </a:xfrm>
          <a:prstGeom prst="rect">
            <a:avLst/>
          </a:prstGeom>
          <a:noFill/>
          <a:ln/>
        </p:spPr>
        <p:txBody>
          <a:bodyPr wrap="square" lIns="0" tIns="0" rIns="0" bIns="0" rtlCol="0" anchor="ctr"/>
          <a:lstStyle/>
          <a:p>
            <a:pPr algn="l" indent="0" marL="0">
              <a:buNone/>
            </a:pPr>
            <a:r>
              <a:rPr lang="en-US" sz="1100" dirty="0">
                <a:solidFill>
                  <a:srgbClr val="8FA3B1"/>
                </a:solidFill>
                <a:latin typeface="Calibri" pitchFamily="34" charset="0"/>
                <a:ea typeface="Calibri" pitchFamily="34" charset="-122"/>
                <a:cs typeface="Calibri" pitchFamily="34" charset="-120"/>
              </a:rPr>
              <a:t>'Solar is just too new — I don't trust the technology'</a:t>
            </a:r>
            <a:endParaRPr lang="en-US" sz="1100" dirty="0"/>
          </a:p>
        </p:txBody>
      </p:sp>
      <p:sp>
        <p:nvSpPr>
          <p:cNvPr id="12" name="Text 10"/>
          <p:cNvSpPr/>
          <p:nvPr/>
        </p:nvSpPr>
        <p:spPr>
          <a:xfrm>
            <a:off x="4663440" y="1271016"/>
            <a:ext cx="4023360" cy="493776"/>
          </a:xfrm>
          <a:prstGeom prst="rect">
            <a:avLst/>
          </a:prstGeom>
          <a:noFill/>
          <a:ln/>
        </p:spPr>
        <p:txBody>
          <a:bodyPr wrap="square" lIns="0" tIns="0" rIns="0" bIns="0" rtlCol="0" anchor="ctr"/>
          <a:lstStyle/>
          <a:p>
            <a:pPr algn="l" indent="0" marL="0">
              <a:buNone/>
            </a:pPr>
            <a:r>
              <a:rPr lang="en-US" sz="1100" b="1" dirty="0">
                <a:solidFill>
                  <a:srgbClr val="FFFFFF"/>
                </a:solidFill>
                <a:latin typeface="Calibri" pitchFamily="34" charset="0"/>
                <a:ea typeface="Calibri" pitchFamily="34" charset="-122"/>
                <a:cs typeface="Calibri" pitchFamily="34" charset="-120"/>
              </a:rPr>
              <a:t>Cushion → 'What specifically concerns you — panel reliability or company longevity?' → Feel/Felt/Found + NREL data → 'Does that ease the technology concern?'</a:t>
            </a:r>
            <a:endParaRPr lang="en-US" sz="1100" dirty="0"/>
          </a:p>
        </p:txBody>
      </p:sp>
      <p:sp>
        <p:nvSpPr>
          <p:cNvPr id="13" name="Shape 11"/>
          <p:cNvSpPr/>
          <p:nvPr/>
        </p:nvSpPr>
        <p:spPr>
          <a:xfrm>
            <a:off x="274320" y="1901952"/>
            <a:ext cx="4160520" cy="585216"/>
          </a:xfrm>
          <a:prstGeom prst="rect">
            <a:avLst/>
          </a:prstGeom>
          <a:solidFill>
            <a:srgbClr val="0D1B2A"/>
          </a:solidFill>
          <a:ln w="6350">
            <a:solidFill>
              <a:srgbClr val="4A5568"/>
            </a:solidFill>
            <a:prstDash val="solid"/>
          </a:ln>
        </p:spPr>
      </p:sp>
      <p:sp>
        <p:nvSpPr>
          <p:cNvPr id="14" name="Shape 12"/>
          <p:cNvSpPr/>
          <p:nvPr/>
        </p:nvSpPr>
        <p:spPr>
          <a:xfrm>
            <a:off x="4572000" y="1901952"/>
            <a:ext cx="4206240" cy="585216"/>
          </a:xfrm>
          <a:prstGeom prst="rect">
            <a:avLst/>
          </a:prstGeom>
          <a:solidFill>
            <a:srgbClr val="0D1B2A"/>
          </a:solidFill>
          <a:ln w="6350">
            <a:solidFill>
              <a:srgbClr val="4A5568"/>
            </a:solidFill>
            <a:prstDash val="solid"/>
          </a:ln>
        </p:spPr>
      </p:sp>
      <p:sp>
        <p:nvSpPr>
          <p:cNvPr id="15" name="Text 13"/>
          <p:cNvSpPr/>
          <p:nvPr/>
        </p:nvSpPr>
        <p:spPr>
          <a:xfrm>
            <a:off x="365760" y="1947672"/>
            <a:ext cx="3977640" cy="493776"/>
          </a:xfrm>
          <a:prstGeom prst="rect">
            <a:avLst/>
          </a:prstGeom>
          <a:noFill/>
          <a:ln/>
        </p:spPr>
        <p:txBody>
          <a:bodyPr wrap="square" lIns="0" tIns="0" rIns="0" bIns="0" rtlCol="0" anchor="ctr"/>
          <a:lstStyle/>
          <a:p>
            <a:pPr algn="l" indent="0" marL="0">
              <a:buNone/>
            </a:pPr>
            <a:r>
              <a:rPr lang="en-US" sz="1100" dirty="0">
                <a:solidFill>
                  <a:srgbClr val="8FA3B1"/>
                </a:solidFill>
                <a:latin typeface="Calibri" pitchFamily="34" charset="0"/>
                <a:ea typeface="Calibri" pitchFamily="34" charset="-122"/>
                <a:cs typeface="Calibri" pitchFamily="34" charset="-120"/>
              </a:rPr>
              <a:t>'My roof might need replacing in 5 years'</a:t>
            </a:r>
            <a:endParaRPr lang="en-US" sz="1100" dirty="0"/>
          </a:p>
        </p:txBody>
      </p:sp>
      <p:sp>
        <p:nvSpPr>
          <p:cNvPr id="16" name="Text 14"/>
          <p:cNvSpPr/>
          <p:nvPr/>
        </p:nvSpPr>
        <p:spPr>
          <a:xfrm>
            <a:off x="4663440" y="1947672"/>
            <a:ext cx="4023360" cy="493776"/>
          </a:xfrm>
          <a:prstGeom prst="rect">
            <a:avLst/>
          </a:prstGeom>
          <a:noFill/>
          <a:ln/>
        </p:spPr>
        <p:txBody>
          <a:bodyPr wrap="square" lIns="0" tIns="0" rIns="0" bIns="0" rtlCol="0" anchor="ctr"/>
          <a:lstStyle/>
          <a:p>
            <a:pPr algn="l" indent="0" marL="0">
              <a:buNone/>
            </a:pPr>
            <a:r>
              <a:rPr lang="en-US" sz="1100" b="1" dirty="0">
                <a:solidFill>
                  <a:srgbClr val="FFFFFF"/>
                </a:solidFill>
                <a:latin typeface="Calibri" pitchFamily="34" charset="0"/>
                <a:ea typeface="Calibri" pitchFamily="34" charset="-122"/>
                <a:cs typeface="Calibri" pitchFamily="34" charset="-120"/>
              </a:rPr>
              <a:t>Cushion → 'Is the roof issue about timing or cost?' → Present roof lease/wait options → 'Does knowing we can time the install around the roof help?'</a:t>
            </a:r>
            <a:endParaRPr lang="en-US" sz="1100" dirty="0"/>
          </a:p>
        </p:txBody>
      </p:sp>
      <p:sp>
        <p:nvSpPr>
          <p:cNvPr id="17" name="Shape 15"/>
          <p:cNvSpPr/>
          <p:nvPr/>
        </p:nvSpPr>
        <p:spPr>
          <a:xfrm>
            <a:off x="274320" y="2578608"/>
            <a:ext cx="4160520" cy="585216"/>
          </a:xfrm>
          <a:prstGeom prst="rect">
            <a:avLst/>
          </a:prstGeom>
          <a:solidFill>
            <a:srgbClr val="1A2840"/>
          </a:solidFill>
          <a:ln w="6350">
            <a:solidFill>
              <a:srgbClr val="4A5568"/>
            </a:solidFill>
            <a:prstDash val="solid"/>
          </a:ln>
        </p:spPr>
      </p:sp>
      <p:sp>
        <p:nvSpPr>
          <p:cNvPr id="18" name="Shape 16"/>
          <p:cNvSpPr/>
          <p:nvPr/>
        </p:nvSpPr>
        <p:spPr>
          <a:xfrm>
            <a:off x="4572000" y="2578608"/>
            <a:ext cx="4206240" cy="585216"/>
          </a:xfrm>
          <a:prstGeom prst="rect">
            <a:avLst/>
          </a:prstGeom>
          <a:solidFill>
            <a:srgbClr val="1A2840"/>
          </a:solidFill>
          <a:ln w="6350">
            <a:solidFill>
              <a:srgbClr val="4A5568"/>
            </a:solidFill>
            <a:prstDash val="solid"/>
          </a:ln>
        </p:spPr>
      </p:sp>
      <p:sp>
        <p:nvSpPr>
          <p:cNvPr id="19" name="Text 17"/>
          <p:cNvSpPr/>
          <p:nvPr/>
        </p:nvSpPr>
        <p:spPr>
          <a:xfrm>
            <a:off x="365760" y="2624328"/>
            <a:ext cx="3977640" cy="493776"/>
          </a:xfrm>
          <a:prstGeom prst="rect">
            <a:avLst/>
          </a:prstGeom>
          <a:noFill/>
          <a:ln/>
        </p:spPr>
        <p:txBody>
          <a:bodyPr wrap="square" lIns="0" tIns="0" rIns="0" bIns="0" rtlCol="0" anchor="ctr"/>
          <a:lstStyle/>
          <a:p>
            <a:pPr algn="l" indent="0" marL="0">
              <a:buNone/>
            </a:pPr>
            <a:r>
              <a:rPr lang="en-US" sz="1100" dirty="0">
                <a:solidFill>
                  <a:srgbClr val="8FA3B1"/>
                </a:solidFill>
                <a:latin typeface="Calibri" pitchFamily="34" charset="0"/>
                <a:ea typeface="Calibri" pitchFamily="34" charset="-122"/>
                <a:cs typeface="Calibri" pitchFamily="34" charset="-120"/>
              </a:rPr>
              <a:t>'I've seen bad reviews about solar online'</a:t>
            </a:r>
            <a:endParaRPr lang="en-US" sz="1100" dirty="0"/>
          </a:p>
        </p:txBody>
      </p:sp>
      <p:sp>
        <p:nvSpPr>
          <p:cNvPr id="20" name="Text 18"/>
          <p:cNvSpPr/>
          <p:nvPr/>
        </p:nvSpPr>
        <p:spPr>
          <a:xfrm>
            <a:off x="4663440" y="2624328"/>
            <a:ext cx="4023360" cy="493776"/>
          </a:xfrm>
          <a:prstGeom prst="rect">
            <a:avLst/>
          </a:prstGeom>
          <a:noFill/>
          <a:ln/>
        </p:spPr>
        <p:txBody>
          <a:bodyPr wrap="square" lIns="0" tIns="0" rIns="0" bIns="0" rtlCol="0" anchor="ctr"/>
          <a:lstStyle/>
          <a:p>
            <a:pPr algn="l" indent="0" marL="0">
              <a:buNone/>
            </a:pPr>
            <a:r>
              <a:rPr lang="en-US" sz="1100" b="1" dirty="0">
                <a:solidFill>
                  <a:srgbClr val="FFFFFF"/>
                </a:solidFill>
                <a:latin typeface="Calibri" pitchFamily="34" charset="0"/>
                <a:ea typeface="Calibri" pitchFamily="34" charset="-122"/>
                <a:cs typeface="Calibri" pitchFamily="34" charset="-120"/>
              </a:rPr>
              <a:t>Cushion → 'What review specifically — about us or the industry?' → Show live reviews + BBB → 'Does what you're seeing on our profile change that picture?'</a:t>
            </a:r>
            <a:endParaRPr lang="en-US" sz="1100" dirty="0"/>
          </a:p>
        </p:txBody>
      </p:sp>
      <p:sp>
        <p:nvSpPr>
          <p:cNvPr id="21" name="Shape 19"/>
          <p:cNvSpPr/>
          <p:nvPr/>
        </p:nvSpPr>
        <p:spPr>
          <a:xfrm>
            <a:off x="274320" y="3255264"/>
            <a:ext cx="4160520" cy="585216"/>
          </a:xfrm>
          <a:prstGeom prst="rect">
            <a:avLst/>
          </a:prstGeom>
          <a:solidFill>
            <a:srgbClr val="0D1B2A"/>
          </a:solidFill>
          <a:ln w="6350">
            <a:solidFill>
              <a:srgbClr val="4A5568"/>
            </a:solidFill>
            <a:prstDash val="solid"/>
          </a:ln>
        </p:spPr>
      </p:sp>
      <p:sp>
        <p:nvSpPr>
          <p:cNvPr id="22" name="Shape 20"/>
          <p:cNvSpPr/>
          <p:nvPr/>
        </p:nvSpPr>
        <p:spPr>
          <a:xfrm>
            <a:off x="4572000" y="3255264"/>
            <a:ext cx="4206240" cy="585216"/>
          </a:xfrm>
          <a:prstGeom prst="rect">
            <a:avLst/>
          </a:prstGeom>
          <a:solidFill>
            <a:srgbClr val="0D1B2A"/>
          </a:solidFill>
          <a:ln w="6350">
            <a:solidFill>
              <a:srgbClr val="4A5568"/>
            </a:solidFill>
            <a:prstDash val="solid"/>
          </a:ln>
        </p:spPr>
      </p:sp>
      <p:sp>
        <p:nvSpPr>
          <p:cNvPr id="23" name="Text 21"/>
          <p:cNvSpPr/>
          <p:nvPr/>
        </p:nvSpPr>
        <p:spPr>
          <a:xfrm>
            <a:off x="365760" y="3300984"/>
            <a:ext cx="3977640" cy="493776"/>
          </a:xfrm>
          <a:prstGeom prst="rect">
            <a:avLst/>
          </a:prstGeom>
          <a:noFill/>
          <a:ln/>
        </p:spPr>
        <p:txBody>
          <a:bodyPr wrap="square" lIns="0" tIns="0" rIns="0" bIns="0" rtlCol="0" anchor="ctr"/>
          <a:lstStyle/>
          <a:p>
            <a:pPr algn="l" indent="0" marL="0">
              <a:buNone/>
            </a:pPr>
            <a:r>
              <a:rPr lang="en-US" sz="1100" dirty="0">
                <a:solidFill>
                  <a:srgbClr val="8FA3B1"/>
                </a:solidFill>
                <a:latin typeface="Calibri" pitchFamily="34" charset="0"/>
                <a:ea typeface="Calibri" pitchFamily="34" charset="-122"/>
                <a:cs typeface="Calibri" pitchFamily="34" charset="-120"/>
              </a:rPr>
              <a:t>'I don't think I use enough electricity to make it worth it'</a:t>
            </a:r>
            <a:endParaRPr lang="en-US" sz="1100" dirty="0"/>
          </a:p>
        </p:txBody>
      </p:sp>
      <p:sp>
        <p:nvSpPr>
          <p:cNvPr id="24" name="Text 22"/>
          <p:cNvSpPr/>
          <p:nvPr/>
        </p:nvSpPr>
        <p:spPr>
          <a:xfrm>
            <a:off x="4663440" y="3300984"/>
            <a:ext cx="4023360" cy="493776"/>
          </a:xfrm>
          <a:prstGeom prst="rect">
            <a:avLst/>
          </a:prstGeom>
          <a:noFill/>
          <a:ln/>
        </p:spPr>
        <p:txBody>
          <a:bodyPr wrap="square" lIns="0" tIns="0" rIns="0" bIns="0" rtlCol="0" anchor="ctr"/>
          <a:lstStyle/>
          <a:p>
            <a:pPr algn="l" indent="0" marL="0">
              <a:buNone/>
            </a:pPr>
            <a:r>
              <a:rPr lang="en-US" sz="1100" b="1" dirty="0">
                <a:solidFill>
                  <a:srgbClr val="FFFFFF"/>
                </a:solidFill>
                <a:latin typeface="Calibri" pitchFamily="34" charset="0"/>
                <a:ea typeface="Calibri" pitchFamily="34" charset="-122"/>
                <a:cs typeface="Calibri" pitchFamily="34" charset="-120"/>
              </a:rPr>
              <a:t>Cushion → 'Is the concern about current usage or future rates?' → Show 25-year inflation projection → 'Does the future rate picture change the math for you?'</a:t>
            </a:r>
            <a:endParaRPr lang="en-US" sz="1100" dirty="0"/>
          </a:p>
        </p:txBody>
      </p:sp>
      <p:sp>
        <p:nvSpPr>
          <p:cNvPr id="25" name="Shape 23"/>
          <p:cNvSpPr/>
          <p:nvPr/>
        </p:nvSpPr>
        <p:spPr>
          <a:xfrm>
            <a:off x="0" y="4663440"/>
            <a:ext cx="9144000" cy="480060"/>
          </a:xfrm>
          <a:prstGeom prst="rect">
            <a:avLst/>
          </a:prstGeom>
          <a:solidFill>
            <a:srgbClr val="E07B39">
              <a:alpha val="15000"/>
            </a:srgbClr>
          </a:solidFill>
          <a:ln w="12700">
            <a:solidFill>
              <a:srgbClr val="E07B39">
                <a:alpha val="15000"/>
              </a:srgbClr>
            </a:solidFill>
            <a:prstDash val="solid"/>
          </a:ln>
        </p:spPr>
      </p:sp>
      <p:sp>
        <p:nvSpPr>
          <p:cNvPr id="26" name="Text 24"/>
          <p:cNvSpPr/>
          <p:nvPr/>
        </p:nvSpPr>
        <p:spPr>
          <a:xfrm>
            <a:off x="274320" y="4690872"/>
            <a:ext cx="8686800" cy="384048"/>
          </a:xfrm>
          <a:prstGeom prst="rect">
            <a:avLst/>
          </a:prstGeom>
          <a:noFill/>
          <a:ln/>
        </p:spPr>
        <p:txBody>
          <a:bodyPr wrap="square" lIns="0" tIns="0" rIns="0" bIns="0" rtlCol="0" anchor="ctr"/>
          <a:lstStyle/>
          <a:p>
            <a:pPr algn="l" indent="0" marL="0">
              <a:buNone/>
            </a:pPr>
            <a:r>
              <a:rPr lang="en-US" sz="900" i="1" dirty="0">
                <a:solidFill>
                  <a:srgbClr val="E07B39"/>
                </a:solidFill>
                <a:latin typeface="Calibri" pitchFamily="34" charset="0"/>
                <a:ea typeface="Calibri" pitchFamily="34" charset="-122"/>
                <a:cs typeface="Calibri" pitchFamily="34" charset="-120"/>
              </a:rPr>
              <a:t>📋 TRAINER NOTE: Walk reps through each objection twice: once using ACAC correctly, once jumping straight to Address without Acknowledge or Clarify. Let them feel the difference in how the homeowner responds to each approach.</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E07B39"/>
          </a:solidFill>
          <a:ln w="12700">
            <a:solidFill>
              <a:srgbClr val="E07B39"/>
            </a:solidFill>
            <a:prstDash val="solid"/>
          </a:ln>
        </p:spPr>
      </p:sp>
      <p:sp>
        <p:nvSpPr>
          <p:cNvPr id="3" name="Text 1"/>
          <p:cNvSpPr/>
          <p:nvPr/>
        </p:nvSpPr>
        <p:spPr>
          <a:xfrm>
            <a:off x="365760" y="73152"/>
            <a:ext cx="3657600" cy="365760"/>
          </a:xfrm>
          <a:prstGeom prst="rect">
            <a:avLst/>
          </a:prstGeom>
          <a:noFill/>
          <a:ln/>
        </p:spPr>
        <p:txBody>
          <a:bodyPr wrap="square" lIns="0" tIns="0" rIns="0" bIns="0" rtlCol="0" anchor="ctr"/>
          <a:lstStyle/>
          <a:p>
            <a:pPr algn="l" indent="0" marL="0">
              <a:buNone/>
            </a:pPr>
            <a:r>
              <a:rPr lang="en-US" sz="1200" b="1" spc="300" kern="0" dirty="0">
                <a:solidFill>
                  <a:srgbClr val="0D1B2A"/>
                </a:solidFill>
                <a:latin typeface="Arial Black" pitchFamily="34" charset="0"/>
                <a:ea typeface="Arial Black" pitchFamily="34" charset="-122"/>
                <a:cs typeface="Arial Black" pitchFamily="34" charset="-120"/>
              </a:rPr>
              <a:t>🎯  ACTIVITY</a:t>
            </a:r>
            <a:endParaRPr lang="en-US" sz="1200" dirty="0"/>
          </a:p>
        </p:txBody>
      </p:sp>
      <p:sp>
        <p:nvSpPr>
          <p:cNvPr id="4" name="Text 2"/>
          <p:cNvSpPr/>
          <p:nvPr/>
        </p:nvSpPr>
        <p:spPr>
          <a:xfrm>
            <a:off x="365760" y="457200"/>
            <a:ext cx="8412480" cy="457200"/>
          </a:xfrm>
          <a:prstGeom prst="rect">
            <a:avLst/>
          </a:prstGeom>
          <a:noFill/>
          <a:ln/>
        </p:spPr>
        <p:txBody>
          <a:bodyPr wrap="square" lIns="0" tIns="0" rIns="0" bIns="0" rtlCol="0" anchor="ctr"/>
          <a:lstStyle/>
          <a:p>
            <a:pPr algn="l" indent="0" marL="0">
              <a:buNone/>
            </a:pPr>
            <a:r>
              <a:rPr lang="en-US" sz="1700" b="1" dirty="0">
                <a:solidFill>
                  <a:srgbClr val="0D1B2A"/>
                </a:solidFill>
                <a:latin typeface="Arial Black" pitchFamily="34" charset="0"/>
                <a:ea typeface="Arial Black" pitchFamily="34" charset="-122"/>
                <a:cs typeface="Arial Black" pitchFamily="34" charset="-120"/>
              </a:rPr>
              <a:t>Activity: ACAC Speed Drills</a:t>
            </a:r>
            <a:endParaRPr lang="en-US" sz="1700" dirty="0"/>
          </a:p>
        </p:txBody>
      </p:sp>
      <p:sp>
        <p:nvSpPr>
          <p:cNvPr id="5" name="Shape 3"/>
          <p:cNvSpPr/>
          <p:nvPr/>
        </p:nvSpPr>
        <p:spPr>
          <a:xfrm>
            <a:off x="274320" y="1143000"/>
            <a:ext cx="8595360" cy="475488"/>
          </a:xfrm>
          <a:prstGeom prst="rect">
            <a:avLst/>
          </a:prstGeom>
          <a:solidFill>
            <a:srgbClr val="1A2840"/>
          </a:solidFill>
          <a:ln w="12700">
            <a:solidFill>
              <a:srgbClr val="0891B2"/>
            </a:solidFill>
            <a:prstDash val="solid"/>
          </a:ln>
          <a:effectLst>
            <a:outerShdw sx="100000" sy="100000" kx="0" ky="0" algn="bl" rotWithShape="0" blurRad="101600" dist="38100" dir="8100000">
              <a:srgbClr val="000000">
                <a:alpha val="20000"/>
              </a:srgbClr>
            </a:outerShdw>
          </a:effectLst>
        </p:spPr>
      </p:sp>
      <p:sp>
        <p:nvSpPr>
          <p:cNvPr id="6" name="Text 4"/>
          <p:cNvSpPr/>
          <p:nvPr/>
        </p:nvSpPr>
        <p:spPr>
          <a:xfrm>
            <a:off x="411480" y="1170432"/>
            <a:ext cx="8321040" cy="420624"/>
          </a:xfrm>
          <a:prstGeom prst="rect">
            <a:avLst/>
          </a:prstGeom>
          <a:noFill/>
          <a:ln/>
        </p:spPr>
        <p:txBody>
          <a:bodyPr wrap="square" lIns="0" tIns="0" rIns="0" bIns="0" rtlCol="0" anchor="ctr"/>
          <a:lstStyle/>
          <a:p>
            <a:pPr algn="l" indent="0" marL="0">
              <a:buNone/>
            </a:pPr>
            <a:r>
              <a:rPr lang="en-US" sz="1100" b="1" i="1" dirty="0">
                <a:solidFill>
                  <a:srgbClr val="0891B2"/>
                </a:solidFill>
                <a:latin typeface="Calibri" pitchFamily="34" charset="0"/>
                <a:ea typeface="Calibri" pitchFamily="34" charset="-122"/>
                <a:cs typeface="Calibri" pitchFamily="34" charset="-120"/>
              </a:rPr>
              <a:t>OBJECTIVE: Deliver the Acknowledge and Clarify steps for any objection in under 10 seconds</a:t>
            </a:r>
            <a:endParaRPr lang="en-US" sz="1100" dirty="0"/>
          </a:p>
        </p:txBody>
      </p:sp>
      <p:sp>
        <p:nvSpPr>
          <p:cNvPr id="7" name="Text 5"/>
          <p:cNvSpPr/>
          <p:nvPr/>
        </p:nvSpPr>
        <p:spPr>
          <a:xfrm>
            <a:off x="365760" y="1755648"/>
            <a:ext cx="6858000" cy="2834640"/>
          </a:xfrm>
          <a:prstGeom prst="rect">
            <a:avLst/>
          </a:prstGeom>
          <a:noFill/>
          <a:ln/>
        </p:spPr>
        <p:txBody>
          <a:bodyPr wrap="square" lIns="0" tIns="0" rIns="0" bIns="0" rtlCol="0" anchor="t"/>
          <a:lstStyle/>
          <a:p>
            <a:pPr indent="0" marL="0">
              <a:spcAft>
                <a:spcPts val="800"/>
              </a:spcAft>
              <a:buNone/>
            </a:pPr>
            <a:r>
              <a:rPr lang="en-US" sz="1200" dirty="0">
                <a:solidFill>
                  <a:srgbClr val="FFFFFF"/>
                </a:solidFill>
                <a:latin typeface="Calibri" pitchFamily="34" charset="0"/>
                <a:ea typeface="Calibri" pitchFamily="34" charset="-122"/>
                <a:cs typeface="Calibri" pitchFamily="34" charset="-120"/>
              </a:rPr>
              <a:t>1.  Trainer throws an objection — rep has exactly 10 seconds to deliver A + C only</a:t>
            </a:r>
            <a:endParaRPr lang="en-US" sz="1200" dirty="0"/>
          </a:p>
          <a:p>
            <a:pPr indent="0" marL="0">
              <a:spcAft>
                <a:spcPts val="800"/>
              </a:spcAft>
              <a:buNone/>
            </a:pPr>
            <a:r>
              <a:rPr lang="en-US" sz="1200" dirty="0">
                <a:solidFill>
                  <a:srgbClr val="FFFFFF"/>
                </a:solidFill>
                <a:latin typeface="Calibri" pitchFamily="34" charset="0"/>
                <a:ea typeface="Calibri" pitchFamily="34" charset="-122"/>
                <a:cs typeface="Calibri" pitchFamily="34" charset="-120"/>
              </a:rPr>
              <a:t>2.  No addressing, no data, no defense — just a perfect Cushion and one Clarifying question</a:t>
            </a:r>
            <a:endParaRPr lang="en-US" sz="1200" dirty="0"/>
          </a:p>
          <a:p>
            <a:pPr indent="0" marL="0">
              <a:spcAft>
                <a:spcPts val="800"/>
              </a:spcAft>
              <a:buNone/>
            </a:pPr>
            <a:r>
              <a:rPr lang="en-US" sz="1200" dirty="0">
                <a:solidFill>
                  <a:srgbClr val="FFFFFF"/>
                </a:solidFill>
                <a:latin typeface="Calibri" pitchFamily="34" charset="0"/>
                <a:ea typeface="Calibri" pitchFamily="34" charset="-122"/>
                <a:cs typeface="Calibri" pitchFamily="34" charset="-120"/>
              </a:rPr>
              <a:t>3.  Round 2: Trainer confirms the clarified concern — rep delivers A + C + A + C (full framework) in 45 seconds</a:t>
            </a:r>
            <a:endParaRPr lang="en-US" sz="1200" dirty="0"/>
          </a:p>
          <a:p>
            <a:pPr indent="0" marL="0">
              <a:spcAft>
                <a:spcPts val="800"/>
              </a:spcAft>
              <a:buNone/>
            </a:pPr>
            <a:r>
              <a:rPr lang="en-US" sz="1200" dirty="0">
                <a:solidFill>
                  <a:srgbClr val="FFFFFF"/>
                </a:solidFill>
                <a:latin typeface="Calibri" pitchFamily="34" charset="0"/>
                <a:ea typeface="Calibri" pitchFamily="34" charset="-122"/>
                <a:cs typeface="Calibri" pitchFamily="34" charset="-120"/>
              </a:rPr>
              <a:t>4.  Partner grades: Did the Cushion feel genuine or robotic? Did the Clarify question actually narrow the concern?</a:t>
            </a:r>
            <a:endParaRPr lang="en-US" sz="1200" dirty="0"/>
          </a:p>
          <a:p>
            <a:pPr indent="0" marL="0">
              <a:spcAft>
                <a:spcPts val="800"/>
              </a:spcAft>
              <a:buNone/>
            </a:pPr>
            <a:r>
              <a:rPr lang="en-US" sz="1200" dirty="0">
                <a:solidFill>
                  <a:srgbClr val="FFFFFF"/>
                </a:solidFill>
                <a:latin typeface="Calibri" pitchFamily="34" charset="0"/>
                <a:ea typeface="Calibri" pitchFamily="34" charset="-122"/>
                <a:cs typeface="Calibri" pitchFamily="34" charset="-120"/>
              </a:rPr>
              <a:t>5.  Deliverable: Completed ACAC Worksheet for the 5 most common objections in your local market</a:t>
            </a:r>
            <a:endParaRPr lang="en-US" sz="1200" dirty="0"/>
          </a:p>
        </p:txBody>
      </p:sp>
      <p:sp>
        <p:nvSpPr>
          <p:cNvPr id="8" name="Shape 6"/>
          <p:cNvSpPr/>
          <p:nvPr/>
        </p:nvSpPr>
        <p:spPr>
          <a:xfrm>
            <a:off x="7132320" y="1755648"/>
            <a:ext cx="1737360" cy="914400"/>
          </a:xfrm>
          <a:prstGeom prst="rect">
            <a:avLst/>
          </a:prstGeom>
          <a:solidFill>
            <a:srgbClr val="F4A61D"/>
          </a:solidFill>
          <a:ln w="12700">
            <a:solidFill>
              <a:srgbClr val="F4A61D"/>
            </a:solidFill>
            <a:prstDash val="solid"/>
          </a:ln>
          <a:effectLst>
            <a:outerShdw sx="100000" sy="100000" kx="0" ky="0" algn="bl" rotWithShape="0" blurRad="101600" dist="38100" dir="8100000">
              <a:srgbClr val="000000">
                <a:alpha val="20000"/>
              </a:srgbClr>
            </a:outerShdw>
          </a:effectLst>
        </p:spPr>
      </p:sp>
      <p:sp>
        <p:nvSpPr>
          <p:cNvPr id="9" name="Text 7"/>
          <p:cNvSpPr/>
          <p:nvPr/>
        </p:nvSpPr>
        <p:spPr>
          <a:xfrm>
            <a:off x="7150608" y="1773936"/>
            <a:ext cx="1691640" cy="877824"/>
          </a:xfrm>
          <a:prstGeom prst="rect">
            <a:avLst/>
          </a:prstGeom>
          <a:noFill/>
          <a:ln/>
        </p:spPr>
        <p:txBody>
          <a:bodyPr wrap="square" lIns="0" tIns="0" rIns="0" bIns="0" rtlCol="0" anchor="ctr"/>
          <a:lstStyle/>
          <a:p>
            <a:pPr algn="ctr" indent="0" marL="0">
              <a:buNone/>
            </a:pPr>
            <a:r>
              <a:rPr lang="en-US" sz="1400" b="1" dirty="0">
                <a:solidFill>
                  <a:srgbClr val="0D1B2A"/>
                </a:solidFill>
                <a:latin typeface="Arial Black" pitchFamily="34" charset="0"/>
                <a:ea typeface="Arial Black" pitchFamily="34" charset="-122"/>
                <a:cs typeface="Arial Black" pitchFamily="34" charset="-120"/>
              </a:rPr>
              <a:t>30 MIN</a:t>
            </a:r>
            <a:endParaRPr lang="en-US" sz="14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9144000" cy="1691640"/>
          </a:xfrm>
          <a:prstGeom prst="rect">
            <a:avLst/>
          </a:prstGeom>
          <a:solidFill>
            <a:srgbClr val="F4A61D"/>
          </a:solidFill>
          <a:ln w="12700">
            <a:solidFill>
              <a:srgbClr val="F4A61D"/>
            </a:solidFill>
            <a:prstDash val="solid"/>
          </a:ln>
        </p:spPr>
      </p:sp>
      <p:sp>
        <p:nvSpPr>
          <p:cNvPr id="3" name="Text 1"/>
          <p:cNvSpPr/>
          <p:nvPr/>
        </p:nvSpPr>
        <p:spPr>
          <a:xfrm>
            <a:off x="365760" y="137160"/>
            <a:ext cx="8412480" cy="420624"/>
          </a:xfrm>
          <a:prstGeom prst="rect">
            <a:avLst/>
          </a:prstGeom>
          <a:noFill/>
          <a:ln/>
        </p:spPr>
        <p:txBody>
          <a:bodyPr wrap="square" lIns="0" tIns="0" rIns="0" bIns="0" rtlCol="0" anchor="ctr"/>
          <a:lstStyle/>
          <a:p>
            <a:pPr algn="l" indent="0" marL="0">
              <a:buNone/>
            </a:pPr>
            <a:r>
              <a:rPr lang="en-US" sz="1300" b="1" spc="400" kern="0" dirty="0">
                <a:solidFill>
                  <a:srgbClr val="0D1B2A"/>
                </a:solidFill>
                <a:latin typeface="Arial Black" pitchFamily="34" charset="0"/>
                <a:ea typeface="Arial Black" pitchFamily="34" charset="-122"/>
                <a:cs typeface="Arial Black" pitchFamily="34" charset="-120"/>
              </a:rPr>
              <a:t>MODULE 6.3</a:t>
            </a:r>
            <a:endParaRPr lang="en-US" sz="1300" dirty="0"/>
          </a:p>
        </p:txBody>
      </p:sp>
      <p:sp>
        <p:nvSpPr>
          <p:cNvPr id="4" name="Text 2"/>
          <p:cNvSpPr/>
          <p:nvPr/>
        </p:nvSpPr>
        <p:spPr>
          <a:xfrm>
            <a:off x="365760" y="530352"/>
            <a:ext cx="8412480" cy="1005840"/>
          </a:xfrm>
          <a:prstGeom prst="rect">
            <a:avLst/>
          </a:prstGeom>
          <a:noFill/>
          <a:ln/>
        </p:spPr>
        <p:txBody>
          <a:bodyPr wrap="square" lIns="0" tIns="0" rIns="0" bIns="0" rtlCol="0" anchor="ctr"/>
          <a:lstStyle/>
          <a:p>
            <a:pPr algn="l" indent="0" marL="0">
              <a:buNone/>
            </a:pPr>
            <a:r>
              <a:rPr lang="en-US" sz="2500" b="1" dirty="0">
                <a:solidFill>
                  <a:srgbClr val="0D1B2A"/>
                </a:solidFill>
                <a:latin typeface="Arial Black" pitchFamily="34" charset="0"/>
                <a:ea typeface="Arial Black" pitchFamily="34" charset="-122"/>
                <a:cs typeface="Arial Black" pitchFamily="34" charset="-120"/>
              </a:rPr>
              <a:t>Identifying the Smoke Screen vs. The Fire</a:t>
            </a:r>
            <a:endParaRPr lang="en-US" sz="2500" dirty="0"/>
          </a:p>
        </p:txBody>
      </p:sp>
      <p:sp>
        <p:nvSpPr>
          <p:cNvPr id="5" name="Text 3"/>
          <p:cNvSpPr/>
          <p:nvPr/>
        </p:nvSpPr>
        <p:spPr>
          <a:xfrm>
            <a:off x="365760" y="1920240"/>
            <a:ext cx="8412480" cy="502920"/>
          </a:xfrm>
          <a:prstGeom prst="rect">
            <a:avLst/>
          </a:prstGeom>
          <a:noFill/>
          <a:ln/>
        </p:spPr>
        <p:txBody>
          <a:bodyPr wrap="square" lIns="0" tIns="0" rIns="0" bIns="0" rtlCol="0" anchor="ctr"/>
          <a:lstStyle/>
          <a:p>
            <a:pPr algn="l" indent="0" marL="0">
              <a:buNone/>
            </a:pPr>
            <a:r>
              <a:rPr lang="en-US" sz="1500" b="1" i="1" dirty="0">
                <a:solidFill>
                  <a:srgbClr val="F4A61D"/>
                </a:solidFill>
                <a:latin typeface="Calibri" pitchFamily="34" charset="0"/>
                <a:ea typeface="Calibri" pitchFamily="34" charset="-122"/>
                <a:cs typeface="Calibri" pitchFamily="34" charset="-120"/>
              </a:rPr>
              <a:t>Stop Solving Problems That Don't Exist</a:t>
            </a:r>
            <a:endParaRPr lang="en-US" sz="1500" dirty="0"/>
          </a:p>
        </p:txBody>
      </p:sp>
      <p:sp>
        <p:nvSpPr>
          <p:cNvPr id="6" name="Shape 4"/>
          <p:cNvSpPr/>
          <p:nvPr/>
        </p:nvSpPr>
        <p:spPr>
          <a:xfrm>
            <a:off x="365760" y="2606040"/>
            <a:ext cx="164592" cy="164592"/>
          </a:xfrm>
          <a:prstGeom prst="ellipse">
            <a:avLst/>
          </a:prstGeom>
          <a:solidFill>
            <a:srgbClr val="F4A61D">
              <a:alpha val="40000"/>
            </a:srgbClr>
          </a:solidFill>
          <a:ln w="12700">
            <a:solidFill>
              <a:srgbClr val="F4A61D">
                <a:alpha val="40000"/>
              </a:srgbClr>
            </a:solidFill>
            <a:prstDash val="solid"/>
          </a:ln>
        </p:spPr>
      </p:sp>
      <p:sp>
        <p:nvSpPr>
          <p:cNvPr id="7" name="Shape 5"/>
          <p:cNvSpPr/>
          <p:nvPr/>
        </p:nvSpPr>
        <p:spPr>
          <a:xfrm>
            <a:off x="685800" y="2606040"/>
            <a:ext cx="164592" cy="164592"/>
          </a:xfrm>
          <a:prstGeom prst="ellipse">
            <a:avLst/>
          </a:prstGeom>
          <a:solidFill>
            <a:srgbClr val="F4A61D">
              <a:alpha val="40000"/>
            </a:srgbClr>
          </a:solidFill>
          <a:ln w="12700">
            <a:solidFill>
              <a:srgbClr val="F4A61D">
                <a:alpha val="40000"/>
              </a:srgbClr>
            </a:solidFill>
            <a:prstDash val="solid"/>
          </a:ln>
        </p:spPr>
      </p:sp>
      <p:sp>
        <p:nvSpPr>
          <p:cNvPr id="8" name="Shape 6"/>
          <p:cNvSpPr/>
          <p:nvPr/>
        </p:nvSpPr>
        <p:spPr>
          <a:xfrm>
            <a:off x="1005840" y="2606040"/>
            <a:ext cx="164592" cy="164592"/>
          </a:xfrm>
          <a:prstGeom prst="ellipse">
            <a:avLst/>
          </a:prstGeom>
          <a:solidFill>
            <a:srgbClr val="F4A61D">
              <a:alpha val="40000"/>
            </a:srgbClr>
          </a:solidFill>
          <a:ln w="12700">
            <a:solidFill>
              <a:srgbClr val="F4A61D">
                <a:alpha val="40000"/>
              </a:srgbClr>
            </a:solidFill>
            <a:prstDash val="solid"/>
          </a:ln>
        </p:spPr>
      </p:sp>
      <p:sp>
        <p:nvSpPr>
          <p:cNvPr id="9" name="Shape 7"/>
          <p:cNvSpPr/>
          <p:nvPr/>
        </p:nvSpPr>
        <p:spPr>
          <a:xfrm>
            <a:off x="1325880" y="2606040"/>
            <a:ext cx="164592" cy="164592"/>
          </a:xfrm>
          <a:prstGeom prst="ellipse">
            <a:avLst/>
          </a:prstGeom>
          <a:solidFill>
            <a:srgbClr val="F4A61D">
              <a:alpha val="40000"/>
            </a:srgbClr>
          </a:solidFill>
          <a:ln w="12700">
            <a:solidFill>
              <a:srgbClr val="F4A61D">
                <a:alpha val="40000"/>
              </a:srgbClr>
            </a:solidFill>
            <a:prstDash val="solid"/>
          </a:ln>
        </p:spPr>
      </p:sp>
      <p:sp>
        <p:nvSpPr>
          <p:cNvPr id="10" name="Shape 8"/>
          <p:cNvSpPr/>
          <p:nvPr/>
        </p:nvSpPr>
        <p:spPr>
          <a:xfrm>
            <a:off x="1645920" y="2606040"/>
            <a:ext cx="164592" cy="164592"/>
          </a:xfrm>
          <a:prstGeom prst="ellipse">
            <a:avLst/>
          </a:prstGeom>
          <a:solidFill>
            <a:srgbClr val="F4A61D">
              <a:alpha val="40000"/>
            </a:srgbClr>
          </a:solidFill>
          <a:ln w="12700">
            <a:solidFill>
              <a:srgbClr val="F4A61D">
                <a:alpha val="40000"/>
              </a:srgbClr>
            </a:solidFill>
            <a:prstDash val="solid"/>
          </a:ln>
        </p:spPr>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4480560"/>
            <a:ext cx="9144000" cy="662940"/>
          </a:xfrm>
          <a:prstGeom prst="rect">
            <a:avLst/>
          </a:prstGeom>
          <a:solidFill>
            <a:srgbClr val="F4A61D"/>
          </a:solidFill>
          <a:ln w="12700">
            <a:solidFill>
              <a:srgbClr val="F4A61D"/>
            </a:solidFill>
            <a:prstDash val="solid"/>
          </a:ln>
        </p:spPr>
      </p:sp>
      <p:sp>
        <p:nvSpPr>
          <p:cNvPr id="3" name="Text 1"/>
          <p:cNvSpPr/>
          <p:nvPr/>
        </p:nvSpPr>
        <p:spPr>
          <a:xfrm>
            <a:off x="457200" y="1097280"/>
            <a:ext cx="8229600" cy="457200"/>
          </a:xfrm>
          <a:prstGeom prst="rect">
            <a:avLst/>
          </a:prstGeom>
          <a:noFill/>
          <a:ln/>
        </p:spPr>
        <p:txBody>
          <a:bodyPr wrap="square" lIns="0" tIns="0" rIns="0" bIns="0" rtlCol="0" anchor="ctr"/>
          <a:lstStyle/>
          <a:p>
            <a:pPr algn="l" indent="0" marL="0">
              <a:buNone/>
            </a:pPr>
            <a:r>
              <a:rPr lang="en-US" sz="1200" b="1" spc="500" kern="0" dirty="0">
                <a:solidFill>
                  <a:srgbClr val="F4A61D"/>
                </a:solidFill>
                <a:latin typeface="Arial" pitchFamily="34" charset="0"/>
                <a:ea typeface="Arial" pitchFamily="34" charset="-122"/>
                <a:cs typeface="Arial" pitchFamily="34" charset="-120"/>
              </a:rPr>
              <a:t>MODULE 6.3 — SMOKE SCREENS</a:t>
            </a:r>
            <a:endParaRPr lang="en-US" sz="1200" dirty="0"/>
          </a:p>
        </p:txBody>
      </p:sp>
      <p:sp>
        <p:nvSpPr>
          <p:cNvPr id="4" name="Text 2"/>
          <p:cNvSpPr/>
          <p:nvPr/>
        </p:nvSpPr>
        <p:spPr>
          <a:xfrm>
            <a:off x="457200" y="1536192"/>
            <a:ext cx="7772400" cy="1325880"/>
          </a:xfrm>
          <a:prstGeom prst="rect">
            <a:avLst/>
          </a:prstGeom>
          <a:noFill/>
          <a:ln/>
        </p:spPr>
        <p:txBody>
          <a:bodyPr wrap="square" lIns="0" tIns="0" rIns="0" bIns="0" rtlCol="0" anchor="ctr"/>
          <a:lstStyle/>
          <a:p>
            <a:pPr algn="l" indent="0" marL="0">
              <a:buNone/>
            </a:pPr>
            <a:r>
              <a:rPr lang="en-US" sz="3100" b="1" dirty="0">
                <a:solidFill>
                  <a:srgbClr val="FFFFFF"/>
                </a:solidFill>
                <a:latin typeface="Arial Black" pitchFamily="34" charset="0"/>
                <a:ea typeface="Arial Black" pitchFamily="34" charset="-122"/>
                <a:cs typeface="Arial Black" pitchFamily="34" charset="-120"/>
              </a:rPr>
              <a:t>Find the Real Objection Under the Polite Excuse</a:t>
            </a:r>
            <a:endParaRPr lang="en-US" sz="3100" dirty="0"/>
          </a:p>
        </p:txBody>
      </p:sp>
      <p:sp>
        <p:nvSpPr>
          <p:cNvPr id="5" name="Text 3"/>
          <p:cNvSpPr/>
          <p:nvPr/>
        </p:nvSpPr>
        <p:spPr>
          <a:xfrm>
            <a:off x="457200" y="2971800"/>
            <a:ext cx="7772400" cy="1371600"/>
          </a:xfrm>
          <a:prstGeom prst="rect">
            <a:avLst/>
          </a:prstGeom>
          <a:noFill/>
          <a:ln/>
        </p:spPr>
        <p:txBody>
          <a:bodyPr wrap="square" lIns="0" tIns="0" rIns="0" bIns="0" rtlCol="0" anchor="ctr"/>
          <a:lstStyle/>
          <a:p>
            <a:pPr marL="342900" indent="-342900">
              <a:buSzPct val="100000"/>
              <a:buFont typeface="+mj-lt"/>
              <a:buAutoNum type="arabicPeriod" startAt="1"/>
            </a:pPr>
            <a:r>
              <a:rPr lang="en-US" sz="1300" dirty="0">
                <a:solidFill>
                  <a:srgbClr val="8FA3B1"/>
                </a:solidFill>
                <a:latin typeface="Calibri" pitchFamily="34" charset="0"/>
                <a:ea typeface="Calibri" pitchFamily="34" charset="-122"/>
                <a:cs typeface="Calibri" pitchFamily="34" charset="-120"/>
              </a:rPr>
              <a:t>The Isolate Move: 'Aside from [X], is there anything else holding you back?'</a:t>
            </a:r>
            <a:endParaRPr lang="en-US" sz="1300" dirty="0"/>
          </a:p>
          <a:p>
            <a:pPr marL="342900" indent="-342900">
              <a:buSzPct val="100000"/>
              <a:buFont typeface="+mj-lt"/>
              <a:buAutoNum type="arabicPeriod" startAt="1"/>
            </a:pPr>
            <a:r>
              <a:rPr lang="en-US" sz="1300" dirty="0">
                <a:solidFill>
                  <a:srgbClr val="8FA3B1"/>
                </a:solidFill>
                <a:latin typeface="Calibri" pitchFamily="34" charset="0"/>
                <a:ea typeface="Calibri" pitchFamily="34" charset="-122"/>
                <a:cs typeface="Calibri" pitchFamily="34" charset="-120"/>
              </a:rPr>
              <a:t>The Magic Wand Question: testing if the stated objection is actually the real one</a:t>
            </a:r>
            <a:endParaRPr lang="en-US" sz="1300" dirty="0"/>
          </a:p>
          <a:p>
            <a:pPr marL="342900" indent="-342900">
              <a:buSzPct val="100000"/>
              <a:buFont typeface="+mj-lt"/>
              <a:buAutoNum type="arabicPeriod" startAt="1"/>
            </a:pPr>
            <a:r>
              <a:rPr lang="en-US" sz="1300" dirty="0">
                <a:solidFill>
                  <a:srgbClr val="8FA3B1"/>
                </a:solidFill>
                <a:latin typeface="Calibri" pitchFamily="34" charset="0"/>
                <a:ea typeface="Calibri" pitchFamily="34" charset="-122"/>
                <a:cs typeface="Calibri" pitchFamily="34" charset="-120"/>
              </a:rPr>
              <a:t>Peeling the Onion: asking 'Why?' three levels deep to find the root cause</a:t>
            </a:r>
            <a:endParaRPr lang="en-US" sz="1300" dirty="0"/>
          </a:p>
          <a:p>
            <a:pPr marL="342900" indent="-342900">
              <a:buSzPct val="100000"/>
              <a:buFont typeface="+mj-lt"/>
              <a:buAutoNum type="arabicPeriod" startAt="1"/>
            </a:pPr>
            <a:r>
              <a:rPr lang="en-US" sz="1300" dirty="0">
                <a:solidFill>
                  <a:srgbClr val="8FA3B1"/>
                </a:solidFill>
                <a:latin typeface="Calibri" pitchFamily="34" charset="0"/>
                <a:ea typeface="Calibri" pitchFamily="34" charset="-122"/>
                <a:cs typeface="Calibri" pitchFamily="34" charset="-120"/>
              </a:rPr>
              <a:t>The 3 Isolation Questions every rep uses in every consultation</a:t>
            </a:r>
            <a:endParaRPr lang="en-US" sz="13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F4A61D"/>
          </a:solidFill>
          <a:ln w="12700">
            <a:solidFill>
              <a:srgbClr val="F4A61D"/>
            </a:solidFill>
            <a:prstDash val="solid"/>
          </a:ln>
        </p:spPr>
      </p:sp>
      <p:sp>
        <p:nvSpPr>
          <p:cNvPr id="3" name="Text 1"/>
          <p:cNvSpPr/>
          <p:nvPr/>
        </p:nvSpPr>
        <p:spPr>
          <a:xfrm>
            <a:off x="274320" y="164592"/>
            <a:ext cx="8503920" cy="594360"/>
          </a:xfrm>
          <a:prstGeom prst="rect">
            <a:avLst/>
          </a:prstGeom>
          <a:noFill/>
          <a:ln/>
        </p:spPr>
        <p:txBody>
          <a:bodyPr wrap="square" lIns="0" tIns="0" rIns="0" bIns="0" rtlCol="0" anchor="ctr"/>
          <a:lstStyle/>
          <a:p>
            <a:pPr algn="l" indent="0" marL="0">
              <a:buNone/>
            </a:pPr>
            <a:r>
              <a:rPr lang="en-US" sz="2000" b="1" dirty="0">
                <a:solidFill>
                  <a:srgbClr val="F4A61D"/>
                </a:solidFill>
                <a:latin typeface="Arial Black" pitchFamily="34" charset="0"/>
                <a:ea typeface="Arial Black" pitchFamily="34" charset="-122"/>
                <a:cs typeface="Arial Black" pitchFamily="34" charset="-120"/>
              </a:rPr>
              <a:t>The Smoke Screen: What It Is and Why Homeowners Use It</a:t>
            </a:r>
            <a:endParaRPr lang="en-US" sz="2000" dirty="0"/>
          </a:p>
        </p:txBody>
      </p:sp>
      <p:sp>
        <p:nvSpPr>
          <p:cNvPr id="4" name="Shape 2"/>
          <p:cNvSpPr/>
          <p:nvPr/>
        </p:nvSpPr>
        <p:spPr>
          <a:xfrm>
            <a:off x="274320" y="777240"/>
            <a:ext cx="8503920" cy="27432"/>
          </a:xfrm>
          <a:prstGeom prst="rect">
            <a:avLst/>
          </a:prstGeom>
          <a:solidFill>
            <a:srgbClr val="F4A61D">
              <a:alpha val="40000"/>
            </a:srgbClr>
          </a:solidFill>
          <a:ln w="12700">
            <a:solidFill>
              <a:srgbClr val="F4A61D">
                <a:alpha val="40000"/>
              </a:srgbClr>
            </a:solidFill>
            <a:prstDash val="solid"/>
          </a:ln>
        </p:spPr>
      </p:sp>
      <p:sp>
        <p:nvSpPr>
          <p:cNvPr id="5" name="Text 3"/>
          <p:cNvSpPr/>
          <p:nvPr/>
        </p:nvSpPr>
        <p:spPr>
          <a:xfrm>
            <a:off x="274320" y="914400"/>
            <a:ext cx="8503920" cy="2267712"/>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rgbClr val="FFFFFF"/>
                </a:solidFill>
                <a:latin typeface="Calibri" pitchFamily="34" charset="0"/>
                <a:ea typeface="Calibri" pitchFamily="34" charset="-122"/>
                <a:cs typeface="Calibri" pitchFamily="34" charset="-120"/>
              </a:rPr>
              <a:t>A Smoke Screen is a polite, face-saving excuse used to avoid disclosing the real fear</a:t>
            </a:r>
            <a:endParaRPr lang="en-US" sz="1300" dirty="0"/>
          </a:p>
          <a:p>
            <a:pPr marL="342900" indent="-342900">
              <a:spcAft>
                <a:spcPts val="600"/>
              </a:spcAft>
              <a:buSzPct val="100000"/>
              <a:buChar char="•"/>
            </a:pPr>
            <a:r>
              <a:rPr lang="en-US" sz="1300" dirty="0">
                <a:solidFill>
                  <a:srgbClr val="FFFFFF"/>
                </a:solidFill>
                <a:latin typeface="Calibri" pitchFamily="34" charset="0"/>
                <a:ea typeface="Calibri" pitchFamily="34" charset="-122"/>
                <a:cs typeface="Calibri" pitchFamily="34" charset="-120"/>
              </a:rPr>
              <a:t>Common Smoke Screens: 'We need to talk to our accountant,' 'We want to research more,' 'The timing isn't right'</a:t>
            </a:r>
            <a:endParaRPr lang="en-US" sz="1300" dirty="0"/>
          </a:p>
          <a:p>
            <a:pPr marL="342900" indent="-342900">
              <a:spcAft>
                <a:spcPts val="600"/>
              </a:spcAft>
              <a:buSzPct val="100000"/>
              <a:buChar char="•"/>
            </a:pPr>
            <a:r>
              <a:rPr lang="en-US" sz="1300" dirty="0">
                <a:solidFill>
                  <a:srgbClr val="FFFFFF"/>
                </a:solidFill>
                <a:latin typeface="Calibri" pitchFamily="34" charset="0"/>
                <a:ea typeface="Calibri" pitchFamily="34" charset="-122"/>
                <a:cs typeface="Calibri" pitchFamily="34" charset="-120"/>
              </a:rPr>
              <a:t>The real fears behind the smoke: price anxiety, distrust of the rep, distrust of the company, spousal conflict</a:t>
            </a:r>
            <a:endParaRPr lang="en-US" sz="1300" dirty="0"/>
          </a:p>
          <a:p>
            <a:pPr marL="342900" indent="-342900">
              <a:spcAft>
                <a:spcPts val="600"/>
              </a:spcAft>
              <a:buSzPct val="100000"/>
              <a:buChar char="•"/>
            </a:pPr>
            <a:r>
              <a:rPr lang="en-US" sz="1300" dirty="0">
                <a:solidFill>
                  <a:srgbClr val="FFFFFF"/>
                </a:solidFill>
                <a:latin typeface="Calibri" pitchFamily="34" charset="0"/>
                <a:ea typeface="Calibri" pitchFamily="34" charset="-122"/>
                <a:cs typeface="Calibri" pitchFamily="34" charset="-120"/>
              </a:rPr>
              <a:t>Rule: Never argue with the Smoke Screen — that's arguing with a symptom, not treating the disease</a:t>
            </a:r>
            <a:endParaRPr lang="en-US" sz="1300" dirty="0"/>
          </a:p>
        </p:txBody>
      </p:sp>
      <p:sp>
        <p:nvSpPr>
          <p:cNvPr id="6" name="Shape 4"/>
          <p:cNvSpPr/>
          <p:nvPr/>
        </p:nvSpPr>
        <p:spPr>
          <a:xfrm>
            <a:off x="0" y="4663440"/>
            <a:ext cx="9144000" cy="480060"/>
          </a:xfrm>
          <a:prstGeom prst="rect">
            <a:avLst/>
          </a:prstGeom>
          <a:solidFill>
            <a:srgbClr val="E07B39">
              <a:alpha val="15000"/>
            </a:srgbClr>
          </a:solidFill>
          <a:ln w="12700">
            <a:solidFill>
              <a:srgbClr val="E07B39">
                <a:alpha val="15000"/>
              </a:srgbClr>
            </a:solidFill>
            <a:prstDash val="solid"/>
          </a:ln>
        </p:spPr>
      </p:sp>
      <p:sp>
        <p:nvSpPr>
          <p:cNvPr id="7" name="Text 5"/>
          <p:cNvSpPr/>
          <p:nvPr/>
        </p:nvSpPr>
        <p:spPr>
          <a:xfrm>
            <a:off x="274320" y="4690872"/>
            <a:ext cx="8686800" cy="384048"/>
          </a:xfrm>
          <a:prstGeom prst="rect">
            <a:avLst/>
          </a:prstGeom>
          <a:noFill/>
          <a:ln/>
        </p:spPr>
        <p:txBody>
          <a:bodyPr wrap="square" lIns="0" tIns="0" rIns="0" bIns="0" rtlCol="0" anchor="ctr"/>
          <a:lstStyle/>
          <a:p>
            <a:pPr algn="l" indent="0" marL="0">
              <a:buNone/>
            </a:pPr>
            <a:r>
              <a:rPr lang="en-US" sz="900" i="1" dirty="0">
                <a:solidFill>
                  <a:srgbClr val="E07B39"/>
                </a:solidFill>
                <a:latin typeface="Calibri" pitchFamily="34" charset="0"/>
                <a:ea typeface="Calibri" pitchFamily="34" charset="-122"/>
                <a:cs typeface="Calibri" pitchFamily="34" charset="-120"/>
              </a:rPr>
              <a:t>📋 TRAINER NOTE: The hardest part of the Smoke Screen concept for reps to accept is that the homeowner isn't lying maliciously — they're being polite. Once reps understand this, they stop getting defensive about the smoke and start getting curious about the fire.</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F4A61D"/>
          </a:solidFill>
          <a:ln w="12700">
            <a:solidFill>
              <a:srgbClr val="F4A61D"/>
            </a:solidFill>
            <a:prstDash val="solid"/>
          </a:ln>
        </p:spPr>
      </p:sp>
      <p:sp>
        <p:nvSpPr>
          <p:cNvPr id="3" name="Text 1"/>
          <p:cNvSpPr/>
          <p:nvPr/>
        </p:nvSpPr>
        <p:spPr>
          <a:xfrm>
            <a:off x="274320" y="164592"/>
            <a:ext cx="8503920" cy="594360"/>
          </a:xfrm>
          <a:prstGeom prst="rect">
            <a:avLst/>
          </a:prstGeom>
          <a:noFill/>
          <a:ln/>
        </p:spPr>
        <p:txBody>
          <a:bodyPr wrap="square" lIns="0" tIns="0" rIns="0" bIns="0" rtlCol="0" anchor="ctr"/>
          <a:lstStyle/>
          <a:p>
            <a:pPr algn="l" indent="0" marL="0">
              <a:buNone/>
            </a:pPr>
            <a:r>
              <a:rPr lang="en-US" sz="2000" b="1" dirty="0">
                <a:solidFill>
                  <a:srgbClr val="F4A61D"/>
                </a:solidFill>
                <a:latin typeface="Arial Black" pitchFamily="34" charset="0"/>
                <a:ea typeface="Arial Black" pitchFamily="34" charset="-122"/>
                <a:cs typeface="Arial Black" pitchFamily="34" charset="-120"/>
              </a:rPr>
              <a:t>The Isolate Move: Clearing the Smoke</a:t>
            </a:r>
            <a:endParaRPr lang="en-US" sz="2000" dirty="0"/>
          </a:p>
        </p:txBody>
      </p:sp>
      <p:sp>
        <p:nvSpPr>
          <p:cNvPr id="4" name="Shape 2"/>
          <p:cNvSpPr/>
          <p:nvPr/>
        </p:nvSpPr>
        <p:spPr>
          <a:xfrm>
            <a:off x="274320" y="777240"/>
            <a:ext cx="8503920" cy="27432"/>
          </a:xfrm>
          <a:prstGeom prst="rect">
            <a:avLst/>
          </a:prstGeom>
          <a:solidFill>
            <a:srgbClr val="F4A61D">
              <a:alpha val="40000"/>
            </a:srgbClr>
          </a:solidFill>
          <a:ln w="12700">
            <a:solidFill>
              <a:srgbClr val="F4A61D">
                <a:alpha val="40000"/>
              </a:srgbClr>
            </a:solidFill>
            <a:prstDash val="solid"/>
          </a:ln>
        </p:spPr>
      </p:sp>
      <p:sp>
        <p:nvSpPr>
          <p:cNvPr id="5" name="Text 3"/>
          <p:cNvSpPr/>
          <p:nvPr/>
        </p:nvSpPr>
        <p:spPr>
          <a:xfrm>
            <a:off x="274320" y="914400"/>
            <a:ext cx="8503920" cy="1444752"/>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rgbClr val="FFFFFF"/>
                </a:solidFill>
                <a:latin typeface="Calibri" pitchFamily="34" charset="0"/>
                <a:ea typeface="Calibri" pitchFamily="34" charset="-122"/>
                <a:cs typeface="Calibri" pitchFamily="34" charset="-120"/>
              </a:rPr>
              <a:t>After any soft objection, always ask: 'Aside from [that concern], is there anything else that's holding you back from moving forward?'</a:t>
            </a:r>
            <a:endParaRPr lang="en-US" sz="1300" dirty="0"/>
          </a:p>
          <a:p>
            <a:pPr marL="342900" indent="-342900">
              <a:spcAft>
                <a:spcPts val="600"/>
              </a:spcAft>
              <a:buSzPct val="100000"/>
              <a:buChar char="•"/>
            </a:pPr>
            <a:r>
              <a:rPr lang="en-US" sz="1300" dirty="0">
                <a:solidFill>
                  <a:srgbClr val="FFFFFF"/>
                </a:solidFill>
                <a:latin typeface="Calibri" pitchFamily="34" charset="0"/>
                <a:ea typeface="Calibri" pitchFamily="34" charset="-122"/>
                <a:cs typeface="Calibri" pitchFamily="34" charset="-120"/>
              </a:rPr>
              <a:t>If they say 'No, that's the main thing' — you have isolated the real objection and now have something specific to solve</a:t>
            </a:r>
            <a:endParaRPr lang="en-US" sz="1300" dirty="0"/>
          </a:p>
          <a:p>
            <a:pPr marL="342900" indent="-342900">
              <a:spcAft>
                <a:spcPts val="600"/>
              </a:spcAft>
              <a:buSzPct val="100000"/>
              <a:buChar char="•"/>
            </a:pPr>
            <a:r>
              <a:rPr lang="en-US" sz="1300" dirty="0">
                <a:solidFill>
                  <a:srgbClr val="FFFFFF"/>
                </a:solidFill>
                <a:latin typeface="Calibri" pitchFamily="34" charset="0"/>
                <a:ea typeface="Calibri" pitchFamily="34" charset="-122"/>
                <a:cs typeface="Calibri" pitchFamily="34" charset="-120"/>
              </a:rPr>
              <a:t>If they say 'Well, also...' — you have found additional fires that would have burned the deal after the smoke was cleared</a:t>
            </a:r>
            <a:endParaRPr lang="en-US" sz="1300" dirty="0"/>
          </a:p>
          <a:p>
            <a:pPr marL="342900" indent="-342900">
              <a:spcAft>
                <a:spcPts val="600"/>
              </a:spcAft>
              <a:buSzPct val="100000"/>
              <a:buChar char="•"/>
            </a:pPr>
            <a:r>
              <a:rPr lang="en-US" sz="1300" dirty="0">
                <a:solidFill>
                  <a:srgbClr val="FFFFFF"/>
                </a:solidFill>
                <a:latin typeface="Calibri" pitchFamily="34" charset="0"/>
                <a:ea typeface="Calibri" pitchFamily="34" charset="-122"/>
                <a:cs typeface="Calibri" pitchFamily="34" charset="-120"/>
              </a:rPr>
              <a:t>The Isolate Move prevents the 'infinite objection loop' where solving one surfaces another</a:t>
            </a:r>
            <a:endParaRPr lang="en-US" sz="1300" dirty="0"/>
          </a:p>
        </p:txBody>
      </p:sp>
      <p:sp>
        <p:nvSpPr>
          <p:cNvPr id="6" name="Shape 4"/>
          <p:cNvSpPr/>
          <p:nvPr/>
        </p:nvSpPr>
        <p:spPr>
          <a:xfrm>
            <a:off x="274320" y="2468880"/>
            <a:ext cx="8503920" cy="1874520"/>
          </a:xfrm>
          <a:prstGeom prst="rect">
            <a:avLst/>
          </a:prstGeom>
          <a:solidFill>
            <a:srgbClr val="1A2840"/>
          </a:solidFill>
          <a:ln w="19050">
            <a:solidFill>
              <a:srgbClr val="0891B2"/>
            </a:solidFill>
            <a:prstDash val="solid"/>
          </a:ln>
          <a:effectLst>
            <a:outerShdw sx="100000" sy="100000" kx="0" ky="0" algn="bl" rotWithShape="0" blurRad="101600" dist="38100" dir="8100000">
              <a:srgbClr val="000000">
                <a:alpha val="20000"/>
              </a:srgbClr>
            </a:outerShdw>
          </a:effectLst>
        </p:spPr>
      </p:sp>
      <p:sp>
        <p:nvSpPr>
          <p:cNvPr id="7" name="Shape 5"/>
          <p:cNvSpPr/>
          <p:nvPr/>
        </p:nvSpPr>
        <p:spPr>
          <a:xfrm>
            <a:off x="274320" y="2468880"/>
            <a:ext cx="1097280" cy="347472"/>
          </a:xfrm>
          <a:prstGeom prst="rect">
            <a:avLst/>
          </a:prstGeom>
          <a:solidFill>
            <a:srgbClr val="0891B2"/>
          </a:solidFill>
          <a:ln w="12700">
            <a:solidFill>
              <a:srgbClr val="0891B2"/>
            </a:solidFill>
            <a:prstDash val="solid"/>
          </a:ln>
        </p:spPr>
      </p:sp>
      <p:sp>
        <p:nvSpPr>
          <p:cNvPr id="8" name="Text 6"/>
          <p:cNvSpPr/>
          <p:nvPr/>
        </p:nvSpPr>
        <p:spPr>
          <a:xfrm>
            <a:off x="292608" y="2487168"/>
            <a:ext cx="1051560" cy="310896"/>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Arial Black" pitchFamily="34" charset="0"/>
                <a:ea typeface="Arial Black" pitchFamily="34" charset="-122"/>
                <a:cs typeface="Arial Black" pitchFamily="34" charset="-120"/>
              </a:rPr>
              <a:t>DIALOGUE</a:t>
            </a:r>
            <a:endParaRPr lang="en-US" sz="900" dirty="0"/>
          </a:p>
        </p:txBody>
      </p:sp>
      <p:sp>
        <p:nvSpPr>
          <p:cNvPr id="9" name="Text 7"/>
          <p:cNvSpPr/>
          <p:nvPr/>
        </p:nvSpPr>
        <p:spPr>
          <a:xfrm>
            <a:off x="411480" y="2926080"/>
            <a:ext cx="8275320" cy="1325880"/>
          </a:xfrm>
          <a:prstGeom prst="rect">
            <a:avLst/>
          </a:prstGeom>
          <a:noFill/>
          <a:ln/>
        </p:spPr>
        <p:txBody>
          <a:bodyPr wrap="square" lIns="0" tIns="0" rIns="0" bIns="0" rtlCol="0" anchor="t"/>
          <a:lstStyle/>
          <a:p>
            <a:pPr indent="0" marL="0">
              <a:buNone/>
            </a:pPr>
            <a:r>
              <a:rPr lang="en-US" sz="1100" b="1" dirty="0">
                <a:solidFill>
                  <a:srgbClr val="F4A61D"/>
                </a:solidFill>
                <a:latin typeface="Calibri" pitchFamily="34" charset="0"/>
                <a:ea typeface="Calibri" pitchFamily="34" charset="-122"/>
                <a:cs typeface="Calibri" pitchFamily="34" charset="-120"/>
              </a:rPr>
              <a:t>Rep:</a:t>
            </a:r>
            <a:endParaRPr lang="en-US" sz="1100" dirty="0"/>
          </a:p>
          <a:p>
            <a:pPr indent="0" marL="0">
              <a:buNone/>
            </a:pPr>
            <a:r>
              <a:rPr lang="en-US" sz="1100" dirty="0">
                <a:solidFill>
                  <a:srgbClr val="FFFFFF"/>
                </a:solidFill>
                <a:latin typeface="Calibri" pitchFamily="34" charset="0"/>
                <a:ea typeface="Calibri" pitchFamily="34" charset="-122"/>
                <a:cs typeface="Calibri" pitchFamily="34" charset="-120"/>
              </a:rPr>
              <a:t>I hear you on the accountant piece — that's smart. Aside from getting the accountant's input, is there anything else that would keep you from moving forward?</a:t>
            </a:r>
            <a:endParaRPr lang="en-US" sz="1100" dirty="0"/>
          </a:p>
          <a:p>
            <a:pPr indent="0" marL="0">
              <a:buNone/>
            </a:pPr>
            <a:r>
              <a:rPr lang="en-US" sz="1100" b="1" dirty="0">
                <a:solidFill>
                  <a:srgbClr val="F4A61D"/>
                </a:solidFill>
                <a:latin typeface="Calibri" pitchFamily="34" charset="0"/>
                <a:ea typeface="Calibri" pitchFamily="34" charset="-122"/>
                <a:cs typeface="Calibri" pitchFamily="34" charset="-120"/>
              </a:rPr>
              <a:t>Homeowner:</a:t>
            </a:r>
            <a:endParaRPr lang="en-US" sz="1100" dirty="0"/>
          </a:p>
          <a:p>
            <a:pPr indent="0" marL="0">
              <a:buNone/>
            </a:pPr>
            <a:r>
              <a:rPr lang="en-US" sz="1100" dirty="0">
                <a:solidFill>
                  <a:srgbClr val="FFFFFF"/>
                </a:solidFill>
                <a:latin typeface="Calibri" pitchFamily="34" charset="0"/>
                <a:ea typeface="Calibri" pitchFamily="34" charset="-122"/>
                <a:cs typeface="Calibri" pitchFamily="34" charset="-120"/>
              </a:rPr>
              <a:t>Well... honestly, we're also not 100% sure we trust solar companies in general.</a:t>
            </a:r>
            <a:endParaRPr lang="en-US" sz="1100" dirty="0"/>
          </a:p>
          <a:p>
            <a:pPr indent="0" marL="0">
              <a:buNone/>
            </a:pPr>
            <a:r>
              <a:rPr lang="en-US" sz="1100" b="1" dirty="0">
                <a:solidFill>
                  <a:srgbClr val="F4A61D"/>
                </a:solidFill>
                <a:latin typeface="Calibri" pitchFamily="34" charset="0"/>
                <a:ea typeface="Calibri" pitchFamily="34" charset="-122"/>
                <a:cs typeface="Calibri" pitchFamily="34" charset="-120"/>
              </a:rPr>
              <a:t>Rep:</a:t>
            </a:r>
            <a:endParaRPr lang="en-US" sz="1100" dirty="0"/>
          </a:p>
          <a:p>
            <a:pPr indent="0" marL="0">
              <a:buNone/>
            </a:pPr>
            <a:r>
              <a:rPr lang="en-US" sz="1100" dirty="0">
                <a:solidFill>
                  <a:srgbClr val="FFFFFF"/>
                </a:solidFill>
                <a:latin typeface="Calibri" pitchFamily="34" charset="0"/>
                <a:ea typeface="Calibri" pitchFamily="34" charset="-122"/>
                <a:cs typeface="Calibri" pitchFamily="34" charset="-120"/>
              </a:rPr>
              <a:t>I'm really glad you said that — that's the more important thing for us to talk about. Can I address that directly?</a:t>
            </a:r>
            <a:endParaRPr lang="en-US" sz="11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F4A61D"/>
          </a:solidFill>
          <a:ln w="12700">
            <a:solidFill>
              <a:srgbClr val="F4A61D"/>
            </a:solidFill>
            <a:prstDash val="solid"/>
          </a:ln>
        </p:spPr>
      </p:sp>
      <p:sp>
        <p:nvSpPr>
          <p:cNvPr id="3" name="Text 1"/>
          <p:cNvSpPr/>
          <p:nvPr/>
        </p:nvSpPr>
        <p:spPr>
          <a:xfrm>
            <a:off x="274320" y="164592"/>
            <a:ext cx="8503920" cy="594360"/>
          </a:xfrm>
          <a:prstGeom prst="rect">
            <a:avLst/>
          </a:prstGeom>
          <a:noFill/>
          <a:ln/>
        </p:spPr>
        <p:txBody>
          <a:bodyPr wrap="square" lIns="0" tIns="0" rIns="0" bIns="0" rtlCol="0" anchor="ctr"/>
          <a:lstStyle/>
          <a:p>
            <a:pPr algn="l" indent="0" marL="0">
              <a:buNone/>
            </a:pPr>
            <a:r>
              <a:rPr lang="en-US" sz="2000" b="1" dirty="0">
                <a:solidFill>
                  <a:srgbClr val="F4A61D"/>
                </a:solidFill>
                <a:latin typeface="Arial Black" pitchFamily="34" charset="0"/>
                <a:ea typeface="Arial Black" pitchFamily="34" charset="-122"/>
                <a:cs typeface="Arial Black" pitchFamily="34" charset="-120"/>
              </a:rPr>
              <a:t>The Magic Wand Question: Testing the Smoke Screen</a:t>
            </a:r>
            <a:endParaRPr lang="en-US" sz="2000" dirty="0"/>
          </a:p>
        </p:txBody>
      </p:sp>
      <p:sp>
        <p:nvSpPr>
          <p:cNvPr id="4" name="Shape 2"/>
          <p:cNvSpPr/>
          <p:nvPr/>
        </p:nvSpPr>
        <p:spPr>
          <a:xfrm>
            <a:off x="274320" y="777240"/>
            <a:ext cx="8503920" cy="27432"/>
          </a:xfrm>
          <a:prstGeom prst="rect">
            <a:avLst/>
          </a:prstGeom>
          <a:solidFill>
            <a:srgbClr val="F4A61D">
              <a:alpha val="40000"/>
            </a:srgbClr>
          </a:solidFill>
          <a:ln w="12700">
            <a:solidFill>
              <a:srgbClr val="F4A61D">
                <a:alpha val="40000"/>
              </a:srgbClr>
            </a:solidFill>
            <a:prstDash val="solid"/>
          </a:ln>
        </p:spPr>
      </p:sp>
      <p:sp>
        <p:nvSpPr>
          <p:cNvPr id="5" name="Text 3"/>
          <p:cNvSpPr/>
          <p:nvPr/>
        </p:nvSpPr>
        <p:spPr>
          <a:xfrm>
            <a:off x="274320" y="914400"/>
            <a:ext cx="8503920" cy="1444752"/>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rgbClr val="FFFFFF"/>
                </a:solidFill>
                <a:latin typeface="Calibri" pitchFamily="34" charset="0"/>
                <a:ea typeface="Calibri" pitchFamily="34" charset="-122"/>
                <a:cs typeface="Calibri" pitchFamily="34" charset="-120"/>
              </a:rPr>
              <a:t>Use when you suspect the stated objection is a cover story: 'If I could wave a magic wand and [solve that exact thing] right now — would you be ready to go solar today?'</a:t>
            </a:r>
            <a:endParaRPr lang="en-US" sz="1300" dirty="0"/>
          </a:p>
          <a:p>
            <a:pPr marL="342900" indent="-342900">
              <a:spcAft>
                <a:spcPts val="600"/>
              </a:spcAft>
              <a:buSzPct val="100000"/>
              <a:buChar char="•"/>
            </a:pPr>
            <a:r>
              <a:rPr lang="en-US" sz="1300" dirty="0">
                <a:solidFill>
                  <a:srgbClr val="FFFFFF"/>
                </a:solidFill>
                <a:latin typeface="Calibri" pitchFamily="34" charset="0"/>
                <a:ea typeface="Calibri" pitchFamily="34" charset="-122"/>
                <a:cs typeface="Calibri" pitchFamily="34" charset="-120"/>
              </a:rPr>
              <a:t>If 'Yes' → the stated objection is real — solve it completely</a:t>
            </a:r>
            <a:endParaRPr lang="en-US" sz="1300" dirty="0"/>
          </a:p>
          <a:p>
            <a:pPr marL="342900" indent="-342900">
              <a:spcAft>
                <a:spcPts val="600"/>
              </a:spcAft>
              <a:buSzPct val="100000"/>
              <a:buChar char="•"/>
            </a:pPr>
            <a:r>
              <a:rPr lang="en-US" sz="1300" dirty="0">
                <a:solidFill>
                  <a:srgbClr val="FFFFFF"/>
                </a:solidFill>
                <a:latin typeface="Calibri" pitchFamily="34" charset="0"/>
                <a:ea typeface="Calibri" pitchFamily="34" charset="-122"/>
                <a:cs typeface="Calibri" pitchFamily="34" charset="-120"/>
              </a:rPr>
              <a:t>If 'No' or 'Maybe' → the stated objection is a Smoke Screen — ask what else is present</a:t>
            </a:r>
            <a:endParaRPr lang="en-US" sz="1300" dirty="0"/>
          </a:p>
          <a:p>
            <a:pPr marL="342900" indent="-342900">
              <a:spcAft>
                <a:spcPts val="600"/>
              </a:spcAft>
              <a:buSzPct val="100000"/>
              <a:buChar char="•"/>
            </a:pPr>
            <a:r>
              <a:rPr lang="en-US" sz="1300" dirty="0">
                <a:solidFill>
                  <a:srgbClr val="FFFFFF"/>
                </a:solidFill>
                <a:latin typeface="Calibri" pitchFamily="34" charset="0"/>
                <a:ea typeface="Calibri" pitchFamily="34" charset="-122"/>
                <a:cs typeface="Calibri" pitchFamily="34" charset="-120"/>
              </a:rPr>
              <a:t>If 'I don't know' → they are in the Fear Gap — return to the emotional safety conversation</a:t>
            </a:r>
            <a:endParaRPr lang="en-US" sz="1300" dirty="0"/>
          </a:p>
        </p:txBody>
      </p:sp>
      <p:sp>
        <p:nvSpPr>
          <p:cNvPr id="6" name="Shape 4"/>
          <p:cNvSpPr/>
          <p:nvPr/>
        </p:nvSpPr>
        <p:spPr>
          <a:xfrm>
            <a:off x="274320" y="2468880"/>
            <a:ext cx="8503920" cy="1874520"/>
          </a:xfrm>
          <a:prstGeom prst="rect">
            <a:avLst/>
          </a:prstGeom>
          <a:solidFill>
            <a:srgbClr val="1A2840"/>
          </a:solidFill>
          <a:ln w="19050">
            <a:solidFill>
              <a:srgbClr val="0891B2"/>
            </a:solidFill>
            <a:prstDash val="solid"/>
          </a:ln>
          <a:effectLst>
            <a:outerShdw sx="100000" sy="100000" kx="0" ky="0" algn="bl" rotWithShape="0" blurRad="101600" dist="38100" dir="8100000">
              <a:srgbClr val="000000">
                <a:alpha val="20000"/>
              </a:srgbClr>
            </a:outerShdw>
          </a:effectLst>
        </p:spPr>
      </p:sp>
      <p:sp>
        <p:nvSpPr>
          <p:cNvPr id="7" name="Shape 5"/>
          <p:cNvSpPr/>
          <p:nvPr/>
        </p:nvSpPr>
        <p:spPr>
          <a:xfrm>
            <a:off x="274320" y="2468880"/>
            <a:ext cx="1097280" cy="347472"/>
          </a:xfrm>
          <a:prstGeom prst="rect">
            <a:avLst/>
          </a:prstGeom>
          <a:solidFill>
            <a:srgbClr val="0891B2"/>
          </a:solidFill>
          <a:ln w="12700">
            <a:solidFill>
              <a:srgbClr val="0891B2"/>
            </a:solidFill>
            <a:prstDash val="solid"/>
          </a:ln>
        </p:spPr>
      </p:sp>
      <p:sp>
        <p:nvSpPr>
          <p:cNvPr id="8" name="Text 6"/>
          <p:cNvSpPr/>
          <p:nvPr/>
        </p:nvSpPr>
        <p:spPr>
          <a:xfrm>
            <a:off x="292608" y="2487168"/>
            <a:ext cx="1051560" cy="310896"/>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Arial Black" pitchFamily="34" charset="0"/>
                <a:ea typeface="Arial Black" pitchFamily="34" charset="-122"/>
                <a:cs typeface="Arial Black" pitchFamily="34" charset="-120"/>
              </a:rPr>
              <a:t>DIALOGUE</a:t>
            </a:r>
            <a:endParaRPr lang="en-US" sz="900" dirty="0"/>
          </a:p>
        </p:txBody>
      </p:sp>
      <p:sp>
        <p:nvSpPr>
          <p:cNvPr id="9" name="Text 7"/>
          <p:cNvSpPr/>
          <p:nvPr/>
        </p:nvSpPr>
        <p:spPr>
          <a:xfrm>
            <a:off x="411480" y="2926080"/>
            <a:ext cx="8275320" cy="1325880"/>
          </a:xfrm>
          <a:prstGeom prst="rect">
            <a:avLst/>
          </a:prstGeom>
          <a:noFill/>
          <a:ln/>
        </p:spPr>
        <p:txBody>
          <a:bodyPr wrap="square" lIns="0" tIns="0" rIns="0" bIns="0" rtlCol="0" anchor="t"/>
          <a:lstStyle/>
          <a:p>
            <a:pPr indent="0" marL="0">
              <a:buNone/>
            </a:pPr>
            <a:r>
              <a:rPr lang="en-US" sz="1100" b="1" dirty="0">
                <a:solidFill>
                  <a:srgbClr val="F4A61D"/>
                </a:solidFill>
                <a:latin typeface="Calibri" pitchFamily="34" charset="0"/>
                <a:ea typeface="Calibri" pitchFamily="34" charset="-122"/>
                <a:cs typeface="Calibri" pitchFamily="34" charset="-120"/>
              </a:rPr>
              <a:t>Homeowner:</a:t>
            </a:r>
            <a:endParaRPr lang="en-US" sz="1100" dirty="0"/>
          </a:p>
          <a:p>
            <a:pPr indent="0" marL="0">
              <a:buNone/>
            </a:pPr>
            <a:r>
              <a:rPr lang="en-US" sz="1100" dirty="0">
                <a:solidFill>
                  <a:srgbClr val="FFFFFF"/>
                </a:solidFill>
                <a:latin typeface="Calibri" pitchFamily="34" charset="0"/>
                <a:ea typeface="Calibri" pitchFamily="34" charset="-122"/>
                <a:cs typeface="Calibri" pitchFamily="34" charset="-120"/>
              </a:rPr>
              <a:t>We just need to talk to our accountant before we do anything this big.</a:t>
            </a:r>
            <a:endParaRPr lang="en-US" sz="1100" dirty="0"/>
          </a:p>
          <a:p>
            <a:pPr indent="0" marL="0">
              <a:buNone/>
            </a:pPr>
            <a:r>
              <a:rPr lang="en-US" sz="1100" b="1" dirty="0">
                <a:solidFill>
                  <a:srgbClr val="F4A61D"/>
                </a:solidFill>
                <a:latin typeface="Calibri" pitchFamily="34" charset="0"/>
                <a:ea typeface="Calibri" pitchFamily="34" charset="-122"/>
                <a:cs typeface="Calibri" pitchFamily="34" charset="-120"/>
              </a:rPr>
              <a:t>Rep:</a:t>
            </a:r>
            <a:endParaRPr lang="en-US" sz="1100" dirty="0"/>
          </a:p>
          <a:p>
            <a:pPr indent="0" marL="0">
              <a:buNone/>
            </a:pPr>
            <a:r>
              <a:rPr lang="en-US" sz="1100" dirty="0">
                <a:solidFill>
                  <a:srgbClr val="FFFFFF"/>
                </a:solidFill>
                <a:latin typeface="Calibri" pitchFamily="34" charset="0"/>
                <a:ea typeface="Calibri" pitchFamily="34" charset="-122"/>
                <a:cs typeface="Calibri" pitchFamily="34" charset="-120"/>
              </a:rPr>
              <a:t>Totally fair. Let me ask you something though — if I could guarantee right now that the tax credit works exactly the way I showed you, and the accountant signed off today, would you be ready to move forward?</a:t>
            </a:r>
            <a:endParaRPr lang="en-US" sz="1100" dirty="0"/>
          </a:p>
          <a:p>
            <a:pPr indent="0" marL="0">
              <a:buNone/>
            </a:pPr>
            <a:r>
              <a:rPr lang="en-US" sz="1100" b="1" dirty="0">
                <a:solidFill>
                  <a:srgbClr val="F4A61D"/>
                </a:solidFill>
                <a:latin typeface="Calibri" pitchFamily="34" charset="0"/>
                <a:ea typeface="Calibri" pitchFamily="34" charset="-122"/>
                <a:cs typeface="Calibri" pitchFamily="34" charset="-120"/>
              </a:rPr>
              <a:t>Homeowner:</a:t>
            </a:r>
            <a:endParaRPr lang="en-US" sz="1100" dirty="0"/>
          </a:p>
          <a:p>
            <a:pPr indent="0" marL="0">
              <a:buNone/>
            </a:pPr>
            <a:r>
              <a:rPr lang="en-US" sz="1100" dirty="0">
                <a:solidFill>
                  <a:srgbClr val="FFFFFF"/>
                </a:solidFill>
                <a:latin typeface="Calibri" pitchFamily="34" charset="0"/>
                <a:ea typeface="Calibri" pitchFamily="34" charset="-122"/>
                <a:cs typeface="Calibri" pitchFamily="34" charset="-120"/>
              </a:rPr>
              <a:t>Hmm... I think there's also the question of whether we really want panels on the roof.</a:t>
            </a:r>
            <a:endParaRPr lang="en-US" sz="1100" dirty="0"/>
          </a:p>
          <a:p>
            <a:pPr indent="0" marL="0">
              <a:buNone/>
            </a:pPr>
            <a:r>
              <a:rPr lang="en-US" sz="1100" b="1" dirty="0">
                <a:solidFill>
                  <a:srgbClr val="F4A61D"/>
                </a:solidFill>
                <a:latin typeface="Calibri" pitchFamily="34" charset="0"/>
                <a:ea typeface="Calibri" pitchFamily="34" charset="-122"/>
                <a:cs typeface="Calibri" pitchFamily="34" charset="-120"/>
              </a:rPr>
              <a:t>Rep:</a:t>
            </a:r>
            <a:endParaRPr lang="en-US" sz="1100" dirty="0"/>
          </a:p>
          <a:p>
            <a:pPr indent="0" marL="0">
              <a:buNone/>
            </a:pPr>
            <a:r>
              <a:rPr lang="en-US" sz="1100" dirty="0">
                <a:solidFill>
                  <a:srgbClr val="FFFFFF"/>
                </a:solidFill>
                <a:latin typeface="Calibri" pitchFamily="34" charset="0"/>
                <a:ea typeface="Calibri" pitchFamily="34" charset="-122"/>
                <a:cs typeface="Calibri" pitchFamily="34" charset="-120"/>
              </a:rPr>
              <a:t>There it is. Tell me more about that.</a:t>
            </a:r>
            <a:endParaRPr lang="en-US" sz="1100" dirty="0"/>
          </a:p>
        </p:txBody>
      </p:sp>
      <p:sp>
        <p:nvSpPr>
          <p:cNvPr id="10" name="Shape 8"/>
          <p:cNvSpPr/>
          <p:nvPr/>
        </p:nvSpPr>
        <p:spPr>
          <a:xfrm>
            <a:off x="0" y="4663440"/>
            <a:ext cx="9144000" cy="480060"/>
          </a:xfrm>
          <a:prstGeom prst="rect">
            <a:avLst/>
          </a:prstGeom>
          <a:solidFill>
            <a:srgbClr val="E07B39">
              <a:alpha val="15000"/>
            </a:srgbClr>
          </a:solidFill>
          <a:ln w="12700">
            <a:solidFill>
              <a:srgbClr val="E07B39">
                <a:alpha val="15000"/>
              </a:srgbClr>
            </a:solidFill>
            <a:prstDash val="solid"/>
          </a:ln>
        </p:spPr>
      </p:sp>
      <p:sp>
        <p:nvSpPr>
          <p:cNvPr id="11" name="Text 9"/>
          <p:cNvSpPr/>
          <p:nvPr/>
        </p:nvSpPr>
        <p:spPr>
          <a:xfrm>
            <a:off x="274320" y="4690872"/>
            <a:ext cx="8686800" cy="384048"/>
          </a:xfrm>
          <a:prstGeom prst="rect">
            <a:avLst/>
          </a:prstGeom>
          <a:noFill/>
          <a:ln/>
        </p:spPr>
        <p:txBody>
          <a:bodyPr wrap="square" lIns="0" tIns="0" rIns="0" bIns="0" rtlCol="0" anchor="ctr"/>
          <a:lstStyle/>
          <a:p>
            <a:pPr algn="l" indent="0" marL="0">
              <a:buNone/>
            </a:pPr>
            <a:r>
              <a:rPr lang="en-US" sz="900" i="1" dirty="0">
                <a:solidFill>
                  <a:srgbClr val="E07B39"/>
                </a:solidFill>
                <a:latin typeface="Calibri" pitchFamily="34" charset="0"/>
                <a:ea typeface="Calibri" pitchFamily="34" charset="-122"/>
                <a:cs typeface="Calibri" pitchFamily="34" charset="-120"/>
              </a:rPr>
              <a:t>📋 TRAINER NOTE: The Magic Wand question is disarming because it's hypothetical and playful. It removes the pressure of the actual decision while revealing whether the objection is real or a polite stall. Deliver it with a smile — it should feel curious, not confrontational.</a:t>
            </a:r>
            <a:endParaRPr lang="en-US" sz="9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F4A61D"/>
          </a:solidFill>
          <a:ln w="12700">
            <a:solidFill>
              <a:srgbClr val="F4A61D"/>
            </a:solidFill>
            <a:prstDash val="solid"/>
          </a:ln>
        </p:spPr>
      </p:sp>
      <p:sp>
        <p:nvSpPr>
          <p:cNvPr id="3" name="Text 1"/>
          <p:cNvSpPr/>
          <p:nvPr/>
        </p:nvSpPr>
        <p:spPr>
          <a:xfrm>
            <a:off x="274320" y="164592"/>
            <a:ext cx="8503920" cy="530352"/>
          </a:xfrm>
          <a:prstGeom prst="rect">
            <a:avLst/>
          </a:prstGeom>
          <a:noFill/>
          <a:ln/>
        </p:spPr>
        <p:txBody>
          <a:bodyPr wrap="square" lIns="0" tIns="0" rIns="0" bIns="0" rtlCol="0" anchor="ctr"/>
          <a:lstStyle/>
          <a:p>
            <a:pPr algn="l" indent="0" marL="0">
              <a:buNone/>
            </a:pPr>
            <a:r>
              <a:rPr lang="en-US" sz="2000" b="1" dirty="0">
                <a:solidFill>
                  <a:srgbClr val="F4A61D"/>
                </a:solidFill>
                <a:latin typeface="Arial Black" pitchFamily="34" charset="0"/>
                <a:ea typeface="Arial Black" pitchFamily="34" charset="-122"/>
                <a:cs typeface="Arial Black" pitchFamily="34" charset="-120"/>
              </a:rPr>
              <a:t>Peeling the Onion: 3 Levels Deep to the Root Cause</a:t>
            </a:r>
            <a:endParaRPr lang="en-US" sz="2000" dirty="0"/>
          </a:p>
        </p:txBody>
      </p:sp>
      <p:sp>
        <p:nvSpPr>
          <p:cNvPr id="4" name="Shape 2"/>
          <p:cNvSpPr/>
          <p:nvPr/>
        </p:nvSpPr>
        <p:spPr>
          <a:xfrm>
            <a:off x="274320" y="713232"/>
            <a:ext cx="8503920" cy="27432"/>
          </a:xfrm>
          <a:prstGeom prst="rect">
            <a:avLst/>
          </a:prstGeom>
          <a:solidFill>
            <a:srgbClr val="F4A61D">
              <a:alpha val="40000"/>
            </a:srgbClr>
          </a:solidFill>
          <a:ln w="12700">
            <a:solidFill>
              <a:srgbClr val="F4A61D">
                <a:alpha val="40000"/>
              </a:srgbClr>
            </a:solidFill>
            <a:prstDash val="solid"/>
          </a:ln>
        </p:spPr>
      </p:sp>
      <p:sp>
        <p:nvSpPr>
          <p:cNvPr id="5" name="Shape 3"/>
          <p:cNvSpPr/>
          <p:nvPr/>
        </p:nvSpPr>
        <p:spPr>
          <a:xfrm>
            <a:off x="274320" y="804672"/>
            <a:ext cx="8503920" cy="845820"/>
          </a:xfrm>
          <a:prstGeom prst="rect">
            <a:avLst/>
          </a:prstGeom>
          <a:solidFill>
            <a:srgbClr val="1A2840"/>
          </a:solidFill>
          <a:ln w="19050">
            <a:solidFill>
              <a:srgbClr val="F4A61D"/>
            </a:solidFill>
            <a:prstDash val="solid"/>
          </a:ln>
          <a:effectLst>
            <a:outerShdw sx="100000" sy="100000" kx="0" ky="0" algn="bl" rotWithShape="0" blurRad="101600" dist="38100" dir="8100000">
              <a:srgbClr val="000000">
                <a:alpha val="20000"/>
              </a:srgbClr>
            </a:outerShdw>
          </a:effectLst>
        </p:spPr>
      </p:sp>
      <p:sp>
        <p:nvSpPr>
          <p:cNvPr id="6" name="Shape 4"/>
          <p:cNvSpPr/>
          <p:nvPr/>
        </p:nvSpPr>
        <p:spPr>
          <a:xfrm>
            <a:off x="274320" y="804672"/>
            <a:ext cx="512064" cy="845820"/>
          </a:xfrm>
          <a:prstGeom prst="rect">
            <a:avLst/>
          </a:prstGeom>
          <a:solidFill>
            <a:srgbClr val="F4A61D"/>
          </a:solidFill>
          <a:ln w="12700">
            <a:solidFill>
              <a:srgbClr val="F4A61D"/>
            </a:solidFill>
            <a:prstDash val="solid"/>
          </a:ln>
        </p:spPr>
      </p:sp>
      <p:sp>
        <p:nvSpPr>
          <p:cNvPr id="7" name="Text 5"/>
          <p:cNvSpPr/>
          <p:nvPr/>
        </p:nvSpPr>
        <p:spPr>
          <a:xfrm>
            <a:off x="274320" y="822960"/>
            <a:ext cx="512064" cy="809244"/>
          </a:xfrm>
          <a:prstGeom prst="rect">
            <a:avLst/>
          </a:prstGeom>
          <a:noFill/>
          <a:ln/>
        </p:spPr>
        <p:txBody>
          <a:bodyPr wrap="square" lIns="0" tIns="0" rIns="0" bIns="0" rtlCol="0" anchor="ctr"/>
          <a:lstStyle/>
          <a:p>
            <a:pPr algn="ctr" indent="0" marL="0">
              <a:buNone/>
            </a:pPr>
            <a:r>
              <a:rPr lang="en-US" sz="1800" b="1" dirty="0">
                <a:solidFill>
                  <a:srgbClr val="FFFFFF"/>
                </a:solidFill>
                <a:latin typeface="Arial Black" pitchFamily="34" charset="0"/>
                <a:ea typeface="Arial Black" pitchFamily="34" charset="-122"/>
                <a:cs typeface="Arial Black" pitchFamily="34" charset="-120"/>
              </a:rPr>
              <a:t>1</a:t>
            </a:r>
            <a:endParaRPr lang="en-US" sz="1800" dirty="0"/>
          </a:p>
        </p:txBody>
      </p:sp>
      <p:sp>
        <p:nvSpPr>
          <p:cNvPr id="8" name="Text 6"/>
          <p:cNvSpPr/>
          <p:nvPr/>
        </p:nvSpPr>
        <p:spPr>
          <a:xfrm>
            <a:off x="914400" y="850392"/>
            <a:ext cx="7772400" cy="754380"/>
          </a:xfrm>
          <a:prstGeom prst="rect">
            <a:avLst/>
          </a:prstGeom>
          <a:noFill/>
          <a:ln/>
        </p:spPr>
        <p:txBody>
          <a:bodyPr wrap="square" lIns="0" tIns="0" rIns="0" bIns="0" rtlCol="0" anchor="ctr"/>
          <a:lstStyle/>
          <a:p>
            <a:pPr indent="0" marL="0">
              <a:buNone/>
            </a:pPr>
            <a:r>
              <a:rPr lang="en-US" sz="1200" b="1" dirty="0">
                <a:solidFill>
                  <a:srgbClr val="F4A61D"/>
                </a:solidFill>
                <a:latin typeface="Arial Black" pitchFamily="34" charset="0"/>
                <a:ea typeface="Arial Black" pitchFamily="34" charset="-122"/>
                <a:cs typeface="Arial Black" pitchFamily="34" charset="-120"/>
              </a:rPr>
              <a:t>Level 1 — The Surface Statement  </a:t>
            </a:r>
            <a:pPr indent="0" marL="0">
              <a:buNone/>
            </a:pPr>
            <a:r>
              <a:rPr lang="en-US" sz="1100" dirty="0">
                <a:solidFill>
                  <a:srgbClr val="FFFFFF"/>
                </a:solidFill>
                <a:latin typeface="Calibri" pitchFamily="34" charset="0"/>
                <a:ea typeface="Calibri" pitchFamily="34" charset="-122"/>
                <a:cs typeface="Calibri" pitchFamily="34" charset="-120"/>
              </a:rPr>
              <a:t>'The price is too high.' → This is the polite version. Do not address this directly.</a:t>
            </a:r>
            <a:endParaRPr lang="en-US" sz="1200" dirty="0"/>
          </a:p>
        </p:txBody>
      </p:sp>
      <p:sp>
        <p:nvSpPr>
          <p:cNvPr id="9" name="Shape 7"/>
          <p:cNvSpPr/>
          <p:nvPr/>
        </p:nvSpPr>
        <p:spPr>
          <a:xfrm>
            <a:off x="274320" y="1741932"/>
            <a:ext cx="8503920" cy="845820"/>
          </a:xfrm>
          <a:prstGeom prst="rect">
            <a:avLst/>
          </a:prstGeom>
          <a:solidFill>
            <a:srgbClr val="1A2840"/>
          </a:solidFill>
          <a:ln w="19050">
            <a:solidFill>
              <a:srgbClr val="0891B2"/>
            </a:solidFill>
            <a:prstDash val="solid"/>
          </a:ln>
          <a:effectLst>
            <a:outerShdw sx="100000" sy="100000" kx="0" ky="0" algn="bl" rotWithShape="0" blurRad="101600" dist="38100" dir="8100000">
              <a:srgbClr val="000000">
                <a:alpha val="20000"/>
              </a:srgbClr>
            </a:outerShdw>
          </a:effectLst>
        </p:spPr>
      </p:sp>
      <p:sp>
        <p:nvSpPr>
          <p:cNvPr id="10" name="Shape 8"/>
          <p:cNvSpPr/>
          <p:nvPr/>
        </p:nvSpPr>
        <p:spPr>
          <a:xfrm>
            <a:off x="274320" y="1741932"/>
            <a:ext cx="512064" cy="845820"/>
          </a:xfrm>
          <a:prstGeom prst="rect">
            <a:avLst/>
          </a:prstGeom>
          <a:solidFill>
            <a:srgbClr val="0891B2"/>
          </a:solidFill>
          <a:ln w="12700">
            <a:solidFill>
              <a:srgbClr val="0891B2"/>
            </a:solidFill>
            <a:prstDash val="solid"/>
          </a:ln>
        </p:spPr>
      </p:sp>
      <p:sp>
        <p:nvSpPr>
          <p:cNvPr id="11" name="Text 9"/>
          <p:cNvSpPr/>
          <p:nvPr/>
        </p:nvSpPr>
        <p:spPr>
          <a:xfrm>
            <a:off x="274320" y="1760220"/>
            <a:ext cx="512064" cy="809244"/>
          </a:xfrm>
          <a:prstGeom prst="rect">
            <a:avLst/>
          </a:prstGeom>
          <a:noFill/>
          <a:ln/>
        </p:spPr>
        <p:txBody>
          <a:bodyPr wrap="square" lIns="0" tIns="0" rIns="0" bIns="0" rtlCol="0" anchor="ctr"/>
          <a:lstStyle/>
          <a:p>
            <a:pPr algn="ctr" indent="0" marL="0">
              <a:buNone/>
            </a:pPr>
            <a:r>
              <a:rPr lang="en-US" sz="1800" b="1" dirty="0">
                <a:solidFill>
                  <a:srgbClr val="0D1B2A"/>
                </a:solidFill>
                <a:latin typeface="Arial Black" pitchFamily="34" charset="0"/>
                <a:ea typeface="Arial Black" pitchFamily="34" charset="-122"/>
                <a:cs typeface="Arial Black" pitchFamily="34" charset="-120"/>
              </a:rPr>
              <a:t>2</a:t>
            </a:r>
            <a:endParaRPr lang="en-US" sz="1800" dirty="0"/>
          </a:p>
        </p:txBody>
      </p:sp>
      <p:sp>
        <p:nvSpPr>
          <p:cNvPr id="12" name="Text 10"/>
          <p:cNvSpPr/>
          <p:nvPr/>
        </p:nvSpPr>
        <p:spPr>
          <a:xfrm>
            <a:off x="914400" y="1787652"/>
            <a:ext cx="7772400" cy="754380"/>
          </a:xfrm>
          <a:prstGeom prst="rect">
            <a:avLst/>
          </a:prstGeom>
          <a:noFill/>
          <a:ln/>
        </p:spPr>
        <p:txBody>
          <a:bodyPr wrap="square" lIns="0" tIns="0" rIns="0" bIns="0" rtlCol="0" anchor="ctr"/>
          <a:lstStyle/>
          <a:p>
            <a:pPr indent="0" marL="0">
              <a:buNone/>
            </a:pPr>
            <a:r>
              <a:rPr lang="en-US" sz="1200" b="1" dirty="0">
                <a:solidFill>
                  <a:srgbClr val="0891B2"/>
                </a:solidFill>
                <a:latin typeface="Arial Black" pitchFamily="34" charset="0"/>
                <a:ea typeface="Arial Black" pitchFamily="34" charset="-122"/>
                <a:cs typeface="Arial Black" pitchFamily="34" charset="-120"/>
              </a:rPr>
              <a:t>Level 2 — The Clarified Fear  </a:t>
            </a:r>
            <a:pPr indent="0" marL="0">
              <a:buNone/>
            </a:pPr>
            <a:r>
              <a:rPr lang="en-US" sz="1100" dirty="0">
                <a:solidFill>
                  <a:srgbClr val="FFFFFF"/>
                </a:solidFill>
                <a:latin typeface="Calibri" pitchFamily="34" charset="0"/>
                <a:ea typeface="Calibri" pitchFamily="34" charset="-122"/>
                <a:cs typeface="Calibri" pitchFamily="34" charset="-120"/>
              </a:rPr>
              <a:t>'So when you say high — is it the monthly payment or the total number that concerns you?' → 'The total number looks scary.'</a:t>
            </a:r>
            <a:endParaRPr lang="en-US" sz="1200" dirty="0"/>
          </a:p>
        </p:txBody>
      </p:sp>
      <p:sp>
        <p:nvSpPr>
          <p:cNvPr id="13" name="Shape 11"/>
          <p:cNvSpPr/>
          <p:nvPr/>
        </p:nvSpPr>
        <p:spPr>
          <a:xfrm>
            <a:off x="274320" y="2679192"/>
            <a:ext cx="8503920" cy="845820"/>
          </a:xfrm>
          <a:prstGeom prst="rect">
            <a:avLst/>
          </a:prstGeom>
          <a:solidFill>
            <a:srgbClr val="1A2840"/>
          </a:solidFill>
          <a:ln w="19050">
            <a:solidFill>
              <a:srgbClr val="2D9B4E"/>
            </a:solidFill>
            <a:prstDash val="solid"/>
          </a:ln>
          <a:effectLst>
            <a:outerShdw sx="100000" sy="100000" kx="0" ky="0" algn="bl" rotWithShape="0" blurRad="101600" dist="38100" dir="8100000">
              <a:srgbClr val="000000">
                <a:alpha val="20000"/>
              </a:srgbClr>
            </a:outerShdw>
          </a:effectLst>
        </p:spPr>
      </p:sp>
      <p:sp>
        <p:nvSpPr>
          <p:cNvPr id="14" name="Shape 12"/>
          <p:cNvSpPr/>
          <p:nvPr/>
        </p:nvSpPr>
        <p:spPr>
          <a:xfrm>
            <a:off x="274320" y="2679192"/>
            <a:ext cx="512064" cy="845820"/>
          </a:xfrm>
          <a:prstGeom prst="rect">
            <a:avLst/>
          </a:prstGeom>
          <a:solidFill>
            <a:srgbClr val="2D9B4E"/>
          </a:solidFill>
          <a:ln w="12700">
            <a:solidFill>
              <a:srgbClr val="2D9B4E"/>
            </a:solidFill>
            <a:prstDash val="solid"/>
          </a:ln>
        </p:spPr>
      </p:sp>
      <p:sp>
        <p:nvSpPr>
          <p:cNvPr id="15" name="Text 13"/>
          <p:cNvSpPr/>
          <p:nvPr/>
        </p:nvSpPr>
        <p:spPr>
          <a:xfrm>
            <a:off x="274320" y="2697480"/>
            <a:ext cx="512064" cy="809244"/>
          </a:xfrm>
          <a:prstGeom prst="rect">
            <a:avLst/>
          </a:prstGeom>
          <a:noFill/>
          <a:ln/>
        </p:spPr>
        <p:txBody>
          <a:bodyPr wrap="square" lIns="0" tIns="0" rIns="0" bIns="0" rtlCol="0" anchor="ctr"/>
          <a:lstStyle/>
          <a:p>
            <a:pPr algn="ctr" indent="0" marL="0">
              <a:buNone/>
            </a:pPr>
            <a:r>
              <a:rPr lang="en-US" sz="1800" b="1" dirty="0">
                <a:solidFill>
                  <a:srgbClr val="FFFFFF"/>
                </a:solidFill>
                <a:latin typeface="Arial Black" pitchFamily="34" charset="0"/>
                <a:ea typeface="Arial Black" pitchFamily="34" charset="-122"/>
                <a:cs typeface="Arial Black" pitchFamily="34" charset="-120"/>
              </a:rPr>
              <a:t>3</a:t>
            </a:r>
            <a:endParaRPr lang="en-US" sz="1800" dirty="0"/>
          </a:p>
        </p:txBody>
      </p:sp>
      <p:sp>
        <p:nvSpPr>
          <p:cNvPr id="16" name="Text 14"/>
          <p:cNvSpPr/>
          <p:nvPr/>
        </p:nvSpPr>
        <p:spPr>
          <a:xfrm>
            <a:off x="914400" y="2724912"/>
            <a:ext cx="7772400" cy="754380"/>
          </a:xfrm>
          <a:prstGeom prst="rect">
            <a:avLst/>
          </a:prstGeom>
          <a:noFill/>
          <a:ln/>
        </p:spPr>
        <p:txBody>
          <a:bodyPr wrap="square" lIns="0" tIns="0" rIns="0" bIns="0" rtlCol="0" anchor="ctr"/>
          <a:lstStyle/>
          <a:p>
            <a:pPr indent="0" marL="0">
              <a:buNone/>
            </a:pPr>
            <a:r>
              <a:rPr lang="en-US" sz="1200" b="1" dirty="0">
                <a:solidFill>
                  <a:srgbClr val="2D9B4E"/>
                </a:solidFill>
                <a:latin typeface="Arial Black" pitchFamily="34" charset="0"/>
                <a:ea typeface="Arial Black" pitchFamily="34" charset="-122"/>
                <a:cs typeface="Arial Black" pitchFamily="34" charset="-120"/>
              </a:rPr>
              <a:t>Level 3 — The Root Cause  </a:t>
            </a:r>
            <a:pPr indent="0" marL="0">
              <a:buNone/>
            </a:pPr>
            <a:r>
              <a:rPr lang="en-US" sz="1100" dirty="0">
                <a:solidFill>
                  <a:srgbClr val="FFFFFF"/>
                </a:solidFill>
                <a:latin typeface="Calibri" pitchFamily="34" charset="0"/>
                <a:ea typeface="Calibri" pitchFamily="34" charset="-122"/>
                <a:cs typeface="Calibri" pitchFamily="34" charset="-120"/>
              </a:rPr>
              <a:t>'And when you look at that total number — what specifically worries you about it?' → 'I'm nervous about my job situation next year.'</a:t>
            </a:r>
            <a:endParaRPr lang="en-US" sz="1200" dirty="0"/>
          </a:p>
        </p:txBody>
      </p:sp>
      <p:sp>
        <p:nvSpPr>
          <p:cNvPr id="17" name="Shape 15"/>
          <p:cNvSpPr/>
          <p:nvPr/>
        </p:nvSpPr>
        <p:spPr>
          <a:xfrm>
            <a:off x="274320" y="3616452"/>
            <a:ext cx="8503920" cy="845820"/>
          </a:xfrm>
          <a:prstGeom prst="rect">
            <a:avLst/>
          </a:prstGeom>
          <a:solidFill>
            <a:srgbClr val="1A2840"/>
          </a:solidFill>
          <a:ln w="19050">
            <a:solidFill>
              <a:srgbClr val="E07B39"/>
            </a:solidFill>
            <a:prstDash val="solid"/>
          </a:ln>
          <a:effectLst>
            <a:outerShdw sx="100000" sy="100000" kx="0" ky="0" algn="bl" rotWithShape="0" blurRad="101600" dist="38100" dir="8100000">
              <a:srgbClr val="000000">
                <a:alpha val="20000"/>
              </a:srgbClr>
            </a:outerShdw>
          </a:effectLst>
        </p:spPr>
      </p:sp>
      <p:sp>
        <p:nvSpPr>
          <p:cNvPr id="18" name="Shape 16"/>
          <p:cNvSpPr/>
          <p:nvPr/>
        </p:nvSpPr>
        <p:spPr>
          <a:xfrm>
            <a:off x="274320" y="3616452"/>
            <a:ext cx="512064" cy="845820"/>
          </a:xfrm>
          <a:prstGeom prst="rect">
            <a:avLst/>
          </a:prstGeom>
          <a:solidFill>
            <a:srgbClr val="E07B39"/>
          </a:solidFill>
          <a:ln w="12700">
            <a:solidFill>
              <a:srgbClr val="E07B39"/>
            </a:solidFill>
            <a:prstDash val="solid"/>
          </a:ln>
        </p:spPr>
      </p:sp>
      <p:sp>
        <p:nvSpPr>
          <p:cNvPr id="19" name="Text 17"/>
          <p:cNvSpPr/>
          <p:nvPr/>
        </p:nvSpPr>
        <p:spPr>
          <a:xfrm>
            <a:off x="274320" y="3634740"/>
            <a:ext cx="512064" cy="809244"/>
          </a:xfrm>
          <a:prstGeom prst="rect">
            <a:avLst/>
          </a:prstGeom>
          <a:noFill/>
          <a:ln/>
        </p:spPr>
        <p:txBody>
          <a:bodyPr wrap="square" lIns="0" tIns="0" rIns="0" bIns="0" rtlCol="0" anchor="ctr"/>
          <a:lstStyle/>
          <a:p>
            <a:pPr algn="ctr" indent="0" marL="0">
              <a:buNone/>
            </a:pPr>
            <a:r>
              <a:rPr lang="en-US" sz="1800" b="1" dirty="0">
                <a:solidFill>
                  <a:srgbClr val="FFFFFF"/>
                </a:solidFill>
                <a:latin typeface="Arial Black" pitchFamily="34" charset="0"/>
                <a:ea typeface="Arial Black" pitchFamily="34" charset="-122"/>
                <a:cs typeface="Arial Black" pitchFamily="34" charset="-120"/>
              </a:rPr>
              <a:t>4</a:t>
            </a:r>
            <a:endParaRPr lang="en-US" sz="1800" dirty="0"/>
          </a:p>
        </p:txBody>
      </p:sp>
      <p:sp>
        <p:nvSpPr>
          <p:cNvPr id="20" name="Text 18"/>
          <p:cNvSpPr/>
          <p:nvPr/>
        </p:nvSpPr>
        <p:spPr>
          <a:xfrm>
            <a:off x="914400" y="3662172"/>
            <a:ext cx="7772400" cy="754380"/>
          </a:xfrm>
          <a:prstGeom prst="rect">
            <a:avLst/>
          </a:prstGeom>
          <a:noFill/>
          <a:ln/>
        </p:spPr>
        <p:txBody>
          <a:bodyPr wrap="square" lIns="0" tIns="0" rIns="0" bIns="0" rtlCol="0" anchor="ctr"/>
          <a:lstStyle/>
          <a:p>
            <a:pPr indent="0" marL="0">
              <a:buNone/>
            </a:pPr>
            <a:r>
              <a:rPr lang="en-US" sz="1200" b="1" dirty="0">
                <a:solidFill>
                  <a:srgbClr val="E07B39"/>
                </a:solidFill>
                <a:latin typeface="Arial Black" pitchFamily="34" charset="0"/>
                <a:ea typeface="Arial Black" pitchFamily="34" charset="-122"/>
                <a:cs typeface="Arial Black" pitchFamily="34" charset="-120"/>
              </a:rPr>
              <a:t>The Real Close  </a:t>
            </a:r>
            <a:pPr indent="0" marL="0">
              <a:buNone/>
            </a:pPr>
            <a:r>
              <a:rPr lang="en-US" sz="1100" dirty="0">
                <a:solidFill>
                  <a:srgbClr val="FFFFFF"/>
                </a:solidFill>
                <a:latin typeface="Calibri" pitchFamily="34" charset="0"/>
                <a:ea typeface="Calibri" pitchFamily="34" charset="-122"/>
                <a:cs typeface="Calibri" pitchFamily="34" charset="-120"/>
              </a:rPr>
              <a:t>Now you have the actual fear: 'What if I lose my job?' — which has a completely different solution than 'the price is high.'</a:t>
            </a:r>
            <a:endParaRPr lang="en-US" sz="1200" dirty="0"/>
          </a:p>
        </p:txBody>
      </p:sp>
      <p:sp>
        <p:nvSpPr>
          <p:cNvPr id="21" name="Shape 19"/>
          <p:cNvSpPr/>
          <p:nvPr/>
        </p:nvSpPr>
        <p:spPr>
          <a:xfrm>
            <a:off x="0" y="4663440"/>
            <a:ext cx="9144000" cy="480060"/>
          </a:xfrm>
          <a:prstGeom prst="rect">
            <a:avLst/>
          </a:prstGeom>
          <a:solidFill>
            <a:srgbClr val="E07B39">
              <a:alpha val="15000"/>
            </a:srgbClr>
          </a:solidFill>
          <a:ln w="12700">
            <a:solidFill>
              <a:srgbClr val="E07B39">
                <a:alpha val="15000"/>
              </a:srgbClr>
            </a:solidFill>
            <a:prstDash val="solid"/>
          </a:ln>
        </p:spPr>
      </p:sp>
      <p:sp>
        <p:nvSpPr>
          <p:cNvPr id="22" name="Text 20"/>
          <p:cNvSpPr/>
          <p:nvPr/>
        </p:nvSpPr>
        <p:spPr>
          <a:xfrm>
            <a:off x="274320" y="4690872"/>
            <a:ext cx="8686800" cy="384048"/>
          </a:xfrm>
          <a:prstGeom prst="rect">
            <a:avLst/>
          </a:prstGeom>
          <a:noFill/>
          <a:ln/>
        </p:spPr>
        <p:txBody>
          <a:bodyPr wrap="square" lIns="0" tIns="0" rIns="0" bIns="0" rtlCol="0" anchor="ctr"/>
          <a:lstStyle/>
          <a:p>
            <a:pPr algn="l" indent="0" marL="0">
              <a:buNone/>
            </a:pPr>
            <a:r>
              <a:rPr lang="en-US" sz="900" i="1" dirty="0">
                <a:solidFill>
                  <a:srgbClr val="E07B39"/>
                </a:solidFill>
                <a:latin typeface="Calibri" pitchFamily="34" charset="0"/>
                <a:ea typeface="Calibri" pitchFamily="34" charset="-122"/>
                <a:cs typeface="Calibri" pitchFamily="34" charset="-120"/>
              </a:rPr>
              <a:t>📋 TRAINER NOTE: The Onion technique takes 90 seconds and saves 30 minutes of misdirected rebuttals. Most reps never get past Level 1. The rep who reaches Level 3 consistently is operating in a completely different league.</a:t>
            </a:r>
            <a:endParaRPr lang="en-US" sz="9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E07B39"/>
          </a:solidFill>
          <a:ln w="12700">
            <a:solidFill>
              <a:srgbClr val="E07B39"/>
            </a:solidFill>
            <a:prstDash val="solid"/>
          </a:ln>
        </p:spPr>
      </p:sp>
      <p:sp>
        <p:nvSpPr>
          <p:cNvPr id="3" name="Text 1"/>
          <p:cNvSpPr/>
          <p:nvPr/>
        </p:nvSpPr>
        <p:spPr>
          <a:xfrm>
            <a:off x="365760" y="73152"/>
            <a:ext cx="3657600" cy="365760"/>
          </a:xfrm>
          <a:prstGeom prst="rect">
            <a:avLst/>
          </a:prstGeom>
          <a:noFill/>
          <a:ln/>
        </p:spPr>
        <p:txBody>
          <a:bodyPr wrap="square" lIns="0" tIns="0" rIns="0" bIns="0" rtlCol="0" anchor="ctr"/>
          <a:lstStyle/>
          <a:p>
            <a:pPr algn="l" indent="0" marL="0">
              <a:buNone/>
            </a:pPr>
            <a:r>
              <a:rPr lang="en-US" sz="1200" b="1" spc="300" kern="0" dirty="0">
                <a:solidFill>
                  <a:srgbClr val="0D1B2A"/>
                </a:solidFill>
                <a:latin typeface="Arial Black" pitchFamily="34" charset="0"/>
                <a:ea typeface="Arial Black" pitchFamily="34" charset="-122"/>
                <a:cs typeface="Arial Black" pitchFamily="34" charset="-120"/>
              </a:rPr>
              <a:t>🎯  ACTIVITY</a:t>
            </a:r>
            <a:endParaRPr lang="en-US" sz="1200" dirty="0"/>
          </a:p>
        </p:txBody>
      </p:sp>
      <p:sp>
        <p:nvSpPr>
          <p:cNvPr id="4" name="Text 2"/>
          <p:cNvSpPr/>
          <p:nvPr/>
        </p:nvSpPr>
        <p:spPr>
          <a:xfrm>
            <a:off x="365760" y="457200"/>
            <a:ext cx="8412480" cy="457200"/>
          </a:xfrm>
          <a:prstGeom prst="rect">
            <a:avLst/>
          </a:prstGeom>
          <a:noFill/>
          <a:ln/>
        </p:spPr>
        <p:txBody>
          <a:bodyPr wrap="square" lIns="0" tIns="0" rIns="0" bIns="0" rtlCol="0" anchor="ctr"/>
          <a:lstStyle/>
          <a:p>
            <a:pPr algn="l" indent="0" marL="0">
              <a:buNone/>
            </a:pPr>
            <a:r>
              <a:rPr lang="en-US" sz="1700" b="1" dirty="0">
                <a:solidFill>
                  <a:srgbClr val="0D1B2A"/>
                </a:solidFill>
                <a:latin typeface="Arial Black" pitchFamily="34" charset="0"/>
                <a:ea typeface="Arial Black" pitchFamily="34" charset="-122"/>
                <a:cs typeface="Arial Black" pitchFamily="34" charset="-120"/>
              </a:rPr>
              <a:t>Activity: Smoke or Fire Roleplay</a:t>
            </a:r>
            <a:endParaRPr lang="en-US" sz="1700" dirty="0"/>
          </a:p>
        </p:txBody>
      </p:sp>
      <p:sp>
        <p:nvSpPr>
          <p:cNvPr id="5" name="Shape 3"/>
          <p:cNvSpPr/>
          <p:nvPr/>
        </p:nvSpPr>
        <p:spPr>
          <a:xfrm>
            <a:off x="274320" y="1143000"/>
            <a:ext cx="8595360" cy="475488"/>
          </a:xfrm>
          <a:prstGeom prst="rect">
            <a:avLst/>
          </a:prstGeom>
          <a:solidFill>
            <a:srgbClr val="1A2840"/>
          </a:solidFill>
          <a:ln w="12700">
            <a:solidFill>
              <a:srgbClr val="0891B2"/>
            </a:solidFill>
            <a:prstDash val="solid"/>
          </a:ln>
          <a:effectLst>
            <a:outerShdw sx="100000" sy="100000" kx="0" ky="0" algn="bl" rotWithShape="0" blurRad="101600" dist="38100" dir="8100000">
              <a:srgbClr val="000000">
                <a:alpha val="20000"/>
              </a:srgbClr>
            </a:outerShdw>
          </a:effectLst>
        </p:spPr>
      </p:sp>
      <p:sp>
        <p:nvSpPr>
          <p:cNvPr id="6" name="Text 4"/>
          <p:cNvSpPr/>
          <p:nvPr/>
        </p:nvSpPr>
        <p:spPr>
          <a:xfrm>
            <a:off x="411480" y="1170432"/>
            <a:ext cx="8321040" cy="420624"/>
          </a:xfrm>
          <a:prstGeom prst="rect">
            <a:avLst/>
          </a:prstGeom>
          <a:noFill/>
          <a:ln/>
        </p:spPr>
        <p:txBody>
          <a:bodyPr wrap="square" lIns="0" tIns="0" rIns="0" bIns="0" rtlCol="0" anchor="ctr"/>
          <a:lstStyle/>
          <a:p>
            <a:pPr algn="l" indent="0" marL="0">
              <a:buNone/>
            </a:pPr>
            <a:r>
              <a:rPr lang="en-US" sz="1100" b="1" i="1" dirty="0">
                <a:solidFill>
                  <a:srgbClr val="0891B2"/>
                </a:solidFill>
                <a:latin typeface="Calibri" pitchFamily="34" charset="0"/>
                <a:ea typeface="Calibri" pitchFamily="34" charset="-122"/>
                <a:cs typeface="Calibri" pitchFamily="34" charset="-120"/>
              </a:rPr>
              <a:t>OBJECTIVE: Use isolation questions to find the hidden objection behind a polite stall</a:t>
            </a:r>
            <a:endParaRPr lang="en-US" sz="1100" dirty="0"/>
          </a:p>
        </p:txBody>
      </p:sp>
      <p:sp>
        <p:nvSpPr>
          <p:cNvPr id="7" name="Text 5"/>
          <p:cNvSpPr/>
          <p:nvPr/>
        </p:nvSpPr>
        <p:spPr>
          <a:xfrm>
            <a:off x="365760" y="1755648"/>
            <a:ext cx="6858000" cy="2834640"/>
          </a:xfrm>
          <a:prstGeom prst="rect">
            <a:avLst/>
          </a:prstGeom>
          <a:noFill/>
          <a:ln/>
        </p:spPr>
        <p:txBody>
          <a:bodyPr wrap="square" lIns="0" tIns="0" rIns="0" bIns="0" rtlCol="0" anchor="t"/>
          <a:lstStyle/>
          <a:p>
            <a:pPr indent="0" marL="0">
              <a:spcAft>
                <a:spcPts val="800"/>
              </a:spcAft>
              <a:buNone/>
            </a:pPr>
            <a:r>
              <a:rPr lang="en-US" sz="1200" dirty="0">
                <a:solidFill>
                  <a:srgbClr val="FFFFFF"/>
                </a:solidFill>
                <a:latin typeface="Calibri" pitchFamily="34" charset="0"/>
                <a:ea typeface="Calibri" pitchFamily="34" charset="-122"/>
                <a:cs typeface="Calibri" pitchFamily="34" charset="-120"/>
              </a:rPr>
              <a:t>1.  Partner A plays a homeowner with a HIDDEN objection (written on a card — not shown to the rep)</a:t>
            </a:r>
            <a:endParaRPr lang="en-US" sz="1200" dirty="0"/>
          </a:p>
          <a:p>
            <a:pPr indent="0" marL="0">
              <a:spcAft>
                <a:spcPts val="800"/>
              </a:spcAft>
              <a:buNone/>
            </a:pPr>
            <a:r>
              <a:rPr lang="en-US" sz="1200" dirty="0">
                <a:solidFill>
                  <a:srgbClr val="FFFFFF"/>
                </a:solidFill>
                <a:latin typeface="Calibri" pitchFamily="34" charset="0"/>
                <a:ea typeface="Calibri" pitchFamily="34" charset="-122"/>
                <a:cs typeface="Calibri" pitchFamily="34" charset="-120"/>
              </a:rPr>
              <a:t>2.  Partner A uses a Smoke Screen to deflect: 'We just want to talk to our accountant'</a:t>
            </a:r>
            <a:endParaRPr lang="en-US" sz="1200" dirty="0"/>
          </a:p>
          <a:p>
            <a:pPr indent="0" marL="0">
              <a:spcAft>
                <a:spcPts val="800"/>
              </a:spcAft>
              <a:buNone/>
            </a:pPr>
            <a:r>
              <a:rPr lang="en-US" sz="1200" dirty="0">
                <a:solidFill>
                  <a:srgbClr val="FFFFFF"/>
                </a:solidFill>
                <a:latin typeface="Calibri" pitchFamily="34" charset="0"/>
                <a:ea typeface="Calibri" pitchFamily="34" charset="-122"/>
                <a:cs typeface="Calibri" pitchFamily="34" charset="-120"/>
              </a:rPr>
              <a:t>3.  Partner B (rep) uses: Isolate Move → Magic Wand → Peel the Onion until the card's hidden objection is identified</a:t>
            </a:r>
            <a:endParaRPr lang="en-US" sz="1200" dirty="0"/>
          </a:p>
          <a:p>
            <a:pPr indent="0" marL="0">
              <a:spcAft>
                <a:spcPts val="800"/>
              </a:spcAft>
              <a:buNone/>
            </a:pPr>
            <a:r>
              <a:rPr lang="en-US" sz="1200" dirty="0">
                <a:solidFill>
                  <a:srgbClr val="FFFFFF"/>
                </a:solidFill>
                <a:latin typeface="Calibri" pitchFamily="34" charset="0"/>
                <a:ea typeface="Calibri" pitchFamily="34" charset="-122"/>
                <a:cs typeface="Calibri" pitchFamily="34" charset="-120"/>
              </a:rPr>
              <a:t>4.  Hidden objection examples: 'I don't believe the savings are real,' 'My wife doesn't want strangers on the roof,' 'I think the company will go bankrupt'</a:t>
            </a:r>
            <a:endParaRPr lang="en-US" sz="1200" dirty="0"/>
          </a:p>
          <a:p>
            <a:pPr indent="0" marL="0">
              <a:spcAft>
                <a:spcPts val="800"/>
              </a:spcAft>
              <a:buNone/>
            </a:pPr>
            <a:r>
              <a:rPr lang="en-US" sz="1200" dirty="0">
                <a:solidFill>
                  <a:srgbClr val="FFFFFF"/>
                </a:solidFill>
                <a:latin typeface="Calibri" pitchFamily="34" charset="0"/>
                <a:ea typeface="Calibri" pitchFamily="34" charset="-122"/>
                <a:cs typeface="Calibri" pitchFamily="34" charset="-120"/>
              </a:rPr>
              <a:t>5.  Deliverable: Each rep writes down 3 'Isolation Questions' they will use in every consultation from now on</a:t>
            </a:r>
            <a:endParaRPr lang="en-US" sz="1200" dirty="0"/>
          </a:p>
        </p:txBody>
      </p:sp>
      <p:sp>
        <p:nvSpPr>
          <p:cNvPr id="8" name="Shape 6"/>
          <p:cNvSpPr/>
          <p:nvPr/>
        </p:nvSpPr>
        <p:spPr>
          <a:xfrm>
            <a:off x="7132320" y="1755648"/>
            <a:ext cx="1737360" cy="914400"/>
          </a:xfrm>
          <a:prstGeom prst="rect">
            <a:avLst/>
          </a:prstGeom>
          <a:solidFill>
            <a:srgbClr val="F4A61D"/>
          </a:solidFill>
          <a:ln w="12700">
            <a:solidFill>
              <a:srgbClr val="F4A61D"/>
            </a:solidFill>
            <a:prstDash val="solid"/>
          </a:ln>
          <a:effectLst>
            <a:outerShdw sx="100000" sy="100000" kx="0" ky="0" algn="bl" rotWithShape="0" blurRad="101600" dist="38100" dir="8100000">
              <a:srgbClr val="000000">
                <a:alpha val="20000"/>
              </a:srgbClr>
            </a:outerShdw>
          </a:effectLst>
        </p:spPr>
      </p:sp>
      <p:sp>
        <p:nvSpPr>
          <p:cNvPr id="9" name="Text 7"/>
          <p:cNvSpPr/>
          <p:nvPr/>
        </p:nvSpPr>
        <p:spPr>
          <a:xfrm>
            <a:off x="7150608" y="1773936"/>
            <a:ext cx="1691640" cy="877824"/>
          </a:xfrm>
          <a:prstGeom prst="rect">
            <a:avLst/>
          </a:prstGeom>
          <a:noFill/>
          <a:ln/>
        </p:spPr>
        <p:txBody>
          <a:bodyPr wrap="square" lIns="0" tIns="0" rIns="0" bIns="0" rtlCol="0" anchor="ctr"/>
          <a:lstStyle/>
          <a:p>
            <a:pPr algn="ctr" indent="0" marL="0">
              <a:buNone/>
            </a:pPr>
            <a:r>
              <a:rPr lang="en-US" sz="1400" b="1" dirty="0">
                <a:solidFill>
                  <a:srgbClr val="0D1B2A"/>
                </a:solidFill>
                <a:latin typeface="Arial Black" pitchFamily="34" charset="0"/>
                <a:ea typeface="Arial Black" pitchFamily="34" charset="-122"/>
                <a:cs typeface="Arial Black" pitchFamily="34" charset="-120"/>
              </a:rPr>
              <a:t>30 MIN</a:t>
            </a:r>
            <a:endParaRPr lang="en-US" sz="14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9144000" cy="1691640"/>
          </a:xfrm>
          <a:prstGeom prst="rect">
            <a:avLst/>
          </a:prstGeom>
          <a:solidFill>
            <a:srgbClr val="F4A61D"/>
          </a:solidFill>
          <a:ln w="12700">
            <a:solidFill>
              <a:srgbClr val="F4A61D"/>
            </a:solidFill>
            <a:prstDash val="solid"/>
          </a:ln>
        </p:spPr>
      </p:sp>
      <p:sp>
        <p:nvSpPr>
          <p:cNvPr id="3" name="Text 1"/>
          <p:cNvSpPr/>
          <p:nvPr/>
        </p:nvSpPr>
        <p:spPr>
          <a:xfrm>
            <a:off x="365760" y="137160"/>
            <a:ext cx="8412480" cy="420624"/>
          </a:xfrm>
          <a:prstGeom prst="rect">
            <a:avLst/>
          </a:prstGeom>
          <a:noFill/>
          <a:ln/>
        </p:spPr>
        <p:txBody>
          <a:bodyPr wrap="square" lIns="0" tIns="0" rIns="0" bIns="0" rtlCol="0" anchor="ctr"/>
          <a:lstStyle/>
          <a:p>
            <a:pPr algn="l" indent="0" marL="0">
              <a:buNone/>
            </a:pPr>
            <a:r>
              <a:rPr lang="en-US" sz="1300" b="1" spc="400" kern="0" dirty="0">
                <a:solidFill>
                  <a:srgbClr val="0D1B2A"/>
                </a:solidFill>
                <a:latin typeface="Arial Black" pitchFamily="34" charset="0"/>
                <a:ea typeface="Arial Black" pitchFamily="34" charset="-122"/>
                <a:cs typeface="Arial Black" pitchFamily="34" charset="-120"/>
              </a:rPr>
              <a:t>MODULE 6.4</a:t>
            </a:r>
            <a:endParaRPr lang="en-US" sz="1300" dirty="0"/>
          </a:p>
        </p:txBody>
      </p:sp>
      <p:sp>
        <p:nvSpPr>
          <p:cNvPr id="4" name="Text 2"/>
          <p:cNvSpPr/>
          <p:nvPr/>
        </p:nvSpPr>
        <p:spPr>
          <a:xfrm>
            <a:off x="365760" y="530352"/>
            <a:ext cx="8412480" cy="1005840"/>
          </a:xfrm>
          <a:prstGeom prst="rect">
            <a:avLst/>
          </a:prstGeom>
          <a:noFill/>
          <a:ln/>
        </p:spPr>
        <p:txBody>
          <a:bodyPr wrap="square" lIns="0" tIns="0" rIns="0" bIns="0" rtlCol="0" anchor="ctr"/>
          <a:lstStyle/>
          <a:p>
            <a:pPr algn="l" indent="0" marL="0">
              <a:buNone/>
            </a:pPr>
            <a:r>
              <a:rPr lang="en-US" sz="2500" b="1" dirty="0">
                <a:solidFill>
                  <a:srgbClr val="0D1B2A"/>
                </a:solidFill>
                <a:latin typeface="Arial Black" pitchFamily="34" charset="0"/>
                <a:ea typeface="Arial Black" pitchFamily="34" charset="-122"/>
                <a:cs typeface="Arial Black" pitchFamily="34" charset="-120"/>
              </a:rPr>
              <a:t>Advanced 'Think About It' Mastery</a:t>
            </a:r>
            <a:endParaRPr lang="en-US" sz="2500" dirty="0"/>
          </a:p>
        </p:txBody>
      </p:sp>
      <p:sp>
        <p:nvSpPr>
          <p:cNvPr id="5" name="Text 3"/>
          <p:cNvSpPr/>
          <p:nvPr/>
        </p:nvSpPr>
        <p:spPr>
          <a:xfrm>
            <a:off x="365760" y="1920240"/>
            <a:ext cx="8412480" cy="502920"/>
          </a:xfrm>
          <a:prstGeom prst="rect">
            <a:avLst/>
          </a:prstGeom>
          <a:noFill/>
          <a:ln/>
        </p:spPr>
        <p:txBody>
          <a:bodyPr wrap="square" lIns="0" tIns="0" rIns="0" bIns="0" rtlCol="0" anchor="ctr"/>
          <a:lstStyle/>
          <a:p>
            <a:pPr algn="l" indent="0" marL="0">
              <a:buNone/>
            </a:pPr>
            <a:r>
              <a:rPr lang="en-US" sz="1500" b="1" i="1" dirty="0">
                <a:solidFill>
                  <a:srgbClr val="F4A61D"/>
                </a:solidFill>
                <a:latin typeface="Calibri" pitchFamily="34" charset="0"/>
                <a:ea typeface="Calibri" pitchFamily="34" charset="-122"/>
                <a:cs typeface="Calibri" pitchFamily="34" charset="-120"/>
              </a:rPr>
              <a:t>From Thinking to Deciding — Without Pressure</a:t>
            </a:r>
            <a:endParaRPr lang="en-US" sz="1500" dirty="0"/>
          </a:p>
        </p:txBody>
      </p:sp>
      <p:sp>
        <p:nvSpPr>
          <p:cNvPr id="6" name="Shape 4"/>
          <p:cNvSpPr/>
          <p:nvPr/>
        </p:nvSpPr>
        <p:spPr>
          <a:xfrm>
            <a:off x="365760" y="2606040"/>
            <a:ext cx="164592" cy="164592"/>
          </a:xfrm>
          <a:prstGeom prst="ellipse">
            <a:avLst/>
          </a:prstGeom>
          <a:solidFill>
            <a:srgbClr val="F4A61D">
              <a:alpha val="40000"/>
            </a:srgbClr>
          </a:solidFill>
          <a:ln w="12700">
            <a:solidFill>
              <a:srgbClr val="F4A61D">
                <a:alpha val="40000"/>
              </a:srgbClr>
            </a:solidFill>
            <a:prstDash val="solid"/>
          </a:ln>
        </p:spPr>
      </p:sp>
      <p:sp>
        <p:nvSpPr>
          <p:cNvPr id="7" name="Shape 5"/>
          <p:cNvSpPr/>
          <p:nvPr/>
        </p:nvSpPr>
        <p:spPr>
          <a:xfrm>
            <a:off x="685800" y="2606040"/>
            <a:ext cx="164592" cy="164592"/>
          </a:xfrm>
          <a:prstGeom prst="ellipse">
            <a:avLst/>
          </a:prstGeom>
          <a:solidFill>
            <a:srgbClr val="F4A61D">
              <a:alpha val="40000"/>
            </a:srgbClr>
          </a:solidFill>
          <a:ln w="12700">
            <a:solidFill>
              <a:srgbClr val="F4A61D">
                <a:alpha val="40000"/>
              </a:srgbClr>
            </a:solidFill>
            <a:prstDash val="solid"/>
          </a:ln>
        </p:spPr>
      </p:sp>
      <p:sp>
        <p:nvSpPr>
          <p:cNvPr id="8" name="Shape 6"/>
          <p:cNvSpPr/>
          <p:nvPr/>
        </p:nvSpPr>
        <p:spPr>
          <a:xfrm>
            <a:off x="1005840" y="2606040"/>
            <a:ext cx="164592" cy="164592"/>
          </a:xfrm>
          <a:prstGeom prst="ellipse">
            <a:avLst/>
          </a:prstGeom>
          <a:solidFill>
            <a:srgbClr val="F4A61D">
              <a:alpha val="40000"/>
            </a:srgbClr>
          </a:solidFill>
          <a:ln w="12700">
            <a:solidFill>
              <a:srgbClr val="F4A61D">
                <a:alpha val="40000"/>
              </a:srgbClr>
            </a:solidFill>
            <a:prstDash val="solid"/>
          </a:ln>
        </p:spPr>
      </p:sp>
      <p:sp>
        <p:nvSpPr>
          <p:cNvPr id="9" name="Shape 7"/>
          <p:cNvSpPr/>
          <p:nvPr/>
        </p:nvSpPr>
        <p:spPr>
          <a:xfrm>
            <a:off x="1325880" y="2606040"/>
            <a:ext cx="164592" cy="164592"/>
          </a:xfrm>
          <a:prstGeom prst="ellipse">
            <a:avLst/>
          </a:prstGeom>
          <a:solidFill>
            <a:srgbClr val="F4A61D">
              <a:alpha val="40000"/>
            </a:srgbClr>
          </a:solidFill>
          <a:ln w="12700">
            <a:solidFill>
              <a:srgbClr val="F4A61D">
                <a:alpha val="40000"/>
              </a:srgbClr>
            </a:solidFill>
            <a:prstDash val="solid"/>
          </a:ln>
        </p:spPr>
      </p:sp>
      <p:sp>
        <p:nvSpPr>
          <p:cNvPr id="10" name="Shape 8"/>
          <p:cNvSpPr/>
          <p:nvPr/>
        </p:nvSpPr>
        <p:spPr>
          <a:xfrm>
            <a:off x="1645920" y="2606040"/>
            <a:ext cx="164592" cy="164592"/>
          </a:xfrm>
          <a:prstGeom prst="ellipse">
            <a:avLst/>
          </a:prstGeom>
          <a:solidFill>
            <a:srgbClr val="F4A61D">
              <a:alpha val="40000"/>
            </a:srgbClr>
          </a:solidFill>
          <a:ln w="12700">
            <a:solidFill>
              <a:srgbClr val="F4A61D">
                <a:alpha val="40000"/>
              </a:srgbClr>
            </a:solidFill>
            <a:prstDash val="solid"/>
          </a:ln>
        </p:spPr>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4480560"/>
            <a:ext cx="9144000" cy="662940"/>
          </a:xfrm>
          <a:prstGeom prst="rect">
            <a:avLst/>
          </a:prstGeom>
          <a:solidFill>
            <a:srgbClr val="F4A61D"/>
          </a:solidFill>
          <a:ln w="12700">
            <a:solidFill>
              <a:srgbClr val="F4A61D"/>
            </a:solidFill>
            <a:prstDash val="solid"/>
          </a:ln>
        </p:spPr>
      </p:sp>
      <p:sp>
        <p:nvSpPr>
          <p:cNvPr id="3" name="Text 1"/>
          <p:cNvSpPr/>
          <p:nvPr/>
        </p:nvSpPr>
        <p:spPr>
          <a:xfrm>
            <a:off x="457200" y="1097280"/>
            <a:ext cx="8229600" cy="457200"/>
          </a:xfrm>
          <a:prstGeom prst="rect">
            <a:avLst/>
          </a:prstGeom>
          <a:noFill/>
          <a:ln/>
        </p:spPr>
        <p:txBody>
          <a:bodyPr wrap="square" lIns="0" tIns="0" rIns="0" bIns="0" rtlCol="0" anchor="ctr"/>
          <a:lstStyle/>
          <a:p>
            <a:pPr algn="l" indent="0" marL="0">
              <a:buNone/>
            </a:pPr>
            <a:r>
              <a:rPr lang="en-US" sz="1200" b="1" spc="500" kern="0" dirty="0">
                <a:solidFill>
                  <a:srgbClr val="F4A61D"/>
                </a:solidFill>
                <a:latin typeface="Arial" pitchFamily="34" charset="0"/>
                <a:ea typeface="Arial" pitchFamily="34" charset="-122"/>
                <a:cs typeface="Arial" pitchFamily="34" charset="-120"/>
              </a:rPr>
              <a:t>MODULE 6.4 — ADVANCED THINK ABOUT IT</a:t>
            </a:r>
            <a:endParaRPr lang="en-US" sz="1200" dirty="0"/>
          </a:p>
        </p:txBody>
      </p:sp>
      <p:sp>
        <p:nvSpPr>
          <p:cNvPr id="4" name="Text 2"/>
          <p:cNvSpPr/>
          <p:nvPr/>
        </p:nvSpPr>
        <p:spPr>
          <a:xfrm>
            <a:off x="457200" y="1536192"/>
            <a:ext cx="7772400" cy="1325880"/>
          </a:xfrm>
          <a:prstGeom prst="rect">
            <a:avLst/>
          </a:prstGeom>
          <a:noFill/>
          <a:ln/>
        </p:spPr>
        <p:txBody>
          <a:bodyPr wrap="square" lIns="0" tIns="0" rIns="0" bIns="0" rtlCol="0" anchor="ctr"/>
          <a:lstStyle/>
          <a:p>
            <a:pPr algn="l" indent="0" marL="0">
              <a:buNone/>
            </a:pPr>
            <a:r>
              <a:rPr lang="en-US" sz="3100" b="1" dirty="0">
                <a:solidFill>
                  <a:srgbClr val="FFFFFF"/>
                </a:solidFill>
                <a:latin typeface="Arial Black" pitchFamily="34" charset="0"/>
                <a:ea typeface="Arial Black" pitchFamily="34" charset="-122"/>
                <a:cs typeface="Arial Black" pitchFamily="34" charset="-120"/>
              </a:rPr>
              <a:t>The Most Expensive Word in Solar: 'Later'</a:t>
            </a:r>
            <a:endParaRPr lang="en-US" sz="3100" dirty="0"/>
          </a:p>
        </p:txBody>
      </p:sp>
      <p:sp>
        <p:nvSpPr>
          <p:cNvPr id="5" name="Text 3"/>
          <p:cNvSpPr/>
          <p:nvPr/>
        </p:nvSpPr>
        <p:spPr>
          <a:xfrm>
            <a:off x="457200" y="2971800"/>
            <a:ext cx="7772400" cy="1371600"/>
          </a:xfrm>
          <a:prstGeom prst="rect">
            <a:avLst/>
          </a:prstGeom>
          <a:noFill/>
          <a:ln/>
        </p:spPr>
        <p:txBody>
          <a:bodyPr wrap="square" lIns="0" tIns="0" rIns="0" bIns="0" rtlCol="0" anchor="ctr"/>
          <a:lstStyle/>
          <a:p>
            <a:pPr marL="342900" indent="-342900">
              <a:buSzPct val="100000"/>
              <a:buFont typeface="+mj-lt"/>
              <a:buAutoNum type="arabicPeriod" startAt="1"/>
            </a:pPr>
            <a:r>
              <a:rPr lang="en-US" sz="1300" dirty="0">
                <a:solidFill>
                  <a:srgbClr val="8FA3B1"/>
                </a:solidFill>
                <a:latin typeface="Calibri" pitchFamily="34" charset="0"/>
                <a:ea typeface="Calibri" pitchFamily="34" charset="-122"/>
                <a:cs typeface="Calibri" pitchFamily="34" charset="-120"/>
              </a:rPr>
              <a:t>The Permission to Be Frank Frame: turning the stall into a coaching conversation</a:t>
            </a:r>
            <a:endParaRPr lang="en-US" sz="1300" dirty="0"/>
          </a:p>
          <a:p>
            <a:pPr marL="342900" indent="-342900">
              <a:buSzPct val="100000"/>
              <a:buFont typeface="+mj-lt"/>
              <a:buAutoNum type="arabicPeriod" startAt="1"/>
            </a:pPr>
            <a:r>
              <a:rPr lang="en-US" sz="1300" dirty="0">
                <a:solidFill>
                  <a:srgbClr val="8FA3B1"/>
                </a:solidFill>
                <a:latin typeface="Calibri" pitchFamily="34" charset="0"/>
                <a:ea typeface="Calibri" pitchFamily="34" charset="-122"/>
                <a:cs typeface="Calibri" pitchFamily="34" charset="-120"/>
              </a:rPr>
              <a:t>The Thinking Cost Calculator: quantifying the daily penalty of delay</a:t>
            </a:r>
            <a:endParaRPr lang="en-US" sz="1300" dirty="0"/>
          </a:p>
          <a:p>
            <a:pPr marL="342900" indent="-342900">
              <a:buSzPct val="100000"/>
              <a:buFont typeface="+mj-lt"/>
              <a:buAutoNum type="arabicPeriod" startAt="1"/>
            </a:pPr>
            <a:r>
              <a:rPr lang="en-US" sz="1300" dirty="0">
                <a:solidFill>
                  <a:srgbClr val="8FA3B1"/>
                </a:solidFill>
                <a:latin typeface="Calibri" pitchFamily="34" charset="0"/>
                <a:ea typeface="Calibri" pitchFamily="34" charset="-122"/>
                <a:cs typeface="Calibri" pitchFamily="34" charset="-120"/>
              </a:rPr>
              <a:t>The Calendar Lock: never leave without knowing the real status</a:t>
            </a:r>
            <a:endParaRPr lang="en-US" sz="1300" dirty="0"/>
          </a:p>
          <a:p>
            <a:pPr marL="342900" indent="-342900">
              <a:buSzPct val="100000"/>
              <a:buFont typeface="+mj-lt"/>
              <a:buAutoNum type="arabicPeriod" startAt="1"/>
            </a:pPr>
            <a:r>
              <a:rPr lang="en-US" sz="1300" dirty="0">
                <a:solidFill>
                  <a:srgbClr val="8FA3B1"/>
                </a:solidFill>
                <a:latin typeface="Calibri" pitchFamily="34" charset="0"/>
                <a:ea typeface="Calibri" pitchFamily="34" charset="-122"/>
                <a:cs typeface="Calibri" pitchFamily="34" charset="-120"/>
              </a:rPr>
              <a:t>A 2-minute recorded response to 'We need to think about it'</a:t>
            </a:r>
            <a:endParaRPr lang="en-US" sz="13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F4A61D"/>
          </a:solidFill>
          <a:ln w="12700">
            <a:solidFill>
              <a:srgbClr val="F4A61D"/>
            </a:solidFill>
            <a:prstDash val="solid"/>
          </a:ln>
        </p:spPr>
      </p:sp>
      <p:sp>
        <p:nvSpPr>
          <p:cNvPr id="3" name="Text 1"/>
          <p:cNvSpPr/>
          <p:nvPr/>
        </p:nvSpPr>
        <p:spPr>
          <a:xfrm>
            <a:off x="274320" y="164592"/>
            <a:ext cx="8503920" cy="594360"/>
          </a:xfrm>
          <a:prstGeom prst="rect">
            <a:avLst/>
          </a:prstGeom>
          <a:noFill/>
          <a:ln/>
        </p:spPr>
        <p:txBody>
          <a:bodyPr wrap="square" lIns="0" tIns="0" rIns="0" bIns="0" rtlCol="0" anchor="ctr"/>
          <a:lstStyle/>
          <a:p>
            <a:pPr algn="l" indent="0" marL="0">
              <a:buNone/>
            </a:pPr>
            <a:r>
              <a:rPr lang="en-US" sz="2000" b="1" dirty="0">
                <a:solidFill>
                  <a:srgbClr val="F4A61D"/>
                </a:solidFill>
                <a:latin typeface="Arial Black" pitchFamily="34" charset="0"/>
                <a:ea typeface="Arial Black" pitchFamily="34" charset="-122"/>
                <a:cs typeface="Arial Black" pitchFamily="34" charset="-120"/>
              </a:rPr>
              <a:t>The Permission to Be Frank Frame</a:t>
            </a:r>
            <a:endParaRPr lang="en-US" sz="2000" dirty="0"/>
          </a:p>
        </p:txBody>
      </p:sp>
      <p:sp>
        <p:nvSpPr>
          <p:cNvPr id="4" name="Shape 2"/>
          <p:cNvSpPr/>
          <p:nvPr/>
        </p:nvSpPr>
        <p:spPr>
          <a:xfrm>
            <a:off x="274320" y="777240"/>
            <a:ext cx="8503920" cy="27432"/>
          </a:xfrm>
          <a:prstGeom prst="rect">
            <a:avLst/>
          </a:prstGeom>
          <a:solidFill>
            <a:srgbClr val="F4A61D">
              <a:alpha val="40000"/>
            </a:srgbClr>
          </a:solidFill>
          <a:ln w="12700">
            <a:solidFill>
              <a:srgbClr val="F4A61D">
                <a:alpha val="40000"/>
              </a:srgbClr>
            </a:solidFill>
            <a:prstDash val="solid"/>
          </a:ln>
        </p:spPr>
      </p:sp>
      <p:sp>
        <p:nvSpPr>
          <p:cNvPr id="5" name="Text 3"/>
          <p:cNvSpPr/>
          <p:nvPr/>
        </p:nvSpPr>
        <p:spPr>
          <a:xfrm>
            <a:off x="274320" y="914400"/>
            <a:ext cx="8503920" cy="1444752"/>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rgbClr val="FFFFFF"/>
                </a:solidFill>
                <a:latin typeface="Calibri" pitchFamily="34" charset="0"/>
                <a:ea typeface="Calibri" pitchFamily="34" charset="-122"/>
                <a:cs typeface="Calibri" pitchFamily="34" charset="-120"/>
              </a:rPr>
              <a:t>When a homeowner stalls, ask for permission to be direct: 'Can I be totally honest with you for a second?'</a:t>
            </a:r>
            <a:endParaRPr lang="en-US" sz="1300" dirty="0"/>
          </a:p>
          <a:p>
            <a:pPr marL="342900" indent="-342900">
              <a:spcAft>
                <a:spcPts val="600"/>
              </a:spcAft>
              <a:buSzPct val="100000"/>
              <a:buChar char="•"/>
            </a:pPr>
            <a:r>
              <a:rPr lang="en-US" sz="1300" dirty="0">
                <a:solidFill>
                  <a:srgbClr val="FFFFFF"/>
                </a:solidFill>
                <a:latin typeface="Calibri" pitchFamily="34" charset="0"/>
                <a:ea typeface="Calibri" pitchFamily="34" charset="-122"/>
                <a:cs typeface="Calibri" pitchFamily="34" charset="-120"/>
              </a:rPr>
              <a:t>'Usually, when someone tells me they need to think about it, it means I missed something in my explanation. What did I not cover well enough?'</a:t>
            </a:r>
            <a:endParaRPr lang="en-US" sz="1300" dirty="0"/>
          </a:p>
          <a:p>
            <a:pPr marL="342900" indent="-342900">
              <a:spcAft>
                <a:spcPts val="600"/>
              </a:spcAft>
              <a:buSzPct val="100000"/>
              <a:buChar char="•"/>
            </a:pPr>
            <a:r>
              <a:rPr lang="en-US" sz="1300" dirty="0">
                <a:solidFill>
                  <a:srgbClr val="FFFFFF"/>
                </a:solidFill>
                <a:latin typeface="Calibri" pitchFamily="34" charset="0"/>
                <a:ea typeface="Calibri" pitchFamily="34" charset="-122"/>
                <a:cs typeface="Calibri" pitchFamily="34" charset="-120"/>
              </a:rPr>
              <a:t>This reframe puts the rep in the 'humble advisor' role — not a defensive salesperson</a:t>
            </a:r>
            <a:endParaRPr lang="en-US" sz="1300" dirty="0"/>
          </a:p>
          <a:p>
            <a:pPr marL="342900" indent="-342900">
              <a:spcAft>
                <a:spcPts val="600"/>
              </a:spcAft>
              <a:buSzPct val="100000"/>
              <a:buChar char="•"/>
            </a:pPr>
            <a:r>
              <a:rPr lang="en-US" sz="1300" dirty="0">
                <a:solidFill>
                  <a:srgbClr val="FFFFFF"/>
                </a:solidFill>
                <a:latin typeface="Calibri" pitchFamily="34" charset="0"/>
                <a:ea typeface="Calibri" pitchFamily="34" charset="-122"/>
                <a:cs typeface="Calibri" pitchFamily="34" charset="-120"/>
              </a:rPr>
              <a:t>It also surfaces the real concern by making the homeowner feel responsible for helping, not just escaping</a:t>
            </a:r>
            <a:endParaRPr lang="en-US" sz="1300" dirty="0"/>
          </a:p>
        </p:txBody>
      </p:sp>
      <p:sp>
        <p:nvSpPr>
          <p:cNvPr id="6" name="Shape 4"/>
          <p:cNvSpPr/>
          <p:nvPr/>
        </p:nvSpPr>
        <p:spPr>
          <a:xfrm>
            <a:off x="274320" y="2468880"/>
            <a:ext cx="8503920" cy="1874520"/>
          </a:xfrm>
          <a:prstGeom prst="rect">
            <a:avLst/>
          </a:prstGeom>
          <a:solidFill>
            <a:srgbClr val="1A2840"/>
          </a:solidFill>
          <a:ln w="19050">
            <a:solidFill>
              <a:srgbClr val="0891B2"/>
            </a:solidFill>
            <a:prstDash val="solid"/>
          </a:ln>
          <a:effectLst>
            <a:outerShdw sx="100000" sy="100000" kx="0" ky="0" algn="bl" rotWithShape="0" blurRad="101600" dist="38100" dir="8100000">
              <a:srgbClr val="000000">
                <a:alpha val="20000"/>
              </a:srgbClr>
            </a:outerShdw>
          </a:effectLst>
        </p:spPr>
      </p:sp>
      <p:sp>
        <p:nvSpPr>
          <p:cNvPr id="7" name="Shape 5"/>
          <p:cNvSpPr/>
          <p:nvPr/>
        </p:nvSpPr>
        <p:spPr>
          <a:xfrm>
            <a:off x="274320" y="2468880"/>
            <a:ext cx="1097280" cy="347472"/>
          </a:xfrm>
          <a:prstGeom prst="rect">
            <a:avLst/>
          </a:prstGeom>
          <a:solidFill>
            <a:srgbClr val="0891B2"/>
          </a:solidFill>
          <a:ln w="12700">
            <a:solidFill>
              <a:srgbClr val="0891B2"/>
            </a:solidFill>
            <a:prstDash val="solid"/>
          </a:ln>
        </p:spPr>
      </p:sp>
      <p:sp>
        <p:nvSpPr>
          <p:cNvPr id="8" name="Text 6"/>
          <p:cNvSpPr/>
          <p:nvPr/>
        </p:nvSpPr>
        <p:spPr>
          <a:xfrm>
            <a:off x="292608" y="2487168"/>
            <a:ext cx="1051560" cy="310896"/>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Arial Black" pitchFamily="34" charset="0"/>
                <a:ea typeface="Arial Black" pitchFamily="34" charset="-122"/>
                <a:cs typeface="Arial Black" pitchFamily="34" charset="-120"/>
              </a:rPr>
              <a:t>DIALOGUE</a:t>
            </a:r>
            <a:endParaRPr lang="en-US" sz="900" dirty="0"/>
          </a:p>
        </p:txBody>
      </p:sp>
      <p:sp>
        <p:nvSpPr>
          <p:cNvPr id="9" name="Text 7"/>
          <p:cNvSpPr/>
          <p:nvPr/>
        </p:nvSpPr>
        <p:spPr>
          <a:xfrm>
            <a:off x="411480" y="2926080"/>
            <a:ext cx="8275320" cy="1325880"/>
          </a:xfrm>
          <a:prstGeom prst="rect">
            <a:avLst/>
          </a:prstGeom>
          <a:noFill/>
          <a:ln/>
        </p:spPr>
        <p:txBody>
          <a:bodyPr wrap="square" lIns="0" tIns="0" rIns="0" bIns="0" rtlCol="0" anchor="t"/>
          <a:lstStyle/>
          <a:p>
            <a:pPr indent="0" marL="0">
              <a:buNone/>
            </a:pPr>
            <a:r>
              <a:rPr lang="en-US" sz="1100" b="1" dirty="0">
                <a:solidFill>
                  <a:srgbClr val="F4A61D"/>
                </a:solidFill>
                <a:latin typeface="Calibri" pitchFamily="34" charset="0"/>
                <a:ea typeface="Calibri" pitchFamily="34" charset="-122"/>
                <a:cs typeface="Calibri" pitchFamily="34" charset="-120"/>
              </a:rPr>
              <a:t>Rep:</a:t>
            </a:r>
            <a:endParaRPr lang="en-US" sz="1100" dirty="0"/>
          </a:p>
          <a:p>
            <a:pPr indent="0" marL="0">
              <a:buNone/>
            </a:pPr>
            <a:r>
              <a:rPr lang="en-US" sz="1100" dirty="0">
                <a:solidFill>
                  <a:srgbClr val="FFFFFF"/>
                </a:solidFill>
                <a:latin typeface="Calibri" pitchFamily="34" charset="0"/>
                <a:ea typeface="Calibri" pitchFamily="34" charset="-122"/>
                <a:cs typeface="Calibri" pitchFamily="34" charset="-120"/>
              </a:rPr>
              <a:t>Can I be totally honest with you for a second? Usually when someone says they need to think about it, it means I didn't explain something clearly enough. What was the part that I didn't cover well?</a:t>
            </a:r>
            <a:endParaRPr lang="en-US" sz="1100" dirty="0"/>
          </a:p>
          <a:p>
            <a:pPr indent="0" marL="0">
              <a:buNone/>
            </a:pPr>
            <a:r>
              <a:rPr lang="en-US" sz="1100" b="1" dirty="0">
                <a:solidFill>
                  <a:srgbClr val="F4A61D"/>
                </a:solidFill>
                <a:latin typeface="Calibri" pitchFamily="34" charset="0"/>
                <a:ea typeface="Calibri" pitchFamily="34" charset="-122"/>
                <a:cs typeface="Calibri" pitchFamily="34" charset="-120"/>
              </a:rPr>
              <a:t>Homeowner:</a:t>
            </a:r>
            <a:endParaRPr lang="en-US" sz="1100" dirty="0"/>
          </a:p>
          <a:p>
            <a:pPr indent="0" marL="0">
              <a:buNone/>
            </a:pPr>
            <a:r>
              <a:rPr lang="en-US" sz="1100" dirty="0">
                <a:solidFill>
                  <a:srgbClr val="FFFFFF"/>
                </a:solidFill>
                <a:latin typeface="Calibri" pitchFamily="34" charset="0"/>
                <a:ea typeface="Calibri" pitchFamily="34" charset="-122"/>
                <a:cs typeface="Calibri" pitchFamily="34" charset="-120"/>
              </a:rPr>
              <a:t>No, no — you explained everything well. It's just... we're not sure if now is the right time financially.</a:t>
            </a:r>
            <a:endParaRPr lang="en-US" sz="1100" dirty="0"/>
          </a:p>
          <a:p>
            <a:pPr indent="0" marL="0">
              <a:buNone/>
            </a:pPr>
            <a:r>
              <a:rPr lang="en-US" sz="1100" b="1" dirty="0">
                <a:solidFill>
                  <a:srgbClr val="F4A61D"/>
                </a:solidFill>
                <a:latin typeface="Calibri" pitchFamily="34" charset="0"/>
                <a:ea typeface="Calibri" pitchFamily="34" charset="-122"/>
                <a:cs typeface="Calibri" pitchFamily="34" charset="-120"/>
              </a:rPr>
              <a:t>Rep:</a:t>
            </a:r>
            <a:endParaRPr lang="en-US" sz="1100" dirty="0"/>
          </a:p>
          <a:p>
            <a:pPr indent="0" marL="0">
              <a:buNone/>
            </a:pPr>
            <a:r>
              <a:rPr lang="en-US" sz="1100" dirty="0">
                <a:solidFill>
                  <a:srgbClr val="FFFFFF"/>
                </a:solidFill>
                <a:latin typeface="Calibri" pitchFamily="34" charset="0"/>
                <a:ea typeface="Calibri" pitchFamily="34" charset="-122"/>
                <a:cs typeface="Calibri" pitchFamily="34" charset="-120"/>
              </a:rPr>
              <a:t>I really appreciate you saying that. Financial timing is exactly what I should have addressed more directly. Can I show you one more thing on that before you go?</a:t>
            </a:r>
            <a:endParaRPr lang="en-US" sz="1100" dirty="0"/>
          </a:p>
        </p:txBody>
      </p:sp>
      <p:sp>
        <p:nvSpPr>
          <p:cNvPr id="10" name="Shape 8"/>
          <p:cNvSpPr/>
          <p:nvPr/>
        </p:nvSpPr>
        <p:spPr>
          <a:xfrm>
            <a:off x="0" y="4663440"/>
            <a:ext cx="9144000" cy="480060"/>
          </a:xfrm>
          <a:prstGeom prst="rect">
            <a:avLst/>
          </a:prstGeom>
          <a:solidFill>
            <a:srgbClr val="E07B39">
              <a:alpha val="15000"/>
            </a:srgbClr>
          </a:solidFill>
          <a:ln w="12700">
            <a:solidFill>
              <a:srgbClr val="E07B39">
                <a:alpha val="15000"/>
              </a:srgbClr>
            </a:solidFill>
            <a:prstDash val="solid"/>
          </a:ln>
        </p:spPr>
      </p:sp>
      <p:sp>
        <p:nvSpPr>
          <p:cNvPr id="11" name="Text 9"/>
          <p:cNvSpPr/>
          <p:nvPr/>
        </p:nvSpPr>
        <p:spPr>
          <a:xfrm>
            <a:off x="274320" y="4690872"/>
            <a:ext cx="8686800" cy="384048"/>
          </a:xfrm>
          <a:prstGeom prst="rect">
            <a:avLst/>
          </a:prstGeom>
          <a:noFill/>
          <a:ln/>
        </p:spPr>
        <p:txBody>
          <a:bodyPr wrap="square" lIns="0" tIns="0" rIns="0" bIns="0" rtlCol="0" anchor="ctr"/>
          <a:lstStyle/>
          <a:p>
            <a:pPr algn="l" indent="0" marL="0">
              <a:buNone/>
            </a:pPr>
            <a:r>
              <a:rPr lang="en-US" sz="900" i="1" dirty="0">
                <a:solidFill>
                  <a:srgbClr val="E07B39"/>
                </a:solidFill>
                <a:latin typeface="Calibri" pitchFamily="34" charset="0"/>
                <a:ea typeface="Calibri" pitchFamily="34" charset="-122"/>
                <a:cs typeface="Calibri" pitchFamily="34" charset="-120"/>
              </a:rPr>
              <a:t>📋 TRAINER NOTE: This is one of the most psychologically sophisticated techniques in the curriculum. When the rep takes responsibility for the stall ('I missed something'), the homeowner almost always corrects them: 'No, it's not you, it's just...' — and the real objection surfaces.</a:t>
            </a:r>
            <a:endParaRPr lang="en-US" sz="9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F4A61D"/>
          </a:solidFill>
          <a:ln w="12700">
            <a:solidFill>
              <a:srgbClr val="F4A61D"/>
            </a:solidFill>
            <a:prstDash val="solid"/>
          </a:ln>
        </p:spPr>
      </p:sp>
      <p:sp>
        <p:nvSpPr>
          <p:cNvPr id="3" name="Text 1"/>
          <p:cNvSpPr/>
          <p:nvPr/>
        </p:nvSpPr>
        <p:spPr>
          <a:xfrm>
            <a:off x="274320" y="164592"/>
            <a:ext cx="8503920" cy="594360"/>
          </a:xfrm>
          <a:prstGeom prst="rect">
            <a:avLst/>
          </a:prstGeom>
          <a:noFill/>
          <a:ln/>
        </p:spPr>
        <p:txBody>
          <a:bodyPr wrap="square" lIns="0" tIns="0" rIns="0" bIns="0" rtlCol="0" anchor="ctr"/>
          <a:lstStyle/>
          <a:p>
            <a:pPr algn="l" indent="0" marL="0">
              <a:buNone/>
            </a:pPr>
            <a:r>
              <a:rPr lang="en-US" sz="2000" b="1" dirty="0">
                <a:solidFill>
                  <a:srgbClr val="F4A61D"/>
                </a:solidFill>
                <a:latin typeface="Arial Black" pitchFamily="34" charset="0"/>
                <a:ea typeface="Arial Black" pitchFamily="34" charset="-122"/>
                <a:cs typeface="Arial Black" pitchFamily="34" charset="-120"/>
              </a:rPr>
              <a:t>The Thinking Cost Calculator: Quantify the Delay</a:t>
            </a:r>
            <a:endParaRPr lang="en-US" sz="2000" dirty="0"/>
          </a:p>
        </p:txBody>
      </p:sp>
      <p:sp>
        <p:nvSpPr>
          <p:cNvPr id="4" name="Shape 2"/>
          <p:cNvSpPr/>
          <p:nvPr/>
        </p:nvSpPr>
        <p:spPr>
          <a:xfrm>
            <a:off x="274320" y="777240"/>
            <a:ext cx="8503920" cy="27432"/>
          </a:xfrm>
          <a:prstGeom prst="rect">
            <a:avLst/>
          </a:prstGeom>
          <a:solidFill>
            <a:srgbClr val="F4A61D">
              <a:alpha val="40000"/>
            </a:srgbClr>
          </a:solidFill>
          <a:ln w="12700">
            <a:solidFill>
              <a:srgbClr val="F4A61D">
                <a:alpha val="40000"/>
              </a:srgbClr>
            </a:solidFill>
            <a:prstDash val="solid"/>
          </a:ln>
        </p:spPr>
      </p:sp>
      <p:sp>
        <p:nvSpPr>
          <p:cNvPr id="5" name="Text 3"/>
          <p:cNvSpPr/>
          <p:nvPr/>
        </p:nvSpPr>
        <p:spPr>
          <a:xfrm>
            <a:off x="274320" y="914400"/>
            <a:ext cx="8503920" cy="1444752"/>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rgbClr val="FFFFFF"/>
                </a:solidFill>
                <a:latin typeface="Calibri" pitchFamily="34" charset="0"/>
                <a:ea typeface="Calibri" pitchFamily="34" charset="-122"/>
                <a:cs typeface="Calibri" pitchFamily="34" charset="-120"/>
              </a:rPr>
              <a:t>If the system saves $150/month, every day of 'thinking' costs the homeowner $5.00</a:t>
            </a:r>
            <a:endParaRPr lang="en-US" sz="1300" dirty="0"/>
          </a:p>
          <a:p>
            <a:pPr marL="342900" indent="-342900">
              <a:spcAft>
                <a:spcPts val="600"/>
              </a:spcAft>
              <a:buSzPct val="100000"/>
              <a:buChar char="•"/>
            </a:pPr>
            <a:r>
              <a:rPr lang="en-US" sz="1300" dirty="0">
                <a:solidFill>
                  <a:srgbClr val="FFFFFF"/>
                </a:solidFill>
                <a:latin typeface="Calibri" pitchFamily="34" charset="0"/>
                <a:ea typeface="Calibri" pitchFamily="34" charset="-122"/>
                <a:cs typeface="Calibri" pitchFamily="34" charset="-120"/>
              </a:rPr>
              <a:t>'I'm not trying to pressure you — I just want to make sure you have all the numbers, including this one: every day we wait costs you about $5'</a:t>
            </a:r>
            <a:endParaRPr lang="en-US" sz="1300" dirty="0"/>
          </a:p>
          <a:p>
            <a:pPr marL="342900" indent="-342900">
              <a:spcAft>
                <a:spcPts val="600"/>
              </a:spcAft>
              <a:buSzPct val="100000"/>
              <a:buChar char="•"/>
            </a:pPr>
            <a:r>
              <a:rPr lang="en-US" sz="1300" dirty="0">
                <a:solidFill>
                  <a:srgbClr val="FFFFFF"/>
                </a:solidFill>
                <a:latin typeface="Calibri" pitchFamily="34" charset="0"/>
                <a:ea typeface="Calibri" pitchFamily="34" charset="-122"/>
                <a:cs typeface="Calibri" pitchFamily="34" charset="-120"/>
              </a:rPr>
              <a:t>Frame it as a missed opportunity, not a closing tactic: 'I'd feel terrible if you spent 2 weeks deciding and lost $70 in savings in the process'</a:t>
            </a:r>
            <a:endParaRPr lang="en-US" sz="1300" dirty="0"/>
          </a:p>
          <a:p>
            <a:pPr marL="342900" indent="-342900">
              <a:spcAft>
                <a:spcPts val="600"/>
              </a:spcAft>
              <a:buSzPct val="100000"/>
              <a:buChar char="•"/>
            </a:pPr>
            <a:r>
              <a:rPr lang="en-US" sz="1300" dirty="0">
                <a:solidFill>
                  <a:srgbClr val="FFFFFF"/>
                </a:solidFill>
                <a:latin typeface="Calibri" pitchFamily="34" charset="0"/>
                <a:ea typeface="Calibri" pitchFamily="34" charset="-122"/>
                <a:cs typeface="Calibri" pitchFamily="34" charset="-120"/>
              </a:rPr>
              <a:t>For high-bill homeowners ($300+/mo): the daily cost is $10+ — this number lands very hard</a:t>
            </a:r>
            <a:endParaRPr lang="en-US" sz="1300" dirty="0"/>
          </a:p>
        </p:txBody>
      </p:sp>
      <p:sp>
        <p:nvSpPr>
          <p:cNvPr id="6" name="Shape 4"/>
          <p:cNvSpPr/>
          <p:nvPr/>
        </p:nvSpPr>
        <p:spPr>
          <a:xfrm>
            <a:off x="274320" y="2468880"/>
            <a:ext cx="8503920" cy="1874520"/>
          </a:xfrm>
          <a:prstGeom prst="rect">
            <a:avLst/>
          </a:prstGeom>
          <a:solidFill>
            <a:srgbClr val="1A2840"/>
          </a:solidFill>
          <a:ln w="19050">
            <a:solidFill>
              <a:srgbClr val="0891B2"/>
            </a:solidFill>
            <a:prstDash val="solid"/>
          </a:ln>
          <a:effectLst>
            <a:outerShdw sx="100000" sy="100000" kx="0" ky="0" algn="bl" rotWithShape="0" blurRad="101600" dist="38100" dir="8100000">
              <a:srgbClr val="000000">
                <a:alpha val="20000"/>
              </a:srgbClr>
            </a:outerShdw>
          </a:effectLst>
        </p:spPr>
      </p:sp>
      <p:sp>
        <p:nvSpPr>
          <p:cNvPr id="7" name="Shape 5"/>
          <p:cNvSpPr/>
          <p:nvPr/>
        </p:nvSpPr>
        <p:spPr>
          <a:xfrm>
            <a:off x="274320" y="2468880"/>
            <a:ext cx="1097280" cy="347472"/>
          </a:xfrm>
          <a:prstGeom prst="rect">
            <a:avLst/>
          </a:prstGeom>
          <a:solidFill>
            <a:srgbClr val="0891B2"/>
          </a:solidFill>
          <a:ln w="12700">
            <a:solidFill>
              <a:srgbClr val="0891B2"/>
            </a:solidFill>
            <a:prstDash val="solid"/>
          </a:ln>
        </p:spPr>
      </p:sp>
      <p:sp>
        <p:nvSpPr>
          <p:cNvPr id="8" name="Text 6"/>
          <p:cNvSpPr/>
          <p:nvPr/>
        </p:nvSpPr>
        <p:spPr>
          <a:xfrm>
            <a:off x="292608" y="2487168"/>
            <a:ext cx="1051560" cy="310896"/>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Arial Black" pitchFamily="34" charset="0"/>
                <a:ea typeface="Arial Black" pitchFamily="34" charset="-122"/>
                <a:cs typeface="Arial Black" pitchFamily="34" charset="-120"/>
              </a:rPr>
              <a:t>DIALOGUE</a:t>
            </a:r>
            <a:endParaRPr lang="en-US" sz="900" dirty="0"/>
          </a:p>
        </p:txBody>
      </p:sp>
      <p:sp>
        <p:nvSpPr>
          <p:cNvPr id="9" name="Text 7"/>
          <p:cNvSpPr/>
          <p:nvPr/>
        </p:nvSpPr>
        <p:spPr>
          <a:xfrm>
            <a:off x="411480" y="2926080"/>
            <a:ext cx="8275320" cy="1325880"/>
          </a:xfrm>
          <a:prstGeom prst="rect">
            <a:avLst/>
          </a:prstGeom>
          <a:noFill/>
          <a:ln/>
        </p:spPr>
        <p:txBody>
          <a:bodyPr wrap="square" lIns="0" tIns="0" rIns="0" bIns="0" rtlCol="0" anchor="t"/>
          <a:lstStyle/>
          <a:p>
            <a:pPr indent="0" marL="0">
              <a:buNone/>
            </a:pPr>
            <a:r>
              <a:rPr lang="en-US" sz="1100" b="1" dirty="0">
                <a:solidFill>
                  <a:srgbClr val="F4A61D"/>
                </a:solidFill>
                <a:latin typeface="Calibri" pitchFamily="34" charset="0"/>
                <a:ea typeface="Calibri" pitchFamily="34" charset="-122"/>
                <a:cs typeface="Calibri" pitchFamily="34" charset="-120"/>
              </a:rPr>
              <a:t>Rep:</a:t>
            </a:r>
            <a:endParaRPr lang="en-US" sz="1100" dirty="0"/>
          </a:p>
          <a:p>
            <a:pPr indent="0" marL="0">
              <a:buNone/>
            </a:pPr>
            <a:r>
              <a:rPr lang="en-US" sz="1100" dirty="0">
                <a:solidFill>
                  <a:srgbClr val="FFFFFF"/>
                </a:solidFill>
                <a:latin typeface="Calibri" pitchFamily="34" charset="0"/>
                <a:ea typeface="Calibri" pitchFamily="34" charset="-122"/>
                <a:cs typeface="Calibri" pitchFamily="34" charset="-120"/>
              </a:rPr>
              <a:t>I want to be transparent about something before we wrap up. At your bill level, every day between now and when your system starts producing costs you about $8 in savings you'll never recover. That's not pressure — it's just math I want you to have. Over 2 weeks of thinking, that's $112 in permanent lost savings. I'm not saying that to rush you — I just want to make sure you factor that in.</a:t>
            </a:r>
            <a:endParaRPr lang="en-US" sz="1100" dirty="0"/>
          </a:p>
          <a:p>
            <a:pPr indent="0" marL="0">
              <a:buNone/>
            </a:pPr>
            <a:r>
              <a:rPr lang="en-US" sz="1100" b="1" dirty="0">
                <a:solidFill>
                  <a:srgbClr val="F4A61D"/>
                </a:solidFill>
                <a:latin typeface="Calibri" pitchFamily="34" charset="0"/>
                <a:ea typeface="Calibri" pitchFamily="34" charset="-122"/>
                <a:cs typeface="Calibri" pitchFamily="34" charset="-120"/>
              </a:rPr>
              <a:t>Homeowner:</a:t>
            </a:r>
            <a:endParaRPr lang="en-US" sz="1100" dirty="0"/>
          </a:p>
          <a:p>
            <a:pPr indent="0" marL="0">
              <a:buNone/>
            </a:pPr>
            <a:r>
              <a:rPr lang="en-US" sz="1100" dirty="0">
                <a:solidFill>
                  <a:srgbClr val="FFFFFF"/>
                </a:solidFill>
                <a:latin typeface="Calibri" pitchFamily="34" charset="0"/>
                <a:ea typeface="Calibri" pitchFamily="34" charset="-122"/>
                <a:cs typeface="Calibri" pitchFamily="34" charset="-120"/>
              </a:rPr>
              <a:t>Huh. I didn't think about it that way.</a:t>
            </a:r>
            <a:endParaRPr lang="en-US" sz="11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F4A61D"/>
          </a:solidFill>
          <a:ln w="12700">
            <a:solidFill>
              <a:srgbClr val="F4A61D"/>
            </a:solidFill>
            <a:prstDash val="solid"/>
          </a:ln>
        </p:spPr>
      </p:sp>
      <p:sp>
        <p:nvSpPr>
          <p:cNvPr id="3" name="Text 1"/>
          <p:cNvSpPr/>
          <p:nvPr/>
        </p:nvSpPr>
        <p:spPr>
          <a:xfrm>
            <a:off x="274320" y="164592"/>
            <a:ext cx="8503920" cy="594360"/>
          </a:xfrm>
          <a:prstGeom prst="rect">
            <a:avLst/>
          </a:prstGeom>
          <a:noFill/>
          <a:ln/>
        </p:spPr>
        <p:txBody>
          <a:bodyPr wrap="square" lIns="0" tIns="0" rIns="0" bIns="0" rtlCol="0" anchor="ctr"/>
          <a:lstStyle/>
          <a:p>
            <a:pPr algn="l" indent="0" marL="0">
              <a:buNone/>
            </a:pPr>
            <a:r>
              <a:rPr lang="en-US" sz="2000" b="1" dirty="0">
                <a:solidFill>
                  <a:srgbClr val="F4A61D"/>
                </a:solidFill>
                <a:latin typeface="Arial Black" pitchFamily="34" charset="0"/>
                <a:ea typeface="Arial Black" pitchFamily="34" charset="-122"/>
                <a:cs typeface="Arial Black" pitchFamily="34" charset="-120"/>
              </a:rPr>
              <a:t>The Calendar Lock: Never Leave Without a Status</a:t>
            </a:r>
            <a:endParaRPr lang="en-US" sz="2000" dirty="0"/>
          </a:p>
        </p:txBody>
      </p:sp>
      <p:sp>
        <p:nvSpPr>
          <p:cNvPr id="4" name="Shape 2"/>
          <p:cNvSpPr/>
          <p:nvPr/>
        </p:nvSpPr>
        <p:spPr>
          <a:xfrm>
            <a:off x="274320" y="777240"/>
            <a:ext cx="8503920" cy="27432"/>
          </a:xfrm>
          <a:prstGeom prst="rect">
            <a:avLst/>
          </a:prstGeom>
          <a:solidFill>
            <a:srgbClr val="F4A61D">
              <a:alpha val="40000"/>
            </a:srgbClr>
          </a:solidFill>
          <a:ln w="12700">
            <a:solidFill>
              <a:srgbClr val="F4A61D">
                <a:alpha val="40000"/>
              </a:srgbClr>
            </a:solidFill>
            <a:prstDash val="solid"/>
          </a:ln>
        </p:spPr>
      </p:sp>
      <p:sp>
        <p:nvSpPr>
          <p:cNvPr id="5" name="Text 3"/>
          <p:cNvSpPr/>
          <p:nvPr/>
        </p:nvSpPr>
        <p:spPr>
          <a:xfrm>
            <a:off x="274320" y="914400"/>
            <a:ext cx="8503920" cy="2267712"/>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rgbClr val="FFFFFF"/>
                </a:solidFill>
                <a:latin typeface="Calibri" pitchFamily="34" charset="0"/>
                <a:ea typeface="Calibri" pitchFamily="34" charset="-122"/>
                <a:cs typeface="Calibri" pitchFamily="34" charset="-120"/>
              </a:rPr>
              <a:t>A 'follow up next week' with no locked date or agenda is a dead lead — reps must classify every appointment at close</a:t>
            </a:r>
            <a:endParaRPr lang="en-US" sz="1300" dirty="0"/>
          </a:p>
          <a:p>
            <a:pPr marL="342900" indent="-342900">
              <a:spcAft>
                <a:spcPts val="600"/>
              </a:spcAft>
              <a:buSzPct val="100000"/>
              <a:buChar char="•"/>
            </a:pPr>
            <a:r>
              <a:rPr lang="en-US" sz="1300" dirty="0">
                <a:solidFill>
                  <a:srgbClr val="FFFFFF"/>
                </a:solidFill>
                <a:latin typeface="Calibri" pitchFamily="34" charset="0"/>
                <a:ea typeface="Calibri" pitchFamily="34" charset="-122"/>
                <a:cs typeface="Calibri" pitchFamily="34" charset="-120"/>
              </a:rPr>
              <a:t>The Final Question: 'Before I go — on a scale of 1–10, how likely is it that we're going to do this together?'</a:t>
            </a:r>
            <a:endParaRPr lang="en-US" sz="1300" dirty="0"/>
          </a:p>
          <a:p>
            <a:pPr marL="342900" indent="-342900">
              <a:spcAft>
                <a:spcPts val="600"/>
              </a:spcAft>
              <a:buSzPct val="100000"/>
              <a:buChar char="•"/>
            </a:pPr>
            <a:r>
              <a:rPr lang="en-US" sz="1300" dirty="0">
                <a:solidFill>
                  <a:srgbClr val="FFFFFF"/>
                </a:solidFill>
                <a:latin typeface="Calibri" pitchFamily="34" charset="0"/>
                <a:ea typeface="Calibri" pitchFamily="34" charset="-122"/>
                <a:cs typeface="Calibri" pitchFamily="34" charset="-120"/>
              </a:rPr>
              <a:t>A 7 or above: lock a specific callback or signature date — 'Can we put Tuesday at 6pm in both our calendars right now?'</a:t>
            </a:r>
            <a:endParaRPr lang="en-US" sz="1300" dirty="0"/>
          </a:p>
          <a:p>
            <a:pPr marL="342900" indent="-342900">
              <a:spcAft>
                <a:spcPts val="600"/>
              </a:spcAft>
              <a:buSzPct val="100000"/>
              <a:buChar char="•"/>
            </a:pPr>
            <a:r>
              <a:rPr lang="en-US" sz="1300" dirty="0">
                <a:solidFill>
                  <a:srgbClr val="FFFFFF"/>
                </a:solidFill>
                <a:latin typeface="Calibri" pitchFamily="34" charset="0"/>
                <a:ea typeface="Calibri" pitchFamily="34" charset="-122"/>
                <a:cs typeface="Calibri" pitchFamily="34" charset="-120"/>
              </a:rPr>
              <a:t>Below a 7: ask 'What would move that number up?' — this surfaces the final hidden objection</a:t>
            </a:r>
            <a:endParaRPr lang="en-US" sz="1300" dirty="0"/>
          </a:p>
        </p:txBody>
      </p:sp>
      <p:sp>
        <p:nvSpPr>
          <p:cNvPr id="6" name="Shape 4"/>
          <p:cNvSpPr/>
          <p:nvPr/>
        </p:nvSpPr>
        <p:spPr>
          <a:xfrm>
            <a:off x="0" y="4663440"/>
            <a:ext cx="9144000" cy="480060"/>
          </a:xfrm>
          <a:prstGeom prst="rect">
            <a:avLst/>
          </a:prstGeom>
          <a:solidFill>
            <a:srgbClr val="E07B39">
              <a:alpha val="15000"/>
            </a:srgbClr>
          </a:solidFill>
          <a:ln w="12700">
            <a:solidFill>
              <a:srgbClr val="E07B39">
                <a:alpha val="15000"/>
              </a:srgbClr>
            </a:solidFill>
            <a:prstDash val="solid"/>
          </a:ln>
        </p:spPr>
      </p:sp>
      <p:sp>
        <p:nvSpPr>
          <p:cNvPr id="7" name="Text 5"/>
          <p:cNvSpPr/>
          <p:nvPr/>
        </p:nvSpPr>
        <p:spPr>
          <a:xfrm>
            <a:off x="274320" y="4690872"/>
            <a:ext cx="8686800" cy="384048"/>
          </a:xfrm>
          <a:prstGeom prst="rect">
            <a:avLst/>
          </a:prstGeom>
          <a:noFill/>
          <a:ln/>
        </p:spPr>
        <p:txBody>
          <a:bodyPr wrap="square" lIns="0" tIns="0" rIns="0" bIns="0" rtlCol="0" anchor="ctr"/>
          <a:lstStyle/>
          <a:p>
            <a:pPr algn="l" indent="0" marL="0">
              <a:buNone/>
            </a:pPr>
            <a:r>
              <a:rPr lang="en-US" sz="900" i="1" dirty="0">
                <a:solidFill>
                  <a:srgbClr val="E07B39"/>
                </a:solidFill>
                <a:latin typeface="Calibri" pitchFamily="34" charset="0"/>
                <a:ea typeface="Calibri" pitchFamily="34" charset="-122"/>
                <a:cs typeface="Calibri" pitchFamily="34" charset="-120"/>
              </a:rPr>
              <a:t>📋 TRAINER NOTE: The Calendar Lock prevents the rep from driving away telling themselves 'they're probably going to do it' when the deal is actually dead. Honest pipeline intelligence is more valuable than comfortable ambiguity.</a:t>
            </a:r>
            <a:endParaRPr lang="en-US" sz="9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E07B39"/>
          </a:solidFill>
          <a:ln w="12700">
            <a:solidFill>
              <a:srgbClr val="E07B39"/>
            </a:solidFill>
            <a:prstDash val="solid"/>
          </a:ln>
        </p:spPr>
      </p:sp>
      <p:sp>
        <p:nvSpPr>
          <p:cNvPr id="3" name="Text 1"/>
          <p:cNvSpPr/>
          <p:nvPr/>
        </p:nvSpPr>
        <p:spPr>
          <a:xfrm>
            <a:off x="365760" y="73152"/>
            <a:ext cx="3657600" cy="365760"/>
          </a:xfrm>
          <a:prstGeom prst="rect">
            <a:avLst/>
          </a:prstGeom>
          <a:noFill/>
          <a:ln/>
        </p:spPr>
        <p:txBody>
          <a:bodyPr wrap="square" lIns="0" tIns="0" rIns="0" bIns="0" rtlCol="0" anchor="ctr"/>
          <a:lstStyle/>
          <a:p>
            <a:pPr algn="l" indent="0" marL="0">
              <a:buNone/>
            </a:pPr>
            <a:r>
              <a:rPr lang="en-US" sz="1200" b="1" spc="300" kern="0" dirty="0">
                <a:solidFill>
                  <a:srgbClr val="0D1B2A"/>
                </a:solidFill>
                <a:latin typeface="Arial Black" pitchFamily="34" charset="0"/>
                <a:ea typeface="Arial Black" pitchFamily="34" charset="-122"/>
                <a:cs typeface="Arial Black" pitchFamily="34" charset="-120"/>
              </a:rPr>
              <a:t>🎯  ACTIVITY</a:t>
            </a:r>
            <a:endParaRPr lang="en-US" sz="1200" dirty="0"/>
          </a:p>
        </p:txBody>
      </p:sp>
      <p:sp>
        <p:nvSpPr>
          <p:cNvPr id="4" name="Text 2"/>
          <p:cNvSpPr/>
          <p:nvPr/>
        </p:nvSpPr>
        <p:spPr>
          <a:xfrm>
            <a:off x="365760" y="457200"/>
            <a:ext cx="8412480" cy="457200"/>
          </a:xfrm>
          <a:prstGeom prst="rect">
            <a:avLst/>
          </a:prstGeom>
          <a:noFill/>
          <a:ln/>
        </p:spPr>
        <p:txBody>
          <a:bodyPr wrap="square" lIns="0" tIns="0" rIns="0" bIns="0" rtlCol="0" anchor="ctr"/>
          <a:lstStyle/>
          <a:p>
            <a:pPr algn="l" indent="0" marL="0">
              <a:buNone/>
            </a:pPr>
            <a:r>
              <a:rPr lang="en-US" sz="1700" b="1" dirty="0">
                <a:solidFill>
                  <a:srgbClr val="0D1B2A"/>
                </a:solidFill>
                <a:latin typeface="Arial Black" pitchFamily="34" charset="0"/>
                <a:ea typeface="Arial Black" pitchFamily="34" charset="-122"/>
                <a:cs typeface="Arial Black" pitchFamily="34" charset="-120"/>
              </a:rPr>
              <a:t>Activity: The Thinking Debate</a:t>
            </a:r>
            <a:endParaRPr lang="en-US" sz="1700" dirty="0"/>
          </a:p>
        </p:txBody>
      </p:sp>
      <p:sp>
        <p:nvSpPr>
          <p:cNvPr id="5" name="Shape 3"/>
          <p:cNvSpPr/>
          <p:nvPr/>
        </p:nvSpPr>
        <p:spPr>
          <a:xfrm>
            <a:off x="274320" y="1143000"/>
            <a:ext cx="8595360" cy="475488"/>
          </a:xfrm>
          <a:prstGeom prst="rect">
            <a:avLst/>
          </a:prstGeom>
          <a:solidFill>
            <a:srgbClr val="1A2840"/>
          </a:solidFill>
          <a:ln w="12700">
            <a:solidFill>
              <a:srgbClr val="0891B2"/>
            </a:solidFill>
            <a:prstDash val="solid"/>
          </a:ln>
          <a:effectLst>
            <a:outerShdw sx="100000" sy="100000" kx="0" ky="0" algn="bl" rotWithShape="0" blurRad="101600" dist="38100" dir="8100000">
              <a:srgbClr val="000000">
                <a:alpha val="20000"/>
              </a:srgbClr>
            </a:outerShdw>
          </a:effectLst>
        </p:spPr>
      </p:sp>
      <p:sp>
        <p:nvSpPr>
          <p:cNvPr id="6" name="Text 4"/>
          <p:cNvSpPr/>
          <p:nvPr/>
        </p:nvSpPr>
        <p:spPr>
          <a:xfrm>
            <a:off x="411480" y="1170432"/>
            <a:ext cx="8321040" cy="420624"/>
          </a:xfrm>
          <a:prstGeom prst="rect">
            <a:avLst/>
          </a:prstGeom>
          <a:noFill/>
          <a:ln/>
        </p:spPr>
        <p:txBody>
          <a:bodyPr wrap="square" lIns="0" tIns="0" rIns="0" bIns="0" rtlCol="0" anchor="ctr"/>
          <a:lstStyle/>
          <a:p>
            <a:pPr algn="l" indent="0" marL="0">
              <a:buNone/>
            </a:pPr>
            <a:r>
              <a:rPr lang="en-US" sz="1100" b="1" i="1" dirty="0">
                <a:solidFill>
                  <a:srgbClr val="0891B2"/>
                </a:solidFill>
                <a:latin typeface="Calibri" pitchFamily="34" charset="0"/>
                <a:ea typeface="Calibri" pitchFamily="34" charset="-122"/>
                <a:cs typeface="Calibri" pitchFamily="34" charset="-120"/>
              </a:rPr>
              <a:t>OBJECTIVE: Pitch why 'thinking about it' is the most expensive thing a homeowner can do</a:t>
            </a:r>
            <a:endParaRPr lang="en-US" sz="1100" dirty="0"/>
          </a:p>
        </p:txBody>
      </p:sp>
      <p:sp>
        <p:nvSpPr>
          <p:cNvPr id="7" name="Text 5"/>
          <p:cNvSpPr/>
          <p:nvPr/>
        </p:nvSpPr>
        <p:spPr>
          <a:xfrm>
            <a:off x="365760" y="1755648"/>
            <a:ext cx="6858000" cy="2834640"/>
          </a:xfrm>
          <a:prstGeom prst="rect">
            <a:avLst/>
          </a:prstGeom>
          <a:noFill/>
          <a:ln/>
        </p:spPr>
        <p:txBody>
          <a:bodyPr wrap="square" lIns="0" tIns="0" rIns="0" bIns="0" rtlCol="0" anchor="t"/>
          <a:lstStyle/>
          <a:p>
            <a:pPr indent="0" marL="0">
              <a:spcAft>
                <a:spcPts val="800"/>
              </a:spcAft>
              <a:buNone/>
            </a:pPr>
            <a:r>
              <a:rPr lang="en-US" sz="1200" dirty="0">
                <a:solidFill>
                  <a:srgbClr val="FFFFFF"/>
                </a:solidFill>
                <a:latin typeface="Calibri" pitchFamily="34" charset="0"/>
                <a:ea typeface="Calibri" pitchFamily="34" charset="-122"/>
                <a:cs typeface="Calibri" pitchFamily="34" charset="-120"/>
              </a:rPr>
              <a:t>1.  Each rep must deliver a 2-minute argument — in character, to a real person — for why thinking costs more than deciding</a:t>
            </a:r>
            <a:endParaRPr lang="en-US" sz="1200" dirty="0"/>
          </a:p>
          <a:p>
            <a:pPr indent="0" marL="0">
              <a:spcAft>
                <a:spcPts val="800"/>
              </a:spcAft>
              <a:buNone/>
            </a:pPr>
            <a:r>
              <a:rPr lang="en-US" sz="1200" dirty="0">
                <a:solidFill>
                  <a:srgbClr val="FFFFFF"/>
                </a:solidFill>
                <a:latin typeface="Calibri" pitchFamily="34" charset="0"/>
                <a:ea typeface="Calibri" pitchFamily="34" charset="-122"/>
                <a:cs typeface="Calibri" pitchFamily="34" charset="-120"/>
              </a:rPr>
              <a:t>2.  Must include: the daily cost calculation, the inflation clock, and the lost incentive risk</a:t>
            </a:r>
            <a:endParaRPr lang="en-US" sz="1200" dirty="0"/>
          </a:p>
          <a:p>
            <a:pPr indent="0" marL="0">
              <a:spcAft>
                <a:spcPts val="800"/>
              </a:spcAft>
              <a:buNone/>
            </a:pPr>
            <a:r>
              <a:rPr lang="en-US" sz="1200" dirty="0">
                <a:solidFill>
                  <a:srgbClr val="FFFFFF"/>
                </a:solidFill>
                <a:latin typeface="Calibri" pitchFamily="34" charset="0"/>
                <a:ea typeface="Calibri" pitchFamily="34" charset="-122"/>
                <a:cs typeface="Calibri" pitchFamily="34" charset="-120"/>
              </a:rPr>
              <a:t>3.  Cannot use pressure language: no 'limited time,' no 'this offer expires,' no manufactured scarcity</a:t>
            </a:r>
            <a:endParaRPr lang="en-US" sz="1200" dirty="0"/>
          </a:p>
          <a:p>
            <a:pPr indent="0" marL="0">
              <a:spcAft>
                <a:spcPts val="800"/>
              </a:spcAft>
              <a:buNone/>
            </a:pPr>
            <a:r>
              <a:rPr lang="en-US" sz="1200" dirty="0">
                <a:solidFill>
                  <a:srgbClr val="FFFFFF"/>
                </a:solidFill>
                <a:latin typeface="Calibri" pitchFamily="34" charset="0"/>
                <a:ea typeface="Calibri" pitchFamily="34" charset="-122"/>
                <a:cs typeface="Calibri" pitchFamily="34" charset="-120"/>
              </a:rPr>
              <a:t>4.  Partner judges: Did this feel like information or pressure? Did it use the homeowner's actual bill number?</a:t>
            </a:r>
            <a:endParaRPr lang="en-US" sz="1200" dirty="0"/>
          </a:p>
          <a:p>
            <a:pPr indent="0" marL="0">
              <a:spcAft>
                <a:spcPts val="800"/>
              </a:spcAft>
              <a:buNone/>
            </a:pPr>
            <a:r>
              <a:rPr lang="en-US" sz="1200" dirty="0">
                <a:solidFill>
                  <a:srgbClr val="FFFFFF"/>
                </a:solidFill>
                <a:latin typeface="Calibri" pitchFamily="34" charset="0"/>
                <a:ea typeface="Calibri" pitchFamily="34" charset="-122"/>
                <a:cs typeface="Calibri" pitchFamily="34" charset="-120"/>
              </a:rPr>
              <a:t>5.  Deliverable: A recorded 2-minute audio response to 'We need to think about it' — submit for manager review</a:t>
            </a:r>
            <a:endParaRPr lang="en-US" sz="1200" dirty="0"/>
          </a:p>
        </p:txBody>
      </p:sp>
      <p:sp>
        <p:nvSpPr>
          <p:cNvPr id="8" name="Shape 6"/>
          <p:cNvSpPr/>
          <p:nvPr/>
        </p:nvSpPr>
        <p:spPr>
          <a:xfrm>
            <a:off x="7132320" y="1755648"/>
            <a:ext cx="1737360" cy="914400"/>
          </a:xfrm>
          <a:prstGeom prst="rect">
            <a:avLst/>
          </a:prstGeom>
          <a:solidFill>
            <a:srgbClr val="F4A61D"/>
          </a:solidFill>
          <a:ln w="12700">
            <a:solidFill>
              <a:srgbClr val="F4A61D"/>
            </a:solidFill>
            <a:prstDash val="solid"/>
          </a:ln>
          <a:effectLst>
            <a:outerShdw sx="100000" sy="100000" kx="0" ky="0" algn="bl" rotWithShape="0" blurRad="101600" dist="38100" dir="8100000">
              <a:srgbClr val="000000">
                <a:alpha val="20000"/>
              </a:srgbClr>
            </a:outerShdw>
          </a:effectLst>
        </p:spPr>
      </p:sp>
      <p:sp>
        <p:nvSpPr>
          <p:cNvPr id="9" name="Text 7"/>
          <p:cNvSpPr/>
          <p:nvPr/>
        </p:nvSpPr>
        <p:spPr>
          <a:xfrm>
            <a:off x="7150608" y="1773936"/>
            <a:ext cx="1691640" cy="877824"/>
          </a:xfrm>
          <a:prstGeom prst="rect">
            <a:avLst/>
          </a:prstGeom>
          <a:noFill/>
          <a:ln/>
        </p:spPr>
        <p:txBody>
          <a:bodyPr wrap="square" lIns="0" tIns="0" rIns="0" bIns="0" rtlCol="0" anchor="ctr"/>
          <a:lstStyle/>
          <a:p>
            <a:pPr algn="ctr" indent="0" marL="0">
              <a:buNone/>
            </a:pPr>
            <a:r>
              <a:rPr lang="en-US" sz="1400" b="1" dirty="0">
                <a:solidFill>
                  <a:srgbClr val="0D1B2A"/>
                </a:solidFill>
                <a:latin typeface="Arial Black" pitchFamily="34" charset="0"/>
                <a:ea typeface="Arial Black" pitchFamily="34" charset="-122"/>
                <a:cs typeface="Arial Black" pitchFamily="34" charset="-120"/>
              </a:rPr>
              <a:t>30 MIN</a:t>
            </a:r>
            <a:endParaRPr lang="en-US" sz="14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9144000" cy="1691640"/>
          </a:xfrm>
          <a:prstGeom prst="rect">
            <a:avLst/>
          </a:prstGeom>
          <a:solidFill>
            <a:srgbClr val="F4A61D"/>
          </a:solidFill>
          <a:ln w="12700">
            <a:solidFill>
              <a:srgbClr val="F4A61D"/>
            </a:solidFill>
            <a:prstDash val="solid"/>
          </a:ln>
        </p:spPr>
      </p:sp>
      <p:sp>
        <p:nvSpPr>
          <p:cNvPr id="3" name="Text 1"/>
          <p:cNvSpPr/>
          <p:nvPr/>
        </p:nvSpPr>
        <p:spPr>
          <a:xfrm>
            <a:off x="365760" y="137160"/>
            <a:ext cx="8412480" cy="420624"/>
          </a:xfrm>
          <a:prstGeom prst="rect">
            <a:avLst/>
          </a:prstGeom>
          <a:noFill/>
          <a:ln/>
        </p:spPr>
        <p:txBody>
          <a:bodyPr wrap="square" lIns="0" tIns="0" rIns="0" bIns="0" rtlCol="0" anchor="ctr"/>
          <a:lstStyle/>
          <a:p>
            <a:pPr algn="l" indent="0" marL="0">
              <a:buNone/>
            </a:pPr>
            <a:r>
              <a:rPr lang="en-US" sz="1300" b="1" spc="400" kern="0" dirty="0">
                <a:solidFill>
                  <a:srgbClr val="0D1B2A"/>
                </a:solidFill>
                <a:latin typeface="Arial Black" pitchFamily="34" charset="0"/>
                <a:ea typeface="Arial Black" pitchFamily="34" charset="-122"/>
                <a:cs typeface="Arial Black" pitchFamily="34" charset="-120"/>
              </a:rPr>
              <a:t>MODULE 6.5</a:t>
            </a:r>
            <a:endParaRPr lang="en-US" sz="1300" dirty="0"/>
          </a:p>
        </p:txBody>
      </p:sp>
      <p:sp>
        <p:nvSpPr>
          <p:cNvPr id="4" name="Text 2"/>
          <p:cNvSpPr/>
          <p:nvPr/>
        </p:nvSpPr>
        <p:spPr>
          <a:xfrm>
            <a:off x="365760" y="530352"/>
            <a:ext cx="8412480" cy="1005840"/>
          </a:xfrm>
          <a:prstGeom prst="rect">
            <a:avLst/>
          </a:prstGeom>
          <a:noFill/>
          <a:ln/>
        </p:spPr>
        <p:txBody>
          <a:bodyPr wrap="square" lIns="0" tIns="0" rIns="0" bIns="0" rtlCol="0" anchor="ctr"/>
          <a:lstStyle/>
          <a:p>
            <a:pPr algn="l" indent="0" marL="0">
              <a:buNone/>
            </a:pPr>
            <a:r>
              <a:rPr lang="en-US" sz="2500" b="1" dirty="0">
                <a:solidFill>
                  <a:srgbClr val="0D1B2A"/>
                </a:solidFill>
                <a:latin typeface="Arial Black" pitchFamily="34" charset="0"/>
                <a:ea typeface="Arial Black" pitchFamily="34" charset="-122"/>
                <a:cs typeface="Arial Black" pitchFamily="34" charset="-120"/>
              </a:rPr>
              <a:t>Defeating the 'More Quotes' Comparison</a:t>
            </a:r>
            <a:endParaRPr lang="en-US" sz="2500" dirty="0"/>
          </a:p>
        </p:txBody>
      </p:sp>
      <p:sp>
        <p:nvSpPr>
          <p:cNvPr id="5" name="Text 3"/>
          <p:cNvSpPr/>
          <p:nvPr/>
        </p:nvSpPr>
        <p:spPr>
          <a:xfrm>
            <a:off x="365760" y="1920240"/>
            <a:ext cx="8412480" cy="502920"/>
          </a:xfrm>
          <a:prstGeom prst="rect">
            <a:avLst/>
          </a:prstGeom>
          <a:noFill/>
          <a:ln/>
        </p:spPr>
        <p:txBody>
          <a:bodyPr wrap="square" lIns="0" tIns="0" rIns="0" bIns="0" rtlCol="0" anchor="ctr"/>
          <a:lstStyle/>
          <a:p>
            <a:pPr algn="l" indent="0" marL="0">
              <a:buNone/>
            </a:pPr>
            <a:r>
              <a:rPr lang="en-US" sz="1500" b="1" i="1" dirty="0">
                <a:solidFill>
                  <a:srgbClr val="F4A61D"/>
                </a:solidFill>
                <a:latin typeface="Calibri" pitchFamily="34" charset="0"/>
                <a:ea typeface="Calibri" pitchFamily="34" charset="-122"/>
                <a:cs typeface="Calibri" pitchFamily="34" charset="-120"/>
              </a:rPr>
              <a:t>Stop Being a Commodity. Start Being the Standard.</a:t>
            </a:r>
            <a:endParaRPr lang="en-US" sz="1500" dirty="0"/>
          </a:p>
        </p:txBody>
      </p:sp>
      <p:sp>
        <p:nvSpPr>
          <p:cNvPr id="6" name="Shape 4"/>
          <p:cNvSpPr/>
          <p:nvPr/>
        </p:nvSpPr>
        <p:spPr>
          <a:xfrm>
            <a:off x="365760" y="2606040"/>
            <a:ext cx="164592" cy="164592"/>
          </a:xfrm>
          <a:prstGeom prst="ellipse">
            <a:avLst/>
          </a:prstGeom>
          <a:solidFill>
            <a:srgbClr val="F4A61D">
              <a:alpha val="40000"/>
            </a:srgbClr>
          </a:solidFill>
          <a:ln w="12700">
            <a:solidFill>
              <a:srgbClr val="F4A61D">
                <a:alpha val="40000"/>
              </a:srgbClr>
            </a:solidFill>
            <a:prstDash val="solid"/>
          </a:ln>
        </p:spPr>
      </p:sp>
      <p:sp>
        <p:nvSpPr>
          <p:cNvPr id="7" name="Shape 5"/>
          <p:cNvSpPr/>
          <p:nvPr/>
        </p:nvSpPr>
        <p:spPr>
          <a:xfrm>
            <a:off x="685800" y="2606040"/>
            <a:ext cx="164592" cy="164592"/>
          </a:xfrm>
          <a:prstGeom prst="ellipse">
            <a:avLst/>
          </a:prstGeom>
          <a:solidFill>
            <a:srgbClr val="F4A61D">
              <a:alpha val="40000"/>
            </a:srgbClr>
          </a:solidFill>
          <a:ln w="12700">
            <a:solidFill>
              <a:srgbClr val="F4A61D">
                <a:alpha val="40000"/>
              </a:srgbClr>
            </a:solidFill>
            <a:prstDash val="solid"/>
          </a:ln>
        </p:spPr>
      </p:sp>
      <p:sp>
        <p:nvSpPr>
          <p:cNvPr id="8" name="Shape 6"/>
          <p:cNvSpPr/>
          <p:nvPr/>
        </p:nvSpPr>
        <p:spPr>
          <a:xfrm>
            <a:off x="1005840" y="2606040"/>
            <a:ext cx="164592" cy="164592"/>
          </a:xfrm>
          <a:prstGeom prst="ellipse">
            <a:avLst/>
          </a:prstGeom>
          <a:solidFill>
            <a:srgbClr val="F4A61D">
              <a:alpha val="40000"/>
            </a:srgbClr>
          </a:solidFill>
          <a:ln w="12700">
            <a:solidFill>
              <a:srgbClr val="F4A61D">
                <a:alpha val="40000"/>
              </a:srgbClr>
            </a:solidFill>
            <a:prstDash val="solid"/>
          </a:ln>
        </p:spPr>
      </p:sp>
      <p:sp>
        <p:nvSpPr>
          <p:cNvPr id="9" name="Shape 7"/>
          <p:cNvSpPr/>
          <p:nvPr/>
        </p:nvSpPr>
        <p:spPr>
          <a:xfrm>
            <a:off x="1325880" y="2606040"/>
            <a:ext cx="164592" cy="164592"/>
          </a:xfrm>
          <a:prstGeom prst="ellipse">
            <a:avLst/>
          </a:prstGeom>
          <a:solidFill>
            <a:srgbClr val="F4A61D">
              <a:alpha val="40000"/>
            </a:srgbClr>
          </a:solidFill>
          <a:ln w="12700">
            <a:solidFill>
              <a:srgbClr val="F4A61D">
                <a:alpha val="40000"/>
              </a:srgbClr>
            </a:solidFill>
            <a:prstDash val="solid"/>
          </a:ln>
        </p:spPr>
      </p:sp>
      <p:sp>
        <p:nvSpPr>
          <p:cNvPr id="10" name="Shape 8"/>
          <p:cNvSpPr/>
          <p:nvPr/>
        </p:nvSpPr>
        <p:spPr>
          <a:xfrm>
            <a:off x="1645920" y="2606040"/>
            <a:ext cx="164592" cy="164592"/>
          </a:xfrm>
          <a:prstGeom prst="ellipse">
            <a:avLst/>
          </a:prstGeom>
          <a:solidFill>
            <a:srgbClr val="F4A61D">
              <a:alpha val="40000"/>
            </a:srgbClr>
          </a:solidFill>
          <a:ln w="12700">
            <a:solidFill>
              <a:srgbClr val="F4A61D">
                <a:alpha val="40000"/>
              </a:srgbClr>
            </a:solidFill>
            <a:prstDash val="solid"/>
          </a:ln>
        </p:spPr>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4480560"/>
            <a:ext cx="9144000" cy="662940"/>
          </a:xfrm>
          <a:prstGeom prst="rect">
            <a:avLst/>
          </a:prstGeom>
          <a:solidFill>
            <a:srgbClr val="F4A61D"/>
          </a:solidFill>
          <a:ln w="12700">
            <a:solidFill>
              <a:srgbClr val="F4A61D"/>
            </a:solidFill>
            <a:prstDash val="solid"/>
          </a:ln>
        </p:spPr>
      </p:sp>
      <p:sp>
        <p:nvSpPr>
          <p:cNvPr id="3" name="Text 1"/>
          <p:cNvSpPr/>
          <p:nvPr/>
        </p:nvSpPr>
        <p:spPr>
          <a:xfrm>
            <a:off x="457200" y="1097280"/>
            <a:ext cx="8229600" cy="457200"/>
          </a:xfrm>
          <a:prstGeom prst="rect">
            <a:avLst/>
          </a:prstGeom>
          <a:noFill/>
          <a:ln/>
        </p:spPr>
        <p:txBody>
          <a:bodyPr wrap="square" lIns="0" tIns="0" rIns="0" bIns="0" rtlCol="0" anchor="ctr"/>
          <a:lstStyle/>
          <a:p>
            <a:pPr algn="l" indent="0" marL="0">
              <a:buNone/>
            </a:pPr>
            <a:r>
              <a:rPr lang="en-US" sz="1200" b="1" spc="500" kern="0" dirty="0">
                <a:solidFill>
                  <a:srgbClr val="F4A61D"/>
                </a:solidFill>
                <a:latin typeface="Arial" pitchFamily="34" charset="0"/>
                <a:ea typeface="Arial" pitchFamily="34" charset="-122"/>
                <a:cs typeface="Arial" pitchFamily="34" charset="-120"/>
              </a:rPr>
              <a:t>MODULE 6.5 — MORE QUOTES</a:t>
            </a:r>
            <a:endParaRPr lang="en-US" sz="1200" dirty="0"/>
          </a:p>
        </p:txBody>
      </p:sp>
      <p:sp>
        <p:nvSpPr>
          <p:cNvPr id="4" name="Text 2"/>
          <p:cNvSpPr/>
          <p:nvPr/>
        </p:nvSpPr>
        <p:spPr>
          <a:xfrm>
            <a:off x="457200" y="1536192"/>
            <a:ext cx="7772400" cy="1325880"/>
          </a:xfrm>
          <a:prstGeom prst="rect">
            <a:avLst/>
          </a:prstGeom>
          <a:noFill/>
          <a:ln/>
        </p:spPr>
        <p:txBody>
          <a:bodyPr wrap="square" lIns="0" tIns="0" rIns="0" bIns="0" rtlCol="0" anchor="ctr"/>
          <a:lstStyle/>
          <a:p>
            <a:pPr algn="l" indent="0" marL="0">
              <a:buNone/>
            </a:pPr>
            <a:r>
              <a:rPr lang="en-US" sz="3100" b="1" dirty="0">
                <a:solidFill>
                  <a:srgbClr val="FFFFFF"/>
                </a:solidFill>
                <a:latin typeface="Arial Black" pitchFamily="34" charset="0"/>
                <a:ea typeface="Arial Black" pitchFamily="34" charset="-122"/>
                <a:cs typeface="Arial Black" pitchFamily="34" charset="-120"/>
              </a:rPr>
              <a:t>The Buyer's Checklist: Setting the Rules of Engagement</a:t>
            </a:r>
            <a:endParaRPr lang="en-US" sz="3100" dirty="0"/>
          </a:p>
        </p:txBody>
      </p:sp>
      <p:sp>
        <p:nvSpPr>
          <p:cNvPr id="5" name="Text 3"/>
          <p:cNvSpPr/>
          <p:nvPr/>
        </p:nvSpPr>
        <p:spPr>
          <a:xfrm>
            <a:off x="457200" y="2971800"/>
            <a:ext cx="7772400" cy="1371600"/>
          </a:xfrm>
          <a:prstGeom prst="rect">
            <a:avLst/>
          </a:prstGeom>
          <a:noFill/>
          <a:ln/>
        </p:spPr>
        <p:txBody>
          <a:bodyPr wrap="square" lIns="0" tIns="0" rIns="0" bIns="0" rtlCol="0" anchor="ctr"/>
          <a:lstStyle/>
          <a:p>
            <a:pPr marL="342900" indent="-342900">
              <a:buSzPct val="100000"/>
              <a:buFont typeface="+mj-lt"/>
              <a:buAutoNum type="arabicPeriod" startAt="1"/>
            </a:pPr>
            <a:r>
              <a:rPr lang="en-US" sz="1300" dirty="0">
                <a:solidFill>
                  <a:srgbClr val="8FA3B1"/>
                </a:solidFill>
                <a:latin typeface="Calibri" pitchFamily="34" charset="0"/>
                <a:ea typeface="Calibri" pitchFamily="34" charset="-122"/>
                <a:cs typeface="Calibri" pitchFamily="34" charset="-120"/>
              </a:rPr>
              <a:t>The Comparison Standard: providing the criteria before they shop</a:t>
            </a:r>
            <a:endParaRPr lang="en-US" sz="1300" dirty="0"/>
          </a:p>
          <a:p>
            <a:pPr marL="342900" indent="-342900">
              <a:buSzPct val="100000"/>
              <a:buFont typeface="+mj-lt"/>
              <a:buAutoNum type="arabicPeriod" startAt="1"/>
            </a:pPr>
            <a:r>
              <a:rPr lang="en-US" sz="1300" dirty="0">
                <a:solidFill>
                  <a:srgbClr val="8FA3B1"/>
                </a:solidFill>
                <a:latin typeface="Calibri" pitchFamily="34" charset="0"/>
                <a:ea typeface="Calibri" pitchFamily="34" charset="-122"/>
                <a:cs typeface="Calibri" pitchFamily="34" charset="-120"/>
              </a:rPr>
              <a:t>The Value of Time frame: more quotes have a real, compounding cost</a:t>
            </a:r>
            <a:endParaRPr lang="en-US" sz="1300" dirty="0"/>
          </a:p>
          <a:p>
            <a:pPr marL="342900" indent="-342900">
              <a:buSzPct val="100000"/>
              <a:buFont typeface="+mj-lt"/>
              <a:buAutoNum type="arabicPeriod" startAt="1"/>
            </a:pPr>
            <a:r>
              <a:rPr lang="en-US" sz="1300" dirty="0">
                <a:solidFill>
                  <a:srgbClr val="8FA3B1"/>
                </a:solidFill>
                <a:latin typeface="Calibri" pitchFamily="34" charset="0"/>
                <a:ea typeface="Calibri" pitchFamily="34" charset="-122"/>
                <a:cs typeface="Calibri" pitchFamily="34" charset="-120"/>
              </a:rPr>
              <a:t>The Expert vs. The Bidder: service and certainty as the premium</a:t>
            </a:r>
            <a:endParaRPr lang="en-US" sz="1300" dirty="0"/>
          </a:p>
          <a:p>
            <a:pPr marL="342900" indent="-342900">
              <a:buSzPct val="100000"/>
              <a:buFont typeface="+mj-lt"/>
              <a:buAutoNum type="arabicPeriod" startAt="1"/>
            </a:pPr>
            <a:r>
              <a:rPr lang="en-US" sz="1300" dirty="0">
                <a:solidFill>
                  <a:srgbClr val="8FA3B1"/>
                </a:solidFill>
                <a:latin typeface="Calibri" pitchFamily="34" charset="0"/>
                <a:ea typeface="Calibri" pitchFamily="34" charset="-122"/>
                <a:cs typeface="Calibri" pitchFamily="34" charset="-120"/>
              </a:rPr>
              <a:t>Creating a homeowner checklist that happens to favor your offer</a:t>
            </a:r>
            <a:endParaRPr lang="en-US" sz="13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F4A61D"/>
          </a:solidFill>
          <a:ln w="12700">
            <a:solidFill>
              <a:srgbClr val="F4A61D"/>
            </a:solidFill>
            <a:prstDash val="solid"/>
          </a:ln>
        </p:spPr>
      </p:sp>
      <p:sp>
        <p:nvSpPr>
          <p:cNvPr id="3" name="Text 1"/>
          <p:cNvSpPr/>
          <p:nvPr/>
        </p:nvSpPr>
        <p:spPr>
          <a:xfrm>
            <a:off x="274320" y="164592"/>
            <a:ext cx="8503920" cy="594360"/>
          </a:xfrm>
          <a:prstGeom prst="rect">
            <a:avLst/>
          </a:prstGeom>
          <a:noFill/>
          <a:ln/>
        </p:spPr>
        <p:txBody>
          <a:bodyPr wrap="square" lIns="0" tIns="0" rIns="0" bIns="0" rtlCol="0" anchor="ctr"/>
          <a:lstStyle/>
          <a:p>
            <a:pPr algn="l" indent="0" marL="0">
              <a:buNone/>
            </a:pPr>
            <a:r>
              <a:rPr lang="en-US" sz="2000" b="1" dirty="0">
                <a:solidFill>
                  <a:srgbClr val="F4A61D"/>
                </a:solidFill>
                <a:latin typeface="Arial Black" pitchFamily="34" charset="0"/>
                <a:ea typeface="Arial Black" pitchFamily="34" charset="-122"/>
                <a:cs typeface="Arial Black" pitchFamily="34" charset="-120"/>
              </a:rPr>
              <a:t>The Comparison Standard: Control the Criteria</a:t>
            </a:r>
            <a:endParaRPr lang="en-US" sz="2000" dirty="0"/>
          </a:p>
        </p:txBody>
      </p:sp>
      <p:sp>
        <p:nvSpPr>
          <p:cNvPr id="4" name="Shape 2"/>
          <p:cNvSpPr/>
          <p:nvPr/>
        </p:nvSpPr>
        <p:spPr>
          <a:xfrm>
            <a:off x="274320" y="777240"/>
            <a:ext cx="8503920" cy="27432"/>
          </a:xfrm>
          <a:prstGeom prst="rect">
            <a:avLst/>
          </a:prstGeom>
          <a:solidFill>
            <a:srgbClr val="F4A61D">
              <a:alpha val="40000"/>
            </a:srgbClr>
          </a:solidFill>
          <a:ln w="12700">
            <a:solidFill>
              <a:srgbClr val="F4A61D">
                <a:alpha val="40000"/>
              </a:srgbClr>
            </a:solidFill>
            <a:prstDash val="solid"/>
          </a:ln>
        </p:spPr>
      </p:sp>
      <p:sp>
        <p:nvSpPr>
          <p:cNvPr id="5" name="Text 3"/>
          <p:cNvSpPr/>
          <p:nvPr/>
        </p:nvSpPr>
        <p:spPr>
          <a:xfrm>
            <a:off x="274320" y="914400"/>
            <a:ext cx="8503920" cy="1444752"/>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rgbClr val="FFFFFF"/>
                </a:solidFill>
                <a:latin typeface="Calibri" pitchFamily="34" charset="0"/>
                <a:ea typeface="Calibri" pitchFamily="34" charset="-122"/>
                <a:cs typeface="Calibri" pitchFamily="34" charset="-120"/>
              </a:rPr>
              <a:t>Before they can meaningfully compare, help them understand what they should be comparing</a:t>
            </a:r>
            <a:endParaRPr lang="en-US" sz="1300" dirty="0"/>
          </a:p>
          <a:p>
            <a:pPr marL="342900" indent="-342900">
              <a:spcAft>
                <a:spcPts val="600"/>
              </a:spcAft>
              <a:buSzPct val="100000"/>
              <a:buChar char="•"/>
            </a:pPr>
            <a:r>
              <a:rPr lang="en-US" sz="1300" dirty="0">
                <a:solidFill>
                  <a:srgbClr val="FFFFFF"/>
                </a:solidFill>
                <a:latin typeface="Calibri" pitchFamily="34" charset="0"/>
                <a:ea typeface="Calibri" pitchFamily="34" charset="-122"/>
                <a:cs typeface="Calibri" pitchFamily="34" charset="-120"/>
              </a:rPr>
              <a:t>Give them a 'Solar Buyer's Checklist' — 5 questions every homeowner should ask every company</a:t>
            </a:r>
            <a:endParaRPr lang="en-US" sz="1300" dirty="0"/>
          </a:p>
          <a:p>
            <a:pPr marL="342900" indent="-342900">
              <a:spcAft>
                <a:spcPts val="600"/>
              </a:spcAft>
              <a:buSzPct val="100000"/>
              <a:buChar char="•"/>
            </a:pPr>
            <a:r>
              <a:rPr lang="en-US" sz="1300" dirty="0">
                <a:solidFill>
                  <a:srgbClr val="FFFFFF"/>
                </a:solidFill>
                <a:latin typeface="Calibri" pitchFamily="34" charset="0"/>
                <a:ea typeface="Calibri" pitchFamily="34" charset="-122"/>
                <a:cs typeface="Calibri" pitchFamily="34" charset="-120"/>
              </a:rPr>
              <a:t>Design the checklist to highlight your company's actual strengths (workmanship warranty, monitoring, roof penetration coverage)</a:t>
            </a:r>
            <a:endParaRPr lang="en-US" sz="1300" dirty="0"/>
          </a:p>
          <a:p>
            <a:pPr marL="342900" indent="-342900">
              <a:spcAft>
                <a:spcPts val="600"/>
              </a:spcAft>
              <a:buSzPct val="100000"/>
              <a:buChar char="•"/>
            </a:pPr>
            <a:r>
              <a:rPr lang="en-US" sz="1300" dirty="0">
                <a:solidFill>
                  <a:srgbClr val="FFFFFF"/>
                </a:solidFill>
                <a:latin typeface="Calibri" pitchFamily="34" charset="0"/>
                <a:ea typeface="Calibri" pitchFamily="34" charset="-122"/>
                <a:cs typeface="Calibri" pitchFamily="34" charset="-120"/>
              </a:rPr>
              <a:t>Offer to help them evaluate other quotes when they come in: 'I'll even help you compare — I have nothing to hide'</a:t>
            </a:r>
            <a:endParaRPr lang="en-US" sz="1300" dirty="0"/>
          </a:p>
        </p:txBody>
      </p:sp>
      <p:sp>
        <p:nvSpPr>
          <p:cNvPr id="6" name="Shape 4"/>
          <p:cNvSpPr/>
          <p:nvPr/>
        </p:nvSpPr>
        <p:spPr>
          <a:xfrm>
            <a:off x="274320" y="2468880"/>
            <a:ext cx="8503920" cy="1874520"/>
          </a:xfrm>
          <a:prstGeom prst="rect">
            <a:avLst/>
          </a:prstGeom>
          <a:solidFill>
            <a:srgbClr val="1A2840"/>
          </a:solidFill>
          <a:ln w="19050">
            <a:solidFill>
              <a:srgbClr val="0891B2"/>
            </a:solidFill>
            <a:prstDash val="solid"/>
          </a:ln>
          <a:effectLst>
            <a:outerShdw sx="100000" sy="100000" kx="0" ky="0" algn="bl" rotWithShape="0" blurRad="101600" dist="38100" dir="8100000">
              <a:srgbClr val="000000">
                <a:alpha val="20000"/>
              </a:srgbClr>
            </a:outerShdw>
          </a:effectLst>
        </p:spPr>
      </p:sp>
      <p:sp>
        <p:nvSpPr>
          <p:cNvPr id="7" name="Shape 5"/>
          <p:cNvSpPr/>
          <p:nvPr/>
        </p:nvSpPr>
        <p:spPr>
          <a:xfrm>
            <a:off x="274320" y="2468880"/>
            <a:ext cx="1097280" cy="347472"/>
          </a:xfrm>
          <a:prstGeom prst="rect">
            <a:avLst/>
          </a:prstGeom>
          <a:solidFill>
            <a:srgbClr val="0891B2"/>
          </a:solidFill>
          <a:ln w="12700">
            <a:solidFill>
              <a:srgbClr val="0891B2"/>
            </a:solidFill>
            <a:prstDash val="solid"/>
          </a:ln>
        </p:spPr>
      </p:sp>
      <p:sp>
        <p:nvSpPr>
          <p:cNvPr id="8" name="Text 6"/>
          <p:cNvSpPr/>
          <p:nvPr/>
        </p:nvSpPr>
        <p:spPr>
          <a:xfrm>
            <a:off x="292608" y="2487168"/>
            <a:ext cx="1051560" cy="310896"/>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Arial Black" pitchFamily="34" charset="0"/>
                <a:ea typeface="Arial Black" pitchFamily="34" charset="-122"/>
                <a:cs typeface="Arial Black" pitchFamily="34" charset="-120"/>
              </a:rPr>
              <a:t>DIALOGUE</a:t>
            </a:r>
            <a:endParaRPr lang="en-US" sz="900" dirty="0"/>
          </a:p>
        </p:txBody>
      </p:sp>
      <p:sp>
        <p:nvSpPr>
          <p:cNvPr id="9" name="Text 7"/>
          <p:cNvSpPr/>
          <p:nvPr/>
        </p:nvSpPr>
        <p:spPr>
          <a:xfrm>
            <a:off x="411480" y="2926080"/>
            <a:ext cx="8275320" cy="1325880"/>
          </a:xfrm>
          <a:prstGeom prst="rect">
            <a:avLst/>
          </a:prstGeom>
          <a:noFill/>
          <a:ln/>
        </p:spPr>
        <p:txBody>
          <a:bodyPr wrap="square" lIns="0" tIns="0" rIns="0" bIns="0" rtlCol="0" anchor="t"/>
          <a:lstStyle/>
          <a:p>
            <a:pPr indent="0" marL="0">
              <a:buNone/>
            </a:pPr>
            <a:r>
              <a:rPr lang="en-US" sz="1100" b="1" dirty="0">
                <a:solidFill>
                  <a:srgbClr val="F4A61D"/>
                </a:solidFill>
                <a:latin typeface="Calibri" pitchFamily="34" charset="0"/>
                <a:ea typeface="Calibri" pitchFamily="34" charset="-122"/>
                <a:cs typeface="Calibri" pitchFamily="34" charset="-120"/>
              </a:rPr>
              <a:t>Rep:</a:t>
            </a:r>
            <a:endParaRPr lang="en-US" sz="1100" dirty="0"/>
          </a:p>
          <a:p>
            <a:pPr indent="0" marL="0">
              <a:buNone/>
            </a:pPr>
            <a:r>
              <a:rPr lang="en-US" sz="1100" dirty="0">
                <a:solidFill>
                  <a:srgbClr val="FFFFFF"/>
                </a:solidFill>
                <a:latin typeface="Calibri" pitchFamily="34" charset="0"/>
                <a:ea typeface="Calibri" pitchFamily="34" charset="-122"/>
                <a:cs typeface="Calibri" pitchFamily="34" charset="-120"/>
              </a:rPr>
              <a:t>I completely support you getting other quotes. Before you do, I want to give you something that will make that process a lot more useful. Here are the 5 things that actually separate a quality solar installation from a cheap one. When you get other quotes, use this — and I promise it'll make the comparison easier.</a:t>
            </a:r>
            <a:endParaRPr lang="en-US" sz="1100" dirty="0"/>
          </a:p>
          <a:p>
            <a:pPr indent="0" marL="0">
              <a:buNone/>
            </a:pPr>
            <a:r>
              <a:rPr lang="en-US" sz="1100" b="1" dirty="0">
                <a:solidFill>
                  <a:srgbClr val="F4A61D"/>
                </a:solidFill>
                <a:latin typeface="Calibri" pitchFamily="34" charset="0"/>
                <a:ea typeface="Calibri" pitchFamily="34" charset="-122"/>
                <a:cs typeface="Calibri" pitchFamily="34" charset="-120"/>
              </a:rPr>
              <a:t>Homeowner:</a:t>
            </a:r>
            <a:endParaRPr lang="en-US" sz="1100" dirty="0"/>
          </a:p>
          <a:p>
            <a:pPr indent="0" marL="0">
              <a:buNone/>
            </a:pPr>
            <a:r>
              <a:rPr lang="en-US" sz="1100" dirty="0">
                <a:solidFill>
                  <a:srgbClr val="FFFFFF"/>
                </a:solidFill>
                <a:latin typeface="Calibri" pitchFamily="34" charset="0"/>
                <a:ea typeface="Calibri" pitchFamily="34" charset="-122"/>
                <a:cs typeface="Calibri" pitchFamily="34" charset="-120"/>
              </a:rPr>
              <a:t>Oh. I hadn't thought about asking for all of this.</a:t>
            </a:r>
            <a:endParaRPr lang="en-US" sz="1100" dirty="0"/>
          </a:p>
          <a:p>
            <a:pPr indent="0" marL="0">
              <a:buNone/>
            </a:pPr>
            <a:r>
              <a:rPr lang="en-US" sz="1100" b="1" dirty="0">
                <a:solidFill>
                  <a:srgbClr val="F4A61D"/>
                </a:solidFill>
                <a:latin typeface="Calibri" pitchFamily="34" charset="0"/>
                <a:ea typeface="Calibri" pitchFamily="34" charset="-122"/>
                <a:cs typeface="Calibri" pitchFamily="34" charset="-120"/>
              </a:rPr>
              <a:t>Rep:</a:t>
            </a:r>
            <a:endParaRPr lang="en-US" sz="1100" dirty="0"/>
          </a:p>
          <a:p>
            <a:pPr indent="0" marL="0">
              <a:buNone/>
            </a:pPr>
            <a:r>
              <a:rPr lang="en-US" sz="1100" dirty="0">
                <a:solidFill>
                  <a:srgbClr val="FFFFFF"/>
                </a:solidFill>
                <a:latin typeface="Calibri" pitchFamily="34" charset="0"/>
                <a:ea typeface="Calibri" pitchFamily="34" charset="-122"/>
                <a:cs typeface="Calibri" pitchFamily="34" charset="-120"/>
              </a:rPr>
              <a:t>Most people don't. That's exactly how the cheap guys get in the door.</a:t>
            </a:r>
            <a:endParaRPr lang="en-US" sz="1100" dirty="0"/>
          </a:p>
        </p:txBody>
      </p:sp>
      <p:sp>
        <p:nvSpPr>
          <p:cNvPr id="10" name="Shape 8"/>
          <p:cNvSpPr/>
          <p:nvPr/>
        </p:nvSpPr>
        <p:spPr>
          <a:xfrm>
            <a:off x="0" y="4663440"/>
            <a:ext cx="9144000" cy="480060"/>
          </a:xfrm>
          <a:prstGeom prst="rect">
            <a:avLst/>
          </a:prstGeom>
          <a:solidFill>
            <a:srgbClr val="E07B39">
              <a:alpha val="15000"/>
            </a:srgbClr>
          </a:solidFill>
          <a:ln w="12700">
            <a:solidFill>
              <a:srgbClr val="E07B39">
                <a:alpha val="15000"/>
              </a:srgbClr>
            </a:solidFill>
            <a:prstDash val="solid"/>
          </a:ln>
        </p:spPr>
      </p:sp>
      <p:sp>
        <p:nvSpPr>
          <p:cNvPr id="11" name="Text 9"/>
          <p:cNvSpPr/>
          <p:nvPr/>
        </p:nvSpPr>
        <p:spPr>
          <a:xfrm>
            <a:off x="274320" y="4690872"/>
            <a:ext cx="8686800" cy="384048"/>
          </a:xfrm>
          <a:prstGeom prst="rect">
            <a:avLst/>
          </a:prstGeom>
          <a:noFill/>
          <a:ln/>
        </p:spPr>
        <p:txBody>
          <a:bodyPr wrap="square" lIns="0" tIns="0" rIns="0" bIns="0" rtlCol="0" anchor="ctr"/>
          <a:lstStyle/>
          <a:p>
            <a:pPr algn="l" indent="0" marL="0">
              <a:buNone/>
            </a:pPr>
            <a:r>
              <a:rPr lang="en-US" sz="900" i="1" dirty="0">
                <a:solidFill>
                  <a:srgbClr val="E07B39"/>
                </a:solidFill>
                <a:latin typeface="Calibri" pitchFamily="34" charset="0"/>
                <a:ea typeface="Calibri" pitchFamily="34" charset="-122"/>
                <a:cs typeface="Calibri" pitchFamily="34" charset="-120"/>
              </a:rPr>
              <a:t>📋 TRAINER NOTE: The rep who provides the comparison framework becomes the trusted advisor, not just another bidder. When the homeowner evaluates competitors through YOUR criteria, your offer wins almost by definition — as long as your criteria are genuinely relevant.</a:t>
            </a:r>
            <a:endParaRPr lang="en-US" sz="9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F4A61D"/>
          </a:solidFill>
          <a:ln w="12700">
            <a:solidFill>
              <a:srgbClr val="F4A61D"/>
            </a:solidFill>
            <a:prstDash val="solid"/>
          </a:ln>
        </p:spPr>
      </p:sp>
      <p:sp>
        <p:nvSpPr>
          <p:cNvPr id="3" name="Text 1"/>
          <p:cNvSpPr/>
          <p:nvPr/>
        </p:nvSpPr>
        <p:spPr>
          <a:xfrm>
            <a:off x="274320" y="164592"/>
            <a:ext cx="8503920" cy="594360"/>
          </a:xfrm>
          <a:prstGeom prst="rect">
            <a:avLst/>
          </a:prstGeom>
          <a:noFill/>
          <a:ln/>
        </p:spPr>
        <p:txBody>
          <a:bodyPr wrap="square" lIns="0" tIns="0" rIns="0" bIns="0" rtlCol="0" anchor="ctr"/>
          <a:lstStyle/>
          <a:p>
            <a:pPr algn="l" indent="0" marL="0">
              <a:buNone/>
            </a:pPr>
            <a:r>
              <a:rPr lang="en-US" sz="2000" b="1" dirty="0">
                <a:solidFill>
                  <a:srgbClr val="F4A61D"/>
                </a:solidFill>
                <a:latin typeface="Arial Black" pitchFamily="34" charset="0"/>
                <a:ea typeface="Arial Black" pitchFamily="34" charset="-122"/>
                <a:cs typeface="Arial Black" pitchFamily="34" charset="-120"/>
              </a:rPr>
              <a:t>The 5-Point Solar Buyer's Checklist</a:t>
            </a:r>
            <a:endParaRPr lang="en-US" sz="2000" dirty="0"/>
          </a:p>
        </p:txBody>
      </p:sp>
      <p:sp>
        <p:nvSpPr>
          <p:cNvPr id="4" name="Shape 2"/>
          <p:cNvSpPr/>
          <p:nvPr/>
        </p:nvSpPr>
        <p:spPr>
          <a:xfrm>
            <a:off x="274320" y="777240"/>
            <a:ext cx="8503920" cy="27432"/>
          </a:xfrm>
          <a:prstGeom prst="rect">
            <a:avLst/>
          </a:prstGeom>
          <a:solidFill>
            <a:srgbClr val="F4A61D">
              <a:alpha val="40000"/>
            </a:srgbClr>
          </a:solidFill>
          <a:ln w="12700">
            <a:solidFill>
              <a:srgbClr val="F4A61D">
                <a:alpha val="40000"/>
              </a:srgbClr>
            </a:solidFill>
            <a:prstDash val="solid"/>
          </a:ln>
        </p:spPr>
      </p:sp>
      <p:sp>
        <p:nvSpPr>
          <p:cNvPr id="5" name="Text 3"/>
          <p:cNvSpPr/>
          <p:nvPr/>
        </p:nvSpPr>
        <p:spPr>
          <a:xfrm>
            <a:off x="274320" y="914400"/>
            <a:ext cx="8503920" cy="2267712"/>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rgbClr val="FFFFFF"/>
                </a:solidFill>
                <a:latin typeface="Calibri" pitchFamily="34" charset="0"/>
                <a:ea typeface="Calibri" pitchFamily="34" charset="-122"/>
                <a:cs typeface="Calibri" pitchFamily="34" charset="-120"/>
              </a:rPr>
              <a:t>1. Workmanship Warranty: How many years? Does it cover roof penetration damage specifically?</a:t>
            </a:r>
            <a:endParaRPr lang="en-US" sz="1300" dirty="0"/>
          </a:p>
          <a:p>
            <a:pPr marL="342900" indent="-342900">
              <a:spcAft>
                <a:spcPts val="600"/>
              </a:spcAft>
              <a:buSzPct val="100000"/>
              <a:buChar char="•"/>
            </a:pPr>
            <a:r>
              <a:rPr lang="en-US" sz="1300" dirty="0">
                <a:solidFill>
                  <a:srgbClr val="FFFFFF"/>
                </a:solidFill>
                <a:latin typeface="Calibri" pitchFamily="34" charset="0"/>
                <a:ea typeface="Calibri" pitchFamily="34" charset="-122"/>
                <a:cs typeface="Calibri" pitchFamily="34" charset="-120"/>
              </a:rPr>
              <a:t>2. Post-Install Monitoring: Who monitors the system performance? Is it included in the price or an add-on?</a:t>
            </a:r>
            <a:endParaRPr lang="en-US" sz="1300" dirty="0"/>
          </a:p>
          <a:p>
            <a:pPr marL="342900" indent="-342900">
              <a:spcAft>
                <a:spcPts val="600"/>
              </a:spcAft>
              <a:buSzPct val="100000"/>
              <a:buChar char="•"/>
            </a:pPr>
            <a:r>
              <a:rPr lang="en-US" sz="1300" dirty="0">
                <a:solidFill>
                  <a:srgbClr val="FFFFFF"/>
                </a:solidFill>
                <a:latin typeface="Calibri" pitchFamily="34" charset="0"/>
                <a:ea typeface="Calibri" pitchFamily="34" charset="-122"/>
                <a:cs typeface="Calibri" pitchFamily="34" charset="-120"/>
              </a:rPr>
              <a:t>3. Manufacturer vs. Installer Warranty: If the installer goes out of business, who backs the product warranty?</a:t>
            </a:r>
            <a:endParaRPr lang="en-US" sz="1300" dirty="0"/>
          </a:p>
          <a:p>
            <a:pPr marL="342900" indent="-342900">
              <a:spcAft>
                <a:spcPts val="600"/>
              </a:spcAft>
              <a:buSzPct val="100000"/>
              <a:buChar char="•"/>
            </a:pPr>
            <a:r>
              <a:rPr lang="en-US" sz="1300" dirty="0">
                <a:solidFill>
                  <a:srgbClr val="FFFFFF"/>
                </a:solidFill>
                <a:latin typeface="Calibri" pitchFamily="34" charset="0"/>
                <a:ea typeface="Calibri" pitchFamily="34" charset="-122"/>
                <a:cs typeface="Calibri" pitchFamily="34" charset="-120"/>
              </a:rPr>
              <a:t>4. Production Guarantee: Is there a guaranteed annual output in kWh — or just an estimate?</a:t>
            </a:r>
            <a:endParaRPr lang="en-US" sz="1300" dirty="0"/>
          </a:p>
          <a:p>
            <a:pPr marL="342900" indent="-342900">
              <a:spcAft>
                <a:spcPts val="600"/>
              </a:spcAft>
              <a:buSzPct val="100000"/>
              <a:buChar char="•"/>
            </a:pPr>
            <a:r>
              <a:rPr lang="en-US" sz="1300" dirty="0">
                <a:solidFill>
                  <a:srgbClr val="FFFFFF"/>
                </a:solidFill>
                <a:latin typeface="Calibri" pitchFamily="34" charset="0"/>
                <a:ea typeface="Calibri" pitchFamily="34" charset="-122"/>
                <a:cs typeface="Calibri" pitchFamily="34" charset="-120"/>
              </a:rPr>
              <a:t>5. Emergency Response Time: If a panel fails or the system goes down, what is the guaranteed response time?</a:t>
            </a:r>
            <a:endParaRPr lang="en-US" sz="1300" dirty="0"/>
          </a:p>
        </p:txBody>
      </p:sp>
      <p:sp>
        <p:nvSpPr>
          <p:cNvPr id="6" name="Shape 4"/>
          <p:cNvSpPr/>
          <p:nvPr/>
        </p:nvSpPr>
        <p:spPr>
          <a:xfrm>
            <a:off x="0" y="4663440"/>
            <a:ext cx="9144000" cy="480060"/>
          </a:xfrm>
          <a:prstGeom prst="rect">
            <a:avLst/>
          </a:prstGeom>
          <a:solidFill>
            <a:srgbClr val="E07B39">
              <a:alpha val="15000"/>
            </a:srgbClr>
          </a:solidFill>
          <a:ln w="12700">
            <a:solidFill>
              <a:srgbClr val="E07B39">
                <a:alpha val="15000"/>
              </a:srgbClr>
            </a:solidFill>
            <a:prstDash val="solid"/>
          </a:ln>
        </p:spPr>
      </p:sp>
      <p:sp>
        <p:nvSpPr>
          <p:cNvPr id="7" name="Text 5"/>
          <p:cNvSpPr/>
          <p:nvPr/>
        </p:nvSpPr>
        <p:spPr>
          <a:xfrm>
            <a:off x="274320" y="4690872"/>
            <a:ext cx="8686800" cy="384048"/>
          </a:xfrm>
          <a:prstGeom prst="rect">
            <a:avLst/>
          </a:prstGeom>
          <a:noFill/>
          <a:ln/>
        </p:spPr>
        <p:txBody>
          <a:bodyPr wrap="square" lIns="0" tIns="0" rIns="0" bIns="0" rtlCol="0" anchor="ctr"/>
          <a:lstStyle/>
          <a:p>
            <a:pPr algn="l" indent="0" marL="0">
              <a:buNone/>
            </a:pPr>
            <a:r>
              <a:rPr lang="en-US" sz="900" i="1" dirty="0">
                <a:solidFill>
                  <a:srgbClr val="E07B39"/>
                </a:solidFill>
                <a:latin typeface="Calibri" pitchFamily="34" charset="0"/>
                <a:ea typeface="Calibri" pitchFamily="34" charset="-122"/>
                <a:cs typeface="Calibri" pitchFamily="34" charset="-120"/>
              </a:rPr>
              <a:t>📋 TRAINER NOTE: Laminate this checklist and give it to every homeowner who says they want more quotes. The questions are calibrated to expose the weaknesses of budget competitors. When they come back from 3 other quotes, they'll have the answers — and yours will compare favorably.</a:t>
            </a:r>
            <a:endParaRPr lang="en-US" sz="9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F4A61D"/>
          </a:solidFill>
          <a:ln w="12700">
            <a:solidFill>
              <a:srgbClr val="F4A61D"/>
            </a:solidFill>
            <a:prstDash val="solid"/>
          </a:ln>
        </p:spPr>
      </p:sp>
      <p:sp>
        <p:nvSpPr>
          <p:cNvPr id="3" name="Text 1"/>
          <p:cNvSpPr/>
          <p:nvPr/>
        </p:nvSpPr>
        <p:spPr>
          <a:xfrm>
            <a:off x="274320" y="164592"/>
            <a:ext cx="8503920" cy="594360"/>
          </a:xfrm>
          <a:prstGeom prst="rect">
            <a:avLst/>
          </a:prstGeom>
          <a:noFill/>
          <a:ln/>
        </p:spPr>
        <p:txBody>
          <a:bodyPr wrap="square" lIns="0" tIns="0" rIns="0" bIns="0" rtlCol="0" anchor="ctr"/>
          <a:lstStyle/>
          <a:p>
            <a:pPr algn="l" indent="0" marL="0">
              <a:buNone/>
            </a:pPr>
            <a:r>
              <a:rPr lang="en-US" sz="2000" b="1" dirty="0">
                <a:solidFill>
                  <a:srgbClr val="F4A61D"/>
                </a:solidFill>
                <a:latin typeface="Arial Black" pitchFamily="34" charset="0"/>
                <a:ea typeface="Arial Black" pitchFamily="34" charset="-122"/>
                <a:cs typeface="Arial Black" pitchFamily="34" charset="-120"/>
              </a:rPr>
              <a:t>The Value of Time Frame: More Quotes Have a Real Cost</a:t>
            </a:r>
            <a:endParaRPr lang="en-US" sz="2000" dirty="0"/>
          </a:p>
        </p:txBody>
      </p:sp>
      <p:sp>
        <p:nvSpPr>
          <p:cNvPr id="4" name="Shape 2"/>
          <p:cNvSpPr/>
          <p:nvPr/>
        </p:nvSpPr>
        <p:spPr>
          <a:xfrm>
            <a:off x="274320" y="777240"/>
            <a:ext cx="8503920" cy="27432"/>
          </a:xfrm>
          <a:prstGeom prst="rect">
            <a:avLst/>
          </a:prstGeom>
          <a:solidFill>
            <a:srgbClr val="F4A61D">
              <a:alpha val="40000"/>
            </a:srgbClr>
          </a:solidFill>
          <a:ln w="12700">
            <a:solidFill>
              <a:srgbClr val="F4A61D">
                <a:alpha val="40000"/>
              </a:srgbClr>
            </a:solidFill>
            <a:prstDash val="solid"/>
          </a:ln>
        </p:spPr>
      </p:sp>
      <p:sp>
        <p:nvSpPr>
          <p:cNvPr id="5" name="Text 3"/>
          <p:cNvSpPr/>
          <p:nvPr/>
        </p:nvSpPr>
        <p:spPr>
          <a:xfrm>
            <a:off x="274320" y="914400"/>
            <a:ext cx="8503920" cy="2267712"/>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rgbClr val="FFFFFF"/>
                </a:solidFill>
                <a:latin typeface="Calibri" pitchFamily="34" charset="0"/>
                <a:ea typeface="Calibri" pitchFamily="34" charset="-122"/>
                <a:cs typeface="Calibri" pitchFamily="34" charset="-120"/>
              </a:rPr>
              <a:t>'How many hours of your time are you willing to spend to potentially save $5 a month?'</a:t>
            </a:r>
            <a:endParaRPr lang="en-US" sz="1300" dirty="0"/>
          </a:p>
          <a:p>
            <a:pPr marL="342900" indent="-342900">
              <a:spcAft>
                <a:spcPts val="600"/>
              </a:spcAft>
              <a:buSzPct val="100000"/>
              <a:buChar char="•"/>
            </a:pPr>
            <a:r>
              <a:rPr lang="en-US" sz="1300" dirty="0">
                <a:solidFill>
                  <a:srgbClr val="FFFFFF"/>
                </a:solidFill>
                <a:latin typeface="Calibri" pitchFamily="34" charset="0"/>
                <a:ea typeface="Calibri" pitchFamily="34" charset="-122"/>
                <a:cs typeface="Calibri" pitchFamily="34" charset="-120"/>
              </a:rPr>
              <a:t>Getting 3 quotes takes: 3 evenings of appointments (6+ hours) + research time + comparison time</a:t>
            </a:r>
            <a:endParaRPr lang="en-US" sz="1300" dirty="0"/>
          </a:p>
          <a:p>
            <a:pPr marL="342900" indent="-342900">
              <a:spcAft>
                <a:spcPts val="600"/>
              </a:spcAft>
              <a:buSzPct val="100000"/>
              <a:buChar char="•"/>
            </a:pPr>
            <a:r>
              <a:rPr lang="en-US" sz="1300" dirty="0">
                <a:solidFill>
                  <a:srgbClr val="FFFFFF"/>
                </a:solidFill>
                <a:latin typeface="Calibri" pitchFamily="34" charset="0"/>
                <a:ea typeface="Calibri" pitchFamily="34" charset="-122"/>
                <a:cs typeface="Calibri" pitchFamily="34" charset="-120"/>
              </a:rPr>
              <a:t>'Meanwhile, your utility bill is running at $280 a month — and every week of comparison shopping is another week of no savings'</a:t>
            </a:r>
            <a:endParaRPr lang="en-US" sz="1300" dirty="0"/>
          </a:p>
          <a:p>
            <a:pPr marL="342900" indent="-342900">
              <a:spcAft>
                <a:spcPts val="600"/>
              </a:spcAft>
              <a:buSzPct val="100000"/>
              <a:buChar char="•"/>
            </a:pPr>
            <a:r>
              <a:rPr lang="en-US" sz="1300" dirty="0">
                <a:solidFill>
                  <a:srgbClr val="FFFFFF"/>
                </a:solidFill>
                <a:latin typeface="Calibri" pitchFamily="34" charset="0"/>
                <a:ea typeface="Calibri" pitchFamily="34" charset="-122"/>
                <a:cs typeface="Calibri" pitchFamily="34" charset="-120"/>
              </a:rPr>
              <a:t>The Incentive Clock: 'Net metering changes and tax credits don't announce when they're changing — they just change'</a:t>
            </a:r>
            <a:endParaRPr lang="en-US" sz="1300" dirty="0"/>
          </a:p>
        </p:txBody>
      </p:sp>
      <p:sp>
        <p:nvSpPr>
          <p:cNvPr id="6" name="Shape 4"/>
          <p:cNvSpPr/>
          <p:nvPr/>
        </p:nvSpPr>
        <p:spPr>
          <a:xfrm>
            <a:off x="0" y="4663440"/>
            <a:ext cx="9144000" cy="480060"/>
          </a:xfrm>
          <a:prstGeom prst="rect">
            <a:avLst/>
          </a:prstGeom>
          <a:solidFill>
            <a:srgbClr val="E07B39">
              <a:alpha val="15000"/>
            </a:srgbClr>
          </a:solidFill>
          <a:ln w="12700">
            <a:solidFill>
              <a:srgbClr val="E07B39">
                <a:alpha val="15000"/>
              </a:srgbClr>
            </a:solidFill>
            <a:prstDash val="solid"/>
          </a:ln>
        </p:spPr>
      </p:sp>
      <p:sp>
        <p:nvSpPr>
          <p:cNvPr id="7" name="Text 5"/>
          <p:cNvSpPr/>
          <p:nvPr/>
        </p:nvSpPr>
        <p:spPr>
          <a:xfrm>
            <a:off x="274320" y="4690872"/>
            <a:ext cx="8686800" cy="384048"/>
          </a:xfrm>
          <a:prstGeom prst="rect">
            <a:avLst/>
          </a:prstGeom>
          <a:noFill/>
          <a:ln/>
        </p:spPr>
        <p:txBody>
          <a:bodyPr wrap="square" lIns="0" tIns="0" rIns="0" bIns="0" rtlCol="0" anchor="ctr"/>
          <a:lstStyle/>
          <a:p>
            <a:pPr algn="l" indent="0" marL="0">
              <a:buNone/>
            </a:pPr>
            <a:r>
              <a:rPr lang="en-US" sz="900" i="1" dirty="0">
                <a:solidFill>
                  <a:srgbClr val="E07B39"/>
                </a:solidFill>
                <a:latin typeface="Calibri" pitchFamily="34" charset="0"/>
                <a:ea typeface="Calibri" pitchFamily="34" charset="-122"/>
                <a:cs typeface="Calibri" pitchFamily="34" charset="-120"/>
              </a:rPr>
              <a:t>📋 TRAINER NOTE: Use this frame only with genuine conviction — if there are real incentive windows closing, say so. If not, stick to the time-cost argument. Manufactured incentive urgency destroys trust the moment the homeowner discovers it was false.</a:t>
            </a:r>
            <a:endParaRPr lang="en-US" sz="9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E07B39"/>
          </a:solidFill>
          <a:ln w="12700">
            <a:solidFill>
              <a:srgbClr val="E07B39"/>
            </a:solidFill>
            <a:prstDash val="solid"/>
          </a:ln>
        </p:spPr>
      </p:sp>
      <p:sp>
        <p:nvSpPr>
          <p:cNvPr id="3" name="Text 1"/>
          <p:cNvSpPr/>
          <p:nvPr/>
        </p:nvSpPr>
        <p:spPr>
          <a:xfrm>
            <a:off x="365760" y="73152"/>
            <a:ext cx="3657600" cy="365760"/>
          </a:xfrm>
          <a:prstGeom prst="rect">
            <a:avLst/>
          </a:prstGeom>
          <a:noFill/>
          <a:ln/>
        </p:spPr>
        <p:txBody>
          <a:bodyPr wrap="square" lIns="0" tIns="0" rIns="0" bIns="0" rtlCol="0" anchor="ctr"/>
          <a:lstStyle/>
          <a:p>
            <a:pPr algn="l" indent="0" marL="0">
              <a:buNone/>
            </a:pPr>
            <a:r>
              <a:rPr lang="en-US" sz="1200" b="1" spc="300" kern="0" dirty="0">
                <a:solidFill>
                  <a:srgbClr val="0D1B2A"/>
                </a:solidFill>
                <a:latin typeface="Arial Black" pitchFamily="34" charset="0"/>
                <a:ea typeface="Arial Black" pitchFamily="34" charset="-122"/>
                <a:cs typeface="Arial Black" pitchFamily="34" charset="-120"/>
              </a:rPr>
              <a:t>🎯  ACTIVITY</a:t>
            </a:r>
            <a:endParaRPr lang="en-US" sz="1200" dirty="0"/>
          </a:p>
        </p:txBody>
      </p:sp>
      <p:sp>
        <p:nvSpPr>
          <p:cNvPr id="4" name="Text 2"/>
          <p:cNvSpPr/>
          <p:nvPr/>
        </p:nvSpPr>
        <p:spPr>
          <a:xfrm>
            <a:off x="365760" y="457200"/>
            <a:ext cx="8412480" cy="457200"/>
          </a:xfrm>
          <a:prstGeom prst="rect">
            <a:avLst/>
          </a:prstGeom>
          <a:noFill/>
          <a:ln/>
        </p:spPr>
        <p:txBody>
          <a:bodyPr wrap="square" lIns="0" tIns="0" rIns="0" bIns="0" rtlCol="0" anchor="ctr"/>
          <a:lstStyle/>
          <a:p>
            <a:pPr algn="l" indent="0" marL="0">
              <a:buNone/>
            </a:pPr>
            <a:r>
              <a:rPr lang="en-US" sz="1700" b="1" dirty="0">
                <a:solidFill>
                  <a:srgbClr val="0D1B2A"/>
                </a:solidFill>
                <a:latin typeface="Arial Black" pitchFamily="34" charset="0"/>
                <a:ea typeface="Arial Black" pitchFamily="34" charset="-122"/>
                <a:cs typeface="Arial Black" pitchFamily="34" charset="-120"/>
              </a:rPr>
              <a:t>Activity: The Checklist Creation Exercise</a:t>
            </a:r>
            <a:endParaRPr lang="en-US" sz="1700" dirty="0"/>
          </a:p>
        </p:txBody>
      </p:sp>
      <p:sp>
        <p:nvSpPr>
          <p:cNvPr id="5" name="Shape 3"/>
          <p:cNvSpPr/>
          <p:nvPr/>
        </p:nvSpPr>
        <p:spPr>
          <a:xfrm>
            <a:off x="274320" y="1143000"/>
            <a:ext cx="8595360" cy="475488"/>
          </a:xfrm>
          <a:prstGeom prst="rect">
            <a:avLst/>
          </a:prstGeom>
          <a:solidFill>
            <a:srgbClr val="1A2840"/>
          </a:solidFill>
          <a:ln w="12700">
            <a:solidFill>
              <a:srgbClr val="0891B2"/>
            </a:solidFill>
            <a:prstDash val="solid"/>
          </a:ln>
          <a:effectLst>
            <a:outerShdw sx="100000" sy="100000" kx="0" ky="0" algn="bl" rotWithShape="0" blurRad="101600" dist="38100" dir="8100000">
              <a:srgbClr val="000000">
                <a:alpha val="20000"/>
              </a:srgbClr>
            </a:outerShdw>
          </a:effectLst>
        </p:spPr>
      </p:sp>
      <p:sp>
        <p:nvSpPr>
          <p:cNvPr id="6" name="Text 4"/>
          <p:cNvSpPr/>
          <p:nvPr/>
        </p:nvSpPr>
        <p:spPr>
          <a:xfrm>
            <a:off x="411480" y="1170432"/>
            <a:ext cx="8321040" cy="420624"/>
          </a:xfrm>
          <a:prstGeom prst="rect">
            <a:avLst/>
          </a:prstGeom>
          <a:noFill/>
          <a:ln/>
        </p:spPr>
        <p:txBody>
          <a:bodyPr wrap="square" lIns="0" tIns="0" rIns="0" bIns="0" rtlCol="0" anchor="ctr"/>
          <a:lstStyle/>
          <a:p>
            <a:pPr algn="l" indent="0" marL="0">
              <a:buNone/>
            </a:pPr>
            <a:r>
              <a:rPr lang="en-US" sz="1100" b="1" i="1" dirty="0">
                <a:solidFill>
                  <a:srgbClr val="0891B2"/>
                </a:solidFill>
                <a:latin typeface="Calibri" pitchFamily="34" charset="0"/>
                <a:ea typeface="Calibri" pitchFamily="34" charset="-122"/>
                <a:cs typeface="Calibri" pitchFamily="34" charset="-120"/>
              </a:rPr>
              <a:t>OBJECTIVE: Build a homeowner-facing comparison checklist that positions your company as the benchmark</a:t>
            </a:r>
            <a:endParaRPr lang="en-US" sz="1100" dirty="0"/>
          </a:p>
        </p:txBody>
      </p:sp>
      <p:sp>
        <p:nvSpPr>
          <p:cNvPr id="7" name="Text 5"/>
          <p:cNvSpPr/>
          <p:nvPr/>
        </p:nvSpPr>
        <p:spPr>
          <a:xfrm>
            <a:off x="365760" y="1755648"/>
            <a:ext cx="6858000" cy="2834640"/>
          </a:xfrm>
          <a:prstGeom prst="rect">
            <a:avLst/>
          </a:prstGeom>
          <a:noFill/>
          <a:ln/>
        </p:spPr>
        <p:txBody>
          <a:bodyPr wrap="square" lIns="0" tIns="0" rIns="0" bIns="0" rtlCol="0" anchor="t"/>
          <a:lstStyle/>
          <a:p>
            <a:pPr indent="0" marL="0">
              <a:spcAft>
                <a:spcPts val="800"/>
              </a:spcAft>
              <a:buNone/>
            </a:pPr>
            <a:r>
              <a:rPr lang="en-US" sz="1200" dirty="0">
                <a:solidFill>
                  <a:srgbClr val="FFFFFF"/>
                </a:solidFill>
                <a:latin typeface="Calibri" pitchFamily="34" charset="0"/>
                <a:ea typeface="Calibri" pitchFamily="34" charset="-122"/>
                <a:cs typeface="Calibri" pitchFamily="34" charset="-120"/>
              </a:rPr>
              <a:t>1.  Each rep creates a 5-point 'Solar Buyer's Checklist' using their company's real strengths</a:t>
            </a:r>
            <a:endParaRPr lang="en-US" sz="1200" dirty="0"/>
          </a:p>
          <a:p>
            <a:pPr indent="0" marL="0">
              <a:spcAft>
                <a:spcPts val="800"/>
              </a:spcAft>
              <a:buNone/>
            </a:pPr>
            <a:r>
              <a:rPr lang="en-US" sz="1200" dirty="0">
                <a:solidFill>
                  <a:srgbClr val="FFFFFF"/>
                </a:solidFill>
                <a:latin typeface="Calibri" pitchFamily="34" charset="0"/>
                <a:ea typeface="Calibri" pitchFamily="34" charset="-122"/>
                <a:cs typeface="Calibri" pitchFamily="34" charset="-120"/>
              </a:rPr>
              <a:t>2.  Each point must be phrased as a question the homeowner asks the competitor — not a statement about your company</a:t>
            </a:r>
            <a:endParaRPr lang="en-US" sz="1200" dirty="0"/>
          </a:p>
          <a:p>
            <a:pPr indent="0" marL="0">
              <a:spcAft>
                <a:spcPts val="800"/>
              </a:spcAft>
              <a:buNone/>
            </a:pPr>
            <a:r>
              <a:rPr lang="en-US" sz="1200" dirty="0">
                <a:solidFill>
                  <a:srgbClr val="FFFFFF"/>
                </a:solidFill>
                <a:latin typeface="Calibri" pitchFamily="34" charset="0"/>
                <a:ea typeface="Calibri" pitchFamily="34" charset="-122"/>
                <a:cs typeface="Calibri" pitchFamily="34" charset="-120"/>
              </a:rPr>
              <a:t>3.  Test: If a competitor answered all 5 questions as well as your company does, would you still win? If not, revise.</a:t>
            </a:r>
            <a:endParaRPr lang="en-US" sz="1200" dirty="0"/>
          </a:p>
          <a:p>
            <a:pPr indent="0" marL="0">
              <a:spcAft>
                <a:spcPts val="800"/>
              </a:spcAft>
              <a:buNone/>
            </a:pPr>
            <a:r>
              <a:rPr lang="en-US" sz="1200" dirty="0">
                <a:solidFill>
                  <a:srgbClr val="FFFFFF"/>
                </a:solidFill>
                <a:latin typeface="Calibri" pitchFamily="34" charset="0"/>
                <a:ea typeface="Calibri" pitchFamily="34" charset="-122"/>
                <a:cs typeface="Calibri" pitchFamily="34" charset="-120"/>
              </a:rPr>
              <a:t>4.  Role-play: Deliver the checklist to a partner playing a homeowner who wants 3 more quotes</a:t>
            </a:r>
            <a:endParaRPr lang="en-US" sz="1200" dirty="0"/>
          </a:p>
          <a:p>
            <a:pPr indent="0" marL="0">
              <a:spcAft>
                <a:spcPts val="800"/>
              </a:spcAft>
              <a:buNone/>
            </a:pPr>
            <a:r>
              <a:rPr lang="en-US" sz="1200" dirty="0">
                <a:solidFill>
                  <a:srgbClr val="FFFFFF"/>
                </a:solidFill>
                <a:latin typeface="Calibri" pitchFamily="34" charset="0"/>
                <a:ea typeface="Calibri" pitchFamily="34" charset="-122"/>
                <a:cs typeface="Calibri" pitchFamily="34" charset="-120"/>
              </a:rPr>
              <a:t>5.  Deliverable: A personalized 'Why Us' comparison sheet for the field folder</a:t>
            </a:r>
            <a:endParaRPr lang="en-US" sz="1200" dirty="0"/>
          </a:p>
        </p:txBody>
      </p:sp>
      <p:sp>
        <p:nvSpPr>
          <p:cNvPr id="8" name="Shape 6"/>
          <p:cNvSpPr/>
          <p:nvPr/>
        </p:nvSpPr>
        <p:spPr>
          <a:xfrm>
            <a:off x="7132320" y="1755648"/>
            <a:ext cx="1737360" cy="914400"/>
          </a:xfrm>
          <a:prstGeom prst="rect">
            <a:avLst/>
          </a:prstGeom>
          <a:solidFill>
            <a:srgbClr val="F4A61D"/>
          </a:solidFill>
          <a:ln w="12700">
            <a:solidFill>
              <a:srgbClr val="F4A61D"/>
            </a:solidFill>
            <a:prstDash val="solid"/>
          </a:ln>
          <a:effectLst>
            <a:outerShdw sx="100000" sy="100000" kx="0" ky="0" algn="bl" rotWithShape="0" blurRad="101600" dist="38100" dir="8100000">
              <a:srgbClr val="000000">
                <a:alpha val="20000"/>
              </a:srgbClr>
            </a:outerShdw>
          </a:effectLst>
        </p:spPr>
      </p:sp>
      <p:sp>
        <p:nvSpPr>
          <p:cNvPr id="9" name="Text 7"/>
          <p:cNvSpPr/>
          <p:nvPr/>
        </p:nvSpPr>
        <p:spPr>
          <a:xfrm>
            <a:off x="7150608" y="1773936"/>
            <a:ext cx="1691640" cy="877824"/>
          </a:xfrm>
          <a:prstGeom prst="rect">
            <a:avLst/>
          </a:prstGeom>
          <a:noFill/>
          <a:ln/>
        </p:spPr>
        <p:txBody>
          <a:bodyPr wrap="square" lIns="0" tIns="0" rIns="0" bIns="0" rtlCol="0" anchor="ctr"/>
          <a:lstStyle/>
          <a:p>
            <a:pPr algn="ctr" indent="0" marL="0">
              <a:buNone/>
            </a:pPr>
            <a:r>
              <a:rPr lang="en-US" sz="1400" b="1" dirty="0">
                <a:solidFill>
                  <a:srgbClr val="0D1B2A"/>
                </a:solidFill>
                <a:latin typeface="Arial Black" pitchFamily="34" charset="0"/>
                <a:ea typeface="Arial Black" pitchFamily="34" charset="-122"/>
                <a:cs typeface="Arial Black" pitchFamily="34" charset="-120"/>
              </a:rPr>
              <a:t>25 MIN</a:t>
            </a:r>
            <a:endParaRPr lang="en-US" sz="14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9144000" cy="1691640"/>
          </a:xfrm>
          <a:prstGeom prst="rect">
            <a:avLst/>
          </a:prstGeom>
          <a:solidFill>
            <a:srgbClr val="F4A61D"/>
          </a:solidFill>
          <a:ln w="12700">
            <a:solidFill>
              <a:srgbClr val="F4A61D"/>
            </a:solidFill>
            <a:prstDash val="solid"/>
          </a:ln>
        </p:spPr>
      </p:sp>
      <p:sp>
        <p:nvSpPr>
          <p:cNvPr id="3" name="Text 1"/>
          <p:cNvSpPr/>
          <p:nvPr/>
        </p:nvSpPr>
        <p:spPr>
          <a:xfrm>
            <a:off x="365760" y="137160"/>
            <a:ext cx="8412480" cy="420624"/>
          </a:xfrm>
          <a:prstGeom prst="rect">
            <a:avLst/>
          </a:prstGeom>
          <a:noFill/>
          <a:ln/>
        </p:spPr>
        <p:txBody>
          <a:bodyPr wrap="square" lIns="0" tIns="0" rIns="0" bIns="0" rtlCol="0" anchor="ctr"/>
          <a:lstStyle/>
          <a:p>
            <a:pPr algn="l" indent="0" marL="0">
              <a:buNone/>
            </a:pPr>
            <a:r>
              <a:rPr lang="en-US" sz="1300" b="1" spc="400" kern="0" dirty="0">
                <a:solidFill>
                  <a:srgbClr val="0D1B2A"/>
                </a:solidFill>
                <a:latin typeface="Arial Black" pitchFamily="34" charset="0"/>
                <a:ea typeface="Arial Black" pitchFamily="34" charset="-122"/>
                <a:cs typeface="Arial Black" pitchFamily="34" charset="-120"/>
              </a:rPr>
              <a:t>MODULE 6.6</a:t>
            </a:r>
            <a:endParaRPr lang="en-US" sz="1300" dirty="0"/>
          </a:p>
        </p:txBody>
      </p:sp>
      <p:sp>
        <p:nvSpPr>
          <p:cNvPr id="4" name="Text 2"/>
          <p:cNvSpPr/>
          <p:nvPr/>
        </p:nvSpPr>
        <p:spPr>
          <a:xfrm>
            <a:off x="365760" y="530352"/>
            <a:ext cx="8412480" cy="1005840"/>
          </a:xfrm>
          <a:prstGeom prst="rect">
            <a:avLst/>
          </a:prstGeom>
          <a:noFill/>
          <a:ln/>
        </p:spPr>
        <p:txBody>
          <a:bodyPr wrap="square" lIns="0" tIns="0" rIns="0" bIns="0" rtlCol="0" anchor="ctr"/>
          <a:lstStyle/>
          <a:p>
            <a:pPr algn="l" indent="0" marL="0">
              <a:buNone/>
            </a:pPr>
            <a:r>
              <a:rPr lang="en-US" sz="2500" b="1" dirty="0">
                <a:solidFill>
                  <a:srgbClr val="0D1B2A"/>
                </a:solidFill>
                <a:latin typeface="Arial Black" pitchFamily="34" charset="0"/>
                <a:ea typeface="Arial Black" pitchFamily="34" charset="-122"/>
                <a:cs typeface="Arial Black" pitchFamily="34" charset="-120"/>
              </a:rPr>
              <a:t>Taming the 'Analytical Owl'</a:t>
            </a:r>
            <a:endParaRPr lang="en-US" sz="2500" dirty="0"/>
          </a:p>
        </p:txBody>
      </p:sp>
      <p:sp>
        <p:nvSpPr>
          <p:cNvPr id="5" name="Text 3"/>
          <p:cNvSpPr/>
          <p:nvPr/>
        </p:nvSpPr>
        <p:spPr>
          <a:xfrm>
            <a:off x="365760" y="1920240"/>
            <a:ext cx="8412480" cy="502920"/>
          </a:xfrm>
          <a:prstGeom prst="rect">
            <a:avLst/>
          </a:prstGeom>
          <a:noFill/>
          <a:ln/>
        </p:spPr>
        <p:txBody>
          <a:bodyPr wrap="square" lIns="0" tIns="0" rIns="0" bIns="0" rtlCol="0" anchor="ctr"/>
          <a:lstStyle/>
          <a:p>
            <a:pPr algn="l" indent="0" marL="0">
              <a:buNone/>
            </a:pPr>
            <a:r>
              <a:rPr lang="en-US" sz="1500" b="1" i="1" dirty="0">
                <a:solidFill>
                  <a:srgbClr val="F4A61D"/>
                </a:solidFill>
                <a:latin typeface="Calibri" pitchFamily="34" charset="0"/>
                <a:ea typeface="Calibri" pitchFamily="34" charset="-122"/>
                <a:cs typeface="Calibri" pitchFamily="34" charset="-120"/>
              </a:rPr>
              <a:t>From Spreadsheets to Signatures</a:t>
            </a:r>
            <a:endParaRPr lang="en-US" sz="1500" dirty="0"/>
          </a:p>
        </p:txBody>
      </p:sp>
      <p:sp>
        <p:nvSpPr>
          <p:cNvPr id="6" name="Shape 4"/>
          <p:cNvSpPr/>
          <p:nvPr/>
        </p:nvSpPr>
        <p:spPr>
          <a:xfrm>
            <a:off x="365760" y="2606040"/>
            <a:ext cx="164592" cy="164592"/>
          </a:xfrm>
          <a:prstGeom prst="ellipse">
            <a:avLst/>
          </a:prstGeom>
          <a:solidFill>
            <a:srgbClr val="F4A61D">
              <a:alpha val="40000"/>
            </a:srgbClr>
          </a:solidFill>
          <a:ln w="12700">
            <a:solidFill>
              <a:srgbClr val="F4A61D">
                <a:alpha val="40000"/>
              </a:srgbClr>
            </a:solidFill>
            <a:prstDash val="solid"/>
          </a:ln>
        </p:spPr>
      </p:sp>
      <p:sp>
        <p:nvSpPr>
          <p:cNvPr id="7" name="Shape 5"/>
          <p:cNvSpPr/>
          <p:nvPr/>
        </p:nvSpPr>
        <p:spPr>
          <a:xfrm>
            <a:off x="685800" y="2606040"/>
            <a:ext cx="164592" cy="164592"/>
          </a:xfrm>
          <a:prstGeom prst="ellipse">
            <a:avLst/>
          </a:prstGeom>
          <a:solidFill>
            <a:srgbClr val="F4A61D">
              <a:alpha val="40000"/>
            </a:srgbClr>
          </a:solidFill>
          <a:ln w="12700">
            <a:solidFill>
              <a:srgbClr val="F4A61D">
                <a:alpha val="40000"/>
              </a:srgbClr>
            </a:solidFill>
            <a:prstDash val="solid"/>
          </a:ln>
        </p:spPr>
      </p:sp>
      <p:sp>
        <p:nvSpPr>
          <p:cNvPr id="8" name="Shape 6"/>
          <p:cNvSpPr/>
          <p:nvPr/>
        </p:nvSpPr>
        <p:spPr>
          <a:xfrm>
            <a:off x="1005840" y="2606040"/>
            <a:ext cx="164592" cy="164592"/>
          </a:xfrm>
          <a:prstGeom prst="ellipse">
            <a:avLst/>
          </a:prstGeom>
          <a:solidFill>
            <a:srgbClr val="F4A61D">
              <a:alpha val="40000"/>
            </a:srgbClr>
          </a:solidFill>
          <a:ln w="12700">
            <a:solidFill>
              <a:srgbClr val="F4A61D">
                <a:alpha val="40000"/>
              </a:srgbClr>
            </a:solidFill>
            <a:prstDash val="solid"/>
          </a:ln>
        </p:spPr>
      </p:sp>
      <p:sp>
        <p:nvSpPr>
          <p:cNvPr id="9" name="Shape 7"/>
          <p:cNvSpPr/>
          <p:nvPr/>
        </p:nvSpPr>
        <p:spPr>
          <a:xfrm>
            <a:off x="1325880" y="2606040"/>
            <a:ext cx="164592" cy="164592"/>
          </a:xfrm>
          <a:prstGeom prst="ellipse">
            <a:avLst/>
          </a:prstGeom>
          <a:solidFill>
            <a:srgbClr val="F4A61D">
              <a:alpha val="40000"/>
            </a:srgbClr>
          </a:solidFill>
          <a:ln w="12700">
            <a:solidFill>
              <a:srgbClr val="F4A61D">
                <a:alpha val="40000"/>
              </a:srgbClr>
            </a:solidFill>
            <a:prstDash val="solid"/>
          </a:ln>
        </p:spPr>
      </p:sp>
      <p:sp>
        <p:nvSpPr>
          <p:cNvPr id="10" name="Shape 8"/>
          <p:cNvSpPr/>
          <p:nvPr/>
        </p:nvSpPr>
        <p:spPr>
          <a:xfrm>
            <a:off x="1645920" y="2606040"/>
            <a:ext cx="164592" cy="164592"/>
          </a:xfrm>
          <a:prstGeom prst="ellipse">
            <a:avLst/>
          </a:prstGeom>
          <a:solidFill>
            <a:srgbClr val="F4A61D">
              <a:alpha val="40000"/>
            </a:srgbClr>
          </a:solidFill>
          <a:ln w="12700">
            <a:solidFill>
              <a:srgbClr val="F4A61D">
                <a:alpha val="40000"/>
              </a:srgbClr>
            </a:solidFill>
            <a:prstDash val="solid"/>
          </a:ln>
        </p:spPr>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4480560"/>
            <a:ext cx="9144000" cy="662940"/>
          </a:xfrm>
          <a:prstGeom prst="rect">
            <a:avLst/>
          </a:prstGeom>
          <a:solidFill>
            <a:srgbClr val="F4A61D"/>
          </a:solidFill>
          <a:ln w="12700">
            <a:solidFill>
              <a:srgbClr val="F4A61D"/>
            </a:solidFill>
            <a:prstDash val="solid"/>
          </a:ln>
        </p:spPr>
      </p:sp>
      <p:sp>
        <p:nvSpPr>
          <p:cNvPr id="3" name="Text 1"/>
          <p:cNvSpPr/>
          <p:nvPr/>
        </p:nvSpPr>
        <p:spPr>
          <a:xfrm>
            <a:off x="457200" y="1097280"/>
            <a:ext cx="8229600" cy="457200"/>
          </a:xfrm>
          <a:prstGeom prst="rect">
            <a:avLst/>
          </a:prstGeom>
          <a:noFill/>
          <a:ln/>
        </p:spPr>
        <p:txBody>
          <a:bodyPr wrap="square" lIns="0" tIns="0" rIns="0" bIns="0" rtlCol="0" anchor="ctr"/>
          <a:lstStyle/>
          <a:p>
            <a:pPr algn="l" indent="0" marL="0">
              <a:buNone/>
            </a:pPr>
            <a:r>
              <a:rPr lang="en-US" sz="1200" b="1" spc="500" kern="0" dirty="0">
                <a:solidFill>
                  <a:srgbClr val="F4A61D"/>
                </a:solidFill>
                <a:latin typeface="Arial" pitchFamily="34" charset="0"/>
                <a:ea typeface="Arial" pitchFamily="34" charset="-122"/>
                <a:cs typeface="Arial" pitchFamily="34" charset="-120"/>
              </a:rPr>
              <a:t>MODULE 6.6 — THE ANALYTICAL OWL</a:t>
            </a:r>
            <a:endParaRPr lang="en-US" sz="1200" dirty="0"/>
          </a:p>
        </p:txBody>
      </p:sp>
      <p:sp>
        <p:nvSpPr>
          <p:cNvPr id="4" name="Text 2"/>
          <p:cNvSpPr/>
          <p:nvPr/>
        </p:nvSpPr>
        <p:spPr>
          <a:xfrm>
            <a:off x="457200" y="1536192"/>
            <a:ext cx="7772400" cy="1325880"/>
          </a:xfrm>
          <a:prstGeom prst="rect">
            <a:avLst/>
          </a:prstGeom>
          <a:noFill/>
          <a:ln/>
        </p:spPr>
        <p:txBody>
          <a:bodyPr wrap="square" lIns="0" tIns="0" rIns="0" bIns="0" rtlCol="0" anchor="ctr"/>
          <a:lstStyle/>
          <a:p>
            <a:pPr algn="l" indent="0" marL="0">
              <a:buNone/>
            </a:pPr>
            <a:r>
              <a:rPr lang="en-US" sz="3100" b="1" dirty="0">
                <a:solidFill>
                  <a:srgbClr val="FFFFFF"/>
                </a:solidFill>
                <a:latin typeface="Arial Black" pitchFamily="34" charset="0"/>
                <a:ea typeface="Arial Black" pitchFamily="34" charset="-122"/>
                <a:cs typeface="Arial Black" pitchFamily="34" charset="-120"/>
              </a:rPr>
              <a:t>Feed the Data Hunger Without Drowning in It</a:t>
            </a:r>
            <a:endParaRPr lang="en-US" sz="3100" dirty="0"/>
          </a:p>
        </p:txBody>
      </p:sp>
      <p:sp>
        <p:nvSpPr>
          <p:cNvPr id="5" name="Text 3"/>
          <p:cNvSpPr/>
          <p:nvPr/>
        </p:nvSpPr>
        <p:spPr>
          <a:xfrm>
            <a:off x="457200" y="2971800"/>
            <a:ext cx="7772400" cy="1371600"/>
          </a:xfrm>
          <a:prstGeom prst="rect">
            <a:avLst/>
          </a:prstGeom>
          <a:noFill/>
          <a:ln/>
        </p:spPr>
        <p:txBody>
          <a:bodyPr wrap="square" lIns="0" tIns="0" rIns="0" bIns="0" rtlCol="0" anchor="ctr"/>
          <a:lstStyle/>
          <a:p>
            <a:pPr marL="342900" indent="-342900">
              <a:buSzPct val="100000"/>
              <a:buFont typeface="+mj-lt"/>
              <a:buAutoNum type="arabicPeriod" startAt="1"/>
            </a:pPr>
            <a:r>
              <a:rPr lang="en-US" sz="1300" dirty="0">
                <a:solidFill>
                  <a:srgbClr val="8FA3B1"/>
                </a:solidFill>
                <a:latin typeface="Calibri" pitchFamily="34" charset="0"/>
                <a:ea typeface="Calibri" pitchFamily="34" charset="-122"/>
                <a:cs typeface="Calibri" pitchFamily="34" charset="-120"/>
              </a:rPr>
              <a:t>Feeding the Owl with limits: satisfying the analytical need without enabling infinite questions</a:t>
            </a:r>
            <a:endParaRPr lang="en-US" sz="1300" dirty="0"/>
          </a:p>
          <a:p>
            <a:pPr marL="342900" indent="-342900">
              <a:buSzPct val="100000"/>
              <a:buFont typeface="+mj-lt"/>
              <a:buAutoNum type="arabicPeriod" startAt="1"/>
            </a:pPr>
            <a:r>
              <a:rPr lang="en-US" sz="1300" dirty="0">
                <a:solidFill>
                  <a:srgbClr val="8FA3B1"/>
                </a:solidFill>
                <a:latin typeface="Calibri" pitchFamily="34" charset="0"/>
                <a:ea typeface="Calibri" pitchFamily="34" charset="-122"/>
                <a:cs typeface="Calibri" pitchFamily="34" charset="-120"/>
              </a:rPr>
              <a:t>The Decision Criteria Agreement: locking the question set before the deep dive</a:t>
            </a:r>
            <a:endParaRPr lang="en-US" sz="1300" dirty="0"/>
          </a:p>
          <a:p>
            <a:pPr marL="342900" indent="-342900">
              <a:buSzPct val="100000"/>
              <a:buFont typeface="+mj-lt"/>
              <a:buAutoNum type="arabicPeriod" startAt="1"/>
            </a:pPr>
            <a:r>
              <a:rPr lang="en-US" sz="1300" dirty="0">
                <a:solidFill>
                  <a:srgbClr val="8FA3B1"/>
                </a:solidFill>
                <a:latin typeface="Calibri" pitchFamily="34" charset="0"/>
                <a:ea typeface="Calibri" pitchFamily="34" charset="-122"/>
                <a:cs typeface="Calibri" pitchFamily="34" charset="-120"/>
              </a:rPr>
              <a:t>The Bottom Line pivot: every technical answer ends in a financial outcome</a:t>
            </a:r>
            <a:endParaRPr lang="en-US" sz="1300" dirty="0"/>
          </a:p>
          <a:p>
            <a:pPr marL="342900" indent="-342900">
              <a:buSzPct val="100000"/>
              <a:buFont typeface="+mj-lt"/>
              <a:buAutoNum type="arabicPeriod" startAt="1"/>
            </a:pPr>
            <a:r>
              <a:rPr lang="en-US" sz="1300" dirty="0">
                <a:solidFill>
                  <a:srgbClr val="8FA3B1"/>
                </a:solidFill>
                <a:latin typeface="Calibri" pitchFamily="34" charset="0"/>
                <a:ea typeface="Calibri" pitchFamily="34" charset="-122"/>
                <a:cs typeface="Calibri" pitchFamily="34" charset="-120"/>
              </a:rPr>
              <a:t>The Tech-to-Cash drill: 45 seconds from spec to dollar impact</a:t>
            </a:r>
            <a:endParaRPr lang="en-US" sz="13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F4A61D"/>
          </a:solidFill>
          <a:ln w="12700">
            <a:solidFill>
              <a:srgbClr val="F4A61D"/>
            </a:solidFill>
            <a:prstDash val="solid"/>
          </a:ln>
        </p:spPr>
      </p:sp>
      <p:sp>
        <p:nvSpPr>
          <p:cNvPr id="3" name="Text 1"/>
          <p:cNvSpPr/>
          <p:nvPr/>
        </p:nvSpPr>
        <p:spPr>
          <a:xfrm>
            <a:off x="274320" y="164592"/>
            <a:ext cx="8503920" cy="594360"/>
          </a:xfrm>
          <a:prstGeom prst="rect">
            <a:avLst/>
          </a:prstGeom>
          <a:noFill/>
          <a:ln/>
        </p:spPr>
        <p:txBody>
          <a:bodyPr wrap="square" lIns="0" tIns="0" rIns="0" bIns="0" rtlCol="0" anchor="ctr"/>
          <a:lstStyle/>
          <a:p>
            <a:pPr algn="l" indent="0" marL="0">
              <a:buNone/>
            </a:pPr>
            <a:r>
              <a:rPr lang="en-US" sz="2000" b="1" dirty="0">
                <a:solidFill>
                  <a:srgbClr val="F4A61D"/>
                </a:solidFill>
                <a:latin typeface="Arial Black" pitchFamily="34" charset="0"/>
                <a:ea typeface="Arial Black" pitchFamily="34" charset="-122"/>
                <a:cs typeface="Arial Black" pitchFamily="34" charset="-120"/>
              </a:rPr>
              <a:t>Identifying and Feeding the Owl (With Limits)</a:t>
            </a:r>
            <a:endParaRPr lang="en-US" sz="2000" dirty="0"/>
          </a:p>
        </p:txBody>
      </p:sp>
      <p:sp>
        <p:nvSpPr>
          <p:cNvPr id="4" name="Shape 2"/>
          <p:cNvSpPr/>
          <p:nvPr/>
        </p:nvSpPr>
        <p:spPr>
          <a:xfrm>
            <a:off x="274320" y="777240"/>
            <a:ext cx="8503920" cy="27432"/>
          </a:xfrm>
          <a:prstGeom prst="rect">
            <a:avLst/>
          </a:prstGeom>
          <a:solidFill>
            <a:srgbClr val="F4A61D">
              <a:alpha val="40000"/>
            </a:srgbClr>
          </a:solidFill>
          <a:ln w="12700">
            <a:solidFill>
              <a:srgbClr val="F4A61D">
                <a:alpha val="40000"/>
              </a:srgbClr>
            </a:solidFill>
            <a:prstDash val="solid"/>
          </a:ln>
        </p:spPr>
      </p:sp>
      <p:sp>
        <p:nvSpPr>
          <p:cNvPr id="5" name="Text 3"/>
          <p:cNvSpPr/>
          <p:nvPr/>
        </p:nvSpPr>
        <p:spPr>
          <a:xfrm>
            <a:off x="274320" y="914400"/>
            <a:ext cx="8503920" cy="1444752"/>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rgbClr val="FFFFFF"/>
                </a:solidFill>
                <a:latin typeface="Calibri" pitchFamily="34" charset="0"/>
                <a:ea typeface="Calibri" pitchFamily="34" charset="-122"/>
                <a:cs typeface="Calibri" pitchFamily="34" charset="-120"/>
              </a:rPr>
              <a:t>The Owl's strength: they will research everything and buy confidently when satisfied</a:t>
            </a:r>
            <a:endParaRPr lang="en-US" sz="1300" dirty="0"/>
          </a:p>
          <a:p>
            <a:pPr marL="342900" indent="-342900">
              <a:spcAft>
                <a:spcPts val="600"/>
              </a:spcAft>
              <a:buSzPct val="100000"/>
              <a:buChar char="•"/>
            </a:pPr>
            <a:r>
              <a:rPr lang="en-US" sz="1300" dirty="0">
                <a:solidFill>
                  <a:srgbClr val="FFFFFF"/>
                </a:solidFill>
                <a:latin typeface="Calibri" pitchFamily="34" charset="0"/>
                <a:ea typeface="Calibri" pitchFamily="34" charset="-122"/>
                <a:cs typeface="Calibri" pitchFamily="34" charset="-120"/>
              </a:rPr>
              <a:t>The Owl's trap: they use data requests as a stall — 'I just have a few more questions' never ends</a:t>
            </a:r>
            <a:endParaRPr lang="en-US" sz="1300" dirty="0"/>
          </a:p>
          <a:p>
            <a:pPr marL="342900" indent="-342900">
              <a:spcAft>
                <a:spcPts val="600"/>
              </a:spcAft>
              <a:buSzPct val="100000"/>
              <a:buChar char="•"/>
            </a:pPr>
            <a:r>
              <a:rPr lang="en-US" sz="1300" dirty="0">
                <a:solidFill>
                  <a:srgbClr val="FFFFFF"/>
                </a:solidFill>
                <a:latin typeface="Calibri" pitchFamily="34" charset="0"/>
                <a:ea typeface="Calibri" pitchFamily="34" charset="-122"/>
                <a:cs typeface="Calibri" pitchFamily="34" charset="-120"/>
              </a:rPr>
              <a:t>Feed them data at a high level first, then pivot to the FINANCIAL IMPACT: 'Inverter efficiency is 98% — which means for you, every drop of sun becomes a dollar'</a:t>
            </a:r>
            <a:endParaRPr lang="en-US" sz="1300" dirty="0"/>
          </a:p>
          <a:p>
            <a:pPr marL="342900" indent="-342900">
              <a:spcAft>
                <a:spcPts val="600"/>
              </a:spcAft>
              <a:buSzPct val="100000"/>
              <a:buChar char="•"/>
            </a:pPr>
            <a:r>
              <a:rPr lang="en-US" sz="1300" dirty="0">
                <a:solidFill>
                  <a:srgbClr val="FFFFFF"/>
                </a:solidFill>
                <a:latin typeface="Calibri" pitchFamily="34" charset="0"/>
                <a:ea typeface="Calibri" pitchFamily="34" charset="-122"/>
                <a:cs typeface="Calibri" pitchFamily="34" charset="-120"/>
              </a:rPr>
              <a:t>Always add the phrase: 'Does that answer the technical piece, or would you like me to go deeper on the specs?'</a:t>
            </a:r>
            <a:endParaRPr lang="en-US" sz="1300" dirty="0"/>
          </a:p>
        </p:txBody>
      </p:sp>
      <p:sp>
        <p:nvSpPr>
          <p:cNvPr id="6" name="Shape 4"/>
          <p:cNvSpPr/>
          <p:nvPr/>
        </p:nvSpPr>
        <p:spPr>
          <a:xfrm>
            <a:off x="274320" y="2468880"/>
            <a:ext cx="8503920" cy="1874520"/>
          </a:xfrm>
          <a:prstGeom prst="rect">
            <a:avLst/>
          </a:prstGeom>
          <a:solidFill>
            <a:srgbClr val="1A2840"/>
          </a:solidFill>
          <a:ln w="19050">
            <a:solidFill>
              <a:srgbClr val="0891B2"/>
            </a:solidFill>
            <a:prstDash val="solid"/>
          </a:ln>
          <a:effectLst>
            <a:outerShdw sx="100000" sy="100000" kx="0" ky="0" algn="bl" rotWithShape="0" blurRad="101600" dist="38100" dir="8100000">
              <a:srgbClr val="000000">
                <a:alpha val="20000"/>
              </a:srgbClr>
            </a:outerShdw>
          </a:effectLst>
        </p:spPr>
      </p:sp>
      <p:sp>
        <p:nvSpPr>
          <p:cNvPr id="7" name="Shape 5"/>
          <p:cNvSpPr/>
          <p:nvPr/>
        </p:nvSpPr>
        <p:spPr>
          <a:xfrm>
            <a:off x="274320" y="2468880"/>
            <a:ext cx="1097280" cy="347472"/>
          </a:xfrm>
          <a:prstGeom prst="rect">
            <a:avLst/>
          </a:prstGeom>
          <a:solidFill>
            <a:srgbClr val="0891B2"/>
          </a:solidFill>
          <a:ln w="12700">
            <a:solidFill>
              <a:srgbClr val="0891B2"/>
            </a:solidFill>
            <a:prstDash val="solid"/>
          </a:ln>
        </p:spPr>
      </p:sp>
      <p:sp>
        <p:nvSpPr>
          <p:cNvPr id="8" name="Text 6"/>
          <p:cNvSpPr/>
          <p:nvPr/>
        </p:nvSpPr>
        <p:spPr>
          <a:xfrm>
            <a:off x="292608" y="2487168"/>
            <a:ext cx="1051560" cy="310896"/>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Arial Black" pitchFamily="34" charset="0"/>
                <a:ea typeface="Arial Black" pitchFamily="34" charset="-122"/>
                <a:cs typeface="Arial Black" pitchFamily="34" charset="-120"/>
              </a:rPr>
              <a:t>DIALOGUE</a:t>
            </a:r>
            <a:endParaRPr lang="en-US" sz="900" dirty="0"/>
          </a:p>
        </p:txBody>
      </p:sp>
      <p:sp>
        <p:nvSpPr>
          <p:cNvPr id="9" name="Text 7"/>
          <p:cNvSpPr/>
          <p:nvPr/>
        </p:nvSpPr>
        <p:spPr>
          <a:xfrm>
            <a:off x="411480" y="2926080"/>
            <a:ext cx="8275320" cy="1325880"/>
          </a:xfrm>
          <a:prstGeom prst="rect">
            <a:avLst/>
          </a:prstGeom>
          <a:noFill/>
          <a:ln/>
        </p:spPr>
        <p:txBody>
          <a:bodyPr wrap="square" lIns="0" tIns="0" rIns="0" bIns="0" rtlCol="0" anchor="t"/>
          <a:lstStyle/>
          <a:p>
            <a:pPr indent="0" marL="0">
              <a:buNone/>
            </a:pPr>
            <a:r>
              <a:rPr lang="en-US" sz="1100" b="1" dirty="0">
                <a:solidFill>
                  <a:srgbClr val="F4A61D"/>
                </a:solidFill>
                <a:latin typeface="Calibri" pitchFamily="34" charset="0"/>
                <a:ea typeface="Calibri" pitchFamily="34" charset="-122"/>
                <a:cs typeface="Calibri" pitchFamily="34" charset="-120"/>
              </a:rPr>
              <a:t>Homeowner:</a:t>
            </a:r>
            <a:endParaRPr lang="en-US" sz="1100" dirty="0"/>
          </a:p>
          <a:p>
            <a:pPr indent="0" marL="0">
              <a:buNone/>
            </a:pPr>
            <a:r>
              <a:rPr lang="en-US" sz="1100" dirty="0">
                <a:solidFill>
                  <a:srgbClr val="FFFFFF"/>
                </a:solidFill>
                <a:latin typeface="Calibri" pitchFamily="34" charset="0"/>
                <a:ea typeface="Calibri" pitchFamily="34" charset="-122"/>
                <a:cs typeface="Calibri" pitchFamily="34" charset="-120"/>
              </a:rPr>
              <a:t>Can you tell me about the degradation rate of these specific panels?</a:t>
            </a:r>
            <a:endParaRPr lang="en-US" sz="1100" dirty="0"/>
          </a:p>
          <a:p>
            <a:pPr indent="0" marL="0">
              <a:buNone/>
            </a:pPr>
            <a:r>
              <a:rPr lang="en-US" sz="1100" b="1" dirty="0">
                <a:solidFill>
                  <a:srgbClr val="F4A61D"/>
                </a:solidFill>
                <a:latin typeface="Calibri" pitchFamily="34" charset="0"/>
                <a:ea typeface="Calibri" pitchFamily="34" charset="-122"/>
                <a:cs typeface="Calibri" pitchFamily="34" charset="-120"/>
              </a:rPr>
              <a:t>Rep:</a:t>
            </a:r>
            <a:endParaRPr lang="en-US" sz="1100" dirty="0"/>
          </a:p>
          <a:p>
            <a:pPr indent="0" marL="0">
              <a:buNone/>
            </a:pPr>
            <a:r>
              <a:rPr lang="en-US" sz="1100" dirty="0">
                <a:solidFill>
                  <a:srgbClr val="FFFFFF"/>
                </a:solidFill>
                <a:latin typeface="Calibri" pitchFamily="34" charset="0"/>
                <a:ea typeface="Calibri" pitchFamily="34" charset="-122"/>
                <a:cs typeface="Calibri" pitchFamily="34" charset="-120"/>
              </a:rPr>
              <a:t>Good question. These panels degrade at about 0.5% per year — which is best-in-class. In practical terms, that means in year 25 your system is still producing at 87.5% of Day 1 output. Which means the savings I showed you are actually conservative. Does that put the degradation question to bed, or would you like me to pull up the spec sheet?</a:t>
            </a:r>
            <a:endParaRPr lang="en-US" sz="1100" dirty="0"/>
          </a:p>
        </p:txBody>
      </p:sp>
      <p:sp>
        <p:nvSpPr>
          <p:cNvPr id="10" name="Shape 8"/>
          <p:cNvSpPr/>
          <p:nvPr/>
        </p:nvSpPr>
        <p:spPr>
          <a:xfrm>
            <a:off x="0" y="4663440"/>
            <a:ext cx="9144000" cy="480060"/>
          </a:xfrm>
          <a:prstGeom prst="rect">
            <a:avLst/>
          </a:prstGeom>
          <a:solidFill>
            <a:srgbClr val="E07B39">
              <a:alpha val="15000"/>
            </a:srgbClr>
          </a:solidFill>
          <a:ln w="12700">
            <a:solidFill>
              <a:srgbClr val="E07B39">
                <a:alpha val="15000"/>
              </a:srgbClr>
            </a:solidFill>
            <a:prstDash val="solid"/>
          </a:ln>
        </p:spPr>
      </p:sp>
      <p:sp>
        <p:nvSpPr>
          <p:cNvPr id="11" name="Text 9"/>
          <p:cNvSpPr/>
          <p:nvPr/>
        </p:nvSpPr>
        <p:spPr>
          <a:xfrm>
            <a:off x="274320" y="4690872"/>
            <a:ext cx="8686800" cy="384048"/>
          </a:xfrm>
          <a:prstGeom prst="rect">
            <a:avLst/>
          </a:prstGeom>
          <a:noFill/>
          <a:ln/>
        </p:spPr>
        <p:txBody>
          <a:bodyPr wrap="square" lIns="0" tIns="0" rIns="0" bIns="0" rtlCol="0" anchor="ctr"/>
          <a:lstStyle/>
          <a:p>
            <a:pPr algn="l" indent="0" marL="0">
              <a:buNone/>
            </a:pPr>
            <a:r>
              <a:rPr lang="en-US" sz="900" i="1" dirty="0">
                <a:solidFill>
                  <a:srgbClr val="E07B39"/>
                </a:solidFill>
                <a:latin typeface="Calibri" pitchFamily="34" charset="0"/>
                <a:ea typeface="Calibri" pitchFamily="34" charset="-122"/>
                <a:cs typeface="Calibri" pitchFamily="34" charset="-120"/>
              </a:rPr>
              <a:t>📋 TRAINER NOTE: The 'Would you like me to go deeper?' question is a trap set with permission. If they say 'yes,' you're about to satisfy a real analytical need. If they hesitate, they were stalling — and now they know you know.</a:t>
            </a:r>
            <a:endParaRPr lang="en-US" sz="9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F4A61D"/>
          </a:solidFill>
          <a:ln w="12700">
            <a:solidFill>
              <a:srgbClr val="F4A61D"/>
            </a:solidFill>
            <a:prstDash val="solid"/>
          </a:ln>
        </p:spPr>
      </p:sp>
      <p:sp>
        <p:nvSpPr>
          <p:cNvPr id="3" name="Text 1"/>
          <p:cNvSpPr/>
          <p:nvPr/>
        </p:nvSpPr>
        <p:spPr>
          <a:xfrm>
            <a:off x="274320" y="164592"/>
            <a:ext cx="8503920" cy="594360"/>
          </a:xfrm>
          <a:prstGeom prst="rect">
            <a:avLst/>
          </a:prstGeom>
          <a:noFill/>
          <a:ln/>
        </p:spPr>
        <p:txBody>
          <a:bodyPr wrap="square" lIns="0" tIns="0" rIns="0" bIns="0" rtlCol="0" anchor="ctr"/>
          <a:lstStyle/>
          <a:p>
            <a:pPr algn="l" indent="0" marL="0">
              <a:buNone/>
            </a:pPr>
            <a:r>
              <a:rPr lang="en-US" sz="2000" b="1" dirty="0">
                <a:solidFill>
                  <a:srgbClr val="F4A61D"/>
                </a:solidFill>
                <a:latin typeface="Arial Black" pitchFamily="34" charset="0"/>
                <a:ea typeface="Arial Black" pitchFamily="34" charset="-122"/>
                <a:cs typeface="Arial Black" pitchFamily="34" charset="-120"/>
              </a:rPr>
              <a:t>The Decision Criteria Agreement: Lock the Question Set</a:t>
            </a:r>
            <a:endParaRPr lang="en-US" sz="2000" dirty="0"/>
          </a:p>
        </p:txBody>
      </p:sp>
      <p:sp>
        <p:nvSpPr>
          <p:cNvPr id="4" name="Shape 2"/>
          <p:cNvSpPr/>
          <p:nvPr/>
        </p:nvSpPr>
        <p:spPr>
          <a:xfrm>
            <a:off x="274320" y="777240"/>
            <a:ext cx="8503920" cy="27432"/>
          </a:xfrm>
          <a:prstGeom prst="rect">
            <a:avLst/>
          </a:prstGeom>
          <a:solidFill>
            <a:srgbClr val="F4A61D">
              <a:alpha val="40000"/>
            </a:srgbClr>
          </a:solidFill>
          <a:ln w="12700">
            <a:solidFill>
              <a:srgbClr val="F4A61D">
                <a:alpha val="40000"/>
              </a:srgbClr>
            </a:solidFill>
            <a:prstDash val="solid"/>
          </a:ln>
        </p:spPr>
      </p:sp>
      <p:sp>
        <p:nvSpPr>
          <p:cNvPr id="5" name="Text 3"/>
          <p:cNvSpPr/>
          <p:nvPr/>
        </p:nvSpPr>
        <p:spPr>
          <a:xfrm>
            <a:off x="274320" y="914400"/>
            <a:ext cx="8503920" cy="2267712"/>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rgbClr val="FFFFFF"/>
                </a:solidFill>
                <a:latin typeface="Calibri" pitchFamily="34" charset="0"/>
                <a:ea typeface="Calibri" pitchFamily="34" charset="-122"/>
                <a:cs typeface="Calibri" pitchFamily="34" charset="-120"/>
              </a:rPr>
              <a:t>Before the technical deep dive, ask: 'What are the 3 things you need to see today to feel 100% confident moving forward?'</a:t>
            </a:r>
            <a:endParaRPr lang="en-US" sz="1300" dirty="0"/>
          </a:p>
          <a:p>
            <a:pPr marL="342900" indent="-342900">
              <a:spcAft>
                <a:spcPts val="600"/>
              </a:spcAft>
              <a:buSzPct val="100000"/>
              <a:buChar char="•"/>
            </a:pPr>
            <a:r>
              <a:rPr lang="en-US" sz="1300" dirty="0">
                <a:solidFill>
                  <a:srgbClr val="FFFFFF"/>
                </a:solidFill>
                <a:latin typeface="Calibri" pitchFamily="34" charset="0"/>
                <a:ea typeface="Calibri" pitchFamily="34" charset="-122"/>
                <a:cs typeface="Calibri" pitchFamily="34" charset="-120"/>
              </a:rPr>
              <a:t>Write them down visibly — 'I want to make sure I hit all three before we're done'</a:t>
            </a:r>
            <a:endParaRPr lang="en-US" sz="1300" dirty="0"/>
          </a:p>
          <a:p>
            <a:pPr marL="342900" indent="-342900">
              <a:spcAft>
                <a:spcPts val="600"/>
              </a:spcAft>
              <a:buSzPct val="100000"/>
              <a:buChar char="•"/>
            </a:pPr>
            <a:r>
              <a:rPr lang="en-US" sz="1300" dirty="0">
                <a:solidFill>
                  <a:srgbClr val="FFFFFF"/>
                </a:solidFill>
                <a:latin typeface="Calibri" pitchFamily="34" charset="0"/>
                <a:ea typeface="Calibri" pitchFamily="34" charset="-122"/>
                <a:cs typeface="Calibri" pitchFamily="34" charset="-120"/>
              </a:rPr>
              <a:t>This prevents the Infinite Question loop: 'You said three things — we've covered all three. Are we at 100% confidence?'</a:t>
            </a:r>
            <a:endParaRPr lang="en-US" sz="1300" dirty="0"/>
          </a:p>
          <a:p>
            <a:pPr marL="342900" indent="-342900">
              <a:spcAft>
                <a:spcPts val="600"/>
              </a:spcAft>
              <a:buSzPct val="100000"/>
              <a:buChar char="•"/>
            </a:pPr>
            <a:r>
              <a:rPr lang="en-US" sz="1300" dirty="0">
                <a:solidFill>
                  <a:srgbClr val="FFFFFF"/>
                </a:solidFill>
                <a:latin typeface="Calibri" pitchFamily="34" charset="0"/>
                <a:ea typeface="Calibri" pitchFamily="34" charset="-122"/>
                <a:cs typeface="Calibri" pitchFamily="34" charset="-120"/>
              </a:rPr>
              <a:t>If they add a 4th question after the 3 are covered: 'That's a great question — is this the last thing between you and moving forward?'</a:t>
            </a:r>
            <a:endParaRPr lang="en-US" sz="1300" dirty="0"/>
          </a:p>
        </p:txBody>
      </p:sp>
      <p:sp>
        <p:nvSpPr>
          <p:cNvPr id="6" name="Shape 4"/>
          <p:cNvSpPr/>
          <p:nvPr/>
        </p:nvSpPr>
        <p:spPr>
          <a:xfrm>
            <a:off x="0" y="4663440"/>
            <a:ext cx="9144000" cy="480060"/>
          </a:xfrm>
          <a:prstGeom prst="rect">
            <a:avLst/>
          </a:prstGeom>
          <a:solidFill>
            <a:srgbClr val="E07B39">
              <a:alpha val="15000"/>
            </a:srgbClr>
          </a:solidFill>
          <a:ln w="12700">
            <a:solidFill>
              <a:srgbClr val="E07B39">
                <a:alpha val="15000"/>
              </a:srgbClr>
            </a:solidFill>
            <a:prstDash val="solid"/>
          </a:ln>
        </p:spPr>
      </p:sp>
      <p:sp>
        <p:nvSpPr>
          <p:cNvPr id="7" name="Text 5"/>
          <p:cNvSpPr/>
          <p:nvPr/>
        </p:nvSpPr>
        <p:spPr>
          <a:xfrm>
            <a:off x="274320" y="4690872"/>
            <a:ext cx="8686800" cy="384048"/>
          </a:xfrm>
          <a:prstGeom prst="rect">
            <a:avLst/>
          </a:prstGeom>
          <a:noFill/>
          <a:ln/>
        </p:spPr>
        <p:txBody>
          <a:bodyPr wrap="square" lIns="0" tIns="0" rIns="0" bIns="0" rtlCol="0" anchor="ctr"/>
          <a:lstStyle/>
          <a:p>
            <a:pPr algn="l" indent="0" marL="0">
              <a:buNone/>
            </a:pPr>
            <a:r>
              <a:rPr lang="en-US" sz="900" i="1" dirty="0">
                <a:solidFill>
                  <a:srgbClr val="E07B39"/>
                </a:solidFill>
                <a:latin typeface="Calibri" pitchFamily="34" charset="0"/>
                <a:ea typeface="Calibri" pitchFamily="34" charset="-122"/>
                <a:cs typeface="Calibri" pitchFamily="34" charset="-120"/>
              </a:rPr>
              <a:t>📋 TRAINER NOTE: The Decision Criteria Agreement is one of the most elegant closing techniques in existence. It turns an open-ended analytical conversation into a finite contract. When all three criteria are met, the rep has earned explicit permission to close.</a:t>
            </a:r>
            <a:endParaRPr lang="en-US" sz="9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F4A61D"/>
          </a:solidFill>
          <a:ln w="12700">
            <a:solidFill>
              <a:srgbClr val="F4A61D"/>
            </a:solidFill>
            <a:prstDash val="solid"/>
          </a:ln>
        </p:spPr>
      </p:sp>
      <p:sp>
        <p:nvSpPr>
          <p:cNvPr id="3" name="Text 1"/>
          <p:cNvSpPr/>
          <p:nvPr/>
        </p:nvSpPr>
        <p:spPr>
          <a:xfrm>
            <a:off x="274320" y="164592"/>
            <a:ext cx="8503920" cy="594360"/>
          </a:xfrm>
          <a:prstGeom prst="rect">
            <a:avLst/>
          </a:prstGeom>
          <a:noFill/>
          <a:ln/>
        </p:spPr>
        <p:txBody>
          <a:bodyPr wrap="square" lIns="0" tIns="0" rIns="0" bIns="0" rtlCol="0" anchor="ctr"/>
          <a:lstStyle/>
          <a:p>
            <a:pPr algn="l" indent="0" marL="0">
              <a:buNone/>
            </a:pPr>
            <a:r>
              <a:rPr lang="en-US" sz="2000" b="1" dirty="0">
                <a:solidFill>
                  <a:srgbClr val="F4A61D"/>
                </a:solidFill>
                <a:latin typeface="Arial Black" pitchFamily="34" charset="0"/>
                <a:ea typeface="Arial Black" pitchFamily="34" charset="-122"/>
                <a:cs typeface="Arial Black" pitchFamily="34" charset="-120"/>
              </a:rPr>
              <a:t>The Bottom Line Pivot: Every Tech Answer Ends in Dollars</a:t>
            </a:r>
            <a:endParaRPr lang="en-US" sz="2000" dirty="0"/>
          </a:p>
        </p:txBody>
      </p:sp>
      <p:sp>
        <p:nvSpPr>
          <p:cNvPr id="4" name="Shape 2"/>
          <p:cNvSpPr/>
          <p:nvPr/>
        </p:nvSpPr>
        <p:spPr>
          <a:xfrm>
            <a:off x="274320" y="777240"/>
            <a:ext cx="8503920" cy="27432"/>
          </a:xfrm>
          <a:prstGeom prst="rect">
            <a:avLst/>
          </a:prstGeom>
          <a:solidFill>
            <a:srgbClr val="F4A61D">
              <a:alpha val="40000"/>
            </a:srgbClr>
          </a:solidFill>
          <a:ln w="12700">
            <a:solidFill>
              <a:srgbClr val="F4A61D">
                <a:alpha val="40000"/>
              </a:srgbClr>
            </a:solidFill>
            <a:prstDash val="solid"/>
          </a:ln>
        </p:spPr>
      </p:sp>
      <p:sp>
        <p:nvSpPr>
          <p:cNvPr id="5" name="Text 3"/>
          <p:cNvSpPr/>
          <p:nvPr/>
        </p:nvSpPr>
        <p:spPr>
          <a:xfrm>
            <a:off x="274320" y="914400"/>
            <a:ext cx="8503920" cy="2267712"/>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rgbClr val="FFFFFF"/>
                </a:solidFill>
                <a:latin typeface="Calibri" pitchFamily="34" charset="0"/>
                <a:ea typeface="Calibri" pitchFamily="34" charset="-122"/>
                <a:cs typeface="Calibri" pitchFamily="34" charset="-120"/>
              </a:rPr>
              <a:t>After any technical explanation, always end with: 'The bottom line for you is [dollar/financial impact]'</a:t>
            </a:r>
            <a:endParaRPr lang="en-US" sz="1300" dirty="0"/>
          </a:p>
          <a:p>
            <a:pPr marL="342900" indent="-342900">
              <a:spcAft>
                <a:spcPts val="600"/>
              </a:spcAft>
              <a:buSzPct val="100000"/>
              <a:buChar char="•"/>
            </a:pPr>
            <a:r>
              <a:rPr lang="en-US" sz="1300" dirty="0">
                <a:solidFill>
                  <a:srgbClr val="FFFFFF"/>
                </a:solidFill>
                <a:latin typeface="Calibri" pitchFamily="34" charset="0"/>
                <a:ea typeface="Calibri" pitchFamily="34" charset="-122"/>
                <a:cs typeface="Calibri" pitchFamily="34" charset="-120"/>
              </a:rPr>
              <a:t>N-Type cells → 'The bottom line: more power from less roof — your system fits your layout'</a:t>
            </a:r>
            <a:endParaRPr lang="en-US" sz="1300" dirty="0"/>
          </a:p>
          <a:p>
            <a:pPr marL="342900" indent="-342900">
              <a:spcAft>
                <a:spcPts val="600"/>
              </a:spcAft>
              <a:buSzPct val="100000"/>
              <a:buChar char="•"/>
            </a:pPr>
            <a:r>
              <a:rPr lang="en-US" sz="1300" dirty="0">
                <a:solidFill>
                  <a:srgbClr val="FFFFFF"/>
                </a:solidFill>
                <a:latin typeface="Calibri" pitchFamily="34" charset="0"/>
                <a:ea typeface="Calibri" pitchFamily="34" charset="-122"/>
                <a:cs typeface="Calibri" pitchFamily="34" charset="-120"/>
              </a:rPr>
              <a:t>Rapid shutdown → 'The bottom line: your family is safer, and your insurance company likes it'</a:t>
            </a:r>
            <a:endParaRPr lang="en-US" sz="1300" dirty="0"/>
          </a:p>
          <a:p>
            <a:pPr marL="342900" indent="-342900">
              <a:spcAft>
                <a:spcPts val="600"/>
              </a:spcAft>
              <a:buSzPct val="100000"/>
              <a:buChar char="•"/>
            </a:pPr>
            <a:r>
              <a:rPr lang="en-US" sz="1300" dirty="0">
                <a:solidFill>
                  <a:srgbClr val="FFFFFF"/>
                </a:solidFill>
                <a:latin typeface="Calibri" pitchFamily="34" charset="0"/>
                <a:ea typeface="Calibri" pitchFamily="34" charset="-122"/>
                <a:cs typeface="Calibri" pitchFamily="34" charset="-120"/>
              </a:rPr>
              <a:t>String inverter vs. microinverter → 'The bottom line: with your roof layout, this choice saves you $800 and performs equally well'</a:t>
            </a:r>
            <a:endParaRPr lang="en-US" sz="1300" dirty="0"/>
          </a:p>
          <a:p>
            <a:pPr marL="342900" indent="-342900">
              <a:spcAft>
                <a:spcPts val="600"/>
              </a:spcAft>
              <a:buSzPct val="100000"/>
              <a:buChar char="•"/>
            </a:pPr>
            <a:r>
              <a:rPr lang="en-US" sz="1300" dirty="0">
                <a:solidFill>
                  <a:srgbClr val="FFFFFF"/>
                </a:solidFill>
                <a:latin typeface="Calibri" pitchFamily="34" charset="0"/>
                <a:ea typeface="Calibri" pitchFamily="34" charset="-122"/>
                <a:cs typeface="Calibri" pitchFamily="34" charset="-120"/>
              </a:rPr>
              <a:t>Never leave a technical statement without a financial landing point</a:t>
            </a:r>
            <a:endParaRPr lang="en-US" sz="1300" dirty="0"/>
          </a:p>
        </p:txBody>
      </p:sp>
      <p:sp>
        <p:nvSpPr>
          <p:cNvPr id="6" name="Shape 4"/>
          <p:cNvSpPr/>
          <p:nvPr/>
        </p:nvSpPr>
        <p:spPr>
          <a:xfrm>
            <a:off x="0" y="4663440"/>
            <a:ext cx="9144000" cy="480060"/>
          </a:xfrm>
          <a:prstGeom prst="rect">
            <a:avLst/>
          </a:prstGeom>
          <a:solidFill>
            <a:srgbClr val="E07B39">
              <a:alpha val="15000"/>
            </a:srgbClr>
          </a:solidFill>
          <a:ln w="12700">
            <a:solidFill>
              <a:srgbClr val="E07B39">
                <a:alpha val="15000"/>
              </a:srgbClr>
            </a:solidFill>
            <a:prstDash val="solid"/>
          </a:ln>
        </p:spPr>
      </p:sp>
      <p:sp>
        <p:nvSpPr>
          <p:cNvPr id="7" name="Text 5"/>
          <p:cNvSpPr/>
          <p:nvPr/>
        </p:nvSpPr>
        <p:spPr>
          <a:xfrm>
            <a:off x="274320" y="4690872"/>
            <a:ext cx="8686800" cy="384048"/>
          </a:xfrm>
          <a:prstGeom prst="rect">
            <a:avLst/>
          </a:prstGeom>
          <a:noFill/>
          <a:ln/>
        </p:spPr>
        <p:txBody>
          <a:bodyPr wrap="square" lIns="0" tIns="0" rIns="0" bIns="0" rtlCol="0" anchor="ctr"/>
          <a:lstStyle/>
          <a:p>
            <a:pPr algn="l" indent="0" marL="0">
              <a:buNone/>
            </a:pPr>
            <a:r>
              <a:rPr lang="en-US" sz="900" i="1" dirty="0">
                <a:solidFill>
                  <a:srgbClr val="E07B39"/>
                </a:solidFill>
                <a:latin typeface="Calibri" pitchFamily="34" charset="0"/>
                <a:ea typeface="Calibri" pitchFamily="34" charset="-122"/>
                <a:cs typeface="Calibri" pitchFamily="34" charset="-120"/>
              </a:rPr>
              <a:t>📋 TRAINER NOTE: The Bottom Line pivot is a habit reps must build until it's automatic. Any technical conversation that ends on a spec — not a dollar — has failed. The homeowner remembers the dollar. They forget the spec.</a:t>
            </a:r>
            <a:endParaRPr lang="en-US" sz="9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E07B39"/>
          </a:solidFill>
          <a:ln w="12700">
            <a:solidFill>
              <a:srgbClr val="E07B39"/>
            </a:solidFill>
            <a:prstDash val="solid"/>
          </a:ln>
        </p:spPr>
      </p:sp>
      <p:sp>
        <p:nvSpPr>
          <p:cNvPr id="3" name="Text 1"/>
          <p:cNvSpPr/>
          <p:nvPr/>
        </p:nvSpPr>
        <p:spPr>
          <a:xfrm>
            <a:off x="365760" y="73152"/>
            <a:ext cx="3657600" cy="365760"/>
          </a:xfrm>
          <a:prstGeom prst="rect">
            <a:avLst/>
          </a:prstGeom>
          <a:noFill/>
          <a:ln/>
        </p:spPr>
        <p:txBody>
          <a:bodyPr wrap="square" lIns="0" tIns="0" rIns="0" bIns="0" rtlCol="0" anchor="ctr"/>
          <a:lstStyle/>
          <a:p>
            <a:pPr algn="l" indent="0" marL="0">
              <a:buNone/>
            </a:pPr>
            <a:r>
              <a:rPr lang="en-US" sz="1200" b="1" spc="300" kern="0" dirty="0">
                <a:solidFill>
                  <a:srgbClr val="0D1B2A"/>
                </a:solidFill>
                <a:latin typeface="Arial Black" pitchFamily="34" charset="0"/>
                <a:ea typeface="Arial Black" pitchFamily="34" charset="-122"/>
                <a:cs typeface="Arial Black" pitchFamily="34" charset="-120"/>
              </a:rPr>
              <a:t>🎯  ACTIVITY</a:t>
            </a:r>
            <a:endParaRPr lang="en-US" sz="1200" dirty="0"/>
          </a:p>
        </p:txBody>
      </p:sp>
      <p:sp>
        <p:nvSpPr>
          <p:cNvPr id="4" name="Text 2"/>
          <p:cNvSpPr/>
          <p:nvPr/>
        </p:nvSpPr>
        <p:spPr>
          <a:xfrm>
            <a:off x="365760" y="457200"/>
            <a:ext cx="8412480" cy="457200"/>
          </a:xfrm>
          <a:prstGeom prst="rect">
            <a:avLst/>
          </a:prstGeom>
          <a:noFill/>
          <a:ln/>
        </p:spPr>
        <p:txBody>
          <a:bodyPr wrap="square" lIns="0" tIns="0" rIns="0" bIns="0" rtlCol="0" anchor="ctr"/>
          <a:lstStyle/>
          <a:p>
            <a:pPr algn="l" indent="0" marL="0">
              <a:buNone/>
            </a:pPr>
            <a:r>
              <a:rPr lang="en-US" sz="1700" b="1" dirty="0">
                <a:solidFill>
                  <a:srgbClr val="0D1B2A"/>
                </a:solidFill>
                <a:latin typeface="Arial Black" pitchFamily="34" charset="0"/>
                <a:ea typeface="Arial Black" pitchFamily="34" charset="-122"/>
                <a:cs typeface="Arial Black" pitchFamily="34" charset="-120"/>
              </a:rPr>
              <a:t>Activity: Tech-to-Cash Roleplay</a:t>
            </a:r>
            <a:endParaRPr lang="en-US" sz="1700" dirty="0"/>
          </a:p>
        </p:txBody>
      </p:sp>
      <p:sp>
        <p:nvSpPr>
          <p:cNvPr id="5" name="Shape 3"/>
          <p:cNvSpPr/>
          <p:nvPr/>
        </p:nvSpPr>
        <p:spPr>
          <a:xfrm>
            <a:off x="274320" y="1143000"/>
            <a:ext cx="8595360" cy="475488"/>
          </a:xfrm>
          <a:prstGeom prst="rect">
            <a:avLst/>
          </a:prstGeom>
          <a:solidFill>
            <a:srgbClr val="1A2840"/>
          </a:solidFill>
          <a:ln w="12700">
            <a:solidFill>
              <a:srgbClr val="0891B2"/>
            </a:solidFill>
            <a:prstDash val="solid"/>
          </a:ln>
          <a:effectLst>
            <a:outerShdw sx="100000" sy="100000" kx="0" ky="0" algn="bl" rotWithShape="0" blurRad="101600" dist="38100" dir="8100000">
              <a:srgbClr val="000000">
                <a:alpha val="20000"/>
              </a:srgbClr>
            </a:outerShdw>
          </a:effectLst>
        </p:spPr>
      </p:sp>
      <p:sp>
        <p:nvSpPr>
          <p:cNvPr id="6" name="Text 4"/>
          <p:cNvSpPr/>
          <p:nvPr/>
        </p:nvSpPr>
        <p:spPr>
          <a:xfrm>
            <a:off x="411480" y="1170432"/>
            <a:ext cx="8321040" cy="420624"/>
          </a:xfrm>
          <a:prstGeom prst="rect">
            <a:avLst/>
          </a:prstGeom>
          <a:noFill/>
          <a:ln/>
        </p:spPr>
        <p:txBody>
          <a:bodyPr wrap="square" lIns="0" tIns="0" rIns="0" bIns="0" rtlCol="0" anchor="ctr"/>
          <a:lstStyle/>
          <a:p>
            <a:pPr algn="l" indent="0" marL="0">
              <a:buNone/>
            </a:pPr>
            <a:r>
              <a:rPr lang="en-US" sz="1100" b="1" i="1" dirty="0">
                <a:solidFill>
                  <a:srgbClr val="0891B2"/>
                </a:solidFill>
                <a:latin typeface="Calibri" pitchFamily="34" charset="0"/>
                <a:ea typeface="Calibri" pitchFamily="34" charset="-122"/>
                <a:cs typeface="Calibri" pitchFamily="34" charset="-120"/>
              </a:rPr>
              <a:t>OBJECTIVE: Answer any technical question and pivot to the financial impact in under 45 seconds</a:t>
            </a:r>
            <a:endParaRPr lang="en-US" sz="1100" dirty="0"/>
          </a:p>
        </p:txBody>
      </p:sp>
      <p:sp>
        <p:nvSpPr>
          <p:cNvPr id="7" name="Text 5"/>
          <p:cNvSpPr/>
          <p:nvPr/>
        </p:nvSpPr>
        <p:spPr>
          <a:xfrm>
            <a:off x="365760" y="1755648"/>
            <a:ext cx="6858000" cy="2834640"/>
          </a:xfrm>
          <a:prstGeom prst="rect">
            <a:avLst/>
          </a:prstGeom>
          <a:noFill/>
          <a:ln/>
        </p:spPr>
        <p:txBody>
          <a:bodyPr wrap="square" lIns="0" tIns="0" rIns="0" bIns="0" rtlCol="0" anchor="t"/>
          <a:lstStyle/>
          <a:p>
            <a:pPr indent="0" marL="0">
              <a:spcAft>
                <a:spcPts val="800"/>
              </a:spcAft>
              <a:buNone/>
            </a:pPr>
            <a:r>
              <a:rPr lang="en-US" sz="1200" dirty="0">
                <a:solidFill>
                  <a:srgbClr val="FFFFFF"/>
                </a:solidFill>
                <a:latin typeface="Calibri" pitchFamily="34" charset="0"/>
                <a:ea typeface="Calibri" pitchFamily="34" charset="-122"/>
                <a:cs typeface="Calibri" pitchFamily="34" charset="-120"/>
              </a:rPr>
              <a:t>1.  Trainer asks the most complex technical question they can think of (e.g., 'What is the temperature coefficient of these panels?')</a:t>
            </a:r>
            <a:endParaRPr lang="en-US" sz="1200" dirty="0"/>
          </a:p>
          <a:p>
            <a:pPr indent="0" marL="0">
              <a:spcAft>
                <a:spcPts val="800"/>
              </a:spcAft>
              <a:buNone/>
            </a:pPr>
            <a:r>
              <a:rPr lang="en-US" sz="1200" dirty="0">
                <a:solidFill>
                  <a:srgbClr val="FFFFFF"/>
                </a:solidFill>
                <a:latin typeface="Calibri" pitchFamily="34" charset="0"/>
                <a:ea typeface="Calibri" pitchFamily="34" charset="-122"/>
                <a:cs typeface="Calibri" pitchFamily="34" charset="-120"/>
              </a:rPr>
              <a:t>2.  Rep must: answer accurately at a high level → pivot with 'which means for you...' → land on a dollar outcome</a:t>
            </a:r>
            <a:endParaRPr lang="en-US" sz="1200" dirty="0"/>
          </a:p>
          <a:p>
            <a:pPr indent="0" marL="0">
              <a:spcAft>
                <a:spcPts val="800"/>
              </a:spcAft>
              <a:buNone/>
            </a:pPr>
            <a:r>
              <a:rPr lang="en-US" sz="1200" dirty="0">
                <a:solidFill>
                  <a:srgbClr val="FFFFFF"/>
                </a:solidFill>
                <a:latin typeface="Calibri" pitchFamily="34" charset="0"/>
                <a:ea typeface="Calibri" pitchFamily="34" charset="-122"/>
                <a:cs typeface="Calibri" pitchFamily="34" charset="-120"/>
              </a:rPr>
              <a:t>3.  Timer: if they can't land on a financial outcome in 45 seconds, restart</a:t>
            </a:r>
            <a:endParaRPr lang="en-US" sz="1200" dirty="0"/>
          </a:p>
          <a:p>
            <a:pPr indent="0" marL="0">
              <a:spcAft>
                <a:spcPts val="800"/>
              </a:spcAft>
              <a:buNone/>
            </a:pPr>
            <a:r>
              <a:rPr lang="en-US" sz="1200" dirty="0">
                <a:solidFill>
                  <a:srgbClr val="FFFFFF"/>
                </a:solidFill>
                <a:latin typeface="Calibri" pitchFamily="34" charset="0"/>
                <a:ea typeface="Calibri" pitchFamily="34" charset="-122"/>
                <a:cs typeface="Calibri" pitchFamily="34" charset="-120"/>
              </a:rPr>
              <a:t>4.  Round 2: rep delivers the Decision Criteria Agreement to an 'Owl' homeowner and locks 3 criteria</a:t>
            </a:r>
            <a:endParaRPr lang="en-US" sz="1200" dirty="0"/>
          </a:p>
          <a:p>
            <a:pPr indent="0" marL="0">
              <a:spcAft>
                <a:spcPts val="800"/>
              </a:spcAft>
              <a:buNone/>
            </a:pPr>
            <a:r>
              <a:rPr lang="en-US" sz="1200" dirty="0">
                <a:solidFill>
                  <a:srgbClr val="FFFFFF"/>
                </a:solidFill>
                <a:latin typeface="Calibri" pitchFamily="34" charset="0"/>
                <a:ea typeface="Calibri" pitchFamily="34" charset="-122"/>
                <a:cs typeface="Calibri" pitchFamily="34" charset="-120"/>
              </a:rPr>
              <a:t>5.  Deliverable: A 'Quick Facts' technical cheat sheet covering the top 8 Owl questions with a Bottom Line for each</a:t>
            </a:r>
            <a:endParaRPr lang="en-US" sz="1200" dirty="0"/>
          </a:p>
        </p:txBody>
      </p:sp>
      <p:sp>
        <p:nvSpPr>
          <p:cNvPr id="8" name="Shape 6"/>
          <p:cNvSpPr/>
          <p:nvPr/>
        </p:nvSpPr>
        <p:spPr>
          <a:xfrm>
            <a:off x="7132320" y="1755648"/>
            <a:ext cx="1737360" cy="914400"/>
          </a:xfrm>
          <a:prstGeom prst="rect">
            <a:avLst/>
          </a:prstGeom>
          <a:solidFill>
            <a:srgbClr val="F4A61D"/>
          </a:solidFill>
          <a:ln w="12700">
            <a:solidFill>
              <a:srgbClr val="F4A61D"/>
            </a:solidFill>
            <a:prstDash val="solid"/>
          </a:ln>
          <a:effectLst>
            <a:outerShdw sx="100000" sy="100000" kx="0" ky="0" algn="bl" rotWithShape="0" blurRad="101600" dist="38100" dir="8100000">
              <a:srgbClr val="000000">
                <a:alpha val="20000"/>
              </a:srgbClr>
            </a:outerShdw>
          </a:effectLst>
        </p:spPr>
      </p:sp>
      <p:sp>
        <p:nvSpPr>
          <p:cNvPr id="9" name="Text 7"/>
          <p:cNvSpPr/>
          <p:nvPr/>
        </p:nvSpPr>
        <p:spPr>
          <a:xfrm>
            <a:off x="7150608" y="1773936"/>
            <a:ext cx="1691640" cy="877824"/>
          </a:xfrm>
          <a:prstGeom prst="rect">
            <a:avLst/>
          </a:prstGeom>
          <a:noFill/>
          <a:ln/>
        </p:spPr>
        <p:txBody>
          <a:bodyPr wrap="square" lIns="0" tIns="0" rIns="0" bIns="0" rtlCol="0" anchor="ctr"/>
          <a:lstStyle/>
          <a:p>
            <a:pPr algn="ctr" indent="0" marL="0">
              <a:buNone/>
            </a:pPr>
            <a:r>
              <a:rPr lang="en-US" sz="1400" b="1" dirty="0">
                <a:solidFill>
                  <a:srgbClr val="0D1B2A"/>
                </a:solidFill>
                <a:latin typeface="Arial Black" pitchFamily="34" charset="0"/>
                <a:ea typeface="Arial Black" pitchFamily="34" charset="-122"/>
                <a:cs typeface="Arial Black" pitchFamily="34" charset="-120"/>
              </a:rPr>
              <a:t>25 MIN</a:t>
            </a:r>
            <a:endParaRPr lang="en-US" sz="14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9144000" cy="1691640"/>
          </a:xfrm>
          <a:prstGeom prst="rect">
            <a:avLst/>
          </a:prstGeom>
          <a:solidFill>
            <a:srgbClr val="F4A61D"/>
          </a:solidFill>
          <a:ln w="12700">
            <a:solidFill>
              <a:srgbClr val="F4A61D"/>
            </a:solidFill>
            <a:prstDash val="solid"/>
          </a:ln>
        </p:spPr>
      </p:sp>
      <p:sp>
        <p:nvSpPr>
          <p:cNvPr id="3" name="Text 1"/>
          <p:cNvSpPr/>
          <p:nvPr/>
        </p:nvSpPr>
        <p:spPr>
          <a:xfrm>
            <a:off x="365760" y="137160"/>
            <a:ext cx="8412480" cy="420624"/>
          </a:xfrm>
          <a:prstGeom prst="rect">
            <a:avLst/>
          </a:prstGeom>
          <a:noFill/>
          <a:ln/>
        </p:spPr>
        <p:txBody>
          <a:bodyPr wrap="square" lIns="0" tIns="0" rIns="0" bIns="0" rtlCol="0" anchor="ctr"/>
          <a:lstStyle/>
          <a:p>
            <a:pPr algn="l" indent="0" marL="0">
              <a:buNone/>
            </a:pPr>
            <a:r>
              <a:rPr lang="en-US" sz="1300" b="1" spc="400" kern="0" dirty="0">
                <a:solidFill>
                  <a:srgbClr val="0D1B2A"/>
                </a:solidFill>
                <a:latin typeface="Arial Black" pitchFamily="34" charset="0"/>
                <a:ea typeface="Arial Black" pitchFamily="34" charset="-122"/>
                <a:cs typeface="Arial Black" pitchFamily="34" charset="-120"/>
              </a:rPr>
              <a:t>MODULE 6.7</a:t>
            </a:r>
            <a:endParaRPr lang="en-US" sz="1300" dirty="0"/>
          </a:p>
        </p:txBody>
      </p:sp>
      <p:sp>
        <p:nvSpPr>
          <p:cNvPr id="4" name="Text 2"/>
          <p:cNvSpPr/>
          <p:nvPr/>
        </p:nvSpPr>
        <p:spPr>
          <a:xfrm>
            <a:off x="365760" y="530352"/>
            <a:ext cx="8412480" cy="1005840"/>
          </a:xfrm>
          <a:prstGeom prst="rect">
            <a:avLst/>
          </a:prstGeom>
          <a:noFill/>
          <a:ln/>
        </p:spPr>
        <p:txBody>
          <a:bodyPr wrap="square" lIns="0" tIns="0" rIns="0" bIns="0" rtlCol="0" anchor="ctr"/>
          <a:lstStyle/>
          <a:p>
            <a:pPr algn="l" indent="0" marL="0">
              <a:buNone/>
            </a:pPr>
            <a:r>
              <a:rPr lang="en-US" sz="2500" b="1" dirty="0">
                <a:solidFill>
                  <a:srgbClr val="0D1B2A"/>
                </a:solidFill>
                <a:latin typeface="Arial Black" pitchFamily="34" charset="0"/>
                <a:ea typeface="Arial Black" pitchFamily="34" charset="-122"/>
                <a:cs typeface="Arial Black" pitchFamily="34" charset="-120"/>
              </a:rPr>
              <a:t>Rebuilding Trust: Handling Hostility &amp; Skepticism</a:t>
            </a:r>
            <a:endParaRPr lang="en-US" sz="2500" dirty="0"/>
          </a:p>
        </p:txBody>
      </p:sp>
      <p:sp>
        <p:nvSpPr>
          <p:cNvPr id="5" name="Text 3"/>
          <p:cNvSpPr/>
          <p:nvPr/>
        </p:nvSpPr>
        <p:spPr>
          <a:xfrm>
            <a:off x="365760" y="1920240"/>
            <a:ext cx="8412480" cy="502920"/>
          </a:xfrm>
          <a:prstGeom prst="rect">
            <a:avLst/>
          </a:prstGeom>
          <a:noFill/>
          <a:ln/>
        </p:spPr>
        <p:txBody>
          <a:bodyPr wrap="square" lIns="0" tIns="0" rIns="0" bIns="0" rtlCol="0" anchor="ctr"/>
          <a:lstStyle/>
          <a:p>
            <a:pPr algn="l" indent="0" marL="0">
              <a:buNone/>
            </a:pPr>
            <a:r>
              <a:rPr lang="en-US" sz="1500" b="1" i="1" dirty="0">
                <a:solidFill>
                  <a:srgbClr val="F4A61D"/>
                </a:solidFill>
                <a:latin typeface="Calibri" pitchFamily="34" charset="0"/>
                <a:ea typeface="Calibri" pitchFamily="34" charset="-122"/>
                <a:cs typeface="Calibri" pitchFamily="34" charset="-120"/>
              </a:rPr>
              <a:t>Flip the Hostile Homeowner Into a Brand Advocate</a:t>
            </a:r>
            <a:endParaRPr lang="en-US" sz="1500" dirty="0"/>
          </a:p>
        </p:txBody>
      </p:sp>
      <p:sp>
        <p:nvSpPr>
          <p:cNvPr id="6" name="Shape 4"/>
          <p:cNvSpPr/>
          <p:nvPr/>
        </p:nvSpPr>
        <p:spPr>
          <a:xfrm>
            <a:off x="365760" y="2606040"/>
            <a:ext cx="164592" cy="164592"/>
          </a:xfrm>
          <a:prstGeom prst="ellipse">
            <a:avLst/>
          </a:prstGeom>
          <a:solidFill>
            <a:srgbClr val="F4A61D">
              <a:alpha val="40000"/>
            </a:srgbClr>
          </a:solidFill>
          <a:ln w="12700">
            <a:solidFill>
              <a:srgbClr val="F4A61D">
                <a:alpha val="40000"/>
              </a:srgbClr>
            </a:solidFill>
            <a:prstDash val="solid"/>
          </a:ln>
        </p:spPr>
      </p:sp>
      <p:sp>
        <p:nvSpPr>
          <p:cNvPr id="7" name="Shape 5"/>
          <p:cNvSpPr/>
          <p:nvPr/>
        </p:nvSpPr>
        <p:spPr>
          <a:xfrm>
            <a:off x="685800" y="2606040"/>
            <a:ext cx="164592" cy="164592"/>
          </a:xfrm>
          <a:prstGeom prst="ellipse">
            <a:avLst/>
          </a:prstGeom>
          <a:solidFill>
            <a:srgbClr val="F4A61D">
              <a:alpha val="40000"/>
            </a:srgbClr>
          </a:solidFill>
          <a:ln w="12700">
            <a:solidFill>
              <a:srgbClr val="F4A61D">
                <a:alpha val="40000"/>
              </a:srgbClr>
            </a:solidFill>
            <a:prstDash val="solid"/>
          </a:ln>
        </p:spPr>
      </p:sp>
      <p:sp>
        <p:nvSpPr>
          <p:cNvPr id="8" name="Shape 6"/>
          <p:cNvSpPr/>
          <p:nvPr/>
        </p:nvSpPr>
        <p:spPr>
          <a:xfrm>
            <a:off x="1005840" y="2606040"/>
            <a:ext cx="164592" cy="164592"/>
          </a:xfrm>
          <a:prstGeom prst="ellipse">
            <a:avLst/>
          </a:prstGeom>
          <a:solidFill>
            <a:srgbClr val="F4A61D">
              <a:alpha val="40000"/>
            </a:srgbClr>
          </a:solidFill>
          <a:ln w="12700">
            <a:solidFill>
              <a:srgbClr val="F4A61D">
                <a:alpha val="40000"/>
              </a:srgbClr>
            </a:solidFill>
            <a:prstDash val="solid"/>
          </a:ln>
        </p:spPr>
      </p:sp>
      <p:sp>
        <p:nvSpPr>
          <p:cNvPr id="9" name="Shape 7"/>
          <p:cNvSpPr/>
          <p:nvPr/>
        </p:nvSpPr>
        <p:spPr>
          <a:xfrm>
            <a:off x="1325880" y="2606040"/>
            <a:ext cx="164592" cy="164592"/>
          </a:xfrm>
          <a:prstGeom prst="ellipse">
            <a:avLst/>
          </a:prstGeom>
          <a:solidFill>
            <a:srgbClr val="F4A61D">
              <a:alpha val="40000"/>
            </a:srgbClr>
          </a:solidFill>
          <a:ln w="12700">
            <a:solidFill>
              <a:srgbClr val="F4A61D">
                <a:alpha val="40000"/>
              </a:srgbClr>
            </a:solidFill>
            <a:prstDash val="solid"/>
          </a:ln>
        </p:spPr>
      </p:sp>
      <p:sp>
        <p:nvSpPr>
          <p:cNvPr id="10" name="Shape 8"/>
          <p:cNvSpPr/>
          <p:nvPr/>
        </p:nvSpPr>
        <p:spPr>
          <a:xfrm>
            <a:off x="1645920" y="2606040"/>
            <a:ext cx="164592" cy="164592"/>
          </a:xfrm>
          <a:prstGeom prst="ellipse">
            <a:avLst/>
          </a:prstGeom>
          <a:solidFill>
            <a:srgbClr val="F4A61D">
              <a:alpha val="40000"/>
            </a:srgbClr>
          </a:solidFill>
          <a:ln w="12700">
            <a:solidFill>
              <a:srgbClr val="F4A61D">
                <a:alpha val="40000"/>
              </a:srgbClr>
            </a:solidFill>
            <a:prstDash val="solid"/>
          </a:ln>
        </p:spPr>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4480560"/>
            <a:ext cx="9144000" cy="662940"/>
          </a:xfrm>
          <a:prstGeom prst="rect">
            <a:avLst/>
          </a:prstGeom>
          <a:solidFill>
            <a:srgbClr val="F4A61D"/>
          </a:solidFill>
          <a:ln w="12700">
            <a:solidFill>
              <a:srgbClr val="F4A61D"/>
            </a:solidFill>
            <a:prstDash val="solid"/>
          </a:ln>
        </p:spPr>
      </p:sp>
      <p:sp>
        <p:nvSpPr>
          <p:cNvPr id="3" name="Text 1"/>
          <p:cNvSpPr/>
          <p:nvPr/>
        </p:nvSpPr>
        <p:spPr>
          <a:xfrm>
            <a:off x="457200" y="1097280"/>
            <a:ext cx="8229600" cy="457200"/>
          </a:xfrm>
          <a:prstGeom prst="rect">
            <a:avLst/>
          </a:prstGeom>
          <a:noFill/>
          <a:ln/>
        </p:spPr>
        <p:txBody>
          <a:bodyPr wrap="square" lIns="0" tIns="0" rIns="0" bIns="0" rtlCol="0" anchor="ctr"/>
          <a:lstStyle/>
          <a:p>
            <a:pPr algn="l" indent="0" marL="0">
              <a:buNone/>
            </a:pPr>
            <a:r>
              <a:rPr lang="en-US" sz="1200" b="1" spc="500" kern="0" dirty="0">
                <a:solidFill>
                  <a:srgbClr val="F4A61D"/>
                </a:solidFill>
                <a:latin typeface="Arial" pitchFamily="34" charset="0"/>
                <a:ea typeface="Arial" pitchFamily="34" charset="-122"/>
                <a:cs typeface="Arial" pitchFamily="34" charset="-120"/>
              </a:rPr>
              <a:t>MODULE 6.7 — HOSTILE HOMEOWNERS</a:t>
            </a:r>
            <a:endParaRPr lang="en-US" sz="1200" dirty="0"/>
          </a:p>
        </p:txBody>
      </p:sp>
      <p:sp>
        <p:nvSpPr>
          <p:cNvPr id="4" name="Text 2"/>
          <p:cNvSpPr/>
          <p:nvPr/>
        </p:nvSpPr>
        <p:spPr>
          <a:xfrm>
            <a:off x="457200" y="1536192"/>
            <a:ext cx="7772400" cy="1325880"/>
          </a:xfrm>
          <a:prstGeom prst="rect">
            <a:avLst/>
          </a:prstGeom>
          <a:noFill/>
          <a:ln/>
        </p:spPr>
        <p:txBody>
          <a:bodyPr wrap="square" lIns="0" tIns="0" rIns="0" bIns="0" rtlCol="0" anchor="ctr"/>
          <a:lstStyle/>
          <a:p>
            <a:pPr algn="l" indent="0" marL="0">
              <a:buNone/>
            </a:pPr>
            <a:r>
              <a:rPr lang="en-US" sz="3100" b="1" dirty="0">
                <a:solidFill>
                  <a:srgbClr val="FFFFFF"/>
                </a:solidFill>
                <a:latin typeface="Arial Black" pitchFamily="34" charset="0"/>
                <a:ea typeface="Arial Black" pitchFamily="34" charset="-122"/>
                <a:cs typeface="Arial Black" pitchFamily="34" charset="-120"/>
              </a:rPr>
              <a:t>The Rep Who Stays Calm Gets the Sale</a:t>
            </a:r>
            <a:endParaRPr lang="en-US" sz="3100" dirty="0"/>
          </a:p>
        </p:txBody>
      </p:sp>
      <p:sp>
        <p:nvSpPr>
          <p:cNvPr id="5" name="Text 3"/>
          <p:cNvSpPr/>
          <p:nvPr/>
        </p:nvSpPr>
        <p:spPr>
          <a:xfrm>
            <a:off x="457200" y="2971800"/>
            <a:ext cx="7772400" cy="1371600"/>
          </a:xfrm>
          <a:prstGeom prst="rect">
            <a:avLst/>
          </a:prstGeom>
          <a:noFill/>
          <a:ln/>
        </p:spPr>
        <p:txBody>
          <a:bodyPr wrap="square" lIns="0" tIns="0" rIns="0" bIns="0" rtlCol="0" anchor="ctr"/>
          <a:lstStyle/>
          <a:p>
            <a:pPr marL="342900" indent="-342900">
              <a:buSzPct val="100000"/>
              <a:buFont typeface="+mj-lt"/>
              <a:buAutoNum type="arabicPeriod" startAt="1"/>
            </a:pPr>
            <a:r>
              <a:rPr lang="en-US" sz="1300" dirty="0">
                <a:solidFill>
                  <a:srgbClr val="8FA3B1"/>
                </a:solidFill>
                <a:latin typeface="Calibri" pitchFamily="34" charset="0"/>
                <a:ea typeface="Calibri" pitchFamily="34" charset="-122"/>
                <a:cs typeface="Calibri" pitchFamily="34" charset="-120"/>
              </a:rPr>
              <a:t>The Low Heart Rate Mastery: physiological tools for de-escalation</a:t>
            </a:r>
            <a:endParaRPr lang="en-US" sz="1300" dirty="0"/>
          </a:p>
          <a:p>
            <a:pPr marL="342900" indent="-342900">
              <a:buSzPct val="100000"/>
              <a:buFont typeface="+mj-lt"/>
              <a:buAutoNum type="arabicPeriod" startAt="1"/>
            </a:pPr>
            <a:r>
              <a:rPr lang="en-US" sz="1300" dirty="0">
                <a:solidFill>
                  <a:srgbClr val="8FA3B1"/>
                </a:solidFill>
                <a:latin typeface="Calibri" pitchFamily="34" charset="0"/>
                <a:ea typeface="Calibri" pitchFamily="34" charset="-122"/>
                <a:cs typeface="Calibri" pitchFamily="34" charset="-120"/>
              </a:rPr>
              <a:t>Joining the Resistance: agreeing with skepticism to defuse it</a:t>
            </a:r>
            <a:endParaRPr lang="en-US" sz="1300" dirty="0"/>
          </a:p>
          <a:p>
            <a:pPr marL="342900" indent="-342900">
              <a:buSzPct val="100000"/>
              <a:buFont typeface="+mj-lt"/>
              <a:buAutoNum type="arabicPeriod" startAt="1"/>
            </a:pPr>
            <a:r>
              <a:rPr lang="en-US" sz="1300" dirty="0">
                <a:solidFill>
                  <a:srgbClr val="8FA3B1"/>
                </a:solidFill>
                <a:latin typeface="Calibri" pitchFamily="34" charset="0"/>
                <a:ea typeface="Calibri" pitchFamily="34" charset="-122"/>
                <a:cs typeface="Calibri" pitchFamily="34" charset="-120"/>
              </a:rPr>
              <a:t>The Radical Transparency Close: negative framing that builds massive trust</a:t>
            </a:r>
            <a:endParaRPr lang="en-US" sz="1300" dirty="0"/>
          </a:p>
          <a:p>
            <a:pPr marL="342900" indent="-342900">
              <a:buSzPct val="100000"/>
              <a:buFont typeface="+mj-lt"/>
              <a:buAutoNum type="arabicPeriod" startAt="1"/>
            </a:pPr>
            <a:r>
              <a:rPr lang="en-US" sz="1300" dirty="0">
                <a:solidFill>
                  <a:srgbClr val="8FA3B1"/>
                </a:solidFill>
                <a:latin typeface="Calibri" pitchFamily="34" charset="0"/>
                <a:ea typeface="Calibri" pitchFamily="34" charset="-122"/>
                <a:cs typeface="Calibri" pitchFamily="34" charset="-120"/>
              </a:rPr>
              <a:t>Voice as a tool: the Late Night DJ under pressure</a:t>
            </a:r>
            <a:endParaRPr lang="en-US" sz="13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F4A61D"/>
          </a:solidFill>
          <a:ln w="12700">
            <a:solidFill>
              <a:srgbClr val="F4A61D"/>
            </a:solidFill>
            <a:prstDash val="solid"/>
          </a:ln>
        </p:spPr>
      </p:sp>
      <p:sp>
        <p:nvSpPr>
          <p:cNvPr id="3" name="Text 1"/>
          <p:cNvSpPr/>
          <p:nvPr/>
        </p:nvSpPr>
        <p:spPr>
          <a:xfrm>
            <a:off x="274320" y="164592"/>
            <a:ext cx="8503920" cy="594360"/>
          </a:xfrm>
          <a:prstGeom prst="rect">
            <a:avLst/>
          </a:prstGeom>
          <a:noFill/>
          <a:ln/>
        </p:spPr>
        <p:txBody>
          <a:bodyPr wrap="square" lIns="0" tIns="0" rIns="0" bIns="0" rtlCol="0" anchor="ctr"/>
          <a:lstStyle/>
          <a:p>
            <a:pPr algn="l" indent="0" marL="0">
              <a:buNone/>
            </a:pPr>
            <a:r>
              <a:rPr lang="en-US" sz="2000" b="1" dirty="0">
                <a:solidFill>
                  <a:srgbClr val="F4A61D"/>
                </a:solidFill>
                <a:latin typeface="Arial Black" pitchFamily="34" charset="0"/>
                <a:ea typeface="Arial Black" pitchFamily="34" charset="-122"/>
                <a:cs typeface="Arial Black" pitchFamily="34" charset="-120"/>
              </a:rPr>
              <a:t>The Low Heart Rate Mastery: Staying Calm Under Fire</a:t>
            </a:r>
            <a:endParaRPr lang="en-US" sz="2000" dirty="0"/>
          </a:p>
        </p:txBody>
      </p:sp>
      <p:sp>
        <p:nvSpPr>
          <p:cNvPr id="4" name="Shape 2"/>
          <p:cNvSpPr/>
          <p:nvPr/>
        </p:nvSpPr>
        <p:spPr>
          <a:xfrm>
            <a:off x="274320" y="777240"/>
            <a:ext cx="8503920" cy="27432"/>
          </a:xfrm>
          <a:prstGeom prst="rect">
            <a:avLst/>
          </a:prstGeom>
          <a:solidFill>
            <a:srgbClr val="F4A61D">
              <a:alpha val="40000"/>
            </a:srgbClr>
          </a:solidFill>
          <a:ln w="12700">
            <a:solidFill>
              <a:srgbClr val="F4A61D">
                <a:alpha val="40000"/>
              </a:srgbClr>
            </a:solidFill>
            <a:prstDash val="solid"/>
          </a:ln>
        </p:spPr>
      </p:sp>
      <p:sp>
        <p:nvSpPr>
          <p:cNvPr id="5" name="Text 3"/>
          <p:cNvSpPr/>
          <p:nvPr/>
        </p:nvSpPr>
        <p:spPr>
          <a:xfrm>
            <a:off x="274320" y="914400"/>
            <a:ext cx="8503920" cy="2267712"/>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rgbClr val="FFFFFF"/>
                </a:solidFill>
                <a:latin typeface="Calibri" pitchFamily="34" charset="0"/>
                <a:ea typeface="Calibri" pitchFamily="34" charset="-122"/>
                <a:cs typeface="Calibri" pitchFamily="34" charset="-120"/>
              </a:rPr>
              <a:t>Physiological reality: when attacked verbally, the body activates the same threat response as physical danger</a:t>
            </a:r>
            <a:endParaRPr lang="en-US" sz="1300" dirty="0"/>
          </a:p>
          <a:p>
            <a:pPr marL="342900" indent="-342900">
              <a:spcAft>
                <a:spcPts val="600"/>
              </a:spcAft>
              <a:buSzPct val="100000"/>
              <a:buChar char="•"/>
            </a:pPr>
            <a:r>
              <a:rPr lang="en-US" sz="1300" dirty="0">
                <a:solidFill>
                  <a:srgbClr val="FFFFFF"/>
                </a:solidFill>
                <a:latin typeface="Calibri" pitchFamily="34" charset="0"/>
                <a:ea typeface="Calibri" pitchFamily="34" charset="-122"/>
                <a:cs typeface="Calibri" pitchFamily="34" charset="-120"/>
              </a:rPr>
              <a:t>The rep's outward demeanor must be the OPPOSITE of their internal state — this is a trained skill</a:t>
            </a:r>
            <a:endParaRPr lang="en-US" sz="1300" dirty="0"/>
          </a:p>
          <a:p>
            <a:pPr marL="342900" indent="-342900">
              <a:spcAft>
                <a:spcPts val="600"/>
              </a:spcAft>
              <a:buSzPct val="100000"/>
              <a:buChar char="•"/>
            </a:pPr>
            <a:r>
              <a:rPr lang="en-US" sz="1300" dirty="0">
                <a:solidFill>
                  <a:srgbClr val="FFFFFF"/>
                </a:solidFill>
                <a:latin typeface="Calibri" pitchFamily="34" charset="0"/>
                <a:ea typeface="Calibri" pitchFamily="34" charset="-122"/>
                <a:cs typeface="Calibri" pitchFamily="34" charset="-120"/>
              </a:rPr>
              <a:t>Tools: box breathing before appointment, deliberate vocal slowdown during challenge, strategic pause after hostile statement</a:t>
            </a:r>
            <a:endParaRPr lang="en-US" sz="1300" dirty="0"/>
          </a:p>
          <a:p>
            <a:pPr marL="342900" indent="-342900">
              <a:spcAft>
                <a:spcPts val="600"/>
              </a:spcAft>
              <a:buSzPct val="100000"/>
              <a:buChar char="•"/>
            </a:pPr>
            <a:r>
              <a:rPr lang="en-US" sz="1300" dirty="0">
                <a:solidFill>
                  <a:srgbClr val="FFFFFF"/>
                </a:solidFill>
                <a:latin typeface="Calibri" pitchFamily="34" charset="0"/>
                <a:ea typeface="Calibri" pitchFamily="34" charset="-122"/>
                <a:cs typeface="Calibri" pitchFamily="34" charset="-120"/>
              </a:rPr>
              <a:t>The Late Night DJ voice: low, slow, warm — as if you are unshakable because you have nothing to hide</a:t>
            </a:r>
            <a:endParaRPr lang="en-US" sz="1300" dirty="0"/>
          </a:p>
        </p:txBody>
      </p:sp>
      <p:sp>
        <p:nvSpPr>
          <p:cNvPr id="6" name="Shape 4"/>
          <p:cNvSpPr/>
          <p:nvPr/>
        </p:nvSpPr>
        <p:spPr>
          <a:xfrm>
            <a:off x="0" y="4663440"/>
            <a:ext cx="9144000" cy="480060"/>
          </a:xfrm>
          <a:prstGeom prst="rect">
            <a:avLst/>
          </a:prstGeom>
          <a:solidFill>
            <a:srgbClr val="E07B39">
              <a:alpha val="15000"/>
            </a:srgbClr>
          </a:solidFill>
          <a:ln w="12700">
            <a:solidFill>
              <a:srgbClr val="E07B39">
                <a:alpha val="15000"/>
              </a:srgbClr>
            </a:solidFill>
            <a:prstDash val="solid"/>
          </a:ln>
        </p:spPr>
      </p:sp>
      <p:sp>
        <p:nvSpPr>
          <p:cNvPr id="7" name="Text 5"/>
          <p:cNvSpPr/>
          <p:nvPr/>
        </p:nvSpPr>
        <p:spPr>
          <a:xfrm>
            <a:off x="274320" y="4690872"/>
            <a:ext cx="8686800" cy="384048"/>
          </a:xfrm>
          <a:prstGeom prst="rect">
            <a:avLst/>
          </a:prstGeom>
          <a:noFill/>
          <a:ln/>
        </p:spPr>
        <p:txBody>
          <a:bodyPr wrap="square" lIns="0" tIns="0" rIns="0" bIns="0" rtlCol="0" anchor="ctr"/>
          <a:lstStyle/>
          <a:p>
            <a:pPr algn="l" indent="0" marL="0">
              <a:buNone/>
            </a:pPr>
            <a:r>
              <a:rPr lang="en-US" sz="900" i="1" dirty="0">
                <a:solidFill>
                  <a:srgbClr val="E07B39"/>
                </a:solidFill>
                <a:latin typeface="Calibri" pitchFamily="34" charset="0"/>
                <a:ea typeface="Calibri" pitchFamily="34" charset="-122"/>
                <a:cs typeface="Calibri" pitchFamily="34" charset="-120"/>
              </a:rPr>
              <a:t>📋 TRAINER NOTE: Have reps practice delivering a calm response while the trainer reads hostile statements in an elevated voice. The contrast between the trainer's energy and the rep's calm is the exact dynamic they'll face in the field.</a:t>
            </a:r>
            <a:endParaRPr lang="en-US" sz="9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F4A61D"/>
          </a:solidFill>
          <a:ln w="12700">
            <a:solidFill>
              <a:srgbClr val="F4A61D"/>
            </a:solidFill>
            <a:prstDash val="solid"/>
          </a:ln>
        </p:spPr>
      </p:sp>
      <p:sp>
        <p:nvSpPr>
          <p:cNvPr id="3" name="Text 1"/>
          <p:cNvSpPr/>
          <p:nvPr/>
        </p:nvSpPr>
        <p:spPr>
          <a:xfrm>
            <a:off x="274320" y="164592"/>
            <a:ext cx="8503920" cy="594360"/>
          </a:xfrm>
          <a:prstGeom prst="rect">
            <a:avLst/>
          </a:prstGeom>
          <a:noFill/>
          <a:ln/>
        </p:spPr>
        <p:txBody>
          <a:bodyPr wrap="square" lIns="0" tIns="0" rIns="0" bIns="0" rtlCol="0" anchor="ctr"/>
          <a:lstStyle/>
          <a:p>
            <a:pPr algn="l" indent="0" marL="0">
              <a:buNone/>
            </a:pPr>
            <a:r>
              <a:rPr lang="en-US" sz="2000" b="1" dirty="0">
                <a:solidFill>
                  <a:srgbClr val="F4A61D"/>
                </a:solidFill>
                <a:latin typeface="Arial Black" pitchFamily="34" charset="0"/>
                <a:ea typeface="Arial Black" pitchFamily="34" charset="-122"/>
                <a:cs typeface="Arial Black" pitchFamily="34" charset="-120"/>
              </a:rPr>
              <a:t>Joining the Resistance: Agree With the Skepticism</a:t>
            </a:r>
            <a:endParaRPr lang="en-US" sz="2000" dirty="0"/>
          </a:p>
        </p:txBody>
      </p:sp>
      <p:sp>
        <p:nvSpPr>
          <p:cNvPr id="4" name="Shape 2"/>
          <p:cNvSpPr/>
          <p:nvPr/>
        </p:nvSpPr>
        <p:spPr>
          <a:xfrm>
            <a:off x="274320" y="777240"/>
            <a:ext cx="8503920" cy="27432"/>
          </a:xfrm>
          <a:prstGeom prst="rect">
            <a:avLst/>
          </a:prstGeom>
          <a:solidFill>
            <a:srgbClr val="F4A61D">
              <a:alpha val="40000"/>
            </a:srgbClr>
          </a:solidFill>
          <a:ln w="12700">
            <a:solidFill>
              <a:srgbClr val="F4A61D">
                <a:alpha val="40000"/>
              </a:srgbClr>
            </a:solidFill>
            <a:prstDash val="solid"/>
          </a:ln>
        </p:spPr>
      </p:sp>
      <p:sp>
        <p:nvSpPr>
          <p:cNvPr id="5" name="Text 3"/>
          <p:cNvSpPr/>
          <p:nvPr/>
        </p:nvSpPr>
        <p:spPr>
          <a:xfrm>
            <a:off x="274320" y="914400"/>
            <a:ext cx="8503920" cy="1444752"/>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rgbClr val="FFFFFF"/>
                </a:solidFill>
                <a:latin typeface="Calibri" pitchFamily="34" charset="0"/>
                <a:ea typeface="Calibri" pitchFamily="34" charset="-122"/>
                <a:cs typeface="Calibri" pitchFamily="34" charset="-120"/>
              </a:rPr>
              <a:t>When a homeowner says 'Solar is a scam,' the worst response is any form of defense</a:t>
            </a:r>
            <a:endParaRPr lang="en-US" sz="1300" dirty="0"/>
          </a:p>
          <a:p>
            <a:pPr marL="342900" indent="-342900">
              <a:spcAft>
                <a:spcPts val="600"/>
              </a:spcAft>
              <a:buSzPct val="100000"/>
              <a:buChar char="•"/>
            </a:pPr>
            <a:r>
              <a:rPr lang="en-US" sz="1300" dirty="0">
                <a:solidFill>
                  <a:srgbClr val="FFFFFF"/>
                </a:solidFill>
                <a:latin typeface="Calibri" pitchFamily="34" charset="0"/>
                <a:ea typeface="Calibri" pitchFamily="34" charset="-122"/>
                <a:cs typeface="Calibri" pitchFamily="34" charset="-120"/>
              </a:rPr>
              <a:t>The right response: 'You're right to be skeptical. There are genuinely bad actors in this industry. That's exactly why I'm here — to show you how we're different.'</a:t>
            </a:r>
            <a:endParaRPr lang="en-US" sz="1300" dirty="0"/>
          </a:p>
          <a:p>
            <a:pPr marL="342900" indent="-342900">
              <a:spcAft>
                <a:spcPts val="600"/>
              </a:spcAft>
              <a:buSzPct val="100000"/>
              <a:buChar char="•"/>
            </a:pPr>
            <a:r>
              <a:rPr lang="en-US" sz="1300" dirty="0">
                <a:solidFill>
                  <a:srgbClr val="FFFFFF"/>
                </a:solidFill>
                <a:latin typeface="Calibri" pitchFamily="34" charset="0"/>
                <a:ea typeface="Calibri" pitchFamily="34" charset="-122"/>
                <a:cs typeface="Calibri" pitchFamily="34" charset="-120"/>
              </a:rPr>
              <a:t>Agreeing with the skepticism removes the adversarial dynamic — you are now on the same side</a:t>
            </a:r>
            <a:endParaRPr lang="en-US" sz="1300" dirty="0"/>
          </a:p>
          <a:p>
            <a:pPr marL="342900" indent="-342900">
              <a:spcAft>
                <a:spcPts val="600"/>
              </a:spcAft>
              <a:buSzPct val="100000"/>
              <a:buChar char="•"/>
            </a:pPr>
            <a:r>
              <a:rPr lang="en-US" sz="1300" dirty="0">
                <a:solidFill>
                  <a:srgbClr val="FFFFFF"/>
                </a:solidFill>
                <a:latin typeface="Calibri" pitchFamily="34" charset="0"/>
                <a:ea typeface="Calibri" pitchFamily="34" charset="-122"/>
                <a:cs typeface="Calibri" pitchFamily="34" charset="-120"/>
              </a:rPr>
              <a:t>Technique: 'I would have said the exact same thing 3 years ago' — this humanizes the rep and signals authenticity</a:t>
            </a:r>
            <a:endParaRPr lang="en-US" sz="1300" dirty="0"/>
          </a:p>
        </p:txBody>
      </p:sp>
      <p:sp>
        <p:nvSpPr>
          <p:cNvPr id="6" name="Shape 4"/>
          <p:cNvSpPr/>
          <p:nvPr/>
        </p:nvSpPr>
        <p:spPr>
          <a:xfrm>
            <a:off x="274320" y="2468880"/>
            <a:ext cx="8503920" cy="1874520"/>
          </a:xfrm>
          <a:prstGeom prst="rect">
            <a:avLst/>
          </a:prstGeom>
          <a:solidFill>
            <a:srgbClr val="1A2840"/>
          </a:solidFill>
          <a:ln w="19050">
            <a:solidFill>
              <a:srgbClr val="0891B2"/>
            </a:solidFill>
            <a:prstDash val="solid"/>
          </a:ln>
          <a:effectLst>
            <a:outerShdw sx="100000" sy="100000" kx="0" ky="0" algn="bl" rotWithShape="0" blurRad="101600" dist="38100" dir="8100000">
              <a:srgbClr val="000000">
                <a:alpha val="20000"/>
              </a:srgbClr>
            </a:outerShdw>
          </a:effectLst>
        </p:spPr>
      </p:sp>
      <p:sp>
        <p:nvSpPr>
          <p:cNvPr id="7" name="Shape 5"/>
          <p:cNvSpPr/>
          <p:nvPr/>
        </p:nvSpPr>
        <p:spPr>
          <a:xfrm>
            <a:off x="274320" y="2468880"/>
            <a:ext cx="1097280" cy="347472"/>
          </a:xfrm>
          <a:prstGeom prst="rect">
            <a:avLst/>
          </a:prstGeom>
          <a:solidFill>
            <a:srgbClr val="0891B2"/>
          </a:solidFill>
          <a:ln w="12700">
            <a:solidFill>
              <a:srgbClr val="0891B2"/>
            </a:solidFill>
            <a:prstDash val="solid"/>
          </a:ln>
        </p:spPr>
      </p:sp>
      <p:sp>
        <p:nvSpPr>
          <p:cNvPr id="8" name="Text 6"/>
          <p:cNvSpPr/>
          <p:nvPr/>
        </p:nvSpPr>
        <p:spPr>
          <a:xfrm>
            <a:off x="292608" y="2487168"/>
            <a:ext cx="1051560" cy="310896"/>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Arial Black" pitchFamily="34" charset="0"/>
                <a:ea typeface="Arial Black" pitchFamily="34" charset="-122"/>
                <a:cs typeface="Arial Black" pitchFamily="34" charset="-120"/>
              </a:rPr>
              <a:t>DIALOGUE</a:t>
            </a:r>
            <a:endParaRPr lang="en-US" sz="900" dirty="0"/>
          </a:p>
        </p:txBody>
      </p:sp>
      <p:sp>
        <p:nvSpPr>
          <p:cNvPr id="9" name="Text 7"/>
          <p:cNvSpPr/>
          <p:nvPr/>
        </p:nvSpPr>
        <p:spPr>
          <a:xfrm>
            <a:off x="411480" y="2926080"/>
            <a:ext cx="8275320" cy="1325880"/>
          </a:xfrm>
          <a:prstGeom prst="rect">
            <a:avLst/>
          </a:prstGeom>
          <a:noFill/>
          <a:ln/>
        </p:spPr>
        <p:txBody>
          <a:bodyPr wrap="square" lIns="0" tIns="0" rIns="0" bIns="0" rtlCol="0" anchor="t"/>
          <a:lstStyle/>
          <a:p>
            <a:pPr indent="0" marL="0">
              <a:buNone/>
            </a:pPr>
            <a:r>
              <a:rPr lang="en-US" sz="1100" b="1" dirty="0">
                <a:solidFill>
                  <a:srgbClr val="F4A61D"/>
                </a:solidFill>
                <a:latin typeface="Calibri" pitchFamily="34" charset="0"/>
                <a:ea typeface="Calibri" pitchFamily="34" charset="-122"/>
                <a:cs typeface="Calibri" pitchFamily="34" charset="-120"/>
              </a:rPr>
              <a:t>Homeowner:</a:t>
            </a:r>
            <a:endParaRPr lang="en-US" sz="1100" dirty="0"/>
          </a:p>
          <a:p>
            <a:pPr indent="0" marL="0">
              <a:buNone/>
            </a:pPr>
            <a:r>
              <a:rPr lang="en-US" sz="1100" dirty="0">
                <a:solidFill>
                  <a:srgbClr val="FFFFFF"/>
                </a:solidFill>
                <a:latin typeface="Calibri" pitchFamily="34" charset="0"/>
                <a:ea typeface="Calibri" pitchFamily="34" charset="-122"/>
                <a:cs typeface="Calibri" pitchFamily="34" charset="-120"/>
              </a:rPr>
              <a:t>Honestly, solar feels like a giant scam to me. You guys just take the money and run.</a:t>
            </a:r>
            <a:endParaRPr lang="en-US" sz="1100" dirty="0"/>
          </a:p>
          <a:p>
            <a:pPr indent="0" marL="0">
              <a:buNone/>
            </a:pPr>
            <a:r>
              <a:rPr lang="en-US" sz="1100" b="1" dirty="0">
                <a:solidFill>
                  <a:srgbClr val="F4A61D"/>
                </a:solidFill>
                <a:latin typeface="Calibri" pitchFamily="34" charset="0"/>
                <a:ea typeface="Calibri" pitchFamily="34" charset="-122"/>
                <a:cs typeface="Calibri" pitchFamily="34" charset="-120"/>
              </a:rPr>
              <a:t>Rep:</a:t>
            </a:r>
            <a:endParaRPr lang="en-US" sz="1100" dirty="0"/>
          </a:p>
          <a:p>
            <a:pPr indent="0" marL="0">
              <a:buNone/>
            </a:pPr>
            <a:r>
              <a:rPr lang="en-US" sz="1100" dirty="0">
                <a:solidFill>
                  <a:srgbClr val="FFFFFF"/>
                </a:solidFill>
                <a:latin typeface="Calibri" pitchFamily="34" charset="0"/>
                <a:ea typeface="Calibri" pitchFamily="34" charset="-122"/>
                <a:cs typeface="Calibri" pitchFamily="34" charset="-120"/>
              </a:rPr>
              <a:t>You know what? You're not wrong to think that — there are companies that do exactly that. If I had your experience, I'd feel the same way. That's why I want to be the most transparent person you've talked to today. Can I show you something that the bad actors would never show you?</a:t>
            </a:r>
            <a:endParaRPr lang="en-US" sz="1100" dirty="0"/>
          </a:p>
        </p:txBody>
      </p:sp>
      <p:sp>
        <p:nvSpPr>
          <p:cNvPr id="10" name="Shape 8"/>
          <p:cNvSpPr/>
          <p:nvPr/>
        </p:nvSpPr>
        <p:spPr>
          <a:xfrm>
            <a:off x="0" y="4663440"/>
            <a:ext cx="9144000" cy="480060"/>
          </a:xfrm>
          <a:prstGeom prst="rect">
            <a:avLst/>
          </a:prstGeom>
          <a:solidFill>
            <a:srgbClr val="E07B39">
              <a:alpha val="15000"/>
            </a:srgbClr>
          </a:solidFill>
          <a:ln w="12700">
            <a:solidFill>
              <a:srgbClr val="E07B39">
                <a:alpha val="15000"/>
              </a:srgbClr>
            </a:solidFill>
            <a:prstDash val="solid"/>
          </a:ln>
        </p:spPr>
      </p:sp>
      <p:sp>
        <p:nvSpPr>
          <p:cNvPr id="11" name="Text 9"/>
          <p:cNvSpPr/>
          <p:nvPr/>
        </p:nvSpPr>
        <p:spPr>
          <a:xfrm>
            <a:off x="274320" y="4690872"/>
            <a:ext cx="8686800" cy="384048"/>
          </a:xfrm>
          <a:prstGeom prst="rect">
            <a:avLst/>
          </a:prstGeom>
          <a:noFill/>
          <a:ln/>
        </p:spPr>
        <p:txBody>
          <a:bodyPr wrap="square" lIns="0" tIns="0" rIns="0" bIns="0" rtlCol="0" anchor="ctr"/>
          <a:lstStyle/>
          <a:p>
            <a:pPr algn="l" indent="0" marL="0">
              <a:buNone/>
            </a:pPr>
            <a:r>
              <a:rPr lang="en-US" sz="900" i="1" dirty="0">
                <a:solidFill>
                  <a:srgbClr val="E07B39"/>
                </a:solidFill>
                <a:latin typeface="Calibri" pitchFamily="34" charset="0"/>
                <a:ea typeface="Calibri" pitchFamily="34" charset="-122"/>
                <a:cs typeface="Calibri" pitchFamily="34" charset="-120"/>
              </a:rPr>
              <a:t>📋 TRAINER NOTE: 'Joining the Resistance' is one of the most counterintuitive techniques in the curriculum — and one of the most powerful. When the rep agrees that skepticism is warranted, the homeowner has nothing to push against. The argumentative energy dissipates.</a:t>
            </a:r>
            <a:endParaRPr lang="en-US" sz="9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F4A61D"/>
          </a:solidFill>
          <a:ln w="12700">
            <a:solidFill>
              <a:srgbClr val="F4A61D"/>
            </a:solidFill>
            <a:prstDash val="solid"/>
          </a:ln>
        </p:spPr>
      </p:sp>
      <p:sp>
        <p:nvSpPr>
          <p:cNvPr id="3" name="Text 1"/>
          <p:cNvSpPr/>
          <p:nvPr/>
        </p:nvSpPr>
        <p:spPr>
          <a:xfrm>
            <a:off x="274320" y="164592"/>
            <a:ext cx="8503920" cy="594360"/>
          </a:xfrm>
          <a:prstGeom prst="rect">
            <a:avLst/>
          </a:prstGeom>
          <a:noFill/>
          <a:ln/>
        </p:spPr>
        <p:txBody>
          <a:bodyPr wrap="square" lIns="0" tIns="0" rIns="0" bIns="0" rtlCol="0" anchor="ctr"/>
          <a:lstStyle/>
          <a:p>
            <a:pPr algn="l" indent="0" marL="0">
              <a:buNone/>
            </a:pPr>
            <a:r>
              <a:rPr lang="en-US" sz="2000" b="1" dirty="0">
                <a:solidFill>
                  <a:srgbClr val="F4A61D"/>
                </a:solidFill>
                <a:latin typeface="Arial Black" pitchFamily="34" charset="0"/>
                <a:ea typeface="Arial Black" pitchFamily="34" charset="-122"/>
                <a:cs typeface="Arial Black" pitchFamily="34" charset="-120"/>
              </a:rPr>
              <a:t>The Radical Transparency Close: Negative Framing That Builds Trust</a:t>
            </a:r>
            <a:endParaRPr lang="en-US" sz="2000" dirty="0"/>
          </a:p>
        </p:txBody>
      </p:sp>
      <p:sp>
        <p:nvSpPr>
          <p:cNvPr id="4" name="Shape 2"/>
          <p:cNvSpPr/>
          <p:nvPr/>
        </p:nvSpPr>
        <p:spPr>
          <a:xfrm>
            <a:off x="274320" y="777240"/>
            <a:ext cx="8503920" cy="27432"/>
          </a:xfrm>
          <a:prstGeom prst="rect">
            <a:avLst/>
          </a:prstGeom>
          <a:solidFill>
            <a:srgbClr val="F4A61D">
              <a:alpha val="40000"/>
            </a:srgbClr>
          </a:solidFill>
          <a:ln w="12700">
            <a:solidFill>
              <a:srgbClr val="F4A61D">
                <a:alpha val="40000"/>
              </a:srgbClr>
            </a:solidFill>
            <a:prstDash val="solid"/>
          </a:ln>
        </p:spPr>
      </p:sp>
      <p:sp>
        <p:nvSpPr>
          <p:cNvPr id="5" name="Text 3"/>
          <p:cNvSpPr/>
          <p:nvPr/>
        </p:nvSpPr>
        <p:spPr>
          <a:xfrm>
            <a:off x="274320" y="914400"/>
            <a:ext cx="8503920" cy="2267712"/>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rgbClr val="FFFFFF"/>
                </a:solidFill>
                <a:latin typeface="Calibri" pitchFamily="34" charset="0"/>
                <a:ea typeface="Calibri" pitchFamily="34" charset="-122"/>
                <a:cs typeface="Calibri" pitchFamily="34" charset="-120"/>
              </a:rPr>
              <a:t>'If this didn't make financial sense for your specific situation, I would be the first person to tell you to stop — my reputation in this community is worth more than one deal'</a:t>
            </a:r>
            <a:endParaRPr lang="en-US" sz="1300" dirty="0"/>
          </a:p>
          <a:p>
            <a:pPr marL="342900" indent="-342900">
              <a:spcAft>
                <a:spcPts val="600"/>
              </a:spcAft>
              <a:buSzPct val="100000"/>
              <a:buChar char="•"/>
            </a:pPr>
            <a:r>
              <a:rPr lang="en-US" sz="1300" dirty="0">
                <a:solidFill>
                  <a:srgbClr val="FFFFFF"/>
                </a:solidFill>
                <a:latin typeface="Calibri" pitchFamily="34" charset="0"/>
                <a:ea typeface="Calibri" pitchFamily="34" charset="-122"/>
                <a:cs typeface="Calibri" pitchFamily="34" charset="-120"/>
              </a:rPr>
              <a:t>Offer the DQ: 'Honestly, I want to make sure this is right for you — let me run through the two scenarios where solar is NOT a good fit, and you tell me if either applies'</a:t>
            </a:r>
            <a:endParaRPr lang="en-US" sz="1300" dirty="0"/>
          </a:p>
          <a:p>
            <a:pPr marL="342900" indent="-342900">
              <a:spcAft>
                <a:spcPts val="600"/>
              </a:spcAft>
              <a:buSzPct val="100000"/>
              <a:buChar char="•"/>
            </a:pPr>
            <a:r>
              <a:rPr lang="en-US" sz="1300" dirty="0">
                <a:solidFill>
                  <a:srgbClr val="FFFFFF"/>
                </a:solidFill>
                <a:latin typeface="Calibri" pitchFamily="34" charset="0"/>
                <a:ea typeface="Calibri" pitchFamily="34" charset="-122"/>
                <a:cs typeface="Calibri" pitchFamily="34" charset="-120"/>
              </a:rPr>
              <a:t>Show the fine print proactively: 'Here's the cancellation window, here's the production guarantee, here's what you do if there's a problem — I want you to see this before I ask for anything'</a:t>
            </a:r>
            <a:endParaRPr lang="en-US" sz="1300" dirty="0"/>
          </a:p>
          <a:p>
            <a:pPr marL="342900" indent="-342900">
              <a:spcAft>
                <a:spcPts val="600"/>
              </a:spcAft>
              <a:buSzPct val="100000"/>
              <a:buChar char="•"/>
            </a:pPr>
            <a:r>
              <a:rPr lang="en-US" sz="1300" dirty="0">
                <a:solidFill>
                  <a:srgbClr val="FFFFFF"/>
                </a:solidFill>
                <a:latin typeface="Calibri" pitchFamily="34" charset="0"/>
                <a:ea typeface="Calibri" pitchFamily="34" charset="-122"/>
                <a:cs typeface="Calibri" pitchFamily="34" charset="-120"/>
              </a:rPr>
              <a:t>The Boomerang: homeowners who try to disqualify themselves usually end up MORE committed when the rep doesn't push back</a:t>
            </a:r>
            <a:endParaRPr lang="en-US" sz="1300" dirty="0"/>
          </a:p>
        </p:txBody>
      </p:sp>
      <p:sp>
        <p:nvSpPr>
          <p:cNvPr id="6" name="Shape 4"/>
          <p:cNvSpPr/>
          <p:nvPr/>
        </p:nvSpPr>
        <p:spPr>
          <a:xfrm>
            <a:off x="0" y="4663440"/>
            <a:ext cx="9144000" cy="480060"/>
          </a:xfrm>
          <a:prstGeom prst="rect">
            <a:avLst/>
          </a:prstGeom>
          <a:solidFill>
            <a:srgbClr val="E07B39">
              <a:alpha val="15000"/>
            </a:srgbClr>
          </a:solidFill>
          <a:ln w="12700">
            <a:solidFill>
              <a:srgbClr val="E07B39">
                <a:alpha val="15000"/>
              </a:srgbClr>
            </a:solidFill>
            <a:prstDash val="solid"/>
          </a:ln>
        </p:spPr>
      </p:sp>
      <p:sp>
        <p:nvSpPr>
          <p:cNvPr id="7" name="Text 5"/>
          <p:cNvSpPr/>
          <p:nvPr/>
        </p:nvSpPr>
        <p:spPr>
          <a:xfrm>
            <a:off x="274320" y="4690872"/>
            <a:ext cx="8686800" cy="384048"/>
          </a:xfrm>
          <a:prstGeom prst="rect">
            <a:avLst/>
          </a:prstGeom>
          <a:noFill/>
          <a:ln/>
        </p:spPr>
        <p:txBody>
          <a:bodyPr wrap="square" lIns="0" tIns="0" rIns="0" bIns="0" rtlCol="0" anchor="ctr"/>
          <a:lstStyle/>
          <a:p>
            <a:pPr algn="l" indent="0" marL="0">
              <a:buNone/>
            </a:pPr>
            <a:r>
              <a:rPr lang="en-US" sz="900" i="1" dirty="0">
                <a:solidFill>
                  <a:srgbClr val="E07B39"/>
                </a:solidFill>
                <a:latin typeface="Calibri" pitchFamily="34" charset="0"/>
                <a:ea typeface="Calibri" pitchFamily="34" charset="-122"/>
                <a:cs typeface="Calibri" pitchFamily="34" charset="-120"/>
              </a:rPr>
              <a:t>📋 TRAINER NOTE: Radical Transparency is the most advanced trust-building tool in the curriculum. It works because it is the exact opposite of what a dishonest company would do. Showing the worst case, the fine print, and the DQ criteria signals: 'I have nothing to hide.'</a:t>
            </a:r>
            <a:endParaRPr lang="en-US" sz="9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F4A61D"/>
          </a:solidFill>
          <a:ln w="12700">
            <a:solidFill>
              <a:srgbClr val="F4A61D"/>
            </a:solidFill>
            <a:prstDash val="solid"/>
          </a:ln>
        </p:spPr>
      </p:sp>
      <p:sp>
        <p:nvSpPr>
          <p:cNvPr id="3" name="Text 1"/>
          <p:cNvSpPr/>
          <p:nvPr/>
        </p:nvSpPr>
        <p:spPr>
          <a:xfrm>
            <a:off x="274320" y="164592"/>
            <a:ext cx="8503920" cy="530352"/>
          </a:xfrm>
          <a:prstGeom prst="rect">
            <a:avLst/>
          </a:prstGeom>
          <a:noFill/>
          <a:ln/>
        </p:spPr>
        <p:txBody>
          <a:bodyPr wrap="square" lIns="0" tIns="0" rIns="0" bIns="0" rtlCol="0" anchor="ctr"/>
          <a:lstStyle/>
          <a:p>
            <a:pPr algn="l" indent="0" marL="0">
              <a:buNone/>
            </a:pPr>
            <a:r>
              <a:rPr lang="en-US" sz="2000" b="1" dirty="0">
                <a:solidFill>
                  <a:srgbClr val="F4A61D"/>
                </a:solidFill>
                <a:latin typeface="Arial Black" pitchFamily="34" charset="0"/>
                <a:ea typeface="Arial Black" pitchFamily="34" charset="-122"/>
                <a:cs typeface="Arial Black" pitchFamily="34" charset="-120"/>
              </a:rPr>
              <a:t>Hostile Homeowner Response Matrix</a:t>
            </a:r>
            <a:endParaRPr lang="en-US" sz="2000" dirty="0"/>
          </a:p>
        </p:txBody>
      </p:sp>
      <p:sp>
        <p:nvSpPr>
          <p:cNvPr id="4" name="Shape 2"/>
          <p:cNvSpPr/>
          <p:nvPr/>
        </p:nvSpPr>
        <p:spPr>
          <a:xfrm>
            <a:off x="274320" y="713232"/>
            <a:ext cx="8503920" cy="27432"/>
          </a:xfrm>
          <a:prstGeom prst="rect">
            <a:avLst/>
          </a:prstGeom>
          <a:solidFill>
            <a:srgbClr val="F4A61D">
              <a:alpha val="40000"/>
            </a:srgbClr>
          </a:solidFill>
          <a:ln w="12700">
            <a:solidFill>
              <a:srgbClr val="F4A61D">
                <a:alpha val="40000"/>
              </a:srgbClr>
            </a:solidFill>
            <a:prstDash val="solid"/>
          </a:ln>
        </p:spPr>
      </p:sp>
      <p:sp>
        <p:nvSpPr>
          <p:cNvPr id="5" name="Shape 3"/>
          <p:cNvSpPr/>
          <p:nvPr/>
        </p:nvSpPr>
        <p:spPr>
          <a:xfrm>
            <a:off x="274320" y="804672"/>
            <a:ext cx="4160520" cy="347472"/>
          </a:xfrm>
          <a:prstGeom prst="rect">
            <a:avLst/>
          </a:prstGeom>
          <a:solidFill>
            <a:srgbClr val="C0392B"/>
          </a:solidFill>
          <a:ln w="12700">
            <a:solidFill>
              <a:srgbClr val="C0392B"/>
            </a:solidFill>
            <a:prstDash val="solid"/>
          </a:ln>
        </p:spPr>
      </p:sp>
      <p:sp>
        <p:nvSpPr>
          <p:cNvPr id="6" name="Shape 4"/>
          <p:cNvSpPr/>
          <p:nvPr/>
        </p:nvSpPr>
        <p:spPr>
          <a:xfrm>
            <a:off x="4572000" y="804672"/>
            <a:ext cx="4206240" cy="347472"/>
          </a:xfrm>
          <a:prstGeom prst="rect">
            <a:avLst/>
          </a:prstGeom>
          <a:solidFill>
            <a:srgbClr val="2D9B4E"/>
          </a:solidFill>
          <a:ln w="12700">
            <a:solidFill>
              <a:srgbClr val="2D9B4E"/>
            </a:solidFill>
            <a:prstDash val="solid"/>
          </a:ln>
        </p:spPr>
      </p:sp>
      <p:sp>
        <p:nvSpPr>
          <p:cNvPr id="7" name="Text 5"/>
          <p:cNvSpPr/>
          <p:nvPr/>
        </p:nvSpPr>
        <p:spPr>
          <a:xfrm>
            <a:off x="320040" y="822960"/>
            <a:ext cx="4069080"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Arial Black" pitchFamily="34" charset="0"/>
                <a:ea typeface="Arial Black" pitchFamily="34" charset="-122"/>
                <a:cs typeface="Arial Black" pitchFamily="34" charset="-120"/>
              </a:rPr>
              <a:t>🚩  HOMEOWNER SAYS</a:t>
            </a:r>
            <a:endParaRPr lang="en-US" sz="1100" dirty="0"/>
          </a:p>
        </p:txBody>
      </p:sp>
      <p:sp>
        <p:nvSpPr>
          <p:cNvPr id="8" name="Text 6"/>
          <p:cNvSpPr/>
          <p:nvPr/>
        </p:nvSpPr>
        <p:spPr>
          <a:xfrm>
            <a:off x="4617720" y="822960"/>
            <a:ext cx="4114800"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Arial Black" pitchFamily="34" charset="0"/>
                <a:ea typeface="Arial Black" pitchFamily="34" charset="-122"/>
                <a:cs typeface="Arial Black" pitchFamily="34" charset="-120"/>
              </a:rPr>
              <a:t>✅  REP RESPONDS (ACAC)</a:t>
            </a:r>
            <a:endParaRPr lang="en-US" sz="1100" dirty="0"/>
          </a:p>
        </p:txBody>
      </p:sp>
      <p:sp>
        <p:nvSpPr>
          <p:cNvPr id="9" name="Shape 7"/>
          <p:cNvSpPr/>
          <p:nvPr/>
        </p:nvSpPr>
        <p:spPr>
          <a:xfrm>
            <a:off x="274320" y="1225296"/>
            <a:ext cx="4160520" cy="585216"/>
          </a:xfrm>
          <a:prstGeom prst="rect">
            <a:avLst/>
          </a:prstGeom>
          <a:solidFill>
            <a:srgbClr val="1A2840"/>
          </a:solidFill>
          <a:ln w="6350">
            <a:solidFill>
              <a:srgbClr val="4A5568"/>
            </a:solidFill>
            <a:prstDash val="solid"/>
          </a:ln>
        </p:spPr>
      </p:sp>
      <p:sp>
        <p:nvSpPr>
          <p:cNvPr id="10" name="Shape 8"/>
          <p:cNvSpPr/>
          <p:nvPr/>
        </p:nvSpPr>
        <p:spPr>
          <a:xfrm>
            <a:off x="4572000" y="1225296"/>
            <a:ext cx="4206240" cy="585216"/>
          </a:xfrm>
          <a:prstGeom prst="rect">
            <a:avLst/>
          </a:prstGeom>
          <a:solidFill>
            <a:srgbClr val="1A2840"/>
          </a:solidFill>
          <a:ln w="6350">
            <a:solidFill>
              <a:srgbClr val="4A5568"/>
            </a:solidFill>
            <a:prstDash val="solid"/>
          </a:ln>
        </p:spPr>
      </p:sp>
      <p:sp>
        <p:nvSpPr>
          <p:cNvPr id="11" name="Text 9"/>
          <p:cNvSpPr/>
          <p:nvPr/>
        </p:nvSpPr>
        <p:spPr>
          <a:xfrm>
            <a:off x="365760" y="1271016"/>
            <a:ext cx="3977640" cy="493776"/>
          </a:xfrm>
          <a:prstGeom prst="rect">
            <a:avLst/>
          </a:prstGeom>
          <a:noFill/>
          <a:ln/>
        </p:spPr>
        <p:txBody>
          <a:bodyPr wrap="square" lIns="0" tIns="0" rIns="0" bIns="0" rtlCol="0" anchor="ctr"/>
          <a:lstStyle/>
          <a:p>
            <a:pPr algn="l" indent="0" marL="0">
              <a:buNone/>
            </a:pPr>
            <a:r>
              <a:rPr lang="en-US" sz="1100" dirty="0">
                <a:solidFill>
                  <a:srgbClr val="8FA3B1"/>
                </a:solidFill>
                <a:latin typeface="Calibri" pitchFamily="34" charset="0"/>
                <a:ea typeface="Calibri" pitchFamily="34" charset="-122"/>
                <a:cs typeface="Calibri" pitchFamily="34" charset="-120"/>
              </a:rPr>
              <a:t>'Solar is a scam — I don't believe any of this'</a:t>
            </a:r>
            <a:endParaRPr lang="en-US" sz="1100" dirty="0"/>
          </a:p>
        </p:txBody>
      </p:sp>
      <p:sp>
        <p:nvSpPr>
          <p:cNvPr id="12" name="Text 10"/>
          <p:cNvSpPr/>
          <p:nvPr/>
        </p:nvSpPr>
        <p:spPr>
          <a:xfrm>
            <a:off x="4663440" y="1271016"/>
            <a:ext cx="4023360" cy="493776"/>
          </a:xfrm>
          <a:prstGeom prst="rect">
            <a:avLst/>
          </a:prstGeom>
          <a:noFill/>
          <a:ln/>
        </p:spPr>
        <p:txBody>
          <a:bodyPr wrap="square" lIns="0" tIns="0" rIns="0" bIns="0" rtlCol="0" anchor="ctr"/>
          <a:lstStyle/>
          <a:p>
            <a:pPr algn="l" indent="0" marL="0">
              <a:buNone/>
            </a:pPr>
            <a:r>
              <a:rPr lang="en-US" sz="1100" b="1" dirty="0">
                <a:solidFill>
                  <a:srgbClr val="FFFFFF"/>
                </a:solidFill>
                <a:latin typeface="Calibri" pitchFamily="34" charset="0"/>
                <a:ea typeface="Calibri" pitchFamily="34" charset="-122"/>
                <a:cs typeface="Calibri" pitchFamily="34" charset="-120"/>
              </a:rPr>
              <a:t>'You're right to be skeptical. Let me show you what separates us from the ones you've heard about.'</a:t>
            </a:r>
            <a:endParaRPr lang="en-US" sz="1100" dirty="0"/>
          </a:p>
        </p:txBody>
      </p:sp>
      <p:sp>
        <p:nvSpPr>
          <p:cNvPr id="13" name="Shape 11"/>
          <p:cNvSpPr/>
          <p:nvPr/>
        </p:nvSpPr>
        <p:spPr>
          <a:xfrm>
            <a:off x="274320" y="1901952"/>
            <a:ext cx="4160520" cy="585216"/>
          </a:xfrm>
          <a:prstGeom prst="rect">
            <a:avLst/>
          </a:prstGeom>
          <a:solidFill>
            <a:srgbClr val="0D1B2A"/>
          </a:solidFill>
          <a:ln w="6350">
            <a:solidFill>
              <a:srgbClr val="4A5568"/>
            </a:solidFill>
            <a:prstDash val="solid"/>
          </a:ln>
        </p:spPr>
      </p:sp>
      <p:sp>
        <p:nvSpPr>
          <p:cNvPr id="14" name="Shape 12"/>
          <p:cNvSpPr/>
          <p:nvPr/>
        </p:nvSpPr>
        <p:spPr>
          <a:xfrm>
            <a:off x="4572000" y="1901952"/>
            <a:ext cx="4206240" cy="585216"/>
          </a:xfrm>
          <a:prstGeom prst="rect">
            <a:avLst/>
          </a:prstGeom>
          <a:solidFill>
            <a:srgbClr val="0D1B2A"/>
          </a:solidFill>
          <a:ln w="6350">
            <a:solidFill>
              <a:srgbClr val="4A5568"/>
            </a:solidFill>
            <a:prstDash val="solid"/>
          </a:ln>
        </p:spPr>
      </p:sp>
      <p:sp>
        <p:nvSpPr>
          <p:cNvPr id="15" name="Text 13"/>
          <p:cNvSpPr/>
          <p:nvPr/>
        </p:nvSpPr>
        <p:spPr>
          <a:xfrm>
            <a:off x="365760" y="1947672"/>
            <a:ext cx="3977640" cy="493776"/>
          </a:xfrm>
          <a:prstGeom prst="rect">
            <a:avLst/>
          </a:prstGeom>
          <a:noFill/>
          <a:ln/>
        </p:spPr>
        <p:txBody>
          <a:bodyPr wrap="square" lIns="0" tIns="0" rIns="0" bIns="0" rtlCol="0" anchor="ctr"/>
          <a:lstStyle/>
          <a:p>
            <a:pPr algn="l" indent="0" marL="0">
              <a:buNone/>
            </a:pPr>
            <a:r>
              <a:rPr lang="en-US" sz="1100" dirty="0">
                <a:solidFill>
                  <a:srgbClr val="8FA3B1"/>
                </a:solidFill>
                <a:latin typeface="Calibri" pitchFamily="34" charset="0"/>
                <a:ea typeface="Calibri" pitchFamily="34" charset="-122"/>
                <a:cs typeface="Calibri" pitchFamily="34" charset="-120"/>
              </a:rPr>
              <a:t>'I had solar before and it was a nightmare'</a:t>
            </a:r>
            <a:endParaRPr lang="en-US" sz="1100" dirty="0"/>
          </a:p>
        </p:txBody>
      </p:sp>
      <p:sp>
        <p:nvSpPr>
          <p:cNvPr id="16" name="Text 14"/>
          <p:cNvSpPr/>
          <p:nvPr/>
        </p:nvSpPr>
        <p:spPr>
          <a:xfrm>
            <a:off x="4663440" y="1947672"/>
            <a:ext cx="4023360" cy="493776"/>
          </a:xfrm>
          <a:prstGeom prst="rect">
            <a:avLst/>
          </a:prstGeom>
          <a:noFill/>
          <a:ln/>
        </p:spPr>
        <p:txBody>
          <a:bodyPr wrap="square" lIns="0" tIns="0" rIns="0" bIns="0" rtlCol="0" anchor="ctr"/>
          <a:lstStyle/>
          <a:p>
            <a:pPr algn="l" indent="0" marL="0">
              <a:buNone/>
            </a:pPr>
            <a:r>
              <a:rPr lang="en-US" sz="1100" b="1" dirty="0">
                <a:solidFill>
                  <a:srgbClr val="FFFFFF"/>
                </a:solidFill>
                <a:latin typeface="Calibri" pitchFamily="34" charset="0"/>
                <a:ea typeface="Calibri" pitchFamily="34" charset="-122"/>
                <a:cs typeface="Calibri" pitchFamily="34" charset="-120"/>
              </a:rPr>
              <a:t>'I'm sorry that happened. Can I ask what specifically went wrong? I want to make sure we address that directly.'</a:t>
            </a:r>
            <a:endParaRPr lang="en-US" sz="1100" dirty="0"/>
          </a:p>
        </p:txBody>
      </p:sp>
      <p:sp>
        <p:nvSpPr>
          <p:cNvPr id="17" name="Shape 15"/>
          <p:cNvSpPr/>
          <p:nvPr/>
        </p:nvSpPr>
        <p:spPr>
          <a:xfrm>
            <a:off x="274320" y="2578608"/>
            <a:ext cx="4160520" cy="585216"/>
          </a:xfrm>
          <a:prstGeom prst="rect">
            <a:avLst/>
          </a:prstGeom>
          <a:solidFill>
            <a:srgbClr val="1A2840"/>
          </a:solidFill>
          <a:ln w="6350">
            <a:solidFill>
              <a:srgbClr val="4A5568"/>
            </a:solidFill>
            <a:prstDash val="solid"/>
          </a:ln>
        </p:spPr>
      </p:sp>
      <p:sp>
        <p:nvSpPr>
          <p:cNvPr id="18" name="Shape 16"/>
          <p:cNvSpPr/>
          <p:nvPr/>
        </p:nvSpPr>
        <p:spPr>
          <a:xfrm>
            <a:off x="4572000" y="2578608"/>
            <a:ext cx="4206240" cy="585216"/>
          </a:xfrm>
          <a:prstGeom prst="rect">
            <a:avLst/>
          </a:prstGeom>
          <a:solidFill>
            <a:srgbClr val="1A2840"/>
          </a:solidFill>
          <a:ln w="6350">
            <a:solidFill>
              <a:srgbClr val="4A5568"/>
            </a:solidFill>
            <a:prstDash val="solid"/>
          </a:ln>
        </p:spPr>
      </p:sp>
      <p:sp>
        <p:nvSpPr>
          <p:cNvPr id="19" name="Text 17"/>
          <p:cNvSpPr/>
          <p:nvPr/>
        </p:nvSpPr>
        <p:spPr>
          <a:xfrm>
            <a:off x="365760" y="2624328"/>
            <a:ext cx="3977640" cy="493776"/>
          </a:xfrm>
          <a:prstGeom prst="rect">
            <a:avLst/>
          </a:prstGeom>
          <a:noFill/>
          <a:ln/>
        </p:spPr>
        <p:txBody>
          <a:bodyPr wrap="square" lIns="0" tIns="0" rIns="0" bIns="0" rtlCol="0" anchor="ctr"/>
          <a:lstStyle/>
          <a:p>
            <a:pPr algn="l" indent="0" marL="0">
              <a:buNone/>
            </a:pPr>
            <a:r>
              <a:rPr lang="en-US" sz="1100" dirty="0">
                <a:solidFill>
                  <a:srgbClr val="8FA3B1"/>
                </a:solidFill>
                <a:latin typeface="Calibri" pitchFamily="34" charset="0"/>
                <a:ea typeface="Calibri" pitchFamily="34" charset="-122"/>
                <a:cs typeface="Calibri" pitchFamily="34" charset="-120"/>
              </a:rPr>
              <a:t>'You salespeople all say the same thing'</a:t>
            </a:r>
            <a:endParaRPr lang="en-US" sz="1100" dirty="0"/>
          </a:p>
        </p:txBody>
      </p:sp>
      <p:sp>
        <p:nvSpPr>
          <p:cNvPr id="20" name="Text 18"/>
          <p:cNvSpPr/>
          <p:nvPr/>
        </p:nvSpPr>
        <p:spPr>
          <a:xfrm>
            <a:off x="4663440" y="2624328"/>
            <a:ext cx="4023360" cy="493776"/>
          </a:xfrm>
          <a:prstGeom prst="rect">
            <a:avLst/>
          </a:prstGeom>
          <a:noFill/>
          <a:ln/>
        </p:spPr>
        <p:txBody>
          <a:bodyPr wrap="square" lIns="0" tIns="0" rIns="0" bIns="0" rtlCol="0" anchor="ctr"/>
          <a:lstStyle/>
          <a:p>
            <a:pPr algn="l" indent="0" marL="0">
              <a:buNone/>
            </a:pPr>
            <a:r>
              <a:rPr lang="en-US" sz="1100" b="1" dirty="0">
                <a:solidFill>
                  <a:srgbClr val="FFFFFF"/>
                </a:solidFill>
                <a:latin typeface="Calibri" pitchFamily="34" charset="0"/>
                <a:ea typeface="Calibri" pitchFamily="34" charset="-122"/>
                <a:cs typeface="Calibri" pitchFamily="34" charset="-120"/>
              </a:rPr>
              <a:t>'Fair. What would I need to show you that would prove I'm being straight with you?'</a:t>
            </a:r>
            <a:endParaRPr lang="en-US" sz="1100" dirty="0"/>
          </a:p>
        </p:txBody>
      </p:sp>
      <p:sp>
        <p:nvSpPr>
          <p:cNvPr id="21" name="Shape 19"/>
          <p:cNvSpPr/>
          <p:nvPr/>
        </p:nvSpPr>
        <p:spPr>
          <a:xfrm>
            <a:off x="274320" y="3255264"/>
            <a:ext cx="4160520" cy="585216"/>
          </a:xfrm>
          <a:prstGeom prst="rect">
            <a:avLst/>
          </a:prstGeom>
          <a:solidFill>
            <a:srgbClr val="0D1B2A"/>
          </a:solidFill>
          <a:ln w="6350">
            <a:solidFill>
              <a:srgbClr val="4A5568"/>
            </a:solidFill>
            <a:prstDash val="solid"/>
          </a:ln>
        </p:spPr>
      </p:sp>
      <p:sp>
        <p:nvSpPr>
          <p:cNvPr id="22" name="Shape 20"/>
          <p:cNvSpPr/>
          <p:nvPr/>
        </p:nvSpPr>
        <p:spPr>
          <a:xfrm>
            <a:off x="4572000" y="3255264"/>
            <a:ext cx="4206240" cy="585216"/>
          </a:xfrm>
          <a:prstGeom prst="rect">
            <a:avLst/>
          </a:prstGeom>
          <a:solidFill>
            <a:srgbClr val="0D1B2A"/>
          </a:solidFill>
          <a:ln w="6350">
            <a:solidFill>
              <a:srgbClr val="4A5568"/>
            </a:solidFill>
            <a:prstDash val="solid"/>
          </a:ln>
        </p:spPr>
      </p:sp>
      <p:sp>
        <p:nvSpPr>
          <p:cNvPr id="23" name="Text 21"/>
          <p:cNvSpPr/>
          <p:nvPr/>
        </p:nvSpPr>
        <p:spPr>
          <a:xfrm>
            <a:off x="365760" y="3300984"/>
            <a:ext cx="3977640" cy="493776"/>
          </a:xfrm>
          <a:prstGeom prst="rect">
            <a:avLst/>
          </a:prstGeom>
          <a:noFill/>
          <a:ln/>
        </p:spPr>
        <p:txBody>
          <a:bodyPr wrap="square" lIns="0" tIns="0" rIns="0" bIns="0" rtlCol="0" anchor="ctr"/>
          <a:lstStyle/>
          <a:p>
            <a:pPr algn="l" indent="0" marL="0">
              <a:buNone/>
            </a:pPr>
            <a:r>
              <a:rPr lang="en-US" sz="1100" dirty="0">
                <a:solidFill>
                  <a:srgbClr val="8FA3B1"/>
                </a:solidFill>
                <a:latin typeface="Calibri" pitchFamily="34" charset="0"/>
                <a:ea typeface="Calibri" pitchFamily="34" charset="-122"/>
                <a:cs typeface="Calibri" pitchFamily="34" charset="-120"/>
              </a:rPr>
              <a:t>'I've already done my research and I know solar is overpriced'</a:t>
            </a:r>
            <a:endParaRPr lang="en-US" sz="1100" dirty="0"/>
          </a:p>
        </p:txBody>
      </p:sp>
      <p:sp>
        <p:nvSpPr>
          <p:cNvPr id="24" name="Text 22"/>
          <p:cNvSpPr/>
          <p:nvPr/>
        </p:nvSpPr>
        <p:spPr>
          <a:xfrm>
            <a:off x="4663440" y="3300984"/>
            <a:ext cx="4023360" cy="493776"/>
          </a:xfrm>
          <a:prstGeom prst="rect">
            <a:avLst/>
          </a:prstGeom>
          <a:noFill/>
          <a:ln/>
        </p:spPr>
        <p:txBody>
          <a:bodyPr wrap="square" lIns="0" tIns="0" rIns="0" bIns="0" rtlCol="0" anchor="ctr"/>
          <a:lstStyle/>
          <a:p>
            <a:pPr algn="l" indent="0" marL="0">
              <a:buNone/>
            </a:pPr>
            <a:r>
              <a:rPr lang="en-US" sz="1100" b="1" dirty="0">
                <a:solidFill>
                  <a:srgbClr val="FFFFFF"/>
                </a:solidFill>
                <a:latin typeface="Calibri" pitchFamily="34" charset="0"/>
                <a:ea typeface="Calibri" pitchFamily="34" charset="-122"/>
                <a:cs typeface="Calibri" pitchFamily="34" charset="-120"/>
              </a:rPr>
              <a:t>'Great — then you'll be the perfect judge of whether what I'm showing you is competitive. What did you find?'</a:t>
            </a:r>
            <a:endParaRPr lang="en-US" sz="1100" dirty="0"/>
          </a:p>
        </p:txBody>
      </p:sp>
      <p:sp>
        <p:nvSpPr>
          <p:cNvPr id="25" name="Shape 23"/>
          <p:cNvSpPr/>
          <p:nvPr/>
        </p:nvSpPr>
        <p:spPr>
          <a:xfrm>
            <a:off x="0" y="4663440"/>
            <a:ext cx="9144000" cy="480060"/>
          </a:xfrm>
          <a:prstGeom prst="rect">
            <a:avLst/>
          </a:prstGeom>
          <a:solidFill>
            <a:srgbClr val="E07B39">
              <a:alpha val="15000"/>
            </a:srgbClr>
          </a:solidFill>
          <a:ln w="12700">
            <a:solidFill>
              <a:srgbClr val="E07B39">
                <a:alpha val="15000"/>
              </a:srgbClr>
            </a:solidFill>
            <a:prstDash val="solid"/>
          </a:ln>
        </p:spPr>
      </p:sp>
      <p:sp>
        <p:nvSpPr>
          <p:cNvPr id="26" name="Text 24"/>
          <p:cNvSpPr/>
          <p:nvPr/>
        </p:nvSpPr>
        <p:spPr>
          <a:xfrm>
            <a:off x="274320" y="4690872"/>
            <a:ext cx="8686800" cy="384048"/>
          </a:xfrm>
          <a:prstGeom prst="rect">
            <a:avLst/>
          </a:prstGeom>
          <a:noFill/>
          <a:ln/>
        </p:spPr>
        <p:txBody>
          <a:bodyPr wrap="square" lIns="0" tIns="0" rIns="0" bIns="0" rtlCol="0" anchor="ctr"/>
          <a:lstStyle/>
          <a:p>
            <a:pPr algn="l" indent="0" marL="0">
              <a:buNone/>
            </a:pPr>
            <a:r>
              <a:rPr lang="en-US" sz="900" i="1" dirty="0">
                <a:solidFill>
                  <a:srgbClr val="E07B39"/>
                </a:solidFill>
                <a:latin typeface="Calibri" pitchFamily="34" charset="0"/>
                <a:ea typeface="Calibri" pitchFamily="34" charset="-122"/>
                <a:cs typeface="Calibri" pitchFamily="34" charset="-120"/>
              </a:rPr>
              <a:t>📋 TRAINER NOTE: Each response uses agreement or curiosity — never defense. The moment a rep becomes defensive, they confirm the homeowner's suspicion that they have something to hide. Curiosity and agreement are the only weapons against hostility.</a:t>
            </a:r>
            <a:endParaRPr lang="en-US" sz="9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E07B39"/>
          </a:solidFill>
          <a:ln w="12700">
            <a:solidFill>
              <a:srgbClr val="E07B39"/>
            </a:solidFill>
            <a:prstDash val="solid"/>
          </a:ln>
        </p:spPr>
      </p:sp>
      <p:sp>
        <p:nvSpPr>
          <p:cNvPr id="3" name="Text 1"/>
          <p:cNvSpPr/>
          <p:nvPr/>
        </p:nvSpPr>
        <p:spPr>
          <a:xfrm>
            <a:off x="365760" y="73152"/>
            <a:ext cx="3657600" cy="365760"/>
          </a:xfrm>
          <a:prstGeom prst="rect">
            <a:avLst/>
          </a:prstGeom>
          <a:noFill/>
          <a:ln/>
        </p:spPr>
        <p:txBody>
          <a:bodyPr wrap="square" lIns="0" tIns="0" rIns="0" bIns="0" rtlCol="0" anchor="ctr"/>
          <a:lstStyle/>
          <a:p>
            <a:pPr algn="l" indent="0" marL="0">
              <a:buNone/>
            </a:pPr>
            <a:r>
              <a:rPr lang="en-US" sz="1200" b="1" spc="300" kern="0" dirty="0">
                <a:solidFill>
                  <a:srgbClr val="0D1B2A"/>
                </a:solidFill>
                <a:latin typeface="Arial Black" pitchFamily="34" charset="0"/>
                <a:ea typeface="Arial Black" pitchFamily="34" charset="-122"/>
                <a:cs typeface="Arial Black" pitchFamily="34" charset="-120"/>
              </a:rPr>
              <a:t>🎯  ACTIVITY</a:t>
            </a:r>
            <a:endParaRPr lang="en-US" sz="1200" dirty="0"/>
          </a:p>
        </p:txBody>
      </p:sp>
      <p:sp>
        <p:nvSpPr>
          <p:cNvPr id="4" name="Text 2"/>
          <p:cNvSpPr/>
          <p:nvPr/>
        </p:nvSpPr>
        <p:spPr>
          <a:xfrm>
            <a:off x="365760" y="457200"/>
            <a:ext cx="8412480" cy="457200"/>
          </a:xfrm>
          <a:prstGeom prst="rect">
            <a:avLst/>
          </a:prstGeom>
          <a:noFill/>
          <a:ln/>
        </p:spPr>
        <p:txBody>
          <a:bodyPr wrap="square" lIns="0" tIns="0" rIns="0" bIns="0" rtlCol="0" anchor="ctr"/>
          <a:lstStyle/>
          <a:p>
            <a:pPr algn="l" indent="0" marL="0">
              <a:buNone/>
            </a:pPr>
            <a:r>
              <a:rPr lang="en-US" sz="1700" b="1" dirty="0">
                <a:solidFill>
                  <a:srgbClr val="0D1B2A"/>
                </a:solidFill>
                <a:latin typeface="Arial Black" pitchFamily="34" charset="0"/>
                <a:ea typeface="Arial Black" pitchFamily="34" charset="-122"/>
                <a:cs typeface="Arial Black" pitchFamily="34" charset="-120"/>
              </a:rPr>
              <a:t>Activity: The Angry Homeowner Gauntlet</a:t>
            </a:r>
            <a:endParaRPr lang="en-US" sz="1700" dirty="0"/>
          </a:p>
        </p:txBody>
      </p:sp>
      <p:sp>
        <p:nvSpPr>
          <p:cNvPr id="5" name="Shape 3"/>
          <p:cNvSpPr/>
          <p:nvPr/>
        </p:nvSpPr>
        <p:spPr>
          <a:xfrm>
            <a:off x="274320" y="1143000"/>
            <a:ext cx="8595360" cy="475488"/>
          </a:xfrm>
          <a:prstGeom prst="rect">
            <a:avLst/>
          </a:prstGeom>
          <a:solidFill>
            <a:srgbClr val="1A2840"/>
          </a:solidFill>
          <a:ln w="12700">
            <a:solidFill>
              <a:srgbClr val="0891B2"/>
            </a:solidFill>
            <a:prstDash val="solid"/>
          </a:ln>
          <a:effectLst>
            <a:outerShdw sx="100000" sy="100000" kx="0" ky="0" algn="bl" rotWithShape="0" blurRad="101600" dist="38100" dir="8100000">
              <a:srgbClr val="000000">
                <a:alpha val="20000"/>
              </a:srgbClr>
            </a:outerShdw>
          </a:effectLst>
        </p:spPr>
      </p:sp>
      <p:sp>
        <p:nvSpPr>
          <p:cNvPr id="6" name="Text 4"/>
          <p:cNvSpPr/>
          <p:nvPr/>
        </p:nvSpPr>
        <p:spPr>
          <a:xfrm>
            <a:off x="411480" y="1170432"/>
            <a:ext cx="8321040" cy="420624"/>
          </a:xfrm>
          <a:prstGeom prst="rect">
            <a:avLst/>
          </a:prstGeom>
          <a:noFill/>
          <a:ln/>
        </p:spPr>
        <p:txBody>
          <a:bodyPr wrap="square" lIns="0" tIns="0" rIns="0" bIns="0" rtlCol="0" anchor="ctr"/>
          <a:lstStyle/>
          <a:p>
            <a:pPr algn="l" indent="0" marL="0">
              <a:buNone/>
            </a:pPr>
            <a:r>
              <a:rPr lang="en-US" sz="1100" b="1" i="1" dirty="0">
                <a:solidFill>
                  <a:srgbClr val="0891B2"/>
                </a:solidFill>
                <a:latin typeface="Calibri" pitchFamily="34" charset="0"/>
                <a:ea typeface="Calibri" pitchFamily="34" charset="-122"/>
                <a:cs typeface="Calibri" pitchFamily="34" charset="-120"/>
              </a:rPr>
              <a:t>OBJECTIVE: Maintain the Late Night DJ voice while being verbally challenged</a:t>
            </a:r>
            <a:endParaRPr lang="en-US" sz="1100" dirty="0"/>
          </a:p>
        </p:txBody>
      </p:sp>
      <p:sp>
        <p:nvSpPr>
          <p:cNvPr id="7" name="Text 5"/>
          <p:cNvSpPr/>
          <p:nvPr/>
        </p:nvSpPr>
        <p:spPr>
          <a:xfrm>
            <a:off x="365760" y="1755648"/>
            <a:ext cx="6858000" cy="2834640"/>
          </a:xfrm>
          <a:prstGeom prst="rect">
            <a:avLst/>
          </a:prstGeom>
          <a:noFill/>
          <a:ln/>
        </p:spPr>
        <p:txBody>
          <a:bodyPr wrap="square" lIns="0" tIns="0" rIns="0" bIns="0" rtlCol="0" anchor="t"/>
          <a:lstStyle/>
          <a:p>
            <a:pPr indent="0" marL="0">
              <a:spcAft>
                <a:spcPts val="800"/>
              </a:spcAft>
              <a:buNone/>
            </a:pPr>
            <a:r>
              <a:rPr lang="en-US" sz="1200" dirty="0">
                <a:solidFill>
                  <a:srgbClr val="FFFFFF"/>
                </a:solidFill>
                <a:latin typeface="Calibri" pitchFamily="34" charset="0"/>
                <a:ea typeface="Calibri" pitchFamily="34" charset="-122"/>
                <a:cs typeface="Calibri" pitchFamily="34" charset="-120"/>
              </a:rPr>
              <a:t>1.  Trainer reads hostile solar myths loudly and aggressively, one at a time: 'Solar causes fires,' 'Your company will be gone in 2 years,' 'I've seen 3 lawsuits against solar companies this year'</a:t>
            </a:r>
            <a:endParaRPr lang="en-US" sz="1200" dirty="0"/>
          </a:p>
          <a:p>
            <a:pPr indent="0" marL="0">
              <a:spcAft>
                <a:spcPts val="800"/>
              </a:spcAft>
              <a:buNone/>
            </a:pPr>
            <a:r>
              <a:rPr lang="en-US" sz="1200" dirty="0">
                <a:solidFill>
                  <a:srgbClr val="FFFFFF"/>
                </a:solidFill>
                <a:latin typeface="Calibri" pitchFamily="34" charset="0"/>
                <a:ea typeface="Calibri" pitchFamily="34" charset="-122"/>
                <a:cs typeface="Calibri" pitchFamily="34" charset="-120"/>
              </a:rPr>
              <a:t>2.  Rep must respond to each with: Join the Resistance → Clarify → Radical Transparency — all in a calm, measured voice</a:t>
            </a:r>
            <a:endParaRPr lang="en-US" sz="1200" dirty="0"/>
          </a:p>
          <a:p>
            <a:pPr indent="0" marL="0">
              <a:spcAft>
                <a:spcPts val="800"/>
              </a:spcAft>
              <a:buNone/>
            </a:pPr>
            <a:r>
              <a:rPr lang="en-US" sz="1200" dirty="0">
                <a:solidFill>
                  <a:srgbClr val="FFFFFF"/>
                </a:solidFill>
                <a:latin typeface="Calibri" pitchFamily="34" charset="0"/>
                <a:ea typeface="Calibri" pitchFamily="34" charset="-122"/>
                <a:cs typeface="Calibri" pitchFamily="34" charset="-120"/>
              </a:rPr>
              <a:t>3.  Evaluator watches for: any vocal pitch increase, any defensive body language, any defensive language</a:t>
            </a:r>
            <a:endParaRPr lang="en-US" sz="1200" dirty="0"/>
          </a:p>
          <a:p>
            <a:pPr indent="0" marL="0">
              <a:spcAft>
                <a:spcPts val="800"/>
              </a:spcAft>
              <a:buNone/>
            </a:pPr>
            <a:r>
              <a:rPr lang="en-US" sz="1200" dirty="0">
                <a:solidFill>
                  <a:srgbClr val="FFFFFF"/>
                </a:solidFill>
                <a:latin typeface="Calibri" pitchFamily="34" charset="0"/>
                <a:ea typeface="Calibri" pitchFamily="34" charset="-122"/>
                <a:cs typeface="Calibri" pitchFamily="34" charset="-120"/>
              </a:rPr>
              <a:t>4.  Rep 'passes' only when the trainer reduces their energy in response to the rep's calm</a:t>
            </a:r>
            <a:endParaRPr lang="en-US" sz="1200" dirty="0"/>
          </a:p>
          <a:p>
            <a:pPr indent="0" marL="0">
              <a:spcAft>
                <a:spcPts val="800"/>
              </a:spcAft>
              <a:buNone/>
            </a:pPr>
            <a:r>
              <a:rPr lang="en-US" sz="1200" dirty="0">
                <a:solidFill>
                  <a:srgbClr val="FFFFFF"/>
                </a:solidFill>
                <a:latin typeface="Calibri" pitchFamily="34" charset="0"/>
                <a:ea typeface="Calibri" pitchFamily="34" charset="-122"/>
                <a:cs typeface="Calibri" pitchFamily="34" charset="-120"/>
              </a:rPr>
              <a:t>5.  Deliverable: Recorded roleplay showing the de-escalation of a hostile homeowner — submit for review</a:t>
            </a:r>
            <a:endParaRPr lang="en-US" sz="1200" dirty="0"/>
          </a:p>
        </p:txBody>
      </p:sp>
      <p:sp>
        <p:nvSpPr>
          <p:cNvPr id="8" name="Shape 6"/>
          <p:cNvSpPr/>
          <p:nvPr/>
        </p:nvSpPr>
        <p:spPr>
          <a:xfrm>
            <a:off x="7132320" y="1755648"/>
            <a:ext cx="1737360" cy="914400"/>
          </a:xfrm>
          <a:prstGeom prst="rect">
            <a:avLst/>
          </a:prstGeom>
          <a:solidFill>
            <a:srgbClr val="F4A61D"/>
          </a:solidFill>
          <a:ln w="12700">
            <a:solidFill>
              <a:srgbClr val="F4A61D"/>
            </a:solidFill>
            <a:prstDash val="solid"/>
          </a:ln>
          <a:effectLst>
            <a:outerShdw sx="100000" sy="100000" kx="0" ky="0" algn="bl" rotWithShape="0" blurRad="101600" dist="38100" dir="8100000">
              <a:srgbClr val="000000">
                <a:alpha val="20000"/>
              </a:srgbClr>
            </a:outerShdw>
          </a:effectLst>
        </p:spPr>
      </p:sp>
      <p:sp>
        <p:nvSpPr>
          <p:cNvPr id="9" name="Text 7"/>
          <p:cNvSpPr/>
          <p:nvPr/>
        </p:nvSpPr>
        <p:spPr>
          <a:xfrm>
            <a:off x="7150608" y="1773936"/>
            <a:ext cx="1691640" cy="877824"/>
          </a:xfrm>
          <a:prstGeom prst="rect">
            <a:avLst/>
          </a:prstGeom>
          <a:noFill/>
          <a:ln/>
        </p:spPr>
        <p:txBody>
          <a:bodyPr wrap="square" lIns="0" tIns="0" rIns="0" bIns="0" rtlCol="0" anchor="ctr"/>
          <a:lstStyle/>
          <a:p>
            <a:pPr algn="ctr" indent="0" marL="0">
              <a:buNone/>
            </a:pPr>
            <a:r>
              <a:rPr lang="en-US" sz="1400" b="1" dirty="0">
                <a:solidFill>
                  <a:srgbClr val="0D1B2A"/>
                </a:solidFill>
                <a:latin typeface="Arial Black" pitchFamily="34" charset="0"/>
                <a:ea typeface="Arial Black" pitchFamily="34" charset="-122"/>
                <a:cs typeface="Arial Black" pitchFamily="34" charset="-120"/>
              </a:rPr>
              <a:t>30 MIN</a:t>
            </a:r>
            <a:endParaRPr lang="en-US" sz="14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9144000" cy="1691640"/>
          </a:xfrm>
          <a:prstGeom prst="rect">
            <a:avLst/>
          </a:prstGeom>
          <a:solidFill>
            <a:srgbClr val="F4A61D"/>
          </a:solidFill>
          <a:ln w="12700">
            <a:solidFill>
              <a:srgbClr val="F4A61D"/>
            </a:solidFill>
            <a:prstDash val="solid"/>
          </a:ln>
        </p:spPr>
      </p:sp>
      <p:sp>
        <p:nvSpPr>
          <p:cNvPr id="3" name="Text 1"/>
          <p:cNvSpPr/>
          <p:nvPr/>
        </p:nvSpPr>
        <p:spPr>
          <a:xfrm>
            <a:off x="365760" y="137160"/>
            <a:ext cx="8412480" cy="420624"/>
          </a:xfrm>
          <a:prstGeom prst="rect">
            <a:avLst/>
          </a:prstGeom>
          <a:noFill/>
          <a:ln/>
        </p:spPr>
        <p:txBody>
          <a:bodyPr wrap="square" lIns="0" tIns="0" rIns="0" bIns="0" rtlCol="0" anchor="ctr"/>
          <a:lstStyle/>
          <a:p>
            <a:pPr algn="l" indent="0" marL="0">
              <a:buNone/>
            </a:pPr>
            <a:r>
              <a:rPr lang="en-US" sz="1300" b="1" spc="400" kern="0" dirty="0">
                <a:solidFill>
                  <a:srgbClr val="0D1B2A"/>
                </a:solidFill>
                <a:latin typeface="Arial Black" pitchFamily="34" charset="0"/>
                <a:ea typeface="Arial Black" pitchFamily="34" charset="-122"/>
                <a:cs typeface="Arial Black" pitchFamily="34" charset="-120"/>
              </a:rPr>
              <a:t>MODULE 6.8</a:t>
            </a:r>
            <a:endParaRPr lang="en-US" sz="1300" dirty="0"/>
          </a:p>
        </p:txBody>
      </p:sp>
      <p:sp>
        <p:nvSpPr>
          <p:cNvPr id="4" name="Text 2"/>
          <p:cNvSpPr/>
          <p:nvPr/>
        </p:nvSpPr>
        <p:spPr>
          <a:xfrm>
            <a:off x="365760" y="530352"/>
            <a:ext cx="8412480" cy="1005840"/>
          </a:xfrm>
          <a:prstGeom prst="rect">
            <a:avLst/>
          </a:prstGeom>
          <a:noFill/>
          <a:ln/>
        </p:spPr>
        <p:txBody>
          <a:bodyPr wrap="square" lIns="0" tIns="0" rIns="0" bIns="0" rtlCol="0" anchor="ctr"/>
          <a:lstStyle/>
          <a:p>
            <a:pPr algn="l" indent="0" marL="0">
              <a:buNone/>
            </a:pPr>
            <a:r>
              <a:rPr lang="en-US" sz="2500" b="1" dirty="0">
                <a:solidFill>
                  <a:srgbClr val="0D1B2A"/>
                </a:solidFill>
                <a:latin typeface="Arial Black" pitchFamily="34" charset="0"/>
                <a:ea typeface="Arial Black" pitchFamily="34" charset="-122"/>
                <a:cs typeface="Arial Black" pitchFamily="34" charset="-120"/>
              </a:rPr>
              <a:t>Deal Rescue: The Emotional Reset</a:t>
            </a:r>
            <a:endParaRPr lang="en-US" sz="2500" dirty="0"/>
          </a:p>
        </p:txBody>
      </p:sp>
      <p:sp>
        <p:nvSpPr>
          <p:cNvPr id="5" name="Text 3"/>
          <p:cNvSpPr/>
          <p:nvPr/>
        </p:nvSpPr>
        <p:spPr>
          <a:xfrm>
            <a:off x="365760" y="1920240"/>
            <a:ext cx="8412480" cy="502920"/>
          </a:xfrm>
          <a:prstGeom prst="rect">
            <a:avLst/>
          </a:prstGeom>
          <a:noFill/>
          <a:ln/>
        </p:spPr>
        <p:txBody>
          <a:bodyPr wrap="square" lIns="0" tIns="0" rIns="0" bIns="0" rtlCol="0" anchor="ctr"/>
          <a:lstStyle/>
          <a:p>
            <a:pPr algn="l" indent="0" marL="0">
              <a:buNone/>
            </a:pPr>
            <a:r>
              <a:rPr lang="en-US" sz="1500" b="1" i="1" dirty="0">
                <a:solidFill>
                  <a:srgbClr val="F4A61D"/>
                </a:solidFill>
                <a:latin typeface="Calibri" pitchFamily="34" charset="0"/>
                <a:ea typeface="Calibri" pitchFamily="34" charset="-122"/>
                <a:cs typeface="Calibri" pitchFamily="34" charset="-120"/>
              </a:rPr>
              <a:t>Recover a Dying Deal Before It Walks Out the Door</a:t>
            </a:r>
            <a:endParaRPr lang="en-US" sz="1500" dirty="0"/>
          </a:p>
        </p:txBody>
      </p:sp>
      <p:sp>
        <p:nvSpPr>
          <p:cNvPr id="6" name="Shape 4"/>
          <p:cNvSpPr/>
          <p:nvPr/>
        </p:nvSpPr>
        <p:spPr>
          <a:xfrm>
            <a:off x="365760" y="2606040"/>
            <a:ext cx="164592" cy="164592"/>
          </a:xfrm>
          <a:prstGeom prst="ellipse">
            <a:avLst/>
          </a:prstGeom>
          <a:solidFill>
            <a:srgbClr val="F4A61D">
              <a:alpha val="40000"/>
            </a:srgbClr>
          </a:solidFill>
          <a:ln w="12700">
            <a:solidFill>
              <a:srgbClr val="F4A61D">
                <a:alpha val="40000"/>
              </a:srgbClr>
            </a:solidFill>
            <a:prstDash val="solid"/>
          </a:ln>
        </p:spPr>
      </p:sp>
      <p:sp>
        <p:nvSpPr>
          <p:cNvPr id="7" name="Shape 5"/>
          <p:cNvSpPr/>
          <p:nvPr/>
        </p:nvSpPr>
        <p:spPr>
          <a:xfrm>
            <a:off x="685800" y="2606040"/>
            <a:ext cx="164592" cy="164592"/>
          </a:xfrm>
          <a:prstGeom prst="ellipse">
            <a:avLst/>
          </a:prstGeom>
          <a:solidFill>
            <a:srgbClr val="F4A61D">
              <a:alpha val="40000"/>
            </a:srgbClr>
          </a:solidFill>
          <a:ln w="12700">
            <a:solidFill>
              <a:srgbClr val="F4A61D">
                <a:alpha val="40000"/>
              </a:srgbClr>
            </a:solidFill>
            <a:prstDash val="solid"/>
          </a:ln>
        </p:spPr>
      </p:sp>
      <p:sp>
        <p:nvSpPr>
          <p:cNvPr id="8" name="Shape 6"/>
          <p:cNvSpPr/>
          <p:nvPr/>
        </p:nvSpPr>
        <p:spPr>
          <a:xfrm>
            <a:off x="1005840" y="2606040"/>
            <a:ext cx="164592" cy="164592"/>
          </a:xfrm>
          <a:prstGeom prst="ellipse">
            <a:avLst/>
          </a:prstGeom>
          <a:solidFill>
            <a:srgbClr val="F4A61D">
              <a:alpha val="40000"/>
            </a:srgbClr>
          </a:solidFill>
          <a:ln w="12700">
            <a:solidFill>
              <a:srgbClr val="F4A61D">
                <a:alpha val="40000"/>
              </a:srgbClr>
            </a:solidFill>
            <a:prstDash val="solid"/>
          </a:ln>
        </p:spPr>
      </p:sp>
      <p:sp>
        <p:nvSpPr>
          <p:cNvPr id="9" name="Shape 7"/>
          <p:cNvSpPr/>
          <p:nvPr/>
        </p:nvSpPr>
        <p:spPr>
          <a:xfrm>
            <a:off x="1325880" y="2606040"/>
            <a:ext cx="164592" cy="164592"/>
          </a:xfrm>
          <a:prstGeom prst="ellipse">
            <a:avLst/>
          </a:prstGeom>
          <a:solidFill>
            <a:srgbClr val="F4A61D">
              <a:alpha val="40000"/>
            </a:srgbClr>
          </a:solidFill>
          <a:ln w="12700">
            <a:solidFill>
              <a:srgbClr val="F4A61D">
                <a:alpha val="40000"/>
              </a:srgbClr>
            </a:solidFill>
            <a:prstDash val="solid"/>
          </a:ln>
        </p:spPr>
      </p:sp>
      <p:sp>
        <p:nvSpPr>
          <p:cNvPr id="10" name="Shape 8"/>
          <p:cNvSpPr/>
          <p:nvPr/>
        </p:nvSpPr>
        <p:spPr>
          <a:xfrm>
            <a:off x="1645920" y="2606040"/>
            <a:ext cx="164592" cy="164592"/>
          </a:xfrm>
          <a:prstGeom prst="ellipse">
            <a:avLst/>
          </a:prstGeom>
          <a:solidFill>
            <a:srgbClr val="F4A61D">
              <a:alpha val="40000"/>
            </a:srgbClr>
          </a:solidFill>
          <a:ln w="12700">
            <a:solidFill>
              <a:srgbClr val="F4A61D">
                <a:alpha val="40000"/>
              </a:srgbClr>
            </a:solidFill>
            <a:prstDash val="solid"/>
          </a:ln>
        </p:spPr>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4480560"/>
            <a:ext cx="9144000" cy="662940"/>
          </a:xfrm>
          <a:prstGeom prst="rect">
            <a:avLst/>
          </a:prstGeom>
          <a:solidFill>
            <a:srgbClr val="F4A61D"/>
          </a:solidFill>
          <a:ln w="12700">
            <a:solidFill>
              <a:srgbClr val="F4A61D"/>
            </a:solidFill>
            <a:prstDash val="solid"/>
          </a:ln>
        </p:spPr>
      </p:sp>
      <p:sp>
        <p:nvSpPr>
          <p:cNvPr id="3" name="Text 1"/>
          <p:cNvSpPr/>
          <p:nvPr/>
        </p:nvSpPr>
        <p:spPr>
          <a:xfrm>
            <a:off x="457200" y="1097280"/>
            <a:ext cx="8229600" cy="457200"/>
          </a:xfrm>
          <a:prstGeom prst="rect">
            <a:avLst/>
          </a:prstGeom>
          <a:noFill/>
          <a:ln/>
        </p:spPr>
        <p:txBody>
          <a:bodyPr wrap="square" lIns="0" tIns="0" rIns="0" bIns="0" rtlCol="0" anchor="ctr"/>
          <a:lstStyle/>
          <a:p>
            <a:pPr algn="l" indent="0" marL="0">
              <a:buNone/>
            </a:pPr>
            <a:r>
              <a:rPr lang="en-US" sz="1200" b="1" spc="500" kern="0" dirty="0">
                <a:solidFill>
                  <a:srgbClr val="F4A61D"/>
                </a:solidFill>
                <a:latin typeface="Arial" pitchFamily="34" charset="0"/>
                <a:ea typeface="Arial" pitchFamily="34" charset="-122"/>
                <a:cs typeface="Arial" pitchFamily="34" charset="-120"/>
              </a:rPr>
              <a:t>MODULE 6.8 — DEAL RESCUE</a:t>
            </a:r>
            <a:endParaRPr lang="en-US" sz="1200" dirty="0"/>
          </a:p>
        </p:txBody>
      </p:sp>
      <p:sp>
        <p:nvSpPr>
          <p:cNvPr id="4" name="Text 2"/>
          <p:cNvSpPr/>
          <p:nvPr/>
        </p:nvSpPr>
        <p:spPr>
          <a:xfrm>
            <a:off x="457200" y="1536192"/>
            <a:ext cx="7772400" cy="1325880"/>
          </a:xfrm>
          <a:prstGeom prst="rect">
            <a:avLst/>
          </a:prstGeom>
          <a:noFill/>
          <a:ln/>
        </p:spPr>
        <p:txBody>
          <a:bodyPr wrap="square" lIns="0" tIns="0" rIns="0" bIns="0" rtlCol="0" anchor="ctr"/>
          <a:lstStyle/>
          <a:p>
            <a:pPr algn="l" indent="0" marL="0">
              <a:buNone/>
            </a:pPr>
            <a:r>
              <a:rPr lang="en-US" sz="3100" b="1" dirty="0">
                <a:solidFill>
                  <a:srgbClr val="FFFFFF"/>
                </a:solidFill>
                <a:latin typeface="Arial Black" pitchFamily="34" charset="0"/>
                <a:ea typeface="Arial Black" pitchFamily="34" charset="-122"/>
                <a:cs typeface="Arial Black" pitchFamily="34" charset="-120"/>
              </a:rPr>
              <a:t>When the Consultation Goes Sideways — Take Control</a:t>
            </a:r>
            <a:endParaRPr lang="en-US" sz="3100" dirty="0"/>
          </a:p>
        </p:txBody>
      </p:sp>
      <p:sp>
        <p:nvSpPr>
          <p:cNvPr id="5" name="Text 3"/>
          <p:cNvSpPr/>
          <p:nvPr/>
        </p:nvSpPr>
        <p:spPr>
          <a:xfrm>
            <a:off x="457200" y="2971800"/>
            <a:ext cx="7772400" cy="1371600"/>
          </a:xfrm>
          <a:prstGeom prst="rect">
            <a:avLst/>
          </a:prstGeom>
          <a:noFill/>
          <a:ln/>
        </p:spPr>
        <p:txBody>
          <a:bodyPr wrap="square" lIns="0" tIns="0" rIns="0" bIns="0" rtlCol="0" anchor="ctr"/>
          <a:lstStyle/>
          <a:p>
            <a:pPr marL="342900" indent="-342900">
              <a:buSzPct val="100000"/>
              <a:buFont typeface="+mj-lt"/>
              <a:buAutoNum type="arabicPeriod" startAt="1"/>
            </a:pPr>
            <a:r>
              <a:rPr lang="en-US" sz="1300" dirty="0">
                <a:solidFill>
                  <a:srgbClr val="8FA3B1"/>
                </a:solidFill>
                <a:latin typeface="Calibri" pitchFamily="34" charset="0"/>
                <a:ea typeface="Calibri" pitchFamily="34" charset="-122"/>
                <a:cs typeface="Calibri" pitchFamily="34" charset="-120"/>
              </a:rPr>
              <a:t>The Elephant in the Room Move: name the wall before it buries you</a:t>
            </a:r>
            <a:endParaRPr lang="en-US" sz="1300" dirty="0"/>
          </a:p>
          <a:p>
            <a:pPr marL="342900" indent="-342900">
              <a:buSzPct val="100000"/>
              <a:buFont typeface="+mj-lt"/>
              <a:buAutoNum type="arabicPeriod" startAt="1"/>
            </a:pPr>
            <a:r>
              <a:rPr lang="en-US" sz="1300" dirty="0">
                <a:solidFill>
                  <a:srgbClr val="8FA3B1"/>
                </a:solidFill>
                <a:latin typeface="Calibri" pitchFamily="34" charset="0"/>
                <a:ea typeface="Calibri" pitchFamily="34" charset="-122"/>
                <a:cs typeface="Calibri" pitchFamily="34" charset="-120"/>
              </a:rPr>
              <a:t>The Take-Away (Negative Close): let them chase the deal you're offering to remove</a:t>
            </a:r>
            <a:endParaRPr lang="en-US" sz="1300" dirty="0"/>
          </a:p>
          <a:p>
            <a:pPr marL="342900" indent="-342900">
              <a:buSzPct val="100000"/>
              <a:buFont typeface="+mj-lt"/>
              <a:buAutoNum type="arabicPeriod" startAt="1"/>
            </a:pPr>
            <a:r>
              <a:rPr lang="en-US" sz="1300" dirty="0">
                <a:solidFill>
                  <a:srgbClr val="8FA3B1"/>
                </a:solidFill>
                <a:latin typeface="Calibri" pitchFamily="34" charset="0"/>
                <a:ea typeface="Calibri" pitchFamily="34" charset="-122"/>
                <a:cs typeface="Calibri" pitchFamily="34" charset="-120"/>
              </a:rPr>
              <a:t>Revisiting Discovery: going back to 'Why' when the 'What' has stalled</a:t>
            </a:r>
            <a:endParaRPr lang="en-US" sz="1300" dirty="0"/>
          </a:p>
          <a:p>
            <a:pPr marL="342900" indent="-342900">
              <a:buSzPct val="100000"/>
              <a:buFont typeface="+mj-lt"/>
              <a:buAutoNum type="arabicPeriod" startAt="1"/>
            </a:pPr>
            <a:r>
              <a:rPr lang="en-US" sz="1300" dirty="0">
                <a:solidFill>
                  <a:srgbClr val="8FA3B1"/>
                </a:solidFill>
                <a:latin typeface="Calibri" pitchFamily="34" charset="0"/>
                <a:ea typeface="Calibri" pitchFamily="34" charset="-122"/>
                <a:cs typeface="Calibri" pitchFamily="34" charset="-120"/>
              </a:rPr>
              <a:t>The written 'Deal Rescue' script</a:t>
            </a:r>
            <a:endParaRPr lang="en-US" sz="130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F4A61D"/>
          </a:solidFill>
          <a:ln w="12700">
            <a:solidFill>
              <a:srgbClr val="F4A61D"/>
            </a:solidFill>
            <a:prstDash val="solid"/>
          </a:ln>
        </p:spPr>
      </p:sp>
      <p:sp>
        <p:nvSpPr>
          <p:cNvPr id="3" name="Text 1"/>
          <p:cNvSpPr/>
          <p:nvPr/>
        </p:nvSpPr>
        <p:spPr>
          <a:xfrm>
            <a:off x="274320" y="164592"/>
            <a:ext cx="8503920" cy="594360"/>
          </a:xfrm>
          <a:prstGeom prst="rect">
            <a:avLst/>
          </a:prstGeom>
          <a:noFill/>
          <a:ln/>
        </p:spPr>
        <p:txBody>
          <a:bodyPr wrap="square" lIns="0" tIns="0" rIns="0" bIns="0" rtlCol="0" anchor="ctr"/>
          <a:lstStyle/>
          <a:p>
            <a:pPr algn="l" indent="0" marL="0">
              <a:buNone/>
            </a:pPr>
            <a:r>
              <a:rPr lang="en-US" sz="2000" b="1" dirty="0">
                <a:solidFill>
                  <a:srgbClr val="F4A61D"/>
                </a:solidFill>
                <a:latin typeface="Arial Black" pitchFamily="34" charset="0"/>
                <a:ea typeface="Arial Black" pitchFamily="34" charset="-122"/>
                <a:cs typeface="Arial Black" pitchFamily="34" charset="-120"/>
              </a:rPr>
              <a:t>The Elephant in the Room Move: Name the Wall</a:t>
            </a:r>
            <a:endParaRPr lang="en-US" sz="2000" dirty="0"/>
          </a:p>
        </p:txBody>
      </p:sp>
      <p:sp>
        <p:nvSpPr>
          <p:cNvPr id="4" name="Shape 2"/>
          <p:cNvSpPr/>
          <p:nvPr/>
        </p:nvSpPr>
        <p:spPr>
          <a:xfrm>
            <a:off x="274320" y="777240"/>
            <a:ext cx="8503920" cy="27432"/>
          </a:xfrm>
          <a:prstGeom prst="rect">
            <a:avLst/>
          </a:prstGeom>
          <a:solidFill>
            <a:srgbClr val="F4A61D">
              <a:alpha val="40000"/>
            </a:srgbClr>
          </a:solidFill>
          <a:ln w="12700">
            <a:solidFill>
              <a:srgbClr val="F4A61D">
                <a:alpha val="40000"/>
              </a:srgbClr>
            </a:solidFill>
            <a:prstDash val="solid"/>
          </a:ln>
        </p:spPr>
      </p:sp>
      <p:sp>
        <p:nvSpPr>
          <p:cNvPr id="5" name="Text 3"/>
          <p:cNvSpPr/>
          <p:nvPr/>
        </p:nvSpPr>
        <p:spPr>
          <a:xfrm>
            <a:off x="274320" y="914400"/>
            <a:ext cx="8503920" cy="1444752"/>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rgbClr val="FFFFFF"/>
                </a:solidFill>
                <a:latin typeface="Calibri" pitchFamily="34" charset="0"/>
                <a:ea typeface="Calibri" pitchFamily="34" charset="-122"/>
                <a:cs typeface="Calibri" pitchFamily="34" charset="-120"/>
              </a:rPr>
              <a:t>When a deal is visibly stalling — longer silences, shorter answers, defensive body language — call it out</a:t>
            </a:r>
            <a:endParaRPr lang="en-US" sz="1300" dirty="0"/>
          </a:p>
          <a:p>
            <a:pPr marL="342900" indent="-342900">
              <a:spcAft>
                <a:spcPts val="600"/>
              </a:spcAft>
              <a:buSzPct val="100000"/>
              <a:buChar char="•"/>
            </a:pPr>
            <a:r>
              <a:rPr lang="en-US" sz="1300" dirty="0">
                <a:solidFill>
                  <a:srgbClr val="FFFFFF"/>
                </a:solidFill>
                <a:latin typeface="Calibri" pitchFamily="34" charset="0"/>
                <a:ea typeface="Calibri" pitchFamily="34" charset="-122"/>
                <a:cs typeface="Calibri" pitchFamily="34" charset="-120"/>
              </a:rPr>
              <a:t>'I want to be straight with you — it feels like we've hit a wall somewhere. Can we take our sales hats off for a second and just talk?'</a:t>
            </a:r>
            <a:endParaRPr lang="en-US" sz="1300" dirty="0"/>
          </a:p>
          <a:p>
            <a:pPr marL="342900" indent="-342900">
              <a:spcAft>
                <a:spcPts val="600"/>
              </a:spcAft>
              <a:buSzPct val="100000"/>
              <a:buChar char="•"/>
            </a:pPr>
            <a:r>
              <a:rPr lang="en-US" sz="1300" dirty="0">
                <a:solidFill>
                  <a:srgbClr val="FFFFFF"/>
                </a:solidFill>
                <a:latin typeface="Calibri" pitchFamily="34" charset="0"/>
                <a:ea typeface="Calibri" pitchFamily="34" charset="-122"/>
                <a:cs typeface="Calibri" pitchFamily="34" charset="-120"/>
              </a:rPr>
              <a:t>'Where did I lose you? I'd rather find out now than have you leave feeling like this didn't work'</a:t>
            </a:r>
            <a:endParaRPr lang="en-US" sz="1300" dirty="0"/>
          </a:p>
          <a:p>
            <a:pPr marL="342900" indent="-342900">
              <a:spcAft>
                <a:spcPts val="600"/>
              </a:spcAft>
              <a:buSzPct val="100000"/>
              <a:buChar char="•"/>
            </a:pPr>
            <a:r>
              <a:rPr lang="en-US" sz="1300" dirty="0">
                <a:solidFill>
                  <a:srgbClr val="FFFFFF"/>
                </a:solidFill>
                <a:latin typeface="Calibri" pitchFamily="34" charset="0"/>
                <a:ea typeface="Calibri" pitchFamily="34" charset="-122"/>
                <a:cs typeface="Calibri" pitchFamily="34" charset="-120"/>
              </a:rPr>
              <a:t>This move resets the emotional tone from transactional to human — it creates a genuine pause that often unlocks the real concern</a:t>
            </a:r>
            <a:endParaRPr lang="en-US" sz="1300" dirty="0"/>
          </a:p>
        </p:txBody>
      </p:sp>
      <p:sp>
        <p:nvSpPr>
          <p:cNvPr id="6" name="Shape 4"/>
          <p:cNvSpPr/>
          <p:nvPr/>
        </p:nvSpPr>
        <p:spPr>
          <a:xfrm>
            <a:off x="274320" y="2468880"/>
            <a:ext cx="8503920" cy="1874520"/>
          </a:xfrm>
          <a:prstGeom prst="rect">
            <a:avLst/>
          </a:prstGeom>
          <a:solidFill>
            <a:srgbClr val="1A2840"/>
          </a:solidFill>
          <a:ln w="19050">
            <a:solidFill>
              <a:srgbClr val="0891B2"/>
            </a:solidFill>
            <a:prstDash val="solid"/>
          </a:ln>
          <a:effectLst>
            <a:outerShdw sx="100000" sy="100000" kx="0" ky="0" algn="bl" rotWithShape="0" blurRad="101600" dist="38100" dir="8100000">
              <a:srgbClr val="000000">
                <a:alpha val="20000"/>
              </a:srgbClr>
            </a:outerShdw>
          </a:effectLst>
        </p:spPr>
      </p:sp>
      <p:sp>
        <p:nvSpPr>
          <p:cNvPr id="7" name="Shape 5"/>
          <p:cNvSpPr/>
          <p:nvPr/>
        </p:nvSpPr>
        <p:spPr>
          <a:xfrm>
            <a:off x="274320" y="2468880"/>
            <a:ext cx="1097280" cy="347472"/>
          </a:xfrm>
          <a:prstGeom prst="rect">
            <a:avLst/>
          </a:prstGeom>
          <a:solidFill>
            <a:srgbClr val="0891B2"/>
          </a:solidFill>
          <a:ln w="12700">
            <a:solidFill>
              <a:srgbClr val="0891B2"/>
            </a:solidFill>
            <a:prstDash val="solid"/>
          </a:ln>
        </p:spPr>
      </p:sp>
      <p:sp>
        <p:nvSpPr>
          <p:cNvPr id="8" name="Text 6"/>
          <p:cNvSpPr/>
          <p:nvPr/>
        </p:nvSpPr>
        <p:spPr>
          <a:xfrm>
            <a:off x="292608" y="2487168"/>
            <a:ext cx="1051560" cy="310896"/>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Arial Black" pitchFamily="34" charset="0"/>
                <a:ea typeface="Arial Black" pitchFamily="34" charset="-122"/>
                <a:cs typeface="Arial Black" pitchFamily="34" charset="-120"/>
              </a:rPr>
              <a:t>DIALOGUE</a:t>
            </a:r>
            <a:endParaRPr lang="en-US" sz="900" dirty="0"/>
          </a:p>
        </p:txBody>
      </p:sp>
      <p:sp>
        <p:nvSpPr>
          <p:cNvPr id="9" name="Text 7"/>
          <p:cNvSpPr/>
          <p:nvPr/>
        </p:nvSpPr>
        <p:spPr>
          <a:xfrm>
            <a:off x="411480" y="2926080"/>
            <a:ext cx="8275320" cy="1325880"/>
          </a:xfrm>
          <a:prstGeom prst="rect">
            <a:avLst/>
          </a:prstGeom>
          <a:noFill/>
          <a:ln/>
        </p:spPr>
        <p:txBody>
          <a:bodyPr wrap="square" lIns="0" tIns="0" rIns="0" bIns="0" rtlCol="0" anchor="t"/>
          <a:lstStyle/>
          <a:p>
            <a:pPr indent="0" marL="0">
              <a:buNone/>
            </a:pPr>
            <a:r>
              <a:rPr lang="en-US" sz="1100" b="1" dirty="0">
                <a:solidFill>
                  <a:srgbClr val="F4A61D"/>
                </a:solidFill>
                <a:latin typeface="Calibri" pitchFamily="34" charset="0"/>
                <a:ea typeface="Calibri" pitchFamily="34" charset="-122"/>
                <a:cs typeface="Calibri" pitchFamily="34" charset="-120"/>
              </a:rPr>
              <a:t>Rep:</a:t>
            </a:r>
            <a:endParaRPr lang="en-US" sz="1100" dirty="0"/>
          </a:p>
          <a:p>
            <a:pPr indent="0" marL="0">
              <a:buNone/>
            </a:pPr>
            <a:r>
              <a:rPr lang="en-US" sz="1100" dirty="0">
                <a:solidFill>
                  <a:srgbClr val="FFFFFF"/>
                </a:solidFill>
                <a:latin typeface="Calibri" pitchFamily="34" charset="0"/>
                <a:ea typeface="Calibri" pitchFamily="34" charset="-122"/>
                <a:cs typeface="Calibri" pitchFamily="34" charset="-120"/>
              </a:rPr>
              <a:t>I'm going to be honest — I feel like we've hit a wall somewhere in the last 10 minutes, and I'd rather address it directly than pretend everything is fine. Where did I lose you?</a:t>
            </a:r>
            <a:endParaRPr lang="en-US" sz="1100" dirty="0"/>
          </a:p>
          <a:p>
            <a:pPr indent="0" marL="0">
              <a:buNone/>
            </a:pPr>
            <a:r>
              <a:rPr lang="en-US" sz="1100" b="1" dirty="0">
                <a:solidFill>
                  <a:srgbClr val="F4A61D"/>
                </a:solidFill>
                <a:latin typeface="Calibri" pitchFamily="34" charset="0"/>
                <a:ea typeface="Calibri" pitchFamily="34" charset="-122"/>
                <a:cs typeface="Calibri" pitchFamily="34" charset="-120"/>
              </a:rPr>
              <a:t>Homeowner:</a:t>
            </a:r>
            <a:endParaRPr lang="en-US" sz="1100" dirty="0"/>
          </a:p>
          <a:p>
            <a:pPr indent="0" marL="0">
              <a:buNone/>
            </a:pPr>
            <a:r>
              <a:rPr lang="en-US" sz="1100" dirty="0">
                <a:solidFill>
                  <a:srgbClr val="FFFFFF"/>
                </a:solidFill>
                <a:latin typeface="Calibri" pitchFamily="34" charset="0"/>
                <a:ea typeface="Calibri" pitchFamily="34" charset="-122"/>
                <a:cs typeface="Calibri" pitchFamily="34" charset="-120"/>
              </a:rPr>
              <a:t>[pause] It's just... my wife isn't as sure as I am.</a:t>
            </a:r>
            <a:endParaRPr lang="en-US" sz="1100" dirty="0"/>
          </a:p>
          <a:p>
            <a:pPr indent="0" marL="0">
              <a:buNone/>
            </a:pPr>
            <a:r>
              <a:rPr lang="en-US" sz="1100" b="1" dirty="0">
                <a:solidFill>
                  <a:srgbClr val="F4A61D"/>
                </a:solidFill>
                <a:latin typeface="Calibri" pitchFamily="34" charset="0"/>
                <a:ea typeface="Calibri" pitchFamily="34" charset="-122"/>
                <a:cs typeface="Calibri" pitchFamily="34" charset="-120"/>
              </a:rPr>
              <a:t>Rep:</a:t>
            </a:r>
            <a:endParaRPr lang="en-US" sz="1100" dirty="0"/>
          </a:p>
          <a:p>
            <a:pPr indent="0" marL="0">
              <a:buNone/>
            </a:pPr>
            <a:r>
              <a:rPr lang="en-US" sz="1100" dirty="0">
                <a:solidFill>
                  <a:srgbClr val="FFFFFF"/>
                </a:solidFill>
                <a:latin typeface="Calibri" pitchFamily="34" charset="0"/>
                <a:ea typeface="Calibri" pitchFamily="34" charset="-122"/>
                <a:cs typeface="Calibri" pitchFamily="34" charset="-120"/>
              </a:rPr>
              <a:t>That's important. Can I talk to both of you together for just 5 minutes about the specific thing she's worried about?</a:t>
            </a:r>
            <a:endParaRPr lang="en-US" sz="1100" dirty="0"/>
          </a:p>
        </p:txBody>
      </p:sp>
      <p:sp>
        <p:nvSpPr>
          <p:cNvPr id="10" name="Shape 8"/>
          <p:cNvSpPr/>
          <p:nvPr/>
        </p:nvSpPr>
        <p:spPr>
          <a:xfrm>
            <a:off x="0" y="4663440"/>
            <a:ext cx="9144000" cy="480060"/>
          </a:xfrm>
          <a:prstGeom prst="rect">
            <a:avLst/>
          </a:prstGeom>
          <a:solidFill>
            <a:srgbClr val="E07B39">
              <a:alpha val="15000"/>
            </a:srgbClr>
          </a:solidFill>
          <a:ln w="12700">
            <a:solidFill>
              <a:srgbClr val="E07B39">
                <a:alpha val="15000"/>
              </a:srgbClr>
            </a:solidFill>
            <a:prstDash val="solid"/>
          </a:ln>
        </p:spPr>
      </p:sp>
      <p:sp>
        <p:nvSpPr>
          <p:cNvPr id="11" name="Text 9"/>
          <p:cNvSpPr/>
          <p:nvPr/>
        </p:nvSpPr>
        <p:spPr>
          <a:xfrm>
            <a:off x="274320" y="4690872"/>
            <a:ext cx="8686800" cy="384048"/>
          </a:xfrm>
          <a:prstGeom prst="rect">
            <a:avLst/>
          </a:prstGeom>
          <a:noFill/>
          <a:ln/>
        </p:spPr>
        <p:txBody>
          <a:bodyPr wrap="square" lIns="0" tIns="0" rIns="0" bIns="0" rtlCol="0" anchor="ctr"/>
          <a:lstStyle/>
          <a:p>
            <a:pPr algn="l" indent="0" marL="0">
              <a:buNone/>
            </a:pPr>
            <a:r>
              <a:rPr lang="en-US" sz="900" i="1" dirty="0">
                <a:solidFill>
                  <a:srgbClr val="E07B39"/>
                </a:solidFill>
                <a:latin typeface="Calibri" pitchFamily="34" charset="0"/>
                <a:ea typeface="Calibri" pitchFamily="34" charset="-122"/>
                <a:cs typeface="Calibri" pitchFamily="34" charset="-120"/>
              </a:rPr>
              <a:t>📋 TRAINER NOTE: The Elephant Move requires courage — most reps are afraid that naming the stall will confirm the deal is dead. The opposite is true. Homeowners who were quietly shutting down often reengage when a rep is brave enough to name what everyone feels.</a:t>
            </a:r>
            <a:endParaRPr lang="en-US" sz="90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F4A61D"/>
          </a:solidFill>
          <a:ln w="12700">
            <a:solidFill>
              <a:srgbClr val="F4A61D"/>
            </a:solidFill>
            <a:prstDash val="solid"/>
          </a:ln>
        </p:spPr>
      </p:sp>
      <p:sp>
        <p:nvSpPr>
          <p:cNvPr id="3" name="Text 1"/>
          <p:cNvSpPr/>
          <p:nvPr/>
        </p:nvSpPr>
        <p:spPr>
          <a:xfrm>
            <a:off x="274320" y="164592"/>
            <a:ext cx="8503920" cy="594360"/>
          </a:xfrm>
          <a:prstGeom prst="rect">
            <a:avLst/>
          </a:prstGeom>
          <a:noFill/>
          <a:ln/>
        </p:spPr>
        <p:txBody>
          <a:bodyPr wrap="square" lIns="0" tIns="0" rIns="0" bIns="0" rtlCol="0" anchor="ctr"/>
          <a:lstStyle/>
          <a:p>
            <a:pPr algn="l" indent="0" marL="0">
              <a:buNone/>
            </a:pPr>
            <a:r>
              <a:rPr lang="en-US" sz="2000" b="1" dirty="0">
                <a:solidFill>
                  <a:srgbClr val="F4A61D"/>
                </a:solidFill>
                <a:latin typeface="Arial Black" pitchFamily="34" charset="0"/>
                <a:ea typeface="Arial Black" pitchFamily="34" charset="-122"/>
                <a:cs typeface="Arial Black" pitchFamily="34" charset="-120"/>
              </a:rPr>
              <a:t>The Take-Away (Negative Close): Let Them Chase the Deal</a:t>
            </a:r>
            <a:endParaRPr lang="en-US" sz="2000" dirty="0"/>
          </a:p>
        </p:txBody>
      </p:sp>
      <p:sp>
        <p:nvSpPr>
          <p:cNvPr id="4" name="Shape 2"/>
          <p:cNvSpPr/>
          <p:nvPr/>
        </p:nvSpPr>
        <p:spPr>
          <a:xfrm>
            <a:off x="274320" y="777240"/>
            <a:ext cx="8503920" cy="27432"/>
          </a:xfrm>
          <a:prstGeom prst="rect">
            <a:avLst/>
          </a:prstGeom>
          <a:solidFill>
            <a:srgbClr val="F4A61D">
              <a:alpha val="40000"/>
            </a:srgbClr>
          </a:solidFill>
          <a:ln w="12700">
            <a:solidFill>
              <a:srgbClr val="F4A61D">
                <a:alpha val="40000"/>
              </a:srgbClr>
            </a:solidFill>
            <a:prstDash val="solid"/>
          </a:ln>
        </p:spPr>
      </p:sp>
      <p:sp>
        <p:nvSpPr>
          <p:cNvPr id="5" name="Text 3"/>
          <p:cNvSpPr/>
          <p:nvPr/>
        </p:nvSpPr>
        <p:spPr>
          <a:xfrm>
            <a:off x="274320" y="914400"/>
            <a:ext cx="8503920" cy="1444752"/>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rgbClr val="FFFFFF"/>
                </a:solidFill>
                <a:latin typeface="Calibri" pitchFamily="34" charset="0"/>
                <a:ea typeface="Calibri" pitchFamily="34" charset="-122"/>
                <a:cs typeface="Calibri" pitchFamily="34" charset="-120"/>
              </a:rPr>
              <a:t>'Honestly, Mr. and Mrs. Johnson — based on what you're saying, it sounds like solar might not be the right fit for you right now. And that's completely okay.'</a:t>
            </a:r>
            <a:endParaRPr lang="en-US" sz="1300" dirty="0"/>
          </a:p>
          <a:p>
            <a:pPr marL="342900" indent="-342900">
              <a:spcAft>
                <a:spcPts val="600"/>
              </a:spcAft>
              <a:buSzPct val="100000"/>
              <a:buChar char="•"/>
            </a:pPr>
            <a:r>
              <a:rPr lang="en-US" sz="1300" dirty="0">
                <a:solidFill>
                  <a:srgbClr val="FFFFFF"/>
                </a:solidFill>
                <a:latin typeface="Calibri" pitchFamily="34" charset="0"/>
                <a:ea typeface="Calibri" pitchFamily="34" charset="-122"/>
                <a:cs typeface="Calibri" pitchFamily="34" charset="-120"/>
              </a:rPr>
              <a:t>'I'd rather you not do this and be happy with that decision than do it and have any regrets. Should we just table this for today?'</a:t>
            </a:r>
            <a:endParaRPr lang="en-US" sz="1300" dirty="0"/>
          </a:p>
          <a:p>
            <a:pPr marL="342900" indent="-342900">
              <a:spcAft>
                <a:spcPts val="600"/>
              </a:spcAft>
              <a:buSzPct val="100000"/>
              <a:buChar char="•"/>
            </a:pPr>
            <a:r>
              <a:rPr lang="en-US" sz="1300" dirty="0">
                <a:solidFill>
                  <a:srgbClr val="FFFFFF"/>
                </a:solidFill>
                <a:latin typeface="Calibri" pitchFamily="34" charset="0"/>
                <a:ea typeface="Calibri" pitchFamily="34" charset="-122"/>
                <a:cs typeface="Calibri" pitchFamily="34" charset="-120"/>
              </a:rPr>
              <a:t>The psychology: when a deal is offered and then removed, humans instinctively want what they can no longer have</a:t>
            </a:r>
            <a:endParaRPr lang="en-US" sz="1300" dirty="0"/>
          </a:p>
          <a:p>
            <a:pPr marL="342900" indent="-342900">
              <a:spcAft>
                <a:spcPts val="600"/>
              </a:spcAft>
              <a:buSzPct val="100000"/>
              <a:buChar char="•"/>
            </a:pPr>
            <a:r>
              <a:rPr lang="en-US" sz="1300" dirty="0">
                <a:solidFill>
                  <a:srgbClr val="FFFFFF"/>
                </a:solidFill>
                <a:latin typeface="Calibri" pitchFamily="34" charset="0"/>
                <a:ea typeface="Calibri" pitchFamily="34" charset="-122"/>
                <a:cs typeface="Calibri" pitchFamily="34" charset="-120"/>
              </a:rPr>
              <a:t>The Boomerang: most homeowners who were about to say no respond to the Take-Away by recommitting — often with the real objection now visible</a:t>
            </a:r>
            <a:endParaRPr lang="en-US" sz="1300" dirty="0"/>
          </a:p>
        </p:txBody>
      </p:sp>
      <p:sp>
        <p:nvSpPr>
          <p:cNvPr id="6" name="Shape 4"/>
          <p:cNvSpPr/>
          <p:nvPr/>
        </p:nvSpPr>
        <p:spPr>
          <a:xfrm>
            <a:off x="274320" y="2468880"/>
            <a:ext cx="8503920" cy="1874520"/>
          </a:xfrm>
          <a:prstGeom prst="rect">
            <a:avLst/>
          </a:prstGeom>
          <a:solidFill>
            <a:srgbClr val="1A2840"/>
          </a:solidFill>
          <a:ln w="19050">
            <a:solidFill>
              <a:srgbClr val="0891B2"/>
            </a:solidFill>
            <a:prstDash val="solid"/>
          </a:ln>
          <a:effectLst>
            <a:outerShdw sx="100000" sy="100000" kx="0" ky="0" algn="bl" rotWithShape="0" blurRad="101600" dist="38100" dir="8100000">
              <a:srgbClr val="000000">
                <a:alpha val="20000"/>
              </a:srgbClr>
            </a:outerShdw>
          </a:effectLst>
        </p:spPr>
      </p:sp>
      <p:sp>
        <p:nvSpPr>
          <p:cNvPr id="7" name="Shape 5"/>
          <p:cNvSpPr/>
          <p:nvPr/>
        </p:nvSpPr>
        <p:spPr>
          <a:xfrm>
            <a:off x="274320" y="2468880"/>
            <a:ext cx="1097280" cy="347472"/>
          </a:xfrm>
          <a:prstGeom prst="rect">
            <a:avLst/>
          </a:prstGeom>
          <a:solidFill>
            <a:srgbClr val="0891B2"/>
          </a:solidFill>
          <a:ln w="12700">
            <a:solidFill>
              <a:srgbClr val="0891B2"/>
            </a:solidFill>
            <a:prstDash val="solid"/>
          </a:ln>
        </p:spPr>
      </p:sp>
      <p:sp>
        <p:nvSpPr>
          <p:cNvPr id="8" name="Text 6"/>
          <p:cNvSpPr/>
          <p:nvPr/>
        </p:nvSpPr>
        <p:spPr>
          <a:xfrm>
            <a:off x="292608" y="2487168"/>
            <a:ext cx="1051560" cy="310896"/>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Arial Black" pitchFamily="34" charset="0"/>
                <a:ea typeface="Arial Black" pitchFamily="34" charset="-122"/>
                <a:cs typeface="Arial Black" pitchFamily="34" charset="-120"/>
              </a:rPr>
              <a:t>DIALOGUE</a:t>
            </a:r>
            <a:endParaRPr lang="en-US" sz="900" dirty="0"/>
          </a:p>
        </p:txBody>
      </p:sp>
      <p:sp>
        <p:nvSpPr>
          <p:cNvPr id="9" name="Text 7"/>
          <p:cNvSpPr/>
          <p:nvPr/>
        </p:nvSpPr>
        <p:spPr>
          <a:xfrm>
            <a:off x="411480" y="2926080"/>
            <a:ext cx="8275320" cy="1325880"/>
          </a:xfrm>
          <a:prstGeom prst="rect">
            <a:avLst/>
          </a:prstGeom>
          <a:noFill/>
          <a:ln/>
        </p:spPr>
        <p:txBody>
          <a:bodyPr wrap="square" lIns="0" tIns="0" rIns="0" bIns="0" rtlCol="0" anchor="t"/>
          <a:lstStyle/>
          <a:p>
            <a:pPr indent="0" marL="0">
              <a:buNone/>
            </a:pPr>
            <a:r>
              <a:rPr lang="en-US" sz="1100" b="1" dirty="0">
                <a:solidFill>
                  <a:srgbClr val="F4A61D"/>
                </a:solidFill>
                <a:latin typeface="Calibri" pitchFamily="34" charset="0"/>
                <a:ea typeface="Calibri" pitchFamily="34" charset="-122"/>
                <a:cs typeface="Calibri" pitchFamily="34" charset="-120"/>
              </a:rPr>
              <a:t>Rep:</a:t>
            </a:r>
            <a:endParaRPr lang="en-US" sz="1100" dirty="0"/>
          </a:p>
          <a:p>
            <a:pPr indent="0" marL="0">
              <a:buNone/>
            </a:pPr>
            <a:r>
              <a:rPr lang="en-US" sz="1100" dirty="0">
                <a:solidFill>
                  <a:srgbClr val="FFFFFF"/>
                </a:solidFill>
                <a:latin typeface="Calibri" pitchFamily="34" charset="0"/>
                <a:ea typeface="Calibri" pitchFamily="34" charset="-122"/>
                <a:cs typeface="Calibri" pitchFamily="34" charset="-120"/>
              </a:rPr>
              <a:t>I want to be honest with you — I've been doing this long enough to know when the timing isn't right. It sounds like there are a few things that aren't quite lined up for you today. I'd rather pull the plug and let you think through it than push you into something you're not sure about. Does that make sense?</a:t>
            </a:r>
            <a:endParaRPr lang="en-US" sz="1100" dirty="0"/>
          </a:p>
          <a:p>
            <a:pPr indent="0" marL="0">
              <a:buNone/>
            </a:pPr>
            <a:r>
              <a:rPr lang="en-US" sz="1100" b="1" dirty="0">
                <a:solidFill>
                  <a:srgbClr val="F4A61D"/>
                </a:solidFill>
                <a:latin typeface="Calibri" pitchFamily="34" charset="0"/>
                <a:ea typeface="Calibri" pitchFamily="34" charset="-122"/>
                <a:cs typeface="Calibri" pitchFamily="34" charset="-120"/>
              </a:rPr>
              <a:t>Homeowner:</a:t>
            </a:r>
            <a:endParaRPr lang="en-US" sz="1100" dirty="0"/>
          </a:p>
          <a:p>
            <a:pPr indent="0" marL="0">
              <a:buNone/>
            </a:pPr>
            <a:r>
              <a:rPr lang="en-US" sz="1100" dirty="0">
                <a:solidFill>
                  <a:srgbClr val="FFFFFF"/>
                </a:solidFill>
                <a:latin typeface="Calibri" pitchFamily="34" charset="0"/>
                <a:ea typeface="Calibri" pitchFamily="34" charset="-122"/>
                <a:cs typeface="Calibri" pitchFamily="34" charset="-120"/>
              </a:rPr>
              <a:t>Wait — no, I mean... we are interested. I think it's just the payment that's the sticking point.</a:t>
            </a:r>
            <a:endParaRPr lang="en-US" sz="1100" dirty="0"/>
          </a:p>
          <a:p>
            <a:pPr indent="0" marL="0">
              <a:buNone/>
            </a:pPr>
            <a:r>
              <a:rPr lang="en-US" sz="1100" b="1" dirty="0">
                <a:solidFill>
                  <a:srgbClr val="F4A61D"/>
                </a:solidFill>
                <a:latin typeface="Calibri" pitchFamily="34" charset="0"/>
                <a:ea typeface="Calibri" pitchFamily="34" charset="-122"/>
                <a:cs typeface="Calibri" pitchFamily="34" charset="-120"/>
              </a:rPr>
              <a:t>Rep:</a:t>
            </a:r>
            <a:endParaRPr lang="en-US" sz="1100" dirty="0"/>
          </a:p>
          <a:p>
            <a:pPr indent="0" marL="0">
              <a:buNone/>
            </a:pPr>
            <a:r>
              <a:rPr lang="en-US" sz="1100" dirty="0">
                <a:solidFill>
                  <a:srgbClr val="FFFFFF"/>
                </a:solidFill>
                <a:latin typeface="Calibri" pitchFamily="34" charset="0"/>
                <a:ea typeface="Calibri" pitchFamily="34" charset="-122"/>
                <a:cs typeface="Calibri" pitchFamily="34" charset="-120"/>
              </a:rPr>
              <a:t>I'm glad you said that. Tell me more about the payment concern — is it the monthly amount or the total?</a:t>
            </a:r>
            <a:endParaRPr lang="en-US" sz="1100" dirty="0"/>
          </a:p>
        </p:txBody>
      </p:sp>
      <p:sp>
        <p:nvSpPr>
          <p:cNvPr id="10" name="Shape 8"/>
          <p:cNvSpPr/>
          <p:nvPr/>
        </p:nvSpPr>
        <p:spPr>
          <a:xfrm>
            <a:off x="0" y="4663440"/>
            <a:ext cx="9144000" cy="480060"/>
          </a:xfrm>
          <a:prstGeom prst="rect">
            <a:avLst/>
          </a:prstGeom>
          <a:solidFill>
            <a:srgbClr val="E07B39">
              <a:alpha val="15000"/>
            </a:srgbClr>
          </a:solidFill>
          <a:ln w="12700">
            <a:solidFill>
              <a:srgbClr val="E07B39">
                <a:alpha val="15000"/>
              </a:srgbClr>
            </a:solidFill>
            <a:prstDash val="solid"/>
          </a:ln>
        </p:spPr>
      </p:sp>
      <p:sp>
        <p:nvSpPr>
          <p:cNvPr id="11" name="Text 9"/>
          <p:cNvSpPr/>
          <p:nvPr/>
        </p:nvSpPr>
        <p:spPr>
          <a:xfrm>
            <a:off x="274320" y="4690872"/>
            <a:ext cx="8686800" cy="384048"/>
          </a:xfrm>
          <a:prstGeom prst="rect">
            <a:avLst/>
          </a:prstGeom>
          <a:noFill/>
          <a:ln/>
        </p:spPr>
        <p:txBody>
          <a:bodyPr wrap="square" lIns="0" tIns="0" rIns="0" bIns="0" rtlCol="0" anchor="ctr"/>
          <a:lstStyle/>
          <a:p>
            <a:pPr algn="l" indent="0" marL="0">
              <a:buNone/>
            </a:pPr>
            <a:r>
              <a:rPr lang="en-US" sz="900" i="1" dirty="0">
                <a:solidFill>
                  <a:srgbClr val="E07B39"/>
                </a:solidFill>
                <a:latin typeface="Calibri" pitchFamily="34" charset="0"/>
                <a:ea typeface="Calibri" pitchFamily="34" charset="-122"/>
                <a:cs typeface="Calibri" pitchFamily="34" charset="-120"/>
              </a:rPr>
              <a:t>📋 TRAINER NOTE: The Take-Away is a high-risk, high-reward technique — only use it when the deal is already dying. It should feel genuine, not manipulative. The rep must be truly willing to let the deal go. If they aren't, the homeowner will smell the desperation and it will backfire.</a:t>
            </a:r>
            <a:endParaRPr lang="en-US" sz="90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F4A61D"/>
          </a:solidFill>
          <a:ln w="12700">
            <a:solidFill>
              <a:srgbClr val="F4A61D"/>
            </a:solidFill>
            <a:prstDash val="solid"/>
          </a:ln>
        </p:spPr>
      </p:sp>
      <p:sp>
        <p:nvSpPr>
          <p:cNvPr id="3" name="Text 1"/>
          <p:cNvSpPr/>
          <p:nvPr/>
        </p:nvSpPr>
        <p:spPr>
          <a:xfrm>
            <a:off x="274320" y="164592"/>
            <a:ext cx="8503920" cy="594360"/>
          </a:xfrm>
          <a:prstGeom prst="rect">
            <a:avLst/>
          </a:prstGeom>
          <a:noFill/>
          <a:ln/>
        </p:spPr>
        <p:txBody>
          <a:bodyPr wrap="square" lIns="0" tIns="0" rIns="0" bIns="0" rtlCol="0" anchor="ctr"/>
          <a:lstStyle/>
          <a:p>
            <a:pPr algn="l" indent="0" marL="0">
              <a:buNone/>
            </a:pPr>
            <a:r>
              <a:rPr lang="en-US" sz="2000" b="1" dirty="0">
                <a:solidFill>
                  <a:srgbClr val="F4A61D"/>
                </a:solidFill>
                <a:latin typeface="Arial Black" pitchFamily="34" charset="0"/>
                <a:ea typeface="Arial Black" pitchFamily="34" charset="-122"/>
                <a:cs typeface="Arial Black" pitchFamily="34" charset="-120"/>
              </a:rPr>
              <a:t>Revisiting Discovery: Go Back to the 'Why'</a:t>
            </a:r>
            <a:endParaRPr lang="en-US" sz="2000" dirty="0"/>
          </a:p>
        </p:txBody>
      </p:sp>
      <p:sp>
        <p:nvSpPr>
          <p:cNvPr id="4" name="Shape 2"/>
          <p:cNvSpPr/>
          <p:nvPr/>
        </p:nvSpPr>
        <p:spPr>
          <a:xfrm>
            <a:off x="274320" y="777240"/>
            <a:ext cx="8503920" cy="27432"/>
          </a:xfrm>
          <a:prstGeom prst="rect">
            <a:avLst/>
          </a:prstGeom>
          <a:solidFill>
            <a:srgbClr val="F4A61D">
              <a:alpha val="40000"/>
            </a:srgbClr>
          </a:solidFill>
          <a:ln w="12700">
            <a:solidFill>
              <a:srgbClr val="F4A61D">
                <a:alpha val="40000"/>
              </a:srgbClr>
            </a:solidFill>
            <a:prstDash val="solid"/>
          </a:ln>
        </p:spPr>
      </p:sp>
      <p:sp>
        <p:nvSpPr>
          <p:cNvPr id="5" name="Text 3"/>
          <p:cNvSpPr/>
          <p:nvPr/>
        </p:nvSpPr>
        <p:spPr>
          <a:xfrm>
            <a:off x="274320" y="914400"/>
            <a:ext cx="8503920" cy="2267712"/>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rgbClr val="FFFFFF"/>
                </a:solidFill>
                <a:latin typeface="Calibri" pitchFamily="34" charset="0"/>
                <a:ea typeface="Calibri" pitchFamily="34" charset="-122"/>
                <a:cs typeface="Calibri" pitchFamily="34" charset="-120"/>
              </a:rPr>
              <a:t>When the close has stalled, return to the original pain from discovery</a:t>
            </a:r>
            <a:endParaRPr lang="en-US" sz="1300" dirty="0"/>
          </a:p>
          <a:p>
            <a:pPr marL="342900" indent="-342900">
              <a:spcAft>
                <a:spcPts val="600"/>
              </a:spcAft>
              <a:buSzPct val="100000"/>
              <a:buChar char="•"/>
            </a:pPr>
            <a:r>
              <a:rPr lang="en-US" sz="1300" dirty="0">
                <a:solidFill>
                  <a:srgbClr val="FFFFFF"/>
                </a:solidFill>
                <a:latin typeface="Calibri" pitchFamily="34" charset="0"/>
                <a:ea typeface="Calibri" pitchFamily="34" charset="-122"/>
                <a:cs typeface="Calibri" pitchFamily="34" charset="-120"/>
              </a:rPr>
              <a:t>'Remember when you told me you were worried about your retirement income and these rate hikes? Is that concern no longer there, or did I just not show you how this solves it well enough?'</a:t>
            </a:r>
            <a:endParaRPr lang="en-US" sz="1300" dirty="0"/>
          </a:p>
          <a:p>
            <a:pPr marL="342900" indent="-342900">
              <a:spcAft>
                <a:spcPts val="600"/>
              </a:spcAft>
              <a:buSzPct val="100000"/>
              <a:buChar char="•"/>
            </a:pPr>
            <a:r>
              <a:rPr lang="en-US" sz="1300" dirty="0">
                <a:solidFill>
                  <a:srgbClr val="FFFFFF"/>
                </a:solidFill>
                <a:latin typeface="Calibri" pitchFamily="34" charset="0"/>
                <a:ea typeface="Calibri" pitchFamily="34" charset="-122"/>
                <a:cs typeface="Calibri" pitchFamily="34" charset="-120"/>
              </a:rPr>
              <a:t>This reconnects the emotional memory of the original pain to the current decision</a:t>
            </a:r>
            <a:endParaRPr lang="en-US" sz="1300" dirty="0"/>
          </a:p>
          <a:p>
            <a:pPr marL="342900" indent="-342900">
              <a:spcAft>
                <a:spcPts val="600"/>
              </a:spcAft>
              <a:buSzPct val="100000"/>
              <a:buChar char="•"/>
            </a:pPr>
            <a:r>
              <a:rPr lang="en-US" sz="1300" dirty="0">
                <a:solidFill>
                  <a:srgbClr val="FFFFFF"/>
                </a:solidFill>
                <a:latin typeface="Calibri" pitchFamily="34" charset="0"/>
                <a:ea typeface="Calibri" pitchFamily="34" charset="-122"/>
                <a:cs typeface="Calibri" pitchFamily="34" charset="-120"/>
              </a:rPr>
              <a:t>The technique assumes the rep took detailed discovery notes — which is why Day 3 emphasized writing everything down</a:t>
            </a:r>
            <a:endParaRPr lang="en-US" sz="1300" dirty="0"/>
          </a:p>
        </p:txBody>
      </p:sp>
      <p:sp>
        <p:nvSpPr>
          <p:cNvPr id="6" name="Shape 4"/>
          <p:cNvSpPr/>
          <p:nvPr/>
        </p:nvSpPr>
        <p:spPr>
          <a:xfrm>
            <a:off x="0" y="4663440"/>
            <a:ext cx="9144000" cy="480060"/>
          </a:xfrm>
          <a:prstGeom prst="rect">
            <a:avLst/>
          </a:prstGeom>
          <a:solidFill>
            <a:srgbClr val="E07B39">
              <a:alpha val="15000"/>
            </a:srgbClr>
          </a:solidFill>
          <a:ln w="12700">
            <a:solidFill>
              <a:srgbClr val="E07B39">
                <a:alpha val="15000"/>
              </a:srgbClr>
            </a:solidFill>
            <a:prstDash val="solid"/>
          </a:ln>
        </p:spPr>
      </p:sp>
      <p:sp>
        <p:nvSpPr>
          <p:cNvPr id="7" name="Text 5"/>
          <p:cNvSpPr/>
          <p:nvPr/>
        </p:nvSpPr>
        <p:spPr>
          <a:xfrm>
            <a:off x="274320" y="4690872"/>
            <a:ext cx="8686800" cy="384048"/>
          </a:xfrm>
          <a:prstGeom prst="rect">
            <a:avLst/>
          </a:prstGeom>
          <a:noFill/>
          <a:ln/>
        </p:spPr>
        <p:txBody>
          <a:bodyPr wrap="square" lIns="0" tIns="0" rIns="0" bIns="0" rtlCol="0" anchor="ctr"/>
          <a:lstStyle/>
          <a:p>
            <a:pPr algn="l" indent="0" marL="0">
              <a:buNone/>
            </a:pPr>
            <a:r>
              <a:rPr lang="en-US" sz="900" i="1" dirty="0">
                <a:solidFill>
                  <a:srgbClr val="E07B39"/>
                </a:solidFill>
                <a:latin typeface="Calibri" pitchFamily="34" charset="0"/>
                <a:ea typeface="Calibri" pitchFamily="34" charset="-122"/>
                <a:cs typeface="Calibri" pitchFamily="34" charset="-120"/>
              </a:rPr>
              <a:t>📋 TRAINER NOTE: The Revisit move is only powerful if the discovery was deep. A rep who took surface notes has nothing to return to. A rep who captured emotional pain, future goals, and specific fears has a powerful 'Why' to return to when the 'What' has stalled.</a:t>
            </a:r>
            <a:endParaRPr lang="en-US" sz="90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E07B39"/>
          </a:solidFill>
          <a:ln w="12700">
            <a:solidFill>
              <a:srgbClr val="E07B39"/>
            </a:solidFill>
            <a:prstDash val="solid"/>
          </a:ln>
        </p:spPr>
      </p:sp>
      <p:sp>
        <p:nvSpPr>
          <p:cNvPr id="3" name="Text 1"/>
          <p:cNvSpPr/>
          <p:nvPr/>
        </p:nvSpPr>
        <p:spPr>
          <a:xfrm>
            <a:off x="365760" y="73152"/>
            <a:ext cx="3657600" cy="365760"/>
          </a:xfrm>
          <a:prstGeom prst="rect">
            <a:avLst/>
          </a:prstGeom>
          <a:noFill/>
          <a:ln/>
        </p:spPr>
        <p:txBody>
          <a:bodyPr wrap="square" lIns="0" tIns="0" rIns="0" bIns="0" rtlCol="0" anchor="ctr"/>
          <a:lstStyle/>
          <a:p>
            <a:pPr algn="l" indent="0" marL="0">
              <a:buNone/>
            </a:pPr>
            <a:r>
              <a:rPr lang="en-US" sz="1200" b="1" spc="300" kern="0" dirty="0">
                <a:solidFill>
                  <a:srgbClr val="0D1B2A"/>
                </a:solidFill>
                <a:latin typeface="Arial Black" pitchFamily="34" charset="0"/>
                <a:ea typeface="Arial Black" pitchFamily="34" charset="-122"/>
                <a:cs typeface="Arial Black" pitchFamily="34" charset="-120"/>
              </a:rPr>
              <a:t>🎯  ACTIVITY</a:t>
            </a:r>
            <a:endParaRPr lang="en-US" sz="1200" dirty="0"/>
          </a:p>
        </p:txBody>
      </p:sp>
      <p:sp>
        <p:nvSpPr>
          <p:cNvPr id="4" name="Text 2"/>
          <p:cNvSpPr/>
          <p:nvPr/>
        </p:nvSpPr>
        <p:spPr>
          <a:xfrm>
            <a:off x="365760" y="457200"/>
            <a:ext cx="8412480" cy="457200"/>
          </a:xfrm>
          <a:prstGeom prst="rect">
            <a:avLst/>
          </a:prstGeom>
          <a:noFill/>
          <a:ln/>
        </p:spPr>
        <p:txBody>
          <a:bodyPr wrap="square" lIns="0" tIns="0" rIns="0" bIns="0" rtlCol="0" anchor="ctr"/>
          <a:lstStyle/>
          <a:p>
            <a:pPr algn="l" indent="0" marL="0">
              <a:buNone/>
            </a:pPr>
            <a:r>
              <a:rPr lang="en-US" sz="1700" b="1" dirty="0">
                <a:solidFill>
                  <a:srgbClr val="0D1B2A"/>
                </a:solidFill>
                <a:latin typeface="Arial Black" pitchFamily="34" charset="0"/>
                <a:ea typeface="Arial Black" pitchFamily="34" charset="-122"/>
                <a:cs typeface="Arial Black" pitchFamily="34" charset="-120"/>
              </a:rPr>
              <a:t>Activity: The Rescue Drill</a:t>
            </a:r>
            <a:endParaRPr lang="en-US" sz="1700" dirty="0"/>
          </a:p>
        </p:txBody>
      </p:sp>
      <p:sp>
        <p:nvSpPr>
          <p:cNvPr id="5" name="Shape 3"/>
          <p:cNvSpPr/>
          <p:nvPr/>
        </p:nvSpPr>
        <p:spPr>
          <a:xfrm>
            <a:off x="274320" y="1143000"/>
            <a:ext cx="8595360" cy="475488"/>
          </a:xfrm>
          <a:prstGeom prst="rect">
            <a:avLst/>
          </a:prstGeom>
          <a:solidFill>
            <a:srgbClr val="1A2840"/>
          </a:solidFill>
          <a:ln w="12700">
            <a:solidFill>
              <a:srgbClr val="0891B2"/>
            </a:solidFill>
            <a:prstDash val="solid"/>
          </a:ln>
          <a:effectLst>
            <a:outerShdw sx="100000" sy="100000" kx="0" ky="0" algn="bl" rotWithShape="0" blurRad="101600" dist="38100" dir="8100000">
              <a:srgbClr val="000000">
                <a:alpha val="20000"/>
              </a:srgbClr>
            </a:outerShdw>
          </a:effectLst>
        </p:spPr>
      </p:sp>
      <p:sp>
        <p:nvSpPr>
          <p:cNvPr id="6" name="Text 4"/>
          <p:cNvSpPr/>
          <p:nvPr/>
        </p:nvSpPr>
        <p:spPr>
          <a:xfrm>
            <a:off x="411480" y="1170432"/>
            <a:ext cx="8321040" cy="420624"/>
          </a:xfrm>
          <a:prstGeom prst="rect">
            <a:avLst/>
          </a:prstGeom>
          <a:noFill/>
          <a:ln/>
        </p:spPr>
        <p:txBody>
          <a:bodyPr wrap="square" lIns="0" tIns="0" rIns="0" bIns="0" rtlCol="0" anchor="ctr"/>
          <a:lstStyle/>
          <a:p>
            <a:pPr algn="l" indent="0" marL="0">
              <a:buNone/>
            </a:pPr>
            <a:r>
              <a:rPr lang="en-US" sz="1100" b="1" i="1" dirty="0">
                <a:solidFill>
                  <a:srgbClr val="0891B2"/>
                </a:solidFill>
                <a:latin typeface="Calibri" pitchFamily="34" charset="0"/>
                <a:ea typeface="Calibri" pitchFamily="34" charset="-122"/>
                <a:cs typeface="Calibri" pitchFamily="34" charset="-120"/>
              </a:rPr>
              <a:t>OBJECTIVE: Recover a 'failed' consultation using the Elephant, Take-Away, or Revisit move</a:t>
            </a:r>
            <a:endParaRPr lang="en-US" sz="1100" dirty="0"/>
          </a:p>
        </p:txBody>
      </p:sp>
      <p:sp>
        <p:nvSpPr>
          <p:cNvPr id="7" name="Text 5"/>
          <p:cNvSpPr/>
          <p:nvPr/>
        </p:nvSpPr>
        <p:spPr>
          <a:xfrm>
            <a:off x="365760" y="1755648"/>
            <a:ext cx="6858000" cy="2834640"/>
          </a:xfrm>
          <a:prstGeom prst="rect">
            <a:avLst/>
          </a:prstGeom>
          <a:noFill/>
          <a:ln/>
        </p:spPr>
        <p:txBody>
          <a:bodyPr wrap="square" lIns="0" tIns="0" rIns="0" bIns="0" rtlCol="0" anchor="t"/>
          <a:lstStyle/>
          <a:p>
            <a:pPr indent="0" marL="0">
              <a:spcAft>
                <a:spcPts val="800"/>
              </a:spcAft>
              <a:buNone/>
            </a:pPr>
            <a:r>
              <a:rPr lang="en-US" sz="1200" dirty="0">
                <a:solidFill>
                  <a:srgbClr val="FFFFFF"/>
                </a:solidFill>
                <a:latin typeface="Calibri" pitchFamily="34" charset="0"/>
                <a:ea typeface="Calibri" pitchFamily="34" charset="-122"/>
                <a:cs typeface="Calibri" pitchFamily="34" charset="-120"/>
              </a:rPr>
              <a:t>1.  Roleplay starts halfway through a consultation that has clearly gone sideways — homeowner is checked out</a:t>
            </a:r>
            <a:endParaRPr lang="en-US" sz="1200" dirty="0"/>
          </a:p>
          <a:p>
            <a:pPr indent="0" marL="0">
              <a:spcAft>
                <a:spcPts val="800"/>
              </a:spcAft>
              <a:buNone/>
            </a:pPr>
            <a:r>
              <a:rPr lang="en-US" sz="1200" dirty="0">
                <a:solidFill>
                  <a:srgbClr val="FFFFFF"/>
                </a:solidFill>
                <a:latin typeface="Calibri" pitchFamily="34" charset="0"/>
                <a:ea typeface="Calibri" pitchFamily="34" charset="-122"/>
                <a:cs typeface="Calibri" pitchFamily="34" charset="-120"/>
              </a:rPr>
              <a:t>2.  Rep enters the scene cold — no context except 'this deal is dying'</a:t>
            </a:r>
            <a:endParaRPr lang="en-US" sz="1200" dirty="0"/>
          </a:p>
          <a:p>
            <a:pPr indent="0" marL="0">
              <a:spcAft>
                <a:spcPts val="800"/>
              </a:spcAft>
              <a:buNone/>
            </a:pPr>
            <a:r>
              <a:rPr lang="en-US" sz="1200" dirty="0">
                <a:solidFill>
                  <a:srgbClr val="FFFFFF"/>
                </a:solidFill>
                <a:latin typeface="Calibri" pitchFamily="34" charset="0"/>
                <a:ea typeface="Calibri" pitchFamily="34" charset="-122"/>
                <a:cs typeface="Calibri" pitchFamily="34" charset="-120"/>
              </a:rPr>
              <a:t>3.  Must identify WHICH rescue technique to use (Elephant, Take-Away, or Revisit) based on what they observe</a:t>
            </a:r>
            <a:endParaRPr lang="en-US" sz="1200" dirty="0"/>
          </a:p>
          <a:p>
            <a:pPr indent="0" marL="0">
              <a:spcAft>
                <a:spcPts val="800"/>
              </a:spcAft>
              <a:buNone/>
            </a:pPr>
            <a:r>
              <a:rPr lang="en-US" sz="1200" dirty="0">
                <a:solidFill>
                  <a:srgbClr val="FFFFFF"/>
                </a:solidFill>
                <a:latin typeface="Calibri" pitchFamily="34" charset="0"/>
                <a:ea typeface="Calibri" pitchFamily="34" charset="-122"/>
                <a:cs typeface="Calibri" pitchFamily="34" charset="-120"/>
              </a:rPr>
              <a:t>4.  The scene ends when the homeowner either re-engages OR the rep correctly identifies it as a DQ situation</a:t>
            </a:r>
            <a:endParaRPr lang="en-US" sz="1200" dirty="0"/>
          </a:p>
          <a:p>
            <a:pPr indent="0" marL="0">
              <a:spcAft>
                <a:spcPts val="800"/>
              </a:spcAft>
              <a:buNone/>
            </a:pPr>
            <a:r>
              <a:rPr lang="en-US" sz="1200" dirty="0">
                <a:solidFill>
                  <a:srgbClr val="FFFFFF"/>
                </a:solidFill>
                <a:latin typeface="Calibri" pitchFamily="34" charset="0"/>
                <a:ea typeface="Calibri" pitchFamily="34" charset="-122"/>
                <a:cs typeface="Calibri" pitchFamily="34" charset="-120"/>
              </a:rPr>
              <a:t>5.  Deliverable: A written 'Deal Rescue' script covering all three techniques in order of escalation</a:t>
            </a:r>
            <a:endParaRPr lang="en-US" sz="1200" dirty="0"/>
          </a:p>
        </p:txBody>
      </p:sp>
      <p:sp>
        <p:nvSpPr>
          <p:cNvPr id="8" name="Shape 6"/>
          <p:cNvSpPr/>
          <p:nvPr/>
        </p:nvSpPr>
        <p:spPr>
          <a:xfrm>
            <a:off x="7132320" y="1755648"/>
            <a:ext cx="1737360" cy="914400"/>
          </a:xfrm>
          <a:prstGeom prst="rect">
            <a:avLst/>
          </a:prstGeom>
          <a:solidFill>
            <a:srgbClr val="F4A61D"/>
          </a:solidFill>
          <a:ln w="12700">
            <a:solidFill>
              <a:srgbClr val="F4A61D"/>
            </a:solidFill>
            <a:prstDash val="solid"/>
          </a:ln>
          <a:effectLst>
            <a:outerShdw sx="100000" sy="100000" kx="0" ky="0" algn="bl" rotWithShape="0" blurRad="101600" dist="38100" dir="8100000">
              <a:srgbClr val="000000">
                <a:alpha val="20000"/>
              </a:srgbClr>
            </a:outerShdw>
          </a:effectLst>
        </p:spPr>
      </p:sp>
      <p:sp>
        <p:nvSpPr>
          <p:cNvPr id="9" name="Text 7"/>
          <p:cNvSpPr/>
          <p:nvPr/>
        </p:nvSpPr>
        <p:spPr>
          <a:xfrm>
            <a:off x="7150608" y="1773936"/>
            <a:ext cx="1691640" cy="877824"/>
          </a:xfrm>
          <a:prstGeom prst="rect">
            <a:avLst/>
          </a:prstGeom>
          <a:noFill/>
          <a:ln/>
        </p:spPr>
        <p:txBody>
          <a:bodyPr wrap="square" lIns="0" tIns="0" rIns="0" bIns="0" rtlCol="0" anchor="ctr"/>
          <a:lstStyle/>
          <a:p>
            <a:pPr algn="ctr" indent="0" marL="0">
              <a:buNone/>
            </a:pPr>
            <a:r>
              <a:rPr lang="en-US" sz="1400" b="1" dirty="0">
                <a:solidFill>
                  <a:srgbClr val="0D1B2A"/>
                </a:solidFill>
                <a:latin typeface="Arial Black" pitchFamily="34" charset="0"/>
                <a:ea typeface="Arial Black" pitchFamily="34" charset="-122"/>
                <a:cs typeface="Arial Black" pitchFamily="34" charset="-120"/>
              </a:rPr>
              <a:t>35 MIN</a:t>
            </a:r>
            <a:endParaRPr lang="en-US" sz="140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9144000" cy="1691640"/>
          </a:xfrm>
          <a:prstGeom prst="rect">
            <a:avLst/>
          </a:prstGeom>
          <a:solidFill>
            <a:srgbClr val="F4A61D"/>
          </a:solidFill>
          <a:ln w="12700">
            <a:solidFill>
              <a:srgbClr val="F4A61D"/>
            </a:solidFill>
            <a:prstDash val="solid"/>
          </a:ln>
        </p:spPr>
      </p:sp>
      <p:sp>
        <p:nvSpPr>
          <p:cNvPr id="3" name="Text 1"/>
          <p:cNvSpPr/>
          <p:nvPr/>
        </p:nvSpPr>
        <p:spPr>
          <a:xfrm>
            <a:off x="365760" y="137160"/>
            <a:ext cx="8412480" cy="420624"/>
          </a:xfrm>
          <a:prstGeom prst="rect">
            <a:avLst/>
          </a:prstGeom>
          <a:noFill/>
          <a:ln/>
        </p:spPr>
        <p:txBody>
          <a:bodyPr wrap="square" lIns="0" tIns="0" rIns="0" bIns="0" rtlCol="0" anchor="ctr"/>
          <a:lstStyle/>
          <a:p>
            <a:pPr algn="l" indent="0" marL="0">
              <a:buNone/>
            </a:pPr>
            <a:r>
              <a:rPr lang="en-US" sz="1300" b="1" spc="400" kern="0" dirty="0">
                <a:solidFill>
                  <a:srgbClr val="0D1B2A"/>
                </a:solidFill>
                <a:latin typeface="Arial Black" pitchFamily="34" charset="0"/>
                <a:ea typeface="Arial Black" pitchFamily="34" charset="-122"/>
                <a:cs typeface="Arial Black" pitchFamily="34" charset="-120"/>
              </a:rPr>
              <a:t>MODULE 6.9</a:t>
            </a:r>
            <a:endParaRPr lang="en-US" sz="1300" dirty="0"/>
          </a:p>
        </p:txBody>
      </p:sp>
      <p:sp>
        <p:nvSpPr>
          <p:cNvPr id="4" name="Text 2"/>
          <p:cNvSpPr/>
          <p:nvPr/>
        </p:nvSpPr>
        <p:spPr>
          <a:xfrm>
            <a:off x="365760" y="530352"/>
            <a:ext cx="8412480" cy="1005840"/>
          </a:xfrm>
          <a:prstGeom prst="rect">
            <a:avLst/>
          </a:prstGeom>
          <a:noFill/>
          <a:ln/>
        </p:spPr>
        <p:txBody>
          <a:bodyPr wrap="square" lIns="0" tIns="0" rIns="0" bIns="0" rtlCol="0" anchor="ctr"/>
          <a:lstStyle/>
          <a:p>
            <a:pPr algn="l" indent="0" marL="0">
              <a:buNone/>
            </a:pPr>
            <a:r>
              <a:rPr lang="en-US" sz="2500" b="1" dirty="0">
                <a:solidFill>
                  <a:srgbClr val="0D1B2A"/>
                </a:solidFill>
                <a:latin typeface="Arial Black" pitchFamily="34" charset="0"/>
                <a:ea typeface="Arial Black" pitchFamily="34" charset="-122"/>
                <a:cs typeface="Arial Black" pitchFamily="34" charset="-120"/>
              </a:rPr>
              <a:t>Advanced Scenario Training: Neighbors, Media &amp; Fear</a:t>
            </a:r>
            <a:endParaRPr lang="en-US" sz="2500" dirty="0"/>
          </a:p>
        </p:txBody>
      </p:sp>
      <p:sp>
        <p:nvSpPr>
          <p:cNvPr id="5" name="Text 3"/>
          <p:cNvSpPr/>
          <p:nvPr/>
        </p:nvSpPr>
        <p:spPr>
          <a:xfrm>
            <a:off x="365760" y="1920240"/>
            <a:ext cx="8412480" cy="502920"/>
          </a:xfrm>
          <a:prstGeom prst="rect">
            <a:avLst/>
          </a:prstGeom>
          <a:noFill/>
          <a:ln/>
        </p:spPr>
        <p:txBody>
          <a:bodyPr wrap="square" lIns="0" tIns="0" rIns="0" bIns="0" rtlCol="0" anchor="ctr"/>
          <a:lstStyle/>
          <a:p>
            <a:pPr algn="l" indent="0" marL="0">
              <a:buNone/>
            </a:pPr>
            <a:r>
              <a:rPr lang="en-US" sz="1500" b="1" i="1" dirty="0">
                <a:solidFill>
                  <a:srgbClr val="F4A61D"/>
                </a:solidFill>
                <a:latin typeface="Calibri" pitchFamily="34" charset="0"/>
                <a:ea typeface="Calibri" pitchFamily="34" charset="-122"/>
                <a:cs typeface="Calibri" pitchFamily="34" charset="-120"/>
              </a:rPr>
              <a:t>Neutralize Misinformation from Outside the Room</a:t>
            </a:r>
            <a:endParaRPr lang="en-US" sz="1500" dirty="0"/>
          </a:p>
        </p:txBody>
      </p:sp>
      <p:sp>
        <p:nvSpPr>
          <p:cNvPr id="6" name="Shape 4"/>
          <p:cNvSpPr/>
          <p:nvPr/>
        </p:nvSpPr>
        <p:spPr>
          <a:xfrm>
            <a:off x="365760" y="2606040"/>
            <a:ext cx="164592" cy="164592"/>
          </a:xfrm>
          <a:prstGeom prst="ellipse">
            <a:avLst/>
          </a:prstGeom>
          <a:solidFill>
            <a:srgbClr val="F4A61D">
              <a:alpha val="40000"/>
            </a:srgbClr>
          </a:solidFill>
          <a:ln w="12700">
            <a:solidFill>
              <a:srgbClr val="F4A61D">
                <a:alpha val="40000"/>
              </a:srgbClr>
            </a:solidFill>
            <a:prstDash val="solid"/>
          </a:ln>
        </p:spPr>
      </p:sp>
      <p:sp>
        <p:nvSpPr>
          <p:cNvPr id="7" name="Shape 5"/>
          <p:cNvSpPr/>
          <p:nvPr/>
        </p:nvSpPr>
        <p:spPr>
          <a:xfrm>
            <a:off x="685800" y="2606040"/>
            <a:ext cx="164592" cy="164592"/>
          </a:xfrm>
          <a:prstGeom prst="ellipse">
            <a:avLst/>
          </a:prstGeom>
          <a:solidFill>
            <a:srgbClr val="F4A61D">
              <a:alpha val="40000"/>
            </a:srgbClr>
          </a:solidFill>
          <a:ln w="12700">
            <a:solidFill>
              <a:srgbClr val="F4A61D">
                <a:alpha val="40000"/>
              </a:srgbClr>
            </a:solidFill>
            <a:prstDash val="solid"/>
          </a:ln>
        </p:spPr>
      </p:sp>
      <p:sp>
        <p:nvSpPr>
          <p:cNvPr id="8" name="Shape 6"/>
          <p:cNvSpPr/>
          <p:nvPr/>
        </p:nvSpPr>
        <p:spPr>
          <a:xfrm>
            <a:off x="1005840" y="2606040"/>
            <a:ext cx="164592" cy="164592"/>
          </a:xfrm>
          <a:prstGeom prst="ellipse">
            <a:avLst/>
          </a:prstGeom>
          <a:solidFill>
            <a:srgbClr val="F4A61D">
              <a:alpha val="40000"/>
            </a:srgbClr>
          </a:solidFill>
          <a:ln w="12700">
            <a:solidFill>
              <a:srgbClr val="F4A61D">
                <a:alpha val="40000"/>
              </a:srgbClr>
            </a:solidFill>
            <a:prstDash val="solid"/>
          </a:ln>
        </p:spPr>
      </p:sp>
      <p:sp>
        <p:nvSpPr>
          <p:cNvPr id="9" name="Shape 7"/>
          <p:cNvSpPr/>
          <p:nvPr/>
        </p:nvSpPr>
        <p:spPr>
          <a:xfrm>
            <a:off x="1325880" y="2606040"/>
            <a:ext cx="164592" cy="164592"/>
          </a:xfrm>
          <a:prstGeom prst="ellipse">
            <a:avLst/>
          </a:prstGeom>
          <a:solidFill>
            <a:srgbClr val="F4A61D">
              <a:alpha val="40000"/>
            </a:srgbClr>
          </a:solidFill>
          <a:ln w="12700">
            <a:solidFill>
              <a:srgbClr val="F4A61D">
                <a:alpha val="40000"/>
              </a:srgbClr>
            </a:solidFill>
            <a:prstDash val="solid"/>
          </a:ln>
        </p:spPr>
      </p:sp>
      <p:sp>
        <p:nvSpPr>
          <p:cNvPr id="10" name="Shape 8"/>
          <p:cNvSpPr/>
          <p:nvPr/>
        </p:nvSpPr>
        <p:spPr>
          <a:xfrm>
            <a:off x="1645920" y="2606040"/>
            <a:ext cx="164592" cy="164592"/>
          </a:xfrm>
          <a:prstGeom prst="ellipse">
            <a:avLst/>
          </a:prstGeom>
          <a:solidFill>
            <a:srgbClr val="F4A61D">
              <a:alpha val="40000"/>
            </a:srgbClr>
          </a:solidFill>
          <a:ln w="12700">
            <a:solidFill>
              <a:srgbClr val="F4A61D">
                <a:alpha val="40000"/>
              </a:srgbClr>
            </a:solidFill>
            <a:prstDash val="solid"/>
          </a:ln>
        </p:spPr>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4480560"/>
            <a:ext cx="9144000" cy="662940"/>
          </a:xfrm>
          <a:prstGeom prst="rect">
            <a:avLst/>
          </a:prstGeom>
          <a:solidFill>
            <a:srgbClr val="F4A61D"/>
          </a:solidFill>
          <a:ln w="12700">
            <a:solidFill>
              <a:srgbClr val="F4A61D"/>
            </a:solidFill>
            <a:prstDash val="solid"/>
          </a:ln>
        </p:spPr>
      </p:sp>
      <p:sp>
        <p:nvSpPr>
          <p:cNvPr id="3" name="Text 1"/>
          <p:cNvSpPr/>
          <p:nvPr/>
        </p:nvSpPr>
        <p:spPr>
          <a:xfrm>
            <a:off x="457200" y="1097280"/>
            <a:ext cx="8229600" cy="457200"/>
          </a:xfrm>
          <a:prstGeom prst="rect">
            <a:avLst/>
          </a:prstGeom>
          <a:noFill/>
          <a:ln/>
        </p:spPr>
        <p:txBody>
          <a:bodyPr wrap="square" lIns="0" tIns="0" rIns="0" bIns="0" rtlCol="0" anchor="ctr"/>
          <a:lstStyle/>
          <a:p>
            <a:pPr algn="l" indent="0" marL="0">
              <a:buNone/>
            </a:pPr>
            <a:r>
              <a:rPr lang="en-US" sz="1200" b="1" spc="500" kern="0" dirty="0">
                <a:solidFill>
                  <a:srgbClr val="F4A61D"/>
                </a:solidFill>
                <a:latin typeface="Arial" pitchFamily="34" charset="0"/>
                <a:ea typeface="Arial" pitchFamily="34" charset="-122"/>
                <a:cs typeface="Arial" pitchFamily="34" charset="-120"/>
              </a:rPr>
              <a:t>MODULE 6.9 — EXTERNAL OBJECTIONS</a:t>
            </a:r>
            <a:endParaRPr lang="en-US" sz="1200" dirty="0"/>
          </a:p>
        </p:txBody>
      </p:sp>
      <p:sp>
        <p:nvSpPr>
          <p:cNvPr id="4" name="Text 2"/>
          <p:cNvSpPr/>
          <p:nvPr/>
        </p:nvSpPr>
        <p:spPr>
          <a:xfrm>
            <a:off x="457200" y="1536192"/>
            <a:ext cx="7772400" cy="1325880"/>
          </a:xfrm>
          <a:prstGeom prst="rect">
            <a:avLst/>
          </a:prstGeom>
          <a:noFill/>
          <a:ln/>
        </p:spPr>
        <p:txBody>
          <a:bodyPr wrap="square" lIns="0" tIns="0" rIns="0" bIns="0" rtlCol="0" anchor="ctr"/>
          <a:lstStyle/>
          <a:p>
            <a:pPr algn="l" indent="0" marL="0">
              <a:buNone/>
            </a:pPr>
            <a:r>
              <a:rPr lang="en-US" sz="3100" b="1" dirty="0">
                <a:solidFill>
                  <a:srgbClr val="FFFFFF"/>
                </a:solidFill>
                <a:latin typeface="Arial Black" pitchFamily="34" charset="0"/>
                <a:ea typeface="Arial Black" pitchFamily="34" charset="-122"/>
                <a:cs typeface="Arial Black" pitchFamily="34" charset="-120"/>
              </a:rPr>
              <a:t>The Objection That Wasn't Born in the Room</a:t>
            </a:r>
            <a:endParaRPr lang="en-US" sz="3100" dirty="0"/>
          </a:p>
        </p:txBody>
      </p:sp>
      <p:sp>
        <p:nvSpPr>
          <p:cNvPr id="5" name="Text 3"/>
          <p:cNvSpPr/>
          <p:nvPr/>
        </p:nvSpPr>
        <p:spPr>
          <a:xfrm>
            <a:off x="457200" y="2971800"/>
            <a:ext cx="7772400" cy="1371600"/>
          </a:xfrm>
          <a:prstGeom prst="rect">
            <a:avLst/>
          </a:prstGeom>
          <a:noFill/>
          <a:ln/>
        </p:spPr>
        <p:txBody>
          <a:bodyPr wrap="square" lIns="0" tIns="0" rIns="0" bIns="0" rtlCol="0" anchor="ctr"/>
          <a:lstStyle/>
          <a:p>
            <a:pPr marL="342900" indent="-342900">
              <a:buSzPct val="100000"/>
              <a:buFont typeface="+mj-lt"/>
              <a:buAutoNum type="arabicPeriod" startAt="1"/>
            </a:pPr>
            <a:r>
              <a:rPr lang="en-US" sz="1300" dirty="0">
                <a:solidFill>
                  <a:srgbClr val="8FA3B1"/>
                </a:solidFill>
                <a:latin typeface="Calibri" pitchFamily="34" charset="0"/>
                <a:ea typeface="Calibri" pitchFamily="34" charset="-122"/>
                <a:cs typeface="Calibri" pitchFamily="34" charset="-120"/>
              </a:rPr>
              <a:t>The Neighbor Nancy objection: handling hearsay about a bad solar experience</a:t>
            </a:r>
            <a:endParaRPr lang="en-US" sz="1300" dirty="0"/>
          </a:p>
          <a:p>
            <a:pPr marL="342900" indent="-342900">
              <a:buSzPct val="100000"/>
              <a:buFont typeface="+mj-lt"/>
              <a:buAutoNum type="arabicPeriod" startAt="1"/>
            </a:pPr>
            <a:r>
              <a:rPr lang="en-US" sz="1300" dirty="0">
                <a:solidFill>
                  <a:srgbClr val="8FA3B1"/>
                </a:solidFill>
                <a:latin typeface="Calibri" pitchFamily="34" charset="0"/>
                <a:ea typeface="Calibri" pitchFamily="34" charset="-122"/>
                <a:cs typeface="Calibri" pitchFamily="34" charset="-120"/>
              </a:rPr>
              <a:t>Media Myth Busting: science over stories</a:t>
            </a:r>
            <a:endParaRPr lang="en-US" sz="1300" dirty="0"/>
          </a:p>
          <a:p>
            <a:pPr marL="342900" indent="-342900">
              <a:buSzPct val="100000"/>
              <a:buFont typeface="+mj-lt"/>
              <a:buAutoNum type="arabicPeriod" startAt="1"/>
            </a:pPr>
            <a:r>
              <a:rPr lang="en-US" sz="1300" dirty="0">
                <a:solidFill>
                  <a:srgbClr val="8FA3B1"/>
                </a:solidFill>
                <a:latin typeface="Calibri" pitchFamily="34" charset="0"/>
                <a:ea typeface="Calibri" pitchFamily="34" charset="-122"/>
                <a:cs typeface="Calibri" pitchFamily="34" charset="-120"/>
              </a:rPr>
              <a:t>Financial Fear: recession, job loss, and solar as insurance</a:t>
            </a:r>
            <a:endParaRPr lang="en-US" sz="1300" dirty="0"/>
          </a:p>
          <a:p>
            <a:pPr marL="342900" indent="-342900">
              <a:buSzPct val="100000"/>
              <a:buFont typeface="+mj-lt"/>
              <a:buAutoNum type="arabicPeriod" startAt="1"/>
            </a:pPr>
            <a:r>
              <a:rPr lang="en-US" sz="1300" dirty="0">
                <a:solidFill>
                  <a:srgbClr val="8FA3B1"/>
                </a:solidFill>
                <a:latin typeface="Calibri" pitchFamily="34" charset="0"/>
                <a:ea typeface="Calibri" pitchFamily="34" charset="-122"/>
                <a:cs typeface="Calibri" pitchFamily="34" charset="-120"/>
              </a:rPr>
              <a:t>The Myth-Buster cheat sheet for the field folder</a:t>
            </a:r>
            <a:endParaRPr lang="en-US" sz="1300"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F4A61D"/>
          </a:solidFill>
          <a:ln w="12700">
            <a:solidFill>
              <a:srgbClr val="F4A61D"/>
            </a:solidFill>
            <a:prstDash val="solid"/>
          </a:ln>
        </p:spPr>
      </p:sp>
      <p:sp>
        <p:nvSpPr>
          <p:cNvPr id="3" name="Text 1"/>
          <p:cNvSpPr/>
          <p:nvPr/>
        </p:nvSpPr>
        <p:spPr>
          <a:xfrm>
            <a:off x="274320" y="164592"/>
            <a:ext cx="8503920" cy="594360"/>
          </a:xfrm>
          <a:prstGeom prst="rect">
            <a:avLst/>
          </a:prstGeom>
          <a:noFill/>
          <a:ln/>
        </p:spPr>
        <p:txBody>
          <a:bodyPr wrap="square" lIns="0" tIns="0" rIns="0" bIns="0" rtlCol="0" anchor="ctr"/>
          <a:lstStyle/>
          <a:p>
            <a:pPr algn="l" indent="0" marL="0">
              <a:buNone/>
            </a:pPr>
            <a:r>
              <a:rPr lang="en-US" sz="2000" b="1" dirty="0">
                <a:solidFill>
                  <a:srgbClr val="F4A61D"/>
                </a:solidFill>
                <a:latin typeface="Arial Black" pitchFamily="34" charset="0"/>
                <a:ea typeface="Arial Black" pitchFamily="34" charset="-122"/>
                <a:cs typeface="Arial Black" pitchFamily="34" charset="-120"/>
              </a:rPr>
              <a:t>The 'Neighbor Nancy' Objection: Handling Hearsay</a:t>
            </a:r>
            <a:endParaRPr lang="en-US" sz="2000" dirty="0"/>
          </a:p>
        </p:txBody>
      </p:sp>
      <p:sp>
        <p:nvSpPr>
          <p:cNvPr id="4" name="Shape 2"/>
          <p:cNvSpPr/>
          <p:nvPr/>
        </p:nvSpPr>
        <p:spPr>
          <a:xfrm>
            <a:off x="274320" y="777240"/>
            <a:ext cx="8503920" cy="27432"/>
          </a:xfrm>
          <a:prstGeom prst="rect">
            <a:avLst/>
          </a:prstGeom>
          <a:solidFill>
            <a:srgbClr val="F4A61D">
              <a:alpha val="40000"/>
            </a:srgbClr>
          </a:solidFill>
          <a:ln w="12700">
            <a:solidFill>
              <a:srgbClr val="F4A61D">
                <a:alpha val="40000"/>
              </a:srgbClr>
            </a:solidFill>
            <a:prstDash val="solid"/>
          </a:ln>
        </p:spPr>
      </p:sp>
      <p:sp>
        <p:nvSpPr>
          <p:cNvPr id="5" name="Text 3"/>
          <p:cNvSpPr/>
          <p:nvPr/>
        </p:nvSpPr>
        <p:spPr>
          <a:xfrm>
            <a:off x="274320" y="914400"/>
            <a:ext cx="8503920" cy="1444752"/>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rgbClr val="FFFFFF"/>
                </a:solidFill>
                <a:latin typeface="Calibri" pitchFamily="34" charset="0"/>
                <a:ea typeface="Calibri" pitchFamily="34" charset="-122"/>
                <a:cs typeface="Calibri" pitchFamily="34" charset="-120"/>
              </a:rPr>
              <a:t>'My neighbor says his solar panels don't work' — the most viral objection in the industry</a:t>
            </a:r>
            <a:endParaRPr lang="en-US" sz="1300" dirty="0"/>
          </a:p>
          <a:p>
            <a:pPr marL="342900" indent="-342900">
              <a:spcAft>
                <a:spcPts val="600"/>
              </a:spcAft>
              <a:buSzPct val="100000"/>
              <a:buChar char="•"/>
            </a:pPr>
            <a:r>
              <a:rPr lang="en-US" sz="1300" dirty="0">
                <a:solidFill>
                  <a:srgbClr val="FFFFFF"/>
                </a:solidFill>
                <a:latin typeface="Calibri" pitchFamily="34" charset="0"/>
                <a:ea typeface="Calibri" pitchFamily="34" charset="-122"/>
                <a:cs typeface="Calibri" pitchFamily="34" charset="-120"/>
              </a:rPr>
              <a:t>Response: ask for specifics before defending: 'Do you know who installed them and when?'</a:t>
            </a:r>
            <a:endParaRPr lang="en-US" sz="1300" dirty="0"/>
          </a:p>
          <a:p>
            <a:pPr marL="342900" indent="-342900">
              <a:spcAft>
                <a:spcPts val="600"/>
              </a:spcAft>
              <a:buSzPct val="100000"/>
              <a:buChar char="•"/>
            </a:pPr>
            <a:r>
              <a:rPr lang="en-US" sz="1300" dirty="0">
                <a:solidFill>
                  <a:srgbClr val="FFFFFF"/>
                </a:solidFill>
                <a:latin typeface="Calibri" pitchFamily="34" charset="0"/>
                <a:ea typeface="Calibri" pitchFamily="34" charset="-122"/>
                <a:cs typeface="Calibri" pitchFamily="34" charset="-120"/>
              </a:rPr>
              <a:t>The distinction: 'Professional solar' vs. 'DIY/cheap solar' is the most important comparison in the industry</a:t>
            </a:r>
            <a:endParaRPr lang="en-US" sz="1300" dirty="0"/>
          </a:p>
          <a:p>
            <a:pPr marL="342900" indent="-342900">
              <a:spcAft>
                <a:spcPts val="600"/>
              </a:spcAft>
              <a:buSzPct val="100000"/>
              <a:buChar char="•"/>
            </a:pPr>
            <a:r>
              <a:rPr lang="en-US" sz="1300" dirty="0">
                <a:solidFill>
                  <a:srgbClr val="FFFFFF"/>
                </a:solidFill>
                <a:latin typeface="Calibri" pitchFamily="34" charset="0"/>
                <a:ea typeface="Calibri" pitchFamily="34" charset="-122"/>
                <a:cs typeface="Calibri" pitchFamily="34" charset="-120"/>
              </a:rPr>
              <a:t>Frame: 'There's a massive difference between a $12,000 budget install and a $35,000 engineered system with a 25-year warranty — your neighbor may have bought the Walmart version'</a:t>
            </a:r>
            <a:endParaRPr lang="en-US" sz="1300" dirty="0"/>
          </a:p>
        </p:txBody>
      </p:sp>
      <p:sp>
        <p:nvSpPr>
          <p:cNvPr id="6" name="Shape 4"/>
          <p:cNvSpPr/>
          <p:nvPr/>
        </p:nvSpPr>
        <p:spPr>
          <a:xfrm>
            <a:off x="274320" y="2468880"/>
            <a:ext cx="8503920" cy="1874520"/>
          </a:xfrm>
          <a:prstGeom prst="rect">
            <a:avLst/>
          </a:prstGeom>
          <a:solidFill>
            <a:srgbClr val="1A2840"/>
          </a:solidFill>
          <a:ln w="19050">
            <a:solidFill>
              <a:srgbClr val="0891B2"/>
            </a:solidFill>
            <a:prstDash val="solid"/>
          </a:ln>
          <a:effectLst>
            <a:outerShdw sx="100000" sy="100000" kx="0" ky="0" algn="bl" rotWithShape="0" blurRad="101600" dist="38100" dir="8100000">
              <a:srgbClr val="000000">
                <a:alpha val="20000"/>
              </a:srgbClr>
            </a:outerShdw>
          </a:effectLst>
        </p:spPr>
      </p:sp>
      <p:sp>
        <p:nvSpPr>
          <p:cNvPr id="7" name="Shape 5"/>
          <p:cNvSpPr/>
          <p:nvPr/>
        </p:nvSpPr>
        <p:spPr>
          <a:xfrm>
            <a:off x="274320" y="2468880"/>
            <a:ext cx="1097280" cy="347472"/>
          </a:xfrm>
          <a:prstGeom prst="rect">
            <a:avLst/>
          </a:prstGeom>
          <a:solidFill>
            <a:srgbClr val="0891B2"/>
          </a:solidFill>
          <a:ln w="12700">
            <a:solidFill>
              <a:srgbClr val="0891B2"/>
            </a:solidFill>
            <a:prstDash val="solid"/>
          </a:ln>
        </p:spPr>
      </p:sp>
      <p:sp>
        <p:nvSpPr>
          <p:cNvPr id="8" name="Text 6"/>
          <p:cNvSpPr/>
          <p:nvPr/>
        </p:nvSpPr>
        <p:spPr>
          <a:xfrm>
            <a:off x="292608" y="2487168"/>
            <a:ext cx="1051560" cy="310896"/>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Arial Black" pitchFamily="34" charset="0"/>
                <a:ea typeface="Arial Black" pitchFamily="34" charset="-122"/>
                <a:cs typeface="Arial Black" pitchFamily="34" charset="-120"/>
              </a:rPr>
              <a:t>DIALOGUE</a:t>
            </a:r>
            <a:endParaRPr lang="en-US" sz="900" dirty="0"/>
          </a:p>
        </p:txBody>
      </p:sp>
      <p:sp>
        <p:nvSpPr>
          <p:cNvPr id="9" name="Text 7"/>
          <p:cNvSpPr/>
          <p:nvPr/>
        </p:nvSpPr>
        <p:spPr>
          <a:xfrm>
            <a:off x="411480" y="2926080"/>
            <a:ext cx="8275320" cy="1325880"/>
          </a:xfrm>
          <a:prstGeom prst="rect">
            <a:avLst/>
          </a:prstGeom>
          <a:noFill/>
          <a:ln/>
        </p:spPr>
        <p:txBody>
          <a:bodyPr wrap="square" lIns="0" tIns="0" rIns="0" bIns="0" rtlCol="0" anchor="t"/>
          <a:lstStyle/>
          <a:p>
            <a:pPr indent="0" marL="0">
              <a:buNone/>
            </a:pPr>
            <a:r>
              <a:rPr lang="en-US" sz="1100" b="1" dirty="0">
                <a:solidFill>
                  <a:srgbClr val="F4A61D"/>
                </a:solidFill>
                <a:latin typeface="Calibri" pitchFamily="34" charset="0"/>
                <a:ea typeface="Calibri" pitchFamily="34" charset="-122"/>
                <a:cs typeface="Calibri" pitchFamily="34" charset="-120"/>
              </a:rPr>
              <a:t>Homeowner:</a:t>
            </a:r>
            <a:endParaRPr lang="en-US" sz="1100" dirty="0"/>
          </a:p>
          <a:p>
            <a:pPr indent="0" marL="0">
              <a:buNone/>
            </a:pPr>
            <a:r>
              <a:rPr lang="en-US" sz="1100" dirty="0">
                <a:solidFill>
                  <a:srgbClr val="FFFFFF"/>
                </a:solidFill>
                <a:latin typeface="Calibri" pitchFamily="34" charset="0"/>
                <a:ea typeface="Calibri" pitchFamily="34" charset="-122"/>
                <a:cs typeface="Calibri" pitchFamily="34" charset="-120"/>
              </a:rPr>
              <a:t>My neighbor did solar 3 years ago and says his panels barely generate anything.</a:t>
            </a:r>
            <a:endParaRPr lang="en-US" sz="1100" dirty="0"/>
          </a:p>
          <a:p>
            <a:pPr indent="0" marL="0">
              <a:buNone/>
            </a:pPr>
            <a:r>
              <a:rPr lang="en-US" sz="1100" b="1" dirty="0">
                <a:solidFill>
                  <a:srgbClr val="F4A61D"/>
                </a:solidFill>
                <a:latin typeface="Calibri" pitchFamily="34" charset="0"/>
                <a:ea typeface="Calibri" pitchFamily="34" charset="-122"/>
                <a:cs typeface="Calibri" pitchFamily="34" charset="-120"/>
              </a:rPr>
              <a:t>Rep:</a:t>
            </a:r>
            <a:endParaRPr lang="en-US" sz="1100" dirty="0"/>
          </a:p>
          <a:p>
            <a:pPr indent="0" marL="0">
              <a:buNone/>
            </a:pPr>
            <a:r>
              <a:rPr lang="en-US" sz="1100" dirty="0">
                <a:solidFill>
                  <a:srgbClr val="FFFFFF"/>
                </a:solidFill>
                <a:latin typeface="Calibri" pitchFamily="34" charset="0"/>
                <a:ea typeface="Calibri" pitchFamily="34" charset="-122"/>
                <a:cs typeface="Calibri" pitchFamily="34" charset="-120"/>
              </a:rPr>
              <a:t>That's really useful information, actually. Do you know what company installed them or what brand panels they used? I ask because there's a real quality divide in this industry — and honestly, the problems your neighbor is describing are almost always associated with budget installs or fly-by-night companies. Let me show you what separates what we do from that situation.</a:t>
            </a:r>
            <a:endParaRPr lang="en-US" sz="1100" dirty="0"/>
          </a:p>
        </p:txBody>
      </p:sp>
      <p:sp>
        <p:nvSpPr>
          <p:cNvPr id="10" name="Shape 8"/>
          <p:cNvSpPr/>
          <p:nvPr/>
        </p:nvSpPr>
        <p:spPr>
          <a:xfrm>
            <a:off x="0" y="4663440"/>
            <a:ext cx="9144000" cy="480060"/>
          </a:xfrm>
          <a:prstGeom prst="rect">
            <a:avLst/>
          </a:prstGeom>
          <a:solidFill>
            <a:srgbClr val="E07B39">
              <a:alpha val="15000"/>
            </a:srgbClr>
          </a:solidFill>
          <a:ln w="12700">
            <a:solidFill>
              <a:srgbClr val="E07B39">
                <a:alpha val="15000"/>
              </a:srgbClr>
            </a:solidFill>
            <a:prstDash val="solid"/>
          </a:ln>
        </p:spPr>
      </p:sp>
      <p:sp>
        <p:nvSpPr>
          <p:cNvPr id="11" name="Text 9"/>
          <p:cNvSpPr/>
          <p:nvPr/>
        </p:nvSpPr>
        <p:spPr>
          <a:xfrm>
            <a:off x="274320" y="4690872"/>
            <a:ext cx="8686800" cy="384048"/>
          </a:xfrm>
          <a:prstGeom prst="rect">
            <a:avLst/>
          </a:prstGeom>
          <a:noFill/>
          <a:ln/>
        </p:spPr>
        <p:txBody>
          <a:bodyPr wrap="square" lIns="0" tIns="0" rIns="0" bIns="0" rtlCol="0" anchor="ctr"/>
          <a:lstStyle/>
          <a:p>
            <a:pPr algn="l" indent="0" marL="0">
              <a:buNone/>
            </a:pPr>
            <a:r>
              <a:rPr lang="en-US" sz="900" i="1" dirty="0">
                <a:solidFill>
                  <a:srgbClr val="E07B39"/>
                </a:solidFill>
                <a:latin typeface="Calibri" pitchFamily="34" charset="0"/>
                <a:ea typeface="Calibri" pitchFamily="34" charset="-122"/>
                <a:cs typeface="Calibri" pitchFamily="34" charset="-120"/>
              </a:rPr>
              <a:t>📋 TRAINER NOTE: 'Neighbor Nancy' objections are uniquely powerful because they come from a trusted source. The rep who argues against the neighbor loses. The rep who agrees that bad solar exists — then pivots to the distinction between cheap and professional — wins.</a:t>
            </a:r>
            <a:endParaRPr lang="en-US" sz="900"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F4A61D"/>
          </a:solidFill>
          <a:ln w="12700">
            <a:solidFill>
              <a:srgbClr val="F4A61D"/>
            </a:solidFill>
            <a:prstDash val="solid"/>
          </a:ln>
        </p:spPr>
      </p:sp>
      <p:sp>
        <p:nvSpPr>
          <p:cNvPr id="3" name="Text 1"/>
          <p:cNvSpPr/>
          <p:nvPr/>
        </p:nvSpPr>
        <p:spPr>
          <a:xfrm>
            <a:off x="274320" y="164592"/>
            <a:ext cx="8503920" cy="530352"/>
          </a:xfrm>
          <a:prstGeom prst="rect">
            <a:avLst/>
          </a:prstGeom>
          <a:noFill/>
          <a:ln/>
        </p:spPr>
        <p:txBody>
          <a:bodyPr wrap="square" lIns="0" tIns="0" rIns="0" bIns="0" rtlCol="0" anchor="ctr"/>
          <a:lstStyle/>
          <a:p>
            <a:pPr algn="l" indent="0" marL="0">
              <a:buNone/>
            </a:pPr>
            <a:r>
              <a:rPr lang="en-US" sz="2000" b="1" dirty="0">
                <a:solidFill>
                  <a:srgbClr val="F4A61D"/>
                </a:solidFill>
                <a:latin typeface="Arial Black" pitchFamily="34" charset="0"/>
                <a:ea typeface="Arial Black" pitchFamily="34" charset="-122"/>
                <a:cs typeface="Arial Black" pitchFamily="34" charset="-120"/>
              </a:rPr>
              <a:t>Media Myth Buster: Science Over Stories</a:t>
            </a:r>
            <a:endParaRPr lang="en-US" sz="2000" dirty="0"/>
          </a:p>
        </p:txBody>
      </p:sp>
      <p:sp>
        <p:nvSpPr>
          <p:cNvPr id="4" name="Shape 2"/>
          <p:cNvSpPr/>
          <p:nvPr/>
        </p:nvSpPr>
        <p:spPr>
          <a:xfrm>
            <a:off x="274320" y="713232"/>
            <a:ext cx="8503920" cy="27432"/>
          </a:xfrm>
          <a:prstGeom prst="rect">
            <a:avLst/>
          </a:prstGeom>
          <a:solidFill>
            <a:srgbClr val="F4A61D">
              <a:alpha val="40000"/>
            </a:srgbClr>
          </a:solidFill>
          <a:ln w="12700">
            <a:solidFill>
              <a:srgbClr val="F4A61D">
                <a:alpha val="40000"/>
              </a:srgbClr>
            </a:solidFill>
            <a:prstDash val="solid"/>
          </a:ln>
        </p:spPr>
      </p:sp>
      <p:sp>
        <p:nvSpPr>
          <p:cNvPr id="5" name="Shape 3"/>
          <p:cNvSpPr/>
          <p:nvPr/>
        </p:nvSpPr>
        <p:spPr>
          <a:xfrm>
            <a:off x="274320" y="822960"/>
            <a:ext cx="8503920" cy="822960"/>
          </a:xfrm>
          <a:prstGeom prst="rect">
            <a:avLst/>
          </a:prstGeom>
          <a:solidFill>
            <a:srgbClr val="1A2840"/>
          </a:solidFill>
          <a:ln w="12700">
            <a:solidFill>
              <a:srgbClr val="C0392B"/>
            </a:solidFill>
            <a:prstDash val="solid"/>
          </a:ln>
          <a:effectLst>
            <a:outerShdw sx="100000" sy="100000" kx="0" ky="0" algn="bl" rotWithShape="0" blurRad="101600" dist="38100" dir="8100000">
              <a:srgbClr val="000000">
                <a:alpha val="20000"/>
              </a:srgbClr>
            </a:outerShdw>
          </a:effectLst>
        </p:spPr>
      </p:sp>
      <p:sp>
        <p:nvSpPr>
          <p:cNvPr id="6" name="Shape 4"/>
          <p:cNvSpPr/>
          <p:nvPr/>
        </p:nvSpPr>
        <p:spPr>
          <a:xfrm>
            <a:off x="274320" y="822960"/>
            <a:ext cx="475488" cy="822960"/>
          </a:xfrm>
          <a:prstGeom prst="rect">
            <a:avLst/>
          </a:prstGeom>
          <a:solidFill>
            <a:srgbClr val="C0392B"/>
          </a:solidFill>
          <a:ln w="12700">
            <a:solidFill>
              <a:srgbClr val="C0392B"/>
            </a:solidFill>
            <a:prstDash val="solid"/>
          </a:ln>
        </p:spPr>
      </p:sp>
      <p:sp>
        <p:nvSpPr>
          <p:cNvPr id="7" name="Text 5"/>
          <p:cNvSpPr/>
          <p:nvPr/>
        </p:nvSpPr>
        <p:spPr>
          <a:xfrm>
            <a:off x="274320" y="841248"/>
            <a:ext cx="475488" cy="786384"/>
          </a:xfrm>
          <a:prstGeom prst="rect">
            <a:avLst/>
          </a:prstGeom>
          <a:noFill/>
          <a:ln/>
        </p:spPr>
        <p:txBody>
          <a:bodyPr wrap="square" lIns="0" tIns="0" rIns="0" bIns="0" rtlCol="0" anchor="ctr"/>
          <a:lstStyle/>
          <a:p>
            <a:pPr algn="ctr" indent="0" marL="0">
              <a:buNone/>
            </a:pPr>
            <a:r>
              <a:rPr lang="en-US" sz="2200" b="1" dirty="0">
                <a:solidFill>
                  <a:srgbClr val="FFFFFF"/>
                </a:solidFill>
                <a:latin typeface="Arial Black" pitchFamily="34" charset="0"/>
                <a:ea typeface="Arial Black" pitchFamily="34" charset="-122"/>
                <a:cs typeface="Arial Black" pitchFamily="34" charset="-120"/>
              </a:rPr>
              <a:t>✗</a:t>
            </a:r>
            <a:endParaRPr lang="en-US" sz="2200" dirty="0"/>
          </a:p>
        </p:txBody>
      </p:sp>
      <p:sp>
        <p:nvSpPr>
          <p:cNvPr id="8" name="Shape 6"/>
          <p:cNvSpPr/>
          <p:nvPr/>
        </p:nvSpPr>
        <p:spPr>
          <a:xfrm>
            <a:off x="4498848" y="822960"/>
            <a:ext cx="475488" cy="822960"/>
          </a:xfrm>
          <a:prstGeom prst="rect">
            <a:avLst/>
          </a:prstGeom>
          <a:solidFill>
            <a:srgbClr val="2D9B4E"/>
          </a:solidFill>
          <a:ln w="12700">
            <a:solidFill>
              <a:srgbClr val="2D9B4E"/>
            </a:solidFill>
            <a:prstDash val="solid"/>
          </a:ln>
        </p:spPr>
      </p:sp>
      <p:sp>
        <p:nvSpPr>
          <p:cNvPr id="9" name="Text 7"/>
          <p:cNvSpPr/>
          <p:nvPr/>
        </p:nvSpPr>
        <p:spPr>
          <a:xfrm>
            <a:off x="4498848" y="841248"/>
            <a:ext cx="475488" cy="786384"/>
          </a:xfrm>
          <a:prstGeom prst="rect">
            <a:avLst/>
          </a:prstGeom>
          <a:noFill/>
          <a:ln/>
        </p:spPr>
        <p:txBody>
          <a:bodyPr wrap="square" lIns="0" tIns="0" rIns="0" bIns="0" rtlCol="0" anchor="ctr"/>
          <a:lstStyle/>
          <a:p>
            <a:pPr algn="ctr" indent="0" marL="0">
              <a:buNone/>
            </a:pPr>
            <a:r>
              <a:rPr lang="en-US" sz="2200" b="1" dirty="0">
                <a:solidFill>
                  <a:srgbClr val="FFFFFF"/>
                </a:solidFill>
                <a:latin typeface="Arial Black" pitchFamily="34" charset="0"/>
                <a:ea typeface="Arial Black" pitchFamily="34" charset="-122"/>
                <a:cs typeface="Arial Black" pitchFamily="34" charset="-120"/>
              </a:rPr>
              <a:t>✓</a:t>
            </a:r>
            <a:endParaRPr lang="en-US" sz="2200" dirty="0"/>
          </a:p>
        </p:txBody>
      </p:sp>
      <p:sp>
        <p:nvSpPr>
          <p:cNvPr id="10" name="Text 8"/>
          <p:cNvSpPr/>
          <p:nvPr/>
        </p:nvSpPr>
        <p:spPr>
          <a:xfrm>
            <a:off x="804672" y="932688"/>
            <a:ext cx="3611880" cy="603504"/>
          </a:xfrm>
          <a:prstGeom prst="rect">
            <a:avLst/>
          </a:prstGeom>
          <a:noFill/>
          <a:ln/>
        </p:spPr>
        <p:txBody>
          <a:bodyPr wrap="square" lIns="0" tIns="0" rIns="0" bIns="0" rtlCol="0" anchor="ctr"/>
          <a:lstStyle/>
          <a:p>
            <a:pPr algn="l" indent="0" marL="0">
              <a:buNone/>
            </a:pPr>
            <a:r>
              <a:rPr lang="en-US" sz="1100" dirty="0">
                <a:solidFill>
                  <a:srgbClr val="8FA3B1"/>
                </a:solidFill>
                <a:latin typeface="Calibri" pitchFamily="34" charset="0"/>
                <a:ea typeface="Calibri" pitchFamily="34" charset="-122"/>
                <a:cs typeface="Calibri" pitchFamily="34" charset="-120"/>
              </a:rPr>
              <a:t>MYTH: 'Solar causes house fires'</a:t>
            </a:r>
            <a:endParaRPr lang="en-US" sz="1100" dirty="0"/>
          </a:p>
        </p:txBody>
      </p:sp>
      <p:sp>
        <p:nvSpPr>
          <p:cNvPr id="11" name="Text 9"/>
          <p:cNvSpPr/>
          <p:nvPr/>
        </p:nvSpPr>
        <p:spPr>
          <a:xfrm>
            <a:off x="5029200" y="932688"/>
            <a:ext cx="3657600" cy="603504"/>
          </a:xfrm>
          <a:prstGeom prst="rect">
            <a:avLst/>
          </a:prstGeom>
          <a:noFill/>
          <a:ln/>
        </p:spPr>
        <p:txBody>
          <a:bodyPr wrap="square" lIns="0" tIns="0" rIns="0" bIns="0" rtlCol="0" anchor="ctr"/>
          <a:lstStyle/>
          <a:p>
            <a:pPr algn="l" indent="0" marL="0">
              <a:buNone/>
            </a:pPr>
            <a:r>
              <a:rPr lang="en-US" sz="1100" b="1" dirty="0">
                <a:solidFill>
                  <a:srgbClr val="FFFFFF"/>
                </a:solidFill>
                <a:latin typeface="Calibri" pitchFamily="34" charset="0"/>
                <a:ea typeface="Calibri" pitchFamily="34" charset="-122"/>
                <a:cs typeface="Calibri" pitchFamily="34" charset="-120"/>
              </a:rPr>
              <a:t>FACT: Fires are caused by improper DIY installs. Code-compliant professional installs have a near-zero fire incidence rate.</a:t>
            </a:r>
            <a:endParaRPr lang="en-US" sz="1100" dirty="0"/>
          </a:p>
        </p:txBody>
      </p:sp>
      <p:sp>
        <p:nvSpPr>
          <p:cNvPr id="12" name="Shape 10"/>
          <p:cNvSpPr/>
          <p:nvPr/>
        </p:nvSpPr>
        <p:spPr>
          <a:xfrm>
            <a:off x="274320" y="1783080"/>
            <a:ext cx="8503920" cy="822960"/>
          </a:xfrm>
          <a:prstGeom prst="rect">
            <a:avLst/>
          </a:prstGeom>
          <a:solidFill>
            <a:srgbClr val="1A2840"/>
          </a:solidFill>
          <a:ln w="12700">
            <a:solidFill>
              <a:srgbClr val="C0392B"/>
            </a:solidFill>
            <a:prstDash val="solid"/>
          </a:ln>
          <a:effectLst>
            <a:outerShdw sx="100000" sy="100000" kx="0" ky="0" algn="bl" rotWithShape="0" blurRad="101600" dist="38100" dir="8100000">
              <a:srgbClr val="000000">
                <a:alpha val="20000"/>
              </a:srgbClr>
            </a:outerShdw>
          </a:effectLst>
        </p:spPr>
      </p:sp>
      <p:sp>
        <p:nvSpPr>
          <p:cNvPr id="13" name="Shape 11"/>
          <p:cNvSpPr/>
          <p:nvPr/>
        </p:nvSpPr>
        <p:spPr>
          <a:xfrm>
            <a:off x="274320" y="1783080"/>
            <a:ext cx="475488" cy="822960"/>
          </a:xfrm>
          <a:prstGeom prst="rect">
            <a:avLst/>
          </a:prstGeom>
          <a:solidFill>
            <a:srgbClr val="C0392B"/>
          </a:solidFill>
          <a:ln w="12700">
            <a:solidFill>
              <a:srgbClr val="C0392B"/>
            </a:solidFill>
            <a:prstDash val="solid"/>
          </a:ln>
        </p:spPr>
      </p:sp>
      <p:sp>
        <p:nvSpPr>
          <p:cNvPr id="14" name="Text 12"/>
          <p:cNvSpPr/>
          <p:nvPr/>
        </p:nvSpPr>
        <p:spPr>
          <a:xfrm>
            <a:off x="274320" y="1801368"/>
            <a:ext cx="475488" cy="786384"/>
          </a:xfrm>
          <a:prstGeom prst="rect">
            <a:avLst/>
          </a:prstGeom>
          <a:noFill/>
          <a:ln/>
        </p:spPr>
        <p:txBody>
          <a:bodyPr wrap="square" lIns="0" tIns="0" rIns="0" bIns="0" rtlCol="0" anchor="ctr"/>
          <a:lstStyle/>
          <a:p>
            <a:pPr algn="ctr" indent="0" marL="0">
              <a:buNone/>
            </a:pPr>
            <a:r>
              <a:rPr lang="en-US" sz="2200" b="1" dirty="0">
                <a:solidFill>
                  <a:srgbClr val="FFFFFF"/>
                </a:solidFill>
                <a:latin typeface="Arial Black" pitchFamily="34" charset="0"/>
                <a:ea typeface="Arial Black" pitchFamily="34" charset="-122"/>
                <a:cs typeface="Arial Black" pitchFamily="34" charset="-120"/>
              </a:rPr>
              <a:t>✗</a:t>
            </a:r>
            <a:endParaRPr lang="en-US" sz="2200" dirty="0"/>
          </a:p>
        </p:txBody>
      </p:sp>
      <p:sp>
        <p:nvSpPr>
          <p:cNvPr id="15" name="Shape 13"/>
          <p:cNvSpPr/>
          <p:nvPr/>
        </p:nvSpPr>
        <p:spPr>
          <a:xfrm>
            <a:off x="4498848" y="1783080"/>
            <a:ext cx="475488" cy="822960"/>
          </a:xfrm>
          <a:prstGeom prst="rect">
            <a:avLst/>
          </a:prstGeom>
          <a:solidFill>
            <a:srgbClr val="2D9B4E"/>
          </a:solidFill>
          <a:ln w="12700">
            <a:solidFill>
              <a:srgbClr val="2D9B4E"/>
            </a:solidFill>
            <a:prstDash val="solid"/>
          </a:ln>
        </p:spPr>
      </p:sp>
      <p:sp>
        <p:nvSpPr>
          <p:cNvPr id="16" name="Text 14"/>
          <p:cNvSpPr/>
          <p:nvPr/>
        </p:nvSpPr>
        <p:spPr>
          <a:xfrm>
            <a:off x="4498848" y="1801368"/>
            <a:ext cx="475488" cy="786384"/>
          </a:xfrm>
          <a:prstGeom prst="rect">
            <a:avLst/>
          </a:prstGeom>
          <a:noFill/>
          <a:ln/>
        </p:spPr>
        <p:txBody>
          <a:bodyPr wrap="square" lIns="0" tIns="0" rIns="0" bIns="0" rtlCol="0" anchor="ctr"/>
          <a:lstStyle/>
          <a:p>
            <a:pPr algn="ctr" indent="0" marL="0">
              <a:buNone/>
            </a:pPr>
            <a:r>
              <a:rPr lang="en-US" sz="2200" b="1" dirty="0">
                <a:solidFill>
                  <a:srgbClr val="FFFFFF"/>
                </a:solidFill>
                <a:latin typeface="Arial Black" pitchFamily="34" charset="0"/>
                <a:ea typeface="Arial Black" pitchFamily="34" charset="-122"/>
                <a:cs typeface="Arial Black" pitchFamily="34" charset="-120"/>
              </a:rPr>
              <a:t>✓</a:t>
            </a:r>
            <a:endParaRPr lang="en-US" sz="2200" dirty="0"/>
          </a:p>
        </p:txBody>
      </p:sp>
      <p:sp>
        <p:nvSpPr>
          <p:cNvPr id="17" name="Text 15"/>
          <p:cNvSpPr/>
          <p:nvPr/>
        </p:nvSpPr>
        <p:spPr>
          <a:xfrm>
            <a:off x="804672" y="1892808"/>
            <a:ext cx="3611880" cy="603504"/>
          </a:xfrm>
          <a:prstGeom prst="rect">
            <a:avLst/>
          </a:prstGeom>
          <a:noFill/>
          <a:ln/>
        </p:spPr>
        <p:txBody>
          <a:bodyPr wrap="square" lIns="0" tIns="0" rIns="0" bIns="0" rtlCol="0" anchor="ctr"/>
          <a:lstStyle/>
          <a:p>
            <a:pPr algn="l" indent="0" marL="0">
              <a:buNone/>
            </a:pPr>
            <a:r>
              <a:rPr lang="en-US" sz="1100" dirty="0">
                <a:solidFill>
                  <a:srgbClr val="8FA3B1"/>
                </a:solidFill>
                <a:latin typeface="Calibri" pitchFamily="34" charset="0"/>
                <a:ea typeface="Calibri" pitchFamily="34" charset="-122"/>
                <a:cs typeface="Calibri" pitchFamily="34" charset="-120"/>
              </a:rPr>
              <a:t>MYTH: 'Solar doesn't work when it's cloudy'</a:t>
            </a:r>
            <a:endParaRPr lang="en-US" sz="1100" dirty="0"/>
          </a:p>
        </p:txBody>
      </p:sp>
      <p:sp>
        <p:nvSpPr>
          <p:cNvPr id="18" name="Text 16"/>
          <p:cNvSpPr/>
          <p:nvPr/>
        </p:nvSpPr>
        <p:spPr>
          <a:xfrm>
            <a:off x="5029200" y="1892808"/>
            <a:ext cx="3657600" cy="603504"/>
          </a:xfrm>
          <a:prstGeom prst="rect">
            <a:avLst/>
          </a:prstGeom>
          <a:noFill/>
          <a:ln/>
        </p:spPr>
        <p:txBody>
          <a:bodyPr wrap="square" lIns="0" tIns="0" rIns="0" bIns="0" rtlCol="0" anchor="ctr"/>
          <a:lstStyle/>
          <a:p>
            <a:pPr algn="l" indent="0" marL="0">
              <a:buNone/>
            </a:pPr>
            <a:r>
              <a:rPr lang="en-US" sz="1100" b="1" dirty="0">
                <a:solidFill>
                  <a:srgbClr val="FFFFFF"/>
                </a:solidFill>
                <a:latin typeface="Calibri" pitchFamily="34" charset="0"/>
                <a:ea typeface="Calibri" pitchFamily="34" charset="-122"/>
                <a:cs typeface="Calibri" pitchFamily="34" charset="-120"/>
              </a:rPr>
              <a:t>FACT: Panels produce 10–25% of peak output on cloudy days. Germany — one of the least sunny nations — is a top solar producer.</a:t>
            </a:r>
            <a:endParaRPr lang="en-US" sz="1100" dirty="0"/>
          </a:p>
        </p:txBody>
      </p:sp>
      <p:sp>
        <p:nvSpPr>
          <p:cNvPr id="19" name="Shape 17"/>
          <p:cNvSpPr/>
          <p:nvPr/>
        </p:nvSpPr>
        <p:spPr>
          <a:xfrm>
            <a:off x="274320" y="2743200"/>
            <a:ext cx="8503920" cy="822960"/>
          </a:xfrm>
          <a:prstGeom prst="rect">
            <a:avLst/>
          </a:prstGeom>
          <a:solidFill>
            <a:srgbClr val="1A2840"/>
          </a:solidFill>
          <a:ln w="12700">
            <a:solidFill>
              <a:srgbClr val="C0392B"/>
            </a:solidFill>
            <a:prstDash val="solid"/>
          </a:ln>
          <a:effectLst>
            <a:outerShdw sx="100000" sy="100000" kx="0" ky="0" algn="bl" rotWithShape="0" blurRad="101600" dist="38100" dir="8100000">
              <a:srgbClr val="000000">
                <a:alpha val="20000"/>
              </a:srgbClr>
            </a:outerShdw>
          </a:effectLst>
        </p:spPr>
      </p:sp>
      <p:sp>
        <p:nvSpPr>
          <p:cNvPr id="20" name="Shape 18"/>
          <p:cNvSpPr/>
          <p:nvPr/>
        </p:nvSpPr>
        <p:spPr>
          <a:xfrm>
            <a:off x="274320" y="2743200"/>
            <a:ext cx="475488" cy="822960"/>
          </a:xfrm>
          <a:prstGeom prst="rect">
            <a:avLst/>
          </a:prstGeom>
          <a:solidFill>
            <a:srgbClr val="C0392B"/>
          </a:solidFill>
          <a:ln w="12700">
            <a:solidFill>
              <a:srgbClr val="C0392B"/>
            </a:solidFill>
            <a:prstDash val="solid"/>
          </a:ln>
        </p:spPr>
      </p:sp>
      <p:sp>
        <p:nvSpPr>
          <p:cNvPr id="21" name="Text 19"/>
          <p:cNvSpPr/>
          <p:nvPr/>
        </p:nvSpPr>
        <p:spPr>
          <a:xfrm>
            <a:off x="274320" y="2761488"/>
            <a:ext cx="475488" cy="786384"/>
          </a:xfrm>
          <a:prstGeom prst="rect">
            <a:avLst/>
          </a:prstGeom>
          <a:noFill/>
          <a:ln/>
        </p:spPr>
        <p:txBody>
          <a:bodyPr wrap="square" lIns="0" tIns="0" rIns="0" bIns="0" rtlCol="0" anchor="ctr"/>
          <a:lstStyle/>
          <a:p>
            <a:pPr algn="ctr" indent="0" marL="0">
              <a:buNone/>
            </a:pPr>
            <a:r>
              <a:rPr lang="en-US" sz="2200" b="1" dirty="0">
                <a:solidFill>
                  <a:srgbClr val="FFFFFF"/>
                </a:solidFill>
                <a:latin typeface="Arial Black" pitchFamily="34" charset="0"/>
                <a:ea typeface="Arial Black" pitchFamily="34" charset="-122"/>
                <a:cs typeface="Arial Black" pitchFamily="34" charset="-120"/>
              </a:rPr>
              <a:t>✗</a:t>
            </a:r>
            <a:endParaRPr lang="en-US" sz="2200" dirty="0"/>
          </a:p>
        </p:txBody>
      </p:sp>
      <p:sp>
        <p:nvSpPr>
          <p:cNvPr id="22" name="Shape 20"/>
          <p:cNvSpPr/>
          <p:nvPr/>
        </p:nvSpPr>
        <p:spPr>
          <a:xfrm>
            <a:off x="4498848" y="2743200"/>
            <a:ext cx="475488" cy="822960"/>
          </a:xfrm>
          <a:prstGeom prst="rect">
            <a:avLst/>
          </a:prstGeom>
          <a:solidFill>
            <a:srgbClr val="2D9B4E"/>
          </a:solidFill>
          <a:ln w="12700">
            <a:solidFill>
              <a:srgbClr val="2D9B4E"/>
            </a:solidFill>
            <a:prstDash val="solid"/>
          </a:ln>
        </p:spPr>
      </p:sp>
      <p:sp>
        <p:nvSpPr>
          <p:cNvPr id="23" name="Text 21"/>
          <p:cNvSpPr/>
          <p:nvPr/>
        </p:nvSpPr>
        <p:spPr>
          <a:xfrm>
            <a:off x="4498848" y="2761488"/>
            <a:ext cx="475488" cy="786384"/>
          </a:xfrm>
          <a:prstGeom prst="rect">
            <a:avLst/>
          </a:prstGeom>
          <a:noFill/>
          <a:ln/>
        </p:spPr>
        <p:txBody>
          <a:bodyPr wrap="square" lIns="0" tIns="0" rIns="0" bIns="0" rtlCol="0" anchor="ctr"/>
          <a:lstStyle/>
          <a:p>
            <a:pPr algn="ctr" indent="0" marL="0">
              <a:buNone/>
            </a:pPr>
            <a:r>
              <a:rPr lang="en-US" sz="2200" b="1" dirty="0">
                <a:solidFill>
                  <a:srgbClr val="FFFFFF"/>
                </a:solidFill>
                <a:latin typeface="Arial Black" pitchFamily="34" charset="0"/>
                <a:ea typeface="Arial Black" pitchFamily="34" charset="-122"/>
                <a:cs typeface="Arial Black" pitchFamily="34" charset="-120"/>
              </a:rPr>
              <a:t>✓</a:t>
            </a:r>
            <a:endParaRPr lang="en-US" sz="2200" dirty="0"/>
          </a:p>
        </p:txBody>
      </p:sp>
      <p:sp>
        <p:nvSpPr>
          <p:cNvPr id="24" name="Text 22"/>
          <p:cNvSpPr/>
          <p:nvPr/>
        </p:nvSpPr>
        <p:spPr>
          <a:xfrm>
            <a:off x="804672" y="2852928"/>
            <a:ext cx="3611880" cy="603504"/>
          </a:xfrm>
          <a:prstGeom prst="rect">
            <a:avLst/>
          </a:prstGeom>
          <a:noFill/>
          <a:ln/>
        </p:spPr>
        <p:txBody>
          <a:bodyPr wrap="square" lIns="0" tIns="0" rIns="0" bIns="0" rtlCol="0" anchor="ctr"/>
          <a:lstStyle/>
          <a:p>
            <a:pPr algn="l" indent="0" marL="0">
              <a:buNone/>
            </a:pPr>
            <a:r>
              <a:rPr lang="en-US" sz="1100" dirty="0">
                <a:solidFill>
                  <a:srgbClr val="8FA3B1"/>
                </a:solidFill>
                <a:latin typeface="Calibri" pitchFamily="34" charset="0"/>
                <a:ea typeface="Calibri" pitchFamily="34" charset="-122"/>
                <a:cs typeface="Calibri" pitchFamily="34" charset="-120"/>
              </a:rPr>
              <a:t>MYTH: 'Solar panels are bad for your roof'</a:t>
            </a:r>
            <a:endParaRPr lang="en-US" sz="1100" dirty="0"/>
          </a:p>
        </p:txBody>
      </p:sp>
      <p:sp>
        <p:nvSpPr>
          <p:cNvPr id="25" name="Text 23"/>
          <p:cNvSpPr/>
          <p:nvPr/>
        </p:nvSpPr>
        <p:spPr>
          <a:xfrm>
            <a:off x="5029200" y="2852928"/>
            <a:ext cx="3657600" cy="603504"/>
          </a:xfrm>
          <a:prstGeom prst="rect">
            <a:avLst/>
          </a:prstGeom>
          <a:noFill/>
          <a:ln/>
        </p:spPr>
        <p:txBody>
          <a:bodyPr wrap="square" lIns="0" tIns="0" rIns="0" bIns="0" rtlCol="0" anchor="ctr"/>
          <a:lstStyle/>
          <a:p>
            <a:pPr algn="l" indent="0" marL="0">
              <a:buNone/>
            </a:pPr>
            <a:r>
              <a:rPr lang="en-US" sz="1100" b="1" dirty="0">
                <a:solidFill>
                  <a:srgbClr val="FFFFFF"/>
                </a:solidFill>
                <a:latin typeface="Calibri" pitchFamily="34" charset="0"/>
                <a:ea typeface="Calibri" pitchFamily="34" charset="-122"/>
                <a:cs typeface="Calibri" pitchFamily="34" charset="-120"/>
              </a:rPr>
              <a:t>FACT: Properly installed panels protect the covered section. Most installers guarantee roof penetration for 25 years.</a:t>
            </a:r>
            <a:endParaRPr lang="en-US" sz="1100" dirty="0"/>
          </a:p>
        </p:txBody>
      </p:sp>
      <p:sp>
        <p:nvSpPr>
          <p:cNvPr id="26" name="Shape 24"/>
          <p:cNvSpPr/>
          <p:nvPr/>
        </p:nvSpPr>
        <p:spPr>
          <a:xfrm>
            <a:off x="274320" y="3703320"/>
            <a:ext cx="8503920" cy="822960"/>
          </a:xfrm>
          <a:prstGeom prst="rect">
            <a:avLst/>
          </a:prstGeom>
          <a:solidFill>
            <a:srgbClr val="1A2840"/>
          </a:solidFill>
          <a:ln w="12700">
            <a:solidFill>
              <a:srgbClr val="C0392B"/>
            </a:solidFill>
            <a:prstDash val="solid"/>
          </a:ln>
          <a:effectLst>
            <a:outerShdw sx="100000" sy="100000" kx="0" ky="0" algn="bl" rotWithShape="0" blurRad="101600" dist="38100" dir="8100000">
              <a:srgbClr val="000000">
                <a:alpha val="20000"/>
              </a:srgbClr>
            </a:outerShdw>
          </a:effectLst>
        </p:spPr>
      </p:sp>
      <p:sp>
        <p:nvSpPr>
          <p:cNvPr id="27" name="Shape 25"/>
          <p:cNvSpPr/>
          <p:nvPr/>
        </p:nvSpPr>
        <p:spPr>
          <a:xfrm>
            <a:off x="274320" y="3703320"/>
            <a:ext cx="475488" cy="822960"/>
          </a:xfrm>
          <a:prstGeom prst="rect">
            <a:avLst/>
          </a:prstGeom>
          <a:solidFill>
            <a:srgbClr val="C0392B"/>
          </a:solidFill>
          <a:ln w="12700">
            <a:solidFill>
              <a:srgbClr val="C0392B"/>
            </a:solidFill>
            <a:prstDash val="solid"/>
          </a:ln>
        </p:spPr>
      </p:sp>
      <p:sp>
        <p:nvSpPr>
          <p:cNvPr id="28" name="Text 26"/>
          <p:cNvSpPr/>
          <p:nvPr/>
        </p:nvSpPr>
        <p:spPr>
          <a:xfrm>
            <a:off x="274320" y="3721608"/>
            <a:ext cx="475488" cy="786384"/>
          </a:xfrm>
          <a:prstGeom prst="rect">
            <a:avLst/>
          </a:prstGeom>
          <a:noFill/>
          <a:ln/>
        </p:spPr>
        <p:txBody>
          <a:bodyPr wrap="square" lIns="0" tIns="0" rIns="0" bIns="0" rtlCol="0" anchor="ctr"/>
          <a:lstStyle/>
          <a:p>
            <a:pPr algn="ctr" indent="0" marL="0">
              <a:buNone/>
            </a:pPr>
            <a:r>
              <a:rPr lang="en-US" sz="2200" b="1" dirty="0">
                <a:solidFill>
                  <a:srgbClr val="FFFFFF"/>
                </a:solidFill>
                <a:latin typeface="Arial Black" pitchFamily="34" charset="0"/>
                <a:ea typeface="Arial Black" pitchFamily="34" charset="-122"/>
                <a:cs typeface="Arial Black" pitchFamily="34" charset="-120"/>
              </a:rPr>
              <a:t>✗</a:t>
            </a:r>
            <a:endParaRPr lang="en-US" sz="2200" dirty="0"/>
          </a:p>
        </p:txBody>
      </p:sp>
      <p:sp>
        <p:nvSpPr>
          <p:cNvPr id="29" name="Shape 27"/>
          <p:cNvSpPr/>
          <p:nvPr/>
        </p:nvSpPr>
        <p:spPr>
          <a:xfrm>
            <a:off x="4498848" y="3703320"/>
            <a:ext cx="475488" cy="822960"/>
          </a:xfrm>
          <a:prstGeom prst="rect">
            <a:avLst/>
          </a:prstGeom>
          <a:solidFill>
            <a:srgbClr val="2D9B4E"/>
          </a:solidFill>
          <a:ln w="12700">
            <a:solidFill>
              <a:srgbClr val="2D9B4E"/>
            </a:solidFill>
            <a:prstDash val="solid"/>
          </a:ln>
        </p:spPr>
      </p:sp>
      <p:sp>
        <p:nvSpPr>
          <p:cNvPr id="30" name="Text 28"/>
          <p:cNvSpPr/>
          <p:nvPr/>
        </p:nvSpPr>
        <p:spPr>
          <a:xfrm>
            <a:off x="4498848" y="3721608"/>
            <a:ext cx="475488" cy="786384"/>
          </a:xfrm>
          <a:prstGeom prst="rect">
            <a:avLst/>
          </a:prstGeom>
          <a:noFill/>
          <a:ln/>
        </p:spPr>
        <p:txBody>
          <a:bodyPr wrap="square" lIns="0" tIns="0" rIns="0" bIns="0" rtlCol="0" anchor="ctr"/>
          <a:lstStyle/>
          <a:p>
            <a:pPr algn="ctr" indent="0" marL="0">
              <a:buNone/>
            </a:pPr>
            <a:r>
              <a:rPr lang="en-US" sz="2200" b="1" dirty="0">
                <a:solidFill>
                  <a:srgbClr val="FFFFFF"/>
                </a:solidFill>
                <a:latin typeface="Arial Black" pitchFamily="34" charset="0"/>
                <a:ea typeface="Arial Black" pitchFamily="34" charset="-122"/>
                <a:cs typeface="Arial Black" pitchFamily="34" charset="-120"/>
              </a:rPr>
              <a:t>✓</a:t>
            </a:r>
            <a:endParaRPr lang="en-US" sz="2200" dirty="0"/>
          </a:p>
        </p:txBody>
      </p:sp>
      <p:sp>
        <p:nvSpPr>
          <p:cNvPr id="31" name="Text 29"/>
          <p:cNvSpPr/>
          <p:nvPr/>
        </p:nvSpPr>
        <p:spPr>
          <a:xfrm>
            <a:off x="804672" y="3813048"/>
            <a:ext cx="3611880" cy="603504"/>
          </a:xfrm>
          <a:prstGeom prst="rect">
            <a:avLst/>
          </a:prstGeom>
          <a:noFill/>
          <a:ln/>
        </p:spPr>
        <p:txBody>
          <a:bodyPr wrap="square" lIns="0" tIns="0" rIns="0" bIns="0" rtlCol="0" anchor="ctr"/>
          <a:lstStyle/>
          <a:p>
            <a:pPr algn="l" indent="0" marL="0">
              <a:buNone/>
            </a:pPr>
            <a:r>
              <a:rPr lang="en-US" sz="1100" dirty="0">
                <a:solidFill>
                  <a:srgbClr val="8FA3B1"/>
                </a:solidFill>
                <a:latin typeface="Calibri" pitchFamily="34" charset="0"/>
                <a:ea typeface="Calibri" pitchFamily="34" charset="-122"/>
                <a:cs typeface="Calibri" pitchFamily="34" charset="-120"/>
              </a:rPr>
              <a:t>MYTH: 'Solar companies always go bankrupt'</a:t>
            </a:r>
            <a:endParaRPr lang="en-US" sz="1100" dirty="0"/>
          </a:p>
        </p:txBody>
      </p:sp>
      <p:sp>
        <p:nvSpPr>
          <p:cNvPr id="32" name="Text 30"/>
          <p:cNvSpPr/>
          <p:nvPr/>
        </p:nvSpPr>
        <p:spPr>
          <a:xfrm>
            <a:off x="5029200" y="3813048"/>
            <a:ext cx="3657600" cy="603504"/>
          </a:xfrm>
          <a:prstGeom prst="rect">
            <a:avLst/>
          </a:prstGeom>
          <a:noFill/>
          <a:ln/>
        </p:spPr>
        <p:txBody>
          <a:bodyPr wrap="square" lIns="0" tIns="0" rIns="0" bIns="0" rtlCol="0" anchor="ctr"/>
          <a:lstStyle/>
          <a:p>
            <a:pPr algn="l" indent="0" marL="0">
              <a:buNone/>
            </a:pPr>
            <a:r>
              <a:rPr lang="en-US" sz="1100" b="1" dirty="0">
                <a:solidFill>
                  <a:srgbClr val="FFFFFF"/>
                </a:solidFill>
                <a:latin typeface="Calibri" pitchFamily="34" charset="0"/>
                <a:ea typeface="Calibri" pitchFamily="34" charset="-122"/>
                <a:cs typeface="Calibri" pitchFamily="34" charset="-120"/>
              </a:rPr>
              <a:t>FACT: Manufacturer warranties are independent of the installer. Tier-1 panels carry 25-year manufacturer guarantees.</a:t>
            </a:r>
            <a:endParaRPr lang="en-US" sz="1100" dirty="0"/>
          </a:p>
        </p:txBody>
      </p:sp>
      <p:sp>
        <p:nvSpPr>
          <p:cNvPr id="33" name="Shape 31"/>
          <p:cNvSpPr/>
          <p:nvPr/>
        </p:nvSpPr>
        <p:spPr>
          <a:xfrm>
            <a:off x="0" y="4663440"/>
            <a:ext cx="9144000" cy="480060"/>
          </a:xfrm>
          <a:prstGeom prst="rect">
            <a:avLst/>
          </a:prstGeom>
          <a:solidFill>
            <a:srgbClr val="E07B39">
              <a:alpha val="15000"/>
            </a:srgbClr>
          </a:solidFill>
          <a:ln w="12700">
            <a:solidFill>
              <a:srgbClr val="E07B39">
                <a:alpha val="15000"/>
              </a:srgbClr>
            </a:solidFill>
            <a:prstDash val="solid"/>
          </a:ln>
        </p:spPr>
      </p:sp>
      <p:sp>
        <p:nvSpPr>
          <p:cNvPr id="34" name="Text 32"/>
          <p:cNvSpPr/>
          <p:nvPr/>
        </p:nvSpPr>
        <p:spPr>
          <a:xfrm>
            <a:off x="274320" y="4690872"/>
            <a:ext cx="8686800" cy="384048"/>
          </a:xfrm>
          <a:prstGeom prst="rect">
            <a:avLst/>
          </a:prstGeom>
          <a:noFill/>
          <a:ln/>
        </p:spPr>
        <p:txBody>
          <a:bodyPr wrap="square" lIns="0" tIns="0" rIns="0" bIns="0" rtlCol="0" anchor="ctr"/>
          <a:lstStyle/>
          <a:p>
            <a:pPr algn="l" indent="0" marL="0">
              <a:buNone/>
            </a:pPr>
            <a:r>
              <a:rPr lang="en-US" sz="900" i="1" dirty="0">
                <a:solidFill>
                  <a:srgbClr val="E07B39"/>
                </a:solidFill>
                <a:latin typeface="Calibri" pitchFamily="34" charset="0"/>
                <a:ea typeface="Calibri" pitchFamily="34" charset="-122"/>
                <a:cs typeface="Calibri" pitchFamily="34" charset="-120"/>
              </a:rPr>
              <a:t>📋 TRAINER NOTE: Laminate this myth-buster card and keep it in every rep's field folder. When a media myth surfaces, pull out the card, hand it to the homeowner, and read the fact aloud together. Shared reading creates shared belief.</a:t>
            </a:r>
            <a:endParaRPr lang="en-US" sz="900"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F4A61D"/>
          </a:solidFill>
          <a:ln w="12700">
            <a:solidFill>
              <a:srgbClr val="F4A61D"/>
            </a:solidFill>
            <a:prstDash val="solid"/>
          </a:ln>
        </p:spPr>
      </p:sp>
      <p:sp>
        <p:nvSpPr>
          <p:cNvPr id="3" name="Text 1"/>
          <p:cNvSpPr/>
          <p:nvPr/>
        </p:nvSpPr>
        <p:spPr>
          <a:xfrm>
            <a:off x="274320" y="164592"/>
            <a:ext cx="8503920" cy="594360"/>
          </a:xfrm>
          <a:prstGeom prst="rect">
            <a:avLst/>
          </a:prstGeom>
          <a:noFill/>
          <a:ln/>
        </p:spPr>
        <p:txBody>
          <a:bodyPr wrap="square" lIns="0" tIns="0" rIns="0" bIns="0" rtlCol="0" anchor="ctr"/>
          <a:lstStyle/>
          <a:p>
            <a:pPr algn="l" indent="0" marL="0">
              <a:buNone/>
            </a:pPr>
            <a:r>
              <a:rPr lang="en-US" sz="2000" b="1" dirty="0">
                <a:solidFill>
                  <a:srgbClr val="F4A61D"/>
                </a:solidFill>
                <a:latin typeface="Arial Black" pitchFamily="34" charset="0"/>
                <a:ea typeface="Arial Black" pitchFamily="34" charset="-122"/>
                <a:cs typeface="Arial Black" pitchFamily="34" charset="-120"/>
              </a:rPr>
              <a:t>Financial Fear: Solar as Insurance Against Economic Uncertainty</a:t>
            </a:r>
            <a:endParaRPr lang="en-US" sz="2000" dirty="0"/>
          </a:p>
        </p:txBody>
      </p:sp>
      <p:sp>
        <p:nvSpPr>
          <p:cNvPr id="4" name="Shape 2"/>
          <p:cNvSpPr/>
          <p:nvPr/>
        </p:nvSpPr>
        <p:spPr>
          <a:xfrm>
            <a:off x="274320" y="777240"/>
            <a:ext cx="8503920" cy="27432"/>
          </a:xfrm>
          <a:prstGeom prst="rect">
            <a:avLst/>
          </a:prstGeom>
          <a:solidFill>
            <a:srgbClr val="F4A61D">
              <a:alpha val="40000"/>
            </a:srgbClr>
          </a:solidFill>
          <a:ln w="12700">
            <a:solidFill>
              <a:srgbClr val="F4A61D">
                <a:alpha val="40000"/>
              </a:srgbClr>
            </a:solidFill>
            <a:prstDash val="solid"/>
          </a:ln>
        </p:spPr>
      </p:sp>
      <p:sp>
        <p:nvSpPr>
          <p:cNvPr id="5" name="Text 3"/>
          <p:cNvSpPr/>
          <p:nvPr/>
        </p:nvSpPr>
        <p:spPr>
          <a:xfrm>
            <a:off x="274320" y="914400"/>
            <a:ext cx="8503920" cy="1444752"/>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rgbClr val="FFFFFF"/>
                </a:solidFill>
                <a:latin typeface="Calibri" pitchFamily="34" charset="0"/>
                <a:ea typeface="Calibri" pitchFamily="34" charset="-122"/>
                <a:cs typeface="Calibri" pitchFamily="34" charset="-120"/>
              </a:rPr>
              <a:t>The Fear: 'What if I lose my job — will I be stuck with a solar payment I can't afford?'</a:t>
            </a:r>
            <a:endParaRPr lang="en-US" sz="1300" dirty="0"/>
          </a:p>
          <a:p>
            <a:pPr marL="342900" indent="-342900">
              <a:spcAft>
                <a:spcPts val="600"/>
              </a:spcAft>
              <a:buSzPct val="100000"/>
              <a:buChar char="•"/>
            </a:pPr>
            <a:r>
              <a:rPr lang="en-US" sz="1300" dirty="0">
                <a:solidFill>
                  <a:srgbClr val="FFFFFF"/>
                </a:solidFill>
                <a:latin typeface="Calibri" pitchFamily="34" charset="0"/>
                <a:ea typeface="Calibri" pitchFamily="34" charset="-122"/>
                <a:cs typeface="Calibri" pitchFamily="34" charset="-120"/>
              </a:rPr>
              <a:t>The Reframe: 'If you lost your job, would you rather have a $300 bill that keeps rising, or a $160 fixed payment that ends in 10 years?'</a:t>
            </a:r>
            <a:endParaRPr lang="en-US" sz="1300" dirty="0"/>
          </a:p>
          <a:p>
            <a:pPr marL="342900" indent="-342900">
              <a:spcAft>
                <a:spcPts val="600"/>
              </a:spcAft>
              <a:buSzPct val="100000"/>
              <a:buChar char="•"/>
            </a:pPr>
            <a:r>
              <a:rPr lang="en-US" sz="1300" dirty="0">
                <a:solidFill>
                  <a:srgbClr val="FFFFFF"/>
                </a:solidFill>
                <a:latin typeface="Calibri" pitchFamily="34" charset="0"/>
                <a:ea typeface="Calibri" pitchFamily="34" charset="-122"/>
                <a:cs typeface="Calibri" pitchFamily="34" charset="-120"/>
              </a:rPr>
              <a:t>Solar reduces financial exposure to utility volatility — it is a hedge, not a luxury</a:t>
            </a:r>
            <a:endParaRPr lang="en-US" sz="1300" dirty="0"/>
          </a:p>
          <a:p>
            <a:pPr marL="342900" indent="-342900">
              <a:spcAft>
                <a:spcPts val="600"/>
              </a:spcAft>
              <a:buSzPct val="100000"/>
              <a:buChar char="•"/>
            </a:pPr>
            <a:r>
              <a:rPr lang="en-US" sz="1300" dirty="0">
                <a:solidFill>
                  <a:srgbClr val="FFFFFF"/>
                </a:solidFill>
                <a:latin typeface="Calibri" pitchFamily="34" charset="0"/>
                <a:ea typeface="Calibri" pitchFamily="34" charset="-122"/>
                <a:cs typeface="Calibri" pitchFamily="34" charset="-120"/>
              </a:rPr>
              <a:t>'In an economic downturn, the utility still charges you — and they raise rates. Solar removes that variable from your household budget permanently'</a:t>
            </a:r>
            <a:endParaRPr lang="en-US" sz="1300" dirty="0"/>
          </a:p>
        </p:txBody>
      </p:sp>
      <p:sp>
        <p:nvSpPr>
          <p:cNvPr id="6" name="Shape 4"/>
          <p:cNvSpPr/>
          <p:nvPr/>
        </p:nvSpPr>
        <p:spPr>
          <a:xfrm>
            <a:off x="274320" y="2468880"/>
            <a:ext cx="8503920" cy="1874520"/>
          </a:xfrm>
          <a:prstGeom prst="rect">
            <a:avLst/>
          </a:prstGeom>
          <a:solidFill>
            <a:srgbClr val="1A2840"/>
          </a:solidFill>
          <a:ln w="19050">
            <a:solidFill>
              <a:srgbClr val="0891B2"/>
            </a:solidFill>
            <a:prstDash val="solid"/>
          </a:ln>
          <a:effectLst>
            <a:outerShdw sx="100000" sy="100000" kx="0" ky="0" algn="bl" rotWithShape="0" blurRad="101600" dist="38100" dir="8100000">
              <a:srgbClr val="000000">
                <a:alpha val="20000"/>
              </a:srgbClr>
            </a:outerShdw>
          </a:effectLst>
        </p:spPr>
      </p:sp>
      <p:sp>
        <p:nvSpPr>
          <p:cNvPr id="7" name="Shape 5"/>
          <p:cNvSpPr/>
          <p:nvPr/>
        </p:nvSpPr>
        <p:spPr>
          <a:xfrm>
            <a:off x="274320" y="2468880"/>
            <a:ext cx="1097280" cy="347472"/>
          </a:xfrm>
          <a:prstGeom prst="rect">
            <a:avLst/>
          </a:prstGeom>
          <a:solidFill>
            <a:srgbClr val="0891B2"/>
          </a:solidFill>
          <a:ln w="12700">
            <a:solidFill>
              <a:srgbClr val="0891B2"/>
            </a:solidFill>
            <a:prstDash val="solid"/>
          </a:ln>
        </p:spPr>
      </p:sp>
      <p:sp>
        <p:nvSpPr>
          <p:cNvPr id="8" name="Text 6"/>
          <p:cNvSpPr/>
          <p:nvPr/>
        </p:nvSpPr>
        <p:spPr>
          <a:xfrm>
            <a:off x="292608" y="2487168"/>
            <a:ext cx="1051560" cy="310896"/>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Arial Black" pitchFamily="34" charset="0"/>
                <a:ea typeface="Arial Black" pitchFamily="34" charset="-122"/>
                <a:cs typeface="Arial Black" pitchFamily="34" charset="-120"/>
              </a:rPr>
              <a:t>DIALOGUE</a:t>
            </a:r>
            <a:endParaRPr lang="en-US" sz="900" dirty="0"/>
          </a:p>
        </p:txBody>
      </p:sp>
      <p:sp>
        <p:nvSpPr>
          <p:cNvPr id="9" name="Text 7"/>
          <p:cNvSpPr/>
          <p:nvPr/>
        </p:nvSpPr>
        <p:spPr>
          <a:xfrm>
            <a:off x="411480" y="2926080"/>
            <a:ext cx="8275320" cy="1325880"/>
          </a:xfrm>
          <a:prstGeom prst="rect">
            <a:avLst/>
          </a:prstGeom>
          <a:noFill/>
          <a:ln/>
        </p:spPr>
        <p:txBody>
          <a:bodyPr wrap="square" lIns="0" tIns="0" rIns="0" bIns="0" rtlCol="0" anchor="t"/>
          <a:lstStyle/>
          <a:p>
            <a:pPr indent="0" marL="0">
              <a:buNone/>
            </a:pPr>
            <a:r>
              <a:rPr lang="en-US" sz="1100" b="1" dirty="0">
                <a:solidFill>
                  <a:srgbClr val="F4A61D"/>
                </a:solidFill>
                <a:latin typeface="Calibri" pitchFamily="34" charset="0"/>
                <a:ea typeface="Calibri" pitchFamily="34" charset="-122"/>
                <a:cs typeface="Calibri" pitchFamily="34" charset="-120"/>
              </a:rPr>
              <a:t>Homeowner:</a:t>
            </a:r>
            <a:endParaRPr lang="en-US" sz="1100" dirty="0"/>
          </a:p>
          <a:p>
            <a:pPr indent="0" marL="0">
              <a:buNone/>
            </a:pPr>
            <a:r>
              <a:rPr lang="en-US" sz="1100" dirty="0">
                <a:solidFill>
                  <a:srgbClr val="FFFFFF"/>
                </a:solidFill>
                <a:latin typeface="Calibri" pitchFamily="34" charset="0"/>
                <a:ea typeface="Calibri" pitchFamily="34" charset="-122"/>
                <a:cs typeface="Calibri" pitchFamily="34" charset="-120"/>
              </a:rPr>
              <a:t>With everything going on economically, I'm just not sure now is the right time.</a:t>
            </a:r>
            <a:endParaRPr lang="en-US" sz="1100" dirty="0"/>
          </a:p>
          <a:p>
            <a:pPr indent="0" marL="0">
              <a:buNone/>
            </a:pPr>
            <a:r>
              <a:rPr lang="en-US" sz="1100" b="1" dirty="0">
                <a:solidFill>
                  <a:srgbClr val="F4A61D"/>
                </a:solidFill>
                <a:latin typeface="Calibri" pitchFamily="34" charset="0"/>
                <a:ea typeface="Calibri" pitchFamily="34" charset="-122"/>
                <a:cs typeface="Calibri" pitchFamily="34" charset="-120"/>
              </a:rPr>
              <a:t>Rep:</a:t>
            </a:r>
            <a:endParaRPr lang="en-US" sz="1100" dirty="0"/>
          </a:p>
          <a:p>
            <a:pPr indent="0" marL="0">
              <a:buNone/>
            </a:pPr>
            <a:r>
              <a:rPr lang="en-US" sz="1100" dirty="0">
                <a:solidFill>
                  <a:srgbClr val="FFFFFF"/>
                </a:solidFill>
                <a:latin typeface="Calibri" pitchFamily="34" charset="0"/>
                <a:ea typeface="Calibri" pitchFamily="34" charset="-122"/>
                <a:cs typeface="Calibri" pitchFamily="34" charset="-120"/>
              </a:rPr>
              <a:t>I completely hear that — and I want to show you something that might change the framing. If things get hard economically, the utility bill doesn't pause. In fact, historically, utility rates go UP during economic stress. Solar is the one thing that locks in your energy cost no matter what happens to the economy. It's not a luxury purchase — it's economic protection.</a:t>
            </a:r>
            <a:endParaRPr lang="en-US" sz="1100" dirty="0"/>
          </a:p>
        </p:txBody>
      </p:sp>
      <p:sp>
        <p:nvSpPr>
          <p:cNvPr id="10" name="Shape 8"/>
          <p:cNvSpPr/>
          <p:nvPr/>
        </p:nvSpPr>
        <p:spPr>
          <a:xfrm>
            <a:off x="0" y="4663440"/>
            <a:ext cx="9144000" cy="480060"/>
          </a:xfrm>
          <a:prstGeom prst="rect">
            <a:avLst/>
          </a:prstGeom>
          <a:solidFill>
            <a:srgbClr val="E07B39">
              <a:alpha val="15000"/>
            </a:srgbClr>
          </a:solidFill>
          <a:ln w="12700">
            <a:solidFill>
              <a:srgbClr val="E07B39">
                <a:alpha val="15000"/>
              </a:srgbClr>
            </a:solidFill>
            <a:prstDash val="solid"/>
          </a:ln>
        </p:spPr>
      </p:sp>
      <p:sp>
        <p:nvSpPr>
          <p:cNvPr id="11" name="Text 9"/>
          <p:cNvSpPr/>
          <p:nvPr/>
        </p:nvSpPr>
        <p:spPr>
          <a:xfrm>
            <a:off x="274320" y="4690872"/>
            <a:ext cx="8686800" cy="384048"/>
          </a:xfrm>
          <a:prstGeom prst="rect">
            <a:avLst/>
          </a:prstGeom>
          <a:noFill/>
          <a:ln/>
        </p:spPr>
        <p:txBody>
          <a:bodyPr wrap="square" lIns="0" tIns="0" rIns="0" bIns="0" rtlCol="0" anchor="ctr"/>
          <a:lstStyle/>
          <a:p>
            <a:pPr algn="l" indent="0" marL="0">
              <a:buNone/>
            </a:pPr>
            <a:r>
              <a:rPr lang="en-US" sz="900" i="1" dirty="0">
                <a:solidFill>
                  <a:srgbClr val="E07B39"/>
                </a:solidFill>
                <a:latin typeface="Calibri" pitchFamily="34" charset="0"/>
                <a:ea typeface="Calibri" pitchFamily="34" charset="-122"/>
                <a:cs typeface="Calibri" pitchFamily="34" charset="-120"/>
              </a:rPr>
              <a:t>📋 TRAINER NOTE: Financial Fear is particularly common in economic uncertainty periods. The rep who positions solar as a hedge against inflation and job market volatility is selling something every homeowner genuinely needs — regardless of their income level.</a:t>
            </a:r>
            <a:endParaRPr lang="en-US" sz="900"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E07B39"/>
          </a:solidFill>
          <a:ln w="12700">
            <a:solidFill>
              <a:srgbClr val="E07B39"/>
            </a:solidFill>
            <a:prstDash val="solid"/>
          </a:ln>
        </p:spPr>
      </p:sp>
      <p:sp>
        <p:nvSpPr>
          <p:cNvPr id="3" name="Text 1"/>
          <p:cNvSpPr/>
          <p:nvPr/>
        </p:nvSpPr>
        <p:spPr>
          <a:xfrm>
            <a:off x="365760" y="73152"/>
            <a:ext cx="3657600" cy="365760"/>
          </a:xfrm>
          <a:prstGeom prst="rect">
            <a:avLst/>
          </a:prstGeom>
          <a:noFill/>
          <a:ln/>
        </p:spPr>
        <p:txBody>
          <a:bodyPr wrap="square" lIns="0" tIns="0" rIns="0" bIns="0" rtlCol="0" anchor="ctr"/>
          <a:lstStyle/>
          <a:p>
            <a:pPr algn="l" indent="0" marL="0">
              <a:buNone/>
            </a:pPr>
            <a:r>
              <a:rPr lang="en-US" sz="1200" b="1" spc="300" kern="0" dirty="0">
                <a:solidFill>
                  <a:srgbClr val="0D1B2A"/>
                </a:solidFill>
                <a:latin typeface="Arial Black" pitchFamily="34" charset="0"/>
                <a:ea typeface="Arial Black" pitchFamily="34" charset="-122"/>
                <a:cs typeface="Arial Black" pitchFamily="34" charset="-120"/>
              </a:rPr>
              <a:t>🎯  ACTIVITY</a:t>
            </a:r>
            <a:endParaRPr lang="en-US" sz="1200" dirty="0"/>
          </a:p>
        </p:txBody>
      </p:sp>
      <p:sp>
        <p:nvSpPr>
          <p:cNvPr id="4" name="Text 2"/>
          <p:cNvSpPr/>
          <p:nvPr/>
        </p:nvSpPr>
        <p:spPr>
          <a:xfrm>
            <a:off x="365760" y="457200"/>
            <a:ext cx="8412480" cy="457200"/>
          </a:xfrm>
          <a:prstGeom prst="rect">
            <a:avLst/>
          </a:prstGeom>
          <a:noFill/>
          <a:ln/>
        </p:spPr>
        <p:txBody>
          <a:bodyPr wrap="square" lIns="0" tIns="0" rIns="0" bIns="0" rtlCol="0" anchor="ctr"/>
          <a:lstStyle/>
          <a:p>
            <a:pPr algn="l" indent="0" marL="0">
              <a:buNone/>
            </a:pPr>
            <a:r>
              <a:rPr lang="en-US" sz="1700" b="1" dirty="0">
                <a:solidFill>
                  <a:srgbClr val="0D1B2A"/>
                </a:solidFill>
                <a:latin typeface="Arial Black" pitchFamily="34" charset="0"/>
                <a:ea typeface="Arial Black" pitchFamily="34" charset="-122"/>
                <a:cs typeface="Arial Black" pitchFamily="34" charset="-120"/>
              </a:rPr>
              <a:t>Activity: Myth-Buster Presentation</a:t>
            </a:r>
            <a:endParaRPr lang="en-US" sz="1700" dirty="0"/>
          </a:p>
        </p:txBody>
      </p:sp>
      <p:sp>
        <p:nvSpPr>
          <p:cNvPr id="5" name="Shape 3"/>
          <p:cNvSpPr/>
          <p:nvPr/>
        </p:nvSpPr>
        <p:spPr>
          <a:xfrm>
            <a:off x="274320" y="1143000"/>
            <a:ext cx="8595360" cy="475488"/>
          </a:xfrm>
          <a:prstGeom prst="rect">
            <a:avLst/>
          </a:prstGeom>
          <a:solidFill>
            <a:srgbClr val="1A2840"/>
          </a:solidFill>
          <a:ln w="12700">
            <a:solidFill>
              <a:srgbClr val="0891B2"/>
            </a:solidFill>
            <a:prstDash val="solid"/>
          </a:ln>
          <a:effectLst>
            <a:outerShdw sx="100000" sy="100000" kx="0" ky="0" algn="bl" rotWithShape="0" blurRad="101600" dist="38100" dir="8100000">
              <a:srgbClr val="000000">
                <a:alpha val="20000"/>
              </a:srgbClr>
            </a:outerShdw>
          </a:effectLst>
        </p:spPr>
      </p:sp>
      <p:sp>
        <p:nvSpPr>
          <p:cNvPr id="6" name="Text 4"/>
          <p:cNvSpPr/>
          <p:nvPr/>
        </p:nvSpPr>
        <p:spPr>
          <a:xfrm>
            <a:off x="411480" y="1170432"/>
            <a:ext cx="8321040" cy="420624"/>
          </a:xfrm>
          <a:prstGeom prst="rect">
            <a:avLst/>
          </a:prstGeom>
          <a:noFill/>
          <a:ln/>
        </p:spPr>
        <p:txBody>
          <a:bodyPr wrap="square" lIns="0" tIns="0" rIns="0" bIns="0" rtlCol="0" anchor="ctr"/>
          <a:lstStyle/>
          <a:p>
            <a:pPr algn="l" indent="0" marL="0">
              <a:buNone/>
            </a:pPr>
            <a:r>
              <a:rPr lang="en-US" sz="1100" b="1" i="1" dirty="0">
                <a:solidFill>
                  <a:srgbClr val="0891B2"/>
                </a:solidFill>
                <a:latin typeface="Calibri" pitchFamily="34" charset="0"/>
                <a:ea typeface="Calibri" pitchFamily="34" charset="-122"/>
                <a:cs typeface="Calibri" pitchFamily="34" charset="-120"/>
              </a:rPr>
              <a:t>OBJECTIVE: Debunk a media myth using data in under 60 seconds</a:t>
            </a:r>
            <a:endParaRPr lang="en-US" sz="1100" dirty="0"/>
          </a:p>
        </p:txBody>
      </p:sp>
      <p:sp>
        <p:nvSpPr>
          <p:cNvPr id="7" name="Text 5"/>
          <p:cNvSpPr/>
          <p:nvPr/>
        </p:nvSpPr>
        <p:spPr>
          <a:xfrm>
            <a:off x="365760" y="1755648"/>
            <a:ext cx="6858000" cy="2834640"/>
          </a:xfrm>
          <a:prstGeom prst="rect">
            <a:avLst/>
          </a:prstGeom>
          <a:noFill/>
          <a:ln/>
        </p:spPr>
        <p:txBody>
          <a:bodyPr wrap="square" lIns="0" tIns="0" rIns="0" bIns="0" rtlCol="0" anchor="t"/>
          <a:lstStyle/>
          <a:p>
            <a:pPr indent="0" marL="0">
              <a:spcAft>
                <a:spcPts val="800"/>
              </a:spcAft>
              <a:buNone/>
            </a:pPr>
            <a:r>
              <a:rPr lang="en-US" sz="1200" dirty="0">
                <a:solidFill>
                  <a:srgbClr val="FFFFFF"/>
                </a:solidFill>
                <a:latin typeface="Calibri" pitchFamily="34" charset="0"/>
                <a:ea typeface="Calibri" pitchFamily="34" charset="-122"/>
                <a:cs typeface="Calibri" pitchFamily="34" charset="-120"/>
              </a:rPr>
              <a:t>1.  Trainer assigns each rep a 'Media Myth' from the cheat sheet (or creates a new one)</a:t>
            </a:r>
            <a:endParaRPr lang="en-US" sz="1200" dirty="0"/>
          </a:p>
          <a:p>
            <a:pPr indent="0" marL="0">
              <a:spcAft>
                <a:spcPts val="800"/>
              </a:spcAft>
              <a:buNone/>
            </a:pPr>
            <a:r>
              <a:rPr lang="en-US" sz="1200" dirty="0">
                <a:solidFill>
                  <a:srgbClr val="FFFFFF"/>
                </a:solidFill>
                <a:latin typeface="Calibri" pitchFamily="34" charset="0"/>
                <a:ea typeface="Calibri" pitchFamily="34" charset="-122"/>
                <a:cs typeface="Calibri" pitchFamily="34" charset="-120"/>
              </a:rPr>
              <a:t>2.  Rep has 60 seconds to: acknowledge the myth as understandable → present the counterevidence → connect it to a financial or safety outcome</a:t>
            </a:r>
            <a:endParaRPr lang="en-US" sz="1200" dirty="0"/>
          </a:p>
          <a:p>
            <a:pPr indent="0" marL="0">
              <a:spcAft>
                <a:spcPts val="800"/>
              </a:spcAft>
              <a:buNone/>
            </a:pPr>
            <a:r>
              <a:rPr lang="en-US" sz="1200" dirty="0">
                <a:solidFill>
                  <a:srgbClr val="FFFFFF"/>
                </a:solidFill>
                <a:latin typeface="Calibri" pitchFamily="34" charset="0"/>
                <a:ea typeface="Calibri" pitchFamily="34" charset="-122"/>
                <a:cs typeface="Calibri" pitchFamily="34" charset="-120"/>
              </a:rPr>
              <a:t>3.  No reading from notes — must be delivered conversationally</a:t>
            </a:r>
            <a:endParaRPr lang="en-US" sz="1200" dirty="0"/>
          </a:p>
          <a:p>
            <a:pPr indent="0" marL="0">
              <a:spcAft>
                <a:spcPts val="800"/>
              </a:spcAft>
              <a:buNone/>
            </a:pPr>
            <a:r>
              <a:rPr lang="en-US" sz="1200" dirty="0">
                <a:solidFill>
                  <a:srgbClr val="FFFFFF"/>
                </a:solidFill>
                <a:latin typeface="Calibri" pitchFamily="34" charset="0"/>
                <a:ea typeface="Calibri" pitchFamily="34" charset="-122"/>
                <a:cs typeface="Calibri" pitchFamily="34" charset="-120"/>
              </a:rPr>
              <a:t>4.  Partner grades: Did this feel like facts or propaganda? Was the source credible?</a:t>
            </a:r>
            <a:endParaRPr lang="en-US" sz="1200" dirty="0"/>
          </a:p>
          <a:p>
            <a:pPr indent="0" marL="0">
              <a:spcAft>
                <a:spcPts val="800"/>
              </a:spcAft>
              <a:buNone/>
            </a:pPr>
            <a:r>
              <a:rPr lang="en-US" sz="1200" dirty="0">
                <a:solidFill>
                  <a:srgbClr val="FFFFFF"/>
                </a:solidFill>
                <a:latin typeface="Calibri" pitchFamily="34" charset="0"/>
                <a:ea typeface="Calibri" pitchFamily="34" charset="-122"/>
                <a:cs typeface="Calibri" pitchFamily="34" charset="-120"/>
              </a:rPr>
              <a:t>5.  Deliverable: A completed 'Myth-Buster' cheat sheet — 6 myths, 6 facts, 6 financial/safety bridges</a:t>
            </a:r>
            <a:endParaRPr lang="en-US" sz="1200" dirty="0"/>
          </a:p>
        </p:txBody>
      </p:sp>
      <p:sp>
        <p:nvSpPr>
          <p:cNvPr id="8" name="Shape 6"/>
          <p:cNvSpPr/>
          <p:nvPr/>
        </p:nvSpPr>
        <p:spPr>
          <a:xfrm>
            <a:off x="7132320" y="1755648"/>
            <a:ext cx="1737360" cy="914400"/>
          </a:xfrm>
          <a:prstGeom prst="rect">
            <a:avLst/>
          </a:prstGeom>
          <a:solidFill>
            <a:srgbClr val="F4A61D"/>
          </a:solidFill>
          <a:ln w="12700">
            <a:solidFill>
              <a:srgbClr val="F4A61D"/>
            </a:solidFill>
            <a:prstDash val="solid"/>
          </a:ln>
          <a:effectLst>
            <a:outerShdw sx="100000" sy="100000" kx="0" ky="0" algn="bl" rotWithShape="0" blurRad="101600" dist="38100" dir="8100000">
              <a:srgbClr val="000000">
                <a:alpha val="20000"/>
              </a:srgbClr>
            </a:outerShdw>
          </a:effectLst>
        </p:spPr>
      </p:sp>
      <p:sp>
        <p:nvSpPr>
          <p:cNvPr id="9" name="Text 7"/>
          <p:cNvSpPr/>
          <p:nvPr/>
        </p:nvSpPr>
        <p:spPr>
          <a:xfrm>
            <a:off x="7150608" y="1773936"/>
            <a:ext cx="1691640" cy="877824"/>
          </a:xfrm>
          <a:prstGeom prst="rect">
            <a:avLst/>
          </a:prstGeom>
          <a:noFill/>
          <a:ln/>
        </p:spPr>
        <p:txBody>
          <a:bodyPr wrap="square" lIns="0" tIns="0" rIns="0" bIns="0" rtlCol="0" anchor="ctr"/>
          <a:lstStyle/>
          <a:p>
            <a:pPr algn="ctr" indent="0" marL="0">
              <a:buNone/>
            </a:pPr>
            <a:r>
              <a:rPr lang="en-US" sz="1400" b="1" dirty="0">
                <a:solidFill>
                  <a:srgbClr val="0D1B2A"/>
                </a:solidFill>
                <a:latin typeface="Arial Black" pitchFamily="34" charset="0"/>
                <a:ea typeface="Arial Black" pitchFamily="34" charset="-122"/>
                <a:cs typeface="Arial Black" pitchFamily="34" charset="-120"/>
              </a:rPr>
              <a:t>25 MIN</a:t>
            </a:r>
            <a:endParaRPr lang="en-US" sz="1400"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9144000" cy="1691640"/>
          </a:xfrm>
          <a:prstGeom prst="rect">
            <a:avLst/>
          </a:prstGeom>
          <a:solidFill>
            <a:srgbClr val="F4A61D"/>
          </a:solidFill>
          <a:ln w="12700">
            <a:solidFill>
              <a:srgbClr val="F4A61D"/>
            </a:solidFill>
            <a:prstDash val="solid"/>
          </a:ln>
        </p:spPr>
      </p:sp>
      <p:sp>
        <p:nvSpPr>
          <p:cNvPr id="3" name="Text 1"/>
          <p:cNvSpPr/>
          <p:nvPr/>
        </p:nvSpPr>
        <p:spPr>
          <a:xfrm>
            <a:off x="365760" y="137160"/>
            <a:ext cx="8412480" cy="420624"/>
          </a:xfrm>
          <a:prstGeom prst="rect">
            <a:avLst/>
          </a:prstGeom>
          <a:noFill/>
          <a:ln/>
        </p:spPr>
        <p:txBody>
          <a:bodyPr wrap="square" lIns="0" tIns="0" rIns="0" bIns="0" rtlCol="0" anchor="ctr"/>
          <a:lstStyle/>
          <a:p>
            <a:pPr algn="l" indent="0" marL="0">
              <a:buNone/>
            </a:pPr>
            <a:r>
              <a:rPr lang="en-US" sz="1300" b="1" spc="400" kern="0" dirty="0">
                <a:solidFill>
                  <a:srgbClr val="0D1B2A"/>
                </a:solidFill>
                <a:latin typeface="Arial Black" pitchFamily="34" charset="0"/>
                <a:ea typeface="Arial Black" pitchFamily="34" charset="-122"/>
                <a:cs typeface="Arial Black" pitchFamily="34" charset="-120"/>
              </a:rPr>
              <a:t>MODULE 6.10</a:t>
            </a:r>
            <a:endParaRPr lang="en-US" sz="1300" dirty="0"/>
          </a:p>
        </p:txBody>
      </p:sp>
      <p:sp>
        <p:nvSpPr>
          <p:cNvPr id="4" name="Text 2"/>
          <p:cNvSpPr/>
          <p:nvPr/>
        </p:nvSpPr>
        <p:spPr>
          <a:xfrm>
            <a:off x="365760" y="530352"/>
            <a:ext cx="8412480" cy="1005840"/>
          </a:xfrm>
          <a:prstGeom prst="rect">
            <a:avLst/>
          </a:prstGeom>
          <a:noFill/>
          <a:ln/>
        </p:spPr>
        <p:txBody>
          <a:bodyPr wrap="square" lIns="0" tIns="0" rIns="0" bIns="0" rtlCol="0" anchor="ctr"/>
          <a:lstStyle/>
          <a:p>
            <a:pPr algn="l" indent="0" marL="0">
              <a:buNone/>
            </a:pPr>
            <a:r>
              <a:rPr lang="en-US" sz="2500" b="1" dirty="0">
                <a:solidFill>
                  <a:srgbClr val="0D1B2A"/>
                </a:solidFill>
                <a:latin typeface="Arial Black" pitchFamily="34" charset="0"/>
                <a:ea typeface="Arial Black" pitchFamily="34" charset="-122"/>
                <a:cs typeface="Arial Black" pitchFamily="34" charset="-120"/>
              </a:rPr>
              <a:t>Day 6 Objection Handling Certification</a:t>
            </a:r>
            <a:endParaRPr lang="en-US" sz="2500" dirty="0"/>
          </a:p>
        </p:txBody>
      </p:sp>
      <p:sp>
        <p:nvSpPr>
          <p:cNvPr id="5" name="Text 3"/>
          <p:cNvSpPr/>
          <p:nvPr/>
        </p:nvSpPr>
        <p:spPr>
          <a:xfrm>
            <a:off x="365760" y="1920240"/>
            <a:ext cx="8412480" cy="502920"/>
          </a:xfrm>
          <a:prstGeom prst="rect">
            <a:avLst/>
          </a:prstGeom>
          <a:noFill/>
          <a:ln/>
        </p:spPr>
        <p:txBody>
          <a:bodyPr wrap="square" lIns="0" tIns="0" rIns="0" bIns="0" rtlCol="0" anchor="ctr"/>
          <a:lstStyle/>
          <a:p>
            <a:pPr algn="l" indent="0" marL="0">
              <a:buNone/>
            </a:pPr>
            <a:r>
              <a:rPr lang="en-US" sz="1500" b="1" i="1" dirty="0">
                <a:solidFill>
                  <a:srgbClr val="F4A61D"/>
                </a:solidFill>
                <a:latin typeface="Calibri" pitchFamily="34" charset="0"/>
                <a:ea typeface="Calibri" pitchFamily="34" charset="-122"/>
                <a:cs typeface="Calibri" pitchFamily="34" charset="-120"/>
              </a:rPr>
              <a:t>Master of Objections — Prove It Under Pressure</a:t>
            </a:r>
            <a:endParaRPr lang="en-US" sz="1500" dirty="0"/>
          </a:p>
        </p:txBody>
      </p:sp>
      <p:sp>
        <p:nvSpPr>
          <p:cNvPr id="6" name="Shape 4"/>
          <p:cNvSpPr/>
          <p:nvPr/>
        </p:nvSpPr>
        <p:spPr>
          <a:xfrm>
            <a:off x="365760" y="2606040"/>
            <a:ext cx="164592" cy="164592"/>
          </a:xfrm>
          <a:prstGeom prst="ellipse">
            <a:avLst/>
          </a:prstGeom>
          <a:solidFill>
            <a:srgbClr val="F4A61D">
              <a:alpha val="40000"/>
            </a:srgbClr>
          </a:solidFill>
          <a:ln w="12700">
            <a:solidFill>
              <a:srgbClr val="F4A61D">
                <a:alpha val="40000"/>
              </a:srgbClr>
            </a:solidFill>
            <a:prstDash val="solid"/>
          </a:ln>
        </p:spPr>
      </p:sp>
      <p:sp>
        <p:nvSpPr>
          <p:cNvPr id="7" name="Shape 5"/>
          <p:cNvSpPr/>
          <p:nvPr/>
        </p:nvSpPr>
        <p:spPr>
          <a:xfrm>
            <a:off x="685800" y="2606040"/>
            <a:ext cx="164592" cy="164592"/>
          </a:xfrm>
          <a:prstGeom prst="ellipse">
            <a:avLst/>
          </a:prstGeom>
          <a:solidFill>
            <a:srgbClr val="F4A61D">
              <a:alpha val="40000"/>
            </a:srgbClr>
          </a:solidFill>
          <a:ln w="12700">
            <a:solidFill>
              <a:srgbClr val="F4A61D">
                <a:alpha val="40000"/>
              </a:srgbClr>
            </a:solidFill>
            <a:prstDash val="solid"/>
          </a:ln>
        </p:spPr>
      </p:sp>
      <p:sp>
        <p:nvSpPr>
          <p:cNvPr id="8" name="Shape 6"/>
          <p:cNvSpPr/>
          <p:nvPr/>
        </p:nvSpPr>
        <p:spPr>
          <a:xfrm>
            <a:off x="1005840" y="2606040"/>
            <a:ext cx="164592" cy="164592"/>
          </a:xfrm>
          <a:prstGeom prst="ellipse">
            <a:avLst/>
          </a:prstGeom>
          <a:solidFill>
            <a:srgbClr val="F4A61D">
              <a:alpha val="40000"/>
            </a:srgbClr>
          </a:solidFill>
          <a:ln w="12700">
            <a:solidFill>
              <a:srgbClr val="F4A61D">
                <a:alpha val="40000"/>
              </a:srgbClr>
            </a:solidFill>
            <a:prstDash val="solid"/>
          </a:ln>
        </p:spPr>
      </p:sp>
      <p:sp>
        <p:nvSpPr>
          <p:cNvPr id="9" name="Shape 7"/>
          <p:cNvSpPr/>
          <p:nvPr/>
        </p:nvSpPr>
        <p:spPr>
          <a:xfrm>
            <a:off x="1325880" y="2606040"/>
            <a:ext cx="164592" cy="164592"/>
          </a:xfrm>
          <a:prstGeom prst="ellipse">
            <a:avLst/>
          </a:prstGeom>
          <a:solidFill>
            <a:srgbClr val="F4A61D">
              <a:alpha val="40000"/>
            </a:srgbClr>
          </a:solidFill>
          <a:ln w="12700">
            <a:solidFill>
              <a:srgbClr val="F4A61D">
                <a:alpha val="40000"/>
              </a:srgbClr>
            </a:solidFill>
            <a:prstDash val="solid"/>
          </a:ln>
        </p:spPr>
      </p:sp>
      <p:sp>
        <p:nvSpPr>
          <p:cNvPr id="10" name="Shape 8"/>
          <p:cNvSpPr/>
          <p:nvPr/>
        </p:nvSpPr>
        <p:spPr>
          <a:xfrm>
            <a:off x="1645920" y="2606040"/>
            <a:ext cx="164592" cy="164592"/>
          </a:xfrm>
          <a:prstGeom prst="ellipse">
            <a:avLst/>
          </a:prstGeom>
          <a:solidFill>
            <a:srgbClr val="F4A61D">
              <a:alpha val="40000"/>
            </a:srgbClr>
          </a:solidFill>
          <a:ln w="12700">
            <a:solidFill>
              <a:srgbClr val="F4A61D">
                <a:alpha val="40000"/>
              </a:srgbClr>
            </a:solidFill>
            <a:prstDash val="solid"/>
          </a:ln>
        </p:spPr>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4480560"/>
            <a:ext cx="9144000" cy="662940"/>
          </a:xfrm>
          <a:prstGeom prst="rect">
            <a:avLst/>
          </a:prstGeom>
          <a:solidFill>
            <a:srgbClr val="F4A61D"/>
          </a:solidFill>
          <a:ln w="12700">
            <a:solidFill>
              <a:srgbClr val="F4A61D"/>
            </a:solidFill>
            <a:prstDash val="solid"/>
          </a:ln>
        </p:spPr>
      </p:sp>
      <p:sp>
        <p:nvSpPr>
          <p:cNvPr id="3" name="Text 1"/>
          <p:cNvSpPr/>
          <p:nvPr/>
        </p:nvSpPr>
        <p:spPr>
          <a:xfrm>
            <a:off x="457200" y="1097280"/>
            <a:ext cx="8229600" cy="457200"/>
          </a:xfrm>
          <a:prstGeom prst="rect">
            <a:avLst/>
          </a:prstGeom>
          <a:noFill/>
          <a:ln/>
        </p:spPr>
        <p:txBody>
          <a:bodyPr wrap="square" lIns="0" tIns="0" rIns="0" bIns="0" rtlCol="0" anchor="ctr"/>
          <a:lstStyle/>
          <a:p>
            <a:pPr algn="l" indent="0" marL="0">
              <a:buNone/>
            </a:pPr>
            <a:r>
              <a:rPr lang="en-US" sz="1200" b="1" spc="500" kern="0" dirty="0">
                <a:solidFill>
                  <a:srgbClr val="F4A61D"/>
                </a:solidFill>
                <a:latin typeface="Arial" pitchFamily="34" charset="0"/>
                <a:ea typeface="Arial" pitchFamily="34" charset="-122"/>
                <a:cs typeface="Arial" pitchFamily="34" charset="-120"/>
              </a:rPr>
              <a:t>MODULE 6.10 — CERTIFICATION</a:t>
            </a:r>
            <a:endParaRPr lang="en-US" sz="1200" dirty="0"/>
          </a:p>
        </p:txBody>
      </p:sp>
      <p:sp>
        <p:nvSpPr>
          <p:cNvPr id="4" name="Text 2"/>
          <p:cNvSpPr/>
          <p:nvPr/>
        </p:nvSpPr>
        <p:spPr>
          <a:xfrm>
            <a:off x="457200" y="1536192"/>
            <a:ext cx="7772400" cy="1325880"/>
          </a:xfrm>
          <a:prstGeom prst="rect">
            <a:avLst/>
          </a:prstGeom>
          <a:noFill/>
          <a:ln/>
        </p:spPr>
        <p:txBody>
          <a:bodyPr wrap="square" lIns="0" tIns="0" rIns="0" bIns="0" rtlCol="0" anchor="ctr"/>
          <a:lstStyle/>
          <a:p>
            <a:pPr algn="l" indent="0" marL="0">
              <a:buNone/>
            </a:pPr>
            <a:r>
              <a:rPr lang="en-US" sz="3100" b="1" dirty="0">
                <a:solidFill>
                  <a:srgbClr val="FFFFFF"/>
                </a:solidFill>
                <a:latin typeface="Arial Black" pitchFamily="34" charset="0"/>
                <a:ea typeface="Arial Black" pitchFamily="34" charset="-122"/>
                <a:cs typeface="Arial Black" pitchFamily="34" charset="-120"/>
              </a:rPr>
              <a:t>The Objection Gauntlet: 5 Objections, 30 Minutes, One Signature</a:t>
            </a:r>
            <a:endParaRPr lang="en-US" sz="3100" dirty="0"/>
          </a:p>
        </p:txBody>
      </p:sp>
      <p:sp>
        <p:nvSpPr>
          <p:cNvPr id="5" name="Text 3"/>
          <p:cNvSpPr/>
          <p:nvPr/>
        </p:nvSpPr>
        <p:spPr>
          <a:xfrm>
            <a:off x="457200" y="2971800"/>
            <a:ext cx="7772400" cy="1371600"/>
          </a:xfrm>
          <a:prstGeom prst="rect">
            <a:avLst/>
          </a:prstGeom>
          <a:noFill/>
          <a:ln/>
        </p:spPr>
        <p:txBody>
          <a:bodyPr wrap="square" lIns="0" tIns="0" rIns="0" bIns="0" rtlCol="0" anchor="ctr"/>
          <a:lstStyle/>
          <a:p>
            <a:pPr marL="342900" indent="-342900">
              <a:buSzPct val="100000"/>
              <a:buFont typeface="+mj-lt"/>
              <a:buAutoNum type="arabicPeriod" startAt="1"/>
            </a:pPr>
            <a:r>
              <a:rPr lang="en-US" sz="1300" dirty="0">
                <a:solidFill>
                  <a:srgbClr val="8FA3B1"/>
                </a:solidFill>
                <a:latin typeface="Calibri" pitchFamily="34" charset="0"/>
                <a:ea typeface="Calibri" pitchFamily="34" charset="-122"/>
                <a:cs typeface="Calibri" pitchFamily="34" charset="-120"/>
              </a:rPr>
              <a:t>5 specific objections thrown in a live consultation: Smoke Screen, Hostile, Analytical Owl, Neighbor myth, and Think About It at the line</a:t>
            </a:r>
            <a:endParaRPr lang="en-US" sz="1300" dirty="0"/>
          </a:p>
          <a:p>
            <a:pPr marL="342900" indent="-342900">
              <a:buSzPct val="100000"/>
              <a:buFont typeface="+mj-lt"/>
              <a:buAutoNum type="arabicPeriod" startAt="1"/>
            </a:pPr>
            <a:r>
              <a:rPr lang="en-US" sz="1300" dirty="0">
                <a:solidFill>
                  <a:srgbClr val="8FA3B1"/>
                </a:solidFill>
                <a:latin typeface="Calibri" pitchFamily="34" charset="0"/>
                <a:ea typeface="Calibri" pitchFamily="34" charset="-122"/>
                <a:cs typeface="Calibri" pitchFamily="34" charset="-120"/>
              </a:rPr>
              <a:t>Must use ACAC, Isolation, and the Emotional Reset throughout</a:t>
            </a:r>
            <a:endParaRPr lang="en-US" sz="1300" dirty="0"/>
          </a:p>
          <a:p>
            <a:pPr marL="342900" indent="-342900">
              <a:buSzPct val="100000"/>
              <a:buFont typeface="+mj-lt"/>
              <a:buAutoNum type="arabicPeriod" startAt="1"/>
            </a:pPr>
            <a:r>
              <a:rPr lang="en-US" sz="1300" dirty="0">
                <a:solidFill>
                  <a:srgbClr val="8FA3B1"/>
                </a:solidFill>
                <a:latin typeface="Calibri" pitchFamily="34" charset="0"/>
                <a:ea typeface="Calibri" pitchFamily="34" charset="-122"/>
                <a:cs typeface="Calibri" pitchFamily="34" charset="-120"/>
              </a:rPr>
              <a:t>Evaluation on Composure, Framework Accuracy, and Transition Speed</a:t>
            </a:r>
            <a:endParaRPr lang="en-US" sz="1300" dirty="0"/>
          </a:p>
          <a:p>
            <a:pPr marL="342900" indent="-342900">
              <a:buSzPct val="100000"/>
              <a:buFont typeface="+mj-lt"/>
              <a:buAutoNum type="arabicPeriod" startAt="1"/>
            </a:pPr>
            <a:r>
              <a:rPr lang="en-US" sz="1300" dirty="0">
                <a:solidFill>
                  <a:srgbClr val="8FA3B1"/>
                </a:solidFill>
                <a:latin typeface="Calibri" pitchFamily="34" charset="0"/>
                <a:ea typeface="Calibri" pitchFamily="34" charset="-122"/>
                <a:cs typeface="Calibri" pitchFamily="34" charset="-120"/>
              </a:rPr>
              <a:t>The Miller Family AI Final Gauntlet simulation</a:t>
            </a:r>
            <a:endParaRPr lang="en-US" sz="1300" dirty="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F4A61D"/>
          </a:solidFill>
          <a:ln w="12700">
            <a:solidFill>
              <a:srgbClr val="F4A61D"/>
            </a:solidFill>
            <a:prstDash val="solid"/>
          </a:ln>
        </p:spPr>
      </p:sp>
      <p:sp>
        <p:nvSpPr>
          <p:cNvPr id="3" name="Text 1"/>
          <p:cNvSpPr/>
          <p:nvPr/>
        </p:nvSpPr>
        <p:spPr>
          <a:xfrm>
            <a:off x="274320" y="164592"/>
            <a:ext cx="8503920" cy="530352"/>
          </a:xfrm>
          <a:prstGeom prst="rect">
            <a:avLst/>
          </a:prstGeom>
          <a:noFill/>
          <a:ln/>
        </p:spPr>
        <p:txBody>
          <a:bodyPr wrap="square" lIns="0" tIns="0" rIns="0" bIns="0" rtlCol="0" anchor="ctr"/>
          <a:lstStyle/>
          <a:p>
            <a:pPr algn="l" indent="0" marL="0">
              <a:buNone/>
            </a:pPr>
            <a:r>
              <a:rPr lang="en-US" sz="2000" b="1" dirty="0">
                <a:solidFill>
                  <a:srgbClr val="F4A61D"/>
                </a:solidFill>
                <a:latin typeface="Arial Black" pitchFamily="34" charset="0"/>
                <a:ea typeface="Arial Black" pitchFamily="34" charset="-122"/>
                <a:cs typeface="Arial Black" pitchFamily="34" charset="-120"/>
              </a:rPr>
              <a:t>The Objection Gauntlet: Setup &amp; Certification Rules</a:t>
            </a:r>
            <a:endParaRPr lang="en-US" sz="2000" dirty="0"/>
          </a:p>
        </p:txBody>
      </p:sp>
      <p:sp>
        <p:nvSpPr>
          <p:cNvPr id="4" name="Shape 2"/>
          <p:cNvSpPr/>
          <p:nvPr/>
        </p:nvSpPr>
        <p:spPr>
          <a:xfrm>
            <a:off x="274320" y="713232"/>
            <a:ext cx="8503920" cy="27432"/>
          </a:xfrm>
          <a:prstGeom prst="rect">
            <a:avLst/>
          </a:prstGeom>
          <a:solidFill>
            <a:srgbClr val="F4A61D">
              <a:alpha val="40000"/>
            </a:srgbClr>
          </a:solidFill>
          <a:ln w="12700">
            <a:solidFill>
              <a:srgbClr val="F4A61D">
                <a:alpha val="40000"/>
              </a:srgbClr>
            </a:solidFill>
            <a:prstDash val="solid"/>
          </a:ln>
        </p:spPr>
      </p:sp>
      <p:sp>
        <p:nvSpPr>
          <p:cNvPr id="5" name="Shape 3"/>
          <p:cNvSpPr/>
          <p:nvPr/>
        </p:nvSpPr>
        <p:spPr>
          <a:xfrm>
            <a:off x="274320" y="804672"/>
            <a:ext cx="4023360" cy="1664208"/>
          </a:xfrm>
          <a:prstGeom prst="rect">
            <a:avLst/>
          </a:prstGeom>
          <a:solidFill>
            <a:srgbClr val="1A2840"/>
          </a:solidFill>
          <a:ln w="19050">
            <a:solidFill>
              <a:srgbClr val="0891B2"/>
            </a:solidFill>
            <a:prstDash val="solid"/>
          </a:ln>
          <a:effectLst>
            <a:outerShdw sx="100000" sy="100000" kx="0" ky="0" algn="bl" rotWithShape="0" blurRad="101600" dist="38100" dir="8100000">
              <a:srgbClr val="000000">
                <a:alpha val="20000"/>
              </a:srgbClr>
            </a:outerShdw>
          </a:effectLst>
        </p:spPr>
      </p:sp>
      <p:sp>
        <p:nvSpPr>
          <p:cNvPr id="6" name="Shape 4"/>
          <p:cNvSpPr/>
          <p:nvPr/>
        </p:nvSpPr>
        <p:spPr>
          <a:xfrm>
            <a:off x="274320" y="804672"/>
            <a:ext cx="4023360" cy="329184"/>
          </a:xfrm>
          <a:prstGeom prst="rect">
            <a:avLst/>
          </a:prstGeom>
          <a:solidFill>
            <a:srgbClr val="0891B2"/>
          </a:solidFill>
          <a:ln w="12700">
            <a:solidFill>
              <a:srgbClr val="0891B2"/>
            </a:solidFill>
            <a:prstDash val="solid"/>
          </a:ln>
        </p:spPr>
      </p:sp>
      <p:sp>
        <p:nvSpPr>
          <p:cNvPr id="7" name="Text 5"/>
          <p:cNvSpPr/>
          <p:nvPr/>
        </p:nvSpPr>
        <p:spPr>
          <a:xfrm>
            <a:off x="320040" y="832104"/>
            <a:ext cx="39319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Arial Black" pitchFamily="34" charset="0"/>
                <a:ea typeface="Arial Black" pitchFamily="34" charset="-122"/>
                <a:cs typeface="Arial Black" pitchFamily="34" charset="-120"/>
              </a:rPr>
              <a:t>🏠  THE MILLER FAMILY</a:t>
            </a:r>
            <a:endParaRPr lang="en-US" sz="1000" dirty="0"/>
          </a:p>
        </p:txBody>
      </p:sp>
      <p:sp>
        <p:nvSpPr>
          <p:cNvPr id="8" name="Text 6"/>
          <p:cNvSpPr/>
          <p:nvPr/>
        </p:nvSpPr>
        <p:spPr>
          <a:xfrm>
            <a:off x="365760" y="1188720"/>
            <a:ext cx="3840480" cy="1207008"/>
          </a:xfrm>
          <a:prstGeom prst="rect">
            <a:avLst/>
          </a:prstGeom>
          <a:noFill/>
          <a:ln/>
        </p:spPr>
        <p:txBody>
          <a:bodyPr wrap="square" lIns="0" tIns="0" rIns="0" bIns="0" rtlCol="0" anchor="t"/>
          <a:lstStyle/>
          <a:p>
            <a:pPr marL="342900" indent="-342900">
              <a:spcAft>
                <a:spcPts val="300"/>
              </a:spcAft>
              <a:buSzPct val="100000"/>
              <a:buChar char="•"/>
            </a:pPr>
            <a:r>
              <a:rPr lang="en-US" sz="1000" dirty="0">
                <a:solidFill>
                  <a:srgbClr val="FFFFFF"/>
                </a:solidFill>
                <a:latin typeface="Calibri" pitchFamily="34" charset="0"/>
                <a:ea typeface="Calibri" pitchFamily="34" charset="-122"/>
                <a:cs typeface="Calibri" pitchFamily="34" charset="-120"/>
              </a:rPr>
              <a:t>Husband: retired engineer (Owl) — has another quote from a competitor</a:t>
            </a:r>
            <a:endParaRPr lang="en-US" sz="1000" dirty="0"/>
          </a:p>
          <a:p>
            <a:pPr marL="342900" indent="-342900">
              <a:spcAft>
                <a:spcPts val="300"/>
              </a:spcAft>
              <a:buSzPct val="100000"/>
              <a:buChar char="•"/>
            </a:pPr>
            <a:r>
              <a:rPr lang="en-US" sz="1000" dirty="0">
                <a:solidFill>
                  <a:srgbClr val="FFFFFF"/>
                </a:solidFill>
                <a:latin typeface="Calibri" pitchFamily="34" charset="0"/>
                <a:ea typeface="Calibri" pitchFamily="34" charset="-122"/>
                <a:cs typeface="Calibri" pitchFamily="34" charset="-120"/>
              </a:rPr>
              <a:t>Wife: skeptical — 'heard bad things from a neighbor'</a:t>
            </a:r>
            <a:endParaRPr lang="en-US" sz="1000" dirty="0"/>
          </a:p>
          <a:p>
            <a:pPr marL="342900" indent="-342900">
              <a:spcAft>
                <a:spcPts val="300"/>
              </a:spcAft>
              <a:buSzPct val="100000"/>
              <a:buChar char="•"/>
            </a:pPr>
            <a:r>
              <a:rPr lang="en-US" sz="1000" dirty="0">
                <a:solidFill>
                  <a:srgbClr val="FFFFFF"/>
                </a:solidFill>
                <a:latin typeface="Calibri" pitchFamily="34" charset="0"/>
                <a:ea typeface="Calibri" pitchFamily="34" charset="-122"/>
                <a:cs typeface="Calibri" pitchFamily="34" charset="-120"/>
              </a:rPr>
              <a:t>High bill ($340/mo) but cautious about long-term financial commitments</a:t>
            </a:r>
            <a:endParaRPr lang="en-US" sz="1000" dirty="0"/>
          </a:p>
          <a:p>
            <a:pPr marL="342900" indent="-342900">
              <a:spcAft>
                <a:spcPts val="300"/>
              </a:spcAft>
              <a:buSzPct val="100000"/>
              <a:buChar char="•"/>
            </a:pPr>
            <a:r>
              <a:rPr lang="en-US" sz="1000" dirty="0">
                <a:solidFill>
                  <a:srgbClr val="FFFFFF"/>
                </a:solidFill>
                <a:latin typeface="Calibri" pitchFamily="34" charset="0"/>
                <a:ea typeface="Calibri" pitchFamily="34" charset="-122"/>
                <a:cs typeface="Calibri" pitchFamily="34" charset="-120"/>
              </a:rPr>
              <a:t>Will deploy all 5 objection types — not in order</a:t>
            </a:r>
            <a:endParaRPr lang="en-US" sz="1000" dirty="0"/>
          </a:p>
        </p:txBody>
      </p:sp>
      <p:sp>
        <p:nvSpPr>
          <p:cNvPr id="9" name="Shape 7"/>
          <p:cNvSpPr/>
          <p:nvPr/>
        </p:nvSpPr>
        <p:spPr>
          <a:xfrm>
            <a:off x="4846320" y="804672"/>
            <a:ext cx="4023360" cy="1664208"/>
          </a:xfrm>
          <a:prstGeom prst="rect">
            <a:avLst/>
          </a:prstGeom>
          <a:solidFill>
            <a:srgbClr val="1A2840"/>
          </a:solidFill>
          <a:ln w="19050">
            <a:solidFill>
              <a:srgbClr val="F4A61D"/>
            </a:solidFill>
            <a:prstDash val="solid"/>
          </a:ln>
          <a:effectLst>
            <a:outerShdw sx="100000" sy="100000" kx="0" ky="0" algn="bl" rotWithShape="0" blurRad="101600" dist="38100" dir="8100000">
              <a:srgbClr val="000000">
                <a:alpha val="20000"/>
              </a:srgbClr>
            </a:outerShdw>
          </a:effectLst>
        </p:spPr>
      </p:sp>
      <p:sp>
        <p:nvSpPr>
          <p:cNvPr id="10" name="Shape 8"/>
          <p:cNvSpPr/>
          <p:nvPr/>
        </p:nvSpPr>
        <p:spPr>
          <a:xfrm>
            <a:off x="4846320" y="804672"/>
            <a:ext cx="4023360" cy="329184"/>
          </a:xfrm>
          <a:prstGeom prst="rect">
            <a:avLst/>
          </a:prstGeom>
          <a:solidFill>
            <a:srgbClr val="F4A61D"/>
          </a:solidFill>
          <a:ln w="12700">
            <a:solidFill>
              <a:srgbClr val="F4A61D"/>
            </a:solidFill>
            <a:prstDash val="solid"/>
          </a:ln>
        </p:spPr>
      </p:sp>
      <p:sp>
        <p:nvSpPr>
          <p:cNvPr id="11" name="Text 9"/>
          <p:cNvSpPr/>
          <p:nvPr/>
        </p:nvSpPr>
        <p:spPr>
          <a:xfrm>
            <a:off x="4892040" y="832104"/>
            <a:ext cx="3931920" cy="274320"/>
          </a:xfrm>
          <a:prstGeom prst="rect">
            <a:avLst/>
          </a:prstGeom>
          <a:noFill/>
          <a:ln/>
        </p:spPr>
        <p:txBody>
          <a:bodyPr wrap="square" lIns="0" tIns="0" rIns="0" bIns="0" rtlCol="0" anchor="ctr"/>
          <a:lstStyle/>
          <a:p>
            <a:pPr algn="ctr" indent="0" marL="0">
              <a:buNone/>
            </a:pPr>
            <a:r>
              <a:rPr lang="en-US" sz="1000" b="1" dirty="0">
                <a:solidFill>
                  <a:srgbClr val="0D1B2A"/>
                </a:solidFill>
                <a:latin typeface="Arial Black" pitchFamily="34" charset="0"/>
                <a:ea typeface="Arial Black" pitchFamily="34" charset="-122"/>
                <a:cs typeface="Arial Black" pitchFamily="34" charset="-120"/>
              </a:rPr>
              <a:t>⚔️  THE 5 GAUNTLET OBJECTIONS</a:t>
            </a:r>
            <a:endParaRPr lang="en-US" sz="1000" dirty="0"/>
          </a:p>
        </p:txBody>
      </p:sp>
      <p:sp>
        <p:nvSpPr>
          <p:cNvPr id="12" name="Text 10"/>
          <p:cNvSpPr/>
          <p:nvPr/>
        </p:nvSpPr>
        <p:spPr>
          <a:xfrm>
            <a:off x="4937760" y="1188720"/>
            <a:ext cx="3840480" cy="1207008"/>
          </a:xfrm>
          <a:prstGeom prst="rect">
            <a:avLst/>
          </a:prstGeom>
          <a:noFill/>
          <a:ln/>
        </p:spPr>
        <p:txBody>
          <a:bodyPr wrap="square" lIns="0" tIns="0" rIns="0" bIns="0" rtlCol="0" anchor="t"/>
          <a:lstStyle/>
          <a:p>
            <a:pPr marL="342900" indent="-342900">
              <a:spcAft>
                <a:spcPts val="300"/>
              </a:spcAft>
              <a:buSzPct val="100000"/>
              <a:buChar char="•"/>
            </a:pPr>
            <a:r>
              <a:rPr lang="en-US" sz="1000" dirty="0">
                <a:solidFill>
                  <a:srgbClr val="FFFFFF"/>
                </a:solidFill>
                <a:latin typeface="Calibri" pitchFamily="34" charset="0"/>
                <a:ea typeface="Calibri" pitchFamily="34" charset="-122"/>
                <a:cs typeface="Calibri" pitchFamily="34" charset="-120"/>
              </a:rPr>
              <a:t>1. Smoke Screen: 'We want to talk to our financial advisor'</a:t>
            </a:r>
            <a:endParaRPr lang="en-US" sz="1000" dirty="0"/>
          </a:p>
          <a:p>
            <a:pPr marL="342900" indent="-342900">
              <a:spcAft>
                <a:spcPts val="300"/>
              </a:spcAft>
              <a:buSzPct val="100000"/>
              <a:buChar char="•"/>
            </a:pPr>
            <a:r>
              <a:rPr lang="en-US" sz="1000" dirty="0">
                <a:solidFill>
                  <a:srgbClr val="FFFFFF"/>
                </a:solidFill>
                <a:latin typeface="Calibri" pitchFamily="34" charset="0"/>
                <a:ea typeface="Calibri" pitchFamily="34" charset="-122"/>
                <a:cs typeface="Calibri" pitchFamily="34" charset="-120"/>
              </a:rPr>
              <a:t>2. Hostile: 'I've seen articles about solar companies scamming people'</a:t>
            </a:r>
            <a:endParaRPr lang="en-US" sz="1000" dirty="0"/>
          </a:p>
          <a:p>
            <a:pPr marL="342900" indent="-342900">
              <a:spcAft>
                <a:spcPts val="300"/>
              </a:spcAft>
              <a:buSzPct val="100000"/>
              <a:buChar char="•"/>
            </a:pPr>
            <a:r>
              <a:rPr lang="en-US" sz="1000" dirty="0">
                <a:solidFill>
                  <a:srgbClr val="FFFFFF"/>
                </a:solidFill>
                <a:latin typeface="Calibri" pitchFamily="34" charset="0"/>
                <a:ea typeface="Calibri" pitchFamily="34" charset="-122"/>
                <a:cs typeface="Calibri" pitchFamily="34" charset="-120"/>
              </a:rPr>
              <a:t>3. Analytical Owl: Detailed degradation rate + inverter comparison questions</a:t>
            </a:r>
            <a:endParaRPr lang="en-US" sz="1000" dirty="0"/>
          </a:p>
          <a:p>
            <a:pPr marL="342900" indent="-342900">
              <a:spcAft>
                <a:spcPts val="300"/>
              </a:spcAft>
              <a:buSzPct val="100000"/>
              <a:buChar char="•"/>
            </a:pPr>
            <a:r>
              <a:rPr lang="en-US" sz="1000" dirty="0">
                <a:solidFill>
                  <a:srgbClr val="FFFFFF"/>
                </a:solidFill>
                <a:latin typeface="Calibri" pitchFamily="34" charset="0"/>
                <a:ea typeface="Calibri" pitchFamily="34" charset="-122"/>
                <a:cs typeface="Calibri" pitchFamily="34" charset="-120"/>
              </a:rPr>
              <a:t>4. Neighbor Myth: 'Our neighbor's system barely produces anything'</a:t>
            </a:r>
            <a:endParaRPr lang="en-US" sz="1000" dirty="0"/>
          </a:p>
          <a:p>
            <a:pPr marL="342900" indent="-342900">
              <a:spcAft>
                <a:spcPts val="300"/>
              </a:spcAft>
              <a:buSzPct val="100000"/>
              <a:buChar char="•"/>
            </a:pPr>
            <a:r>
              <a:rPr lang="en-US" sz="1000" dirty="0">
                <a:solidFill>
                  <a:srgbClr val="FFFFFF"/>
                </a:solidFill>
                <a:latin typeface="Calibri" pitchFamily="34" charset="0"/>
                <a:ea typeface="Calibri" pitchFamily="34" charset="-122"/>
                <a:cs typeface="Calibri" pitchFamily="34" charset="-120"/>
              </a:rPr>
              <a:t>5. Think About It at the line: 'We're 90% there but just need one more day'</a:t>
            </a:r>
            <a:endParaRPr lang="en-US" sz="1000" dirty="0"/>
          </a:p>
        </p:txBody>
      </p:sp>
      <p:sp>
        <p:nvSpPr>
          <p:cNvPr id="13" name="Shape 11"/>
          <p:cNvSpPr/>
          <p:nvPr/>
        </p:nvSpPr>
        <p:spPr>
          <a:xfrm>
            <a:off x="274320" y="2651760"/>
            <a:ext cx="4023360" cy="1664208"/>
          </a:xfrm>
          <a:prstGeom prst="rect">
            <a:avLst/>
          </a:prstGeom>
          <a:solidFill>
            <a:srgbClr val="1A2840"/>
          </a:solidFill>
          <a:ln w="19050">
            <a:solidFill>
              <a:srgbClr val="2D9B4E"/>
            </a:solidFill>
            <a:prstDash val="solid"/>
          </a:ln>
          <a:effectLst>
            <a:outerShdw sx="100000" sy="100000" kx="0" ky="0" algn="bl" rotWithShape="0" blurRad="101600" dist="38100" dir="8100000">
              <a:srgbClr val="000000">
                <a:alpha val="20000"/>
              </a:srgbClr>
            </a:outerShdw>
          </a:effectLst>
        </p:spPr>
      </p:sp>
      <p:sp>
        <p:nvSpPr>
          <p:cNvPr id="14" name="Shape 12"/>
          <p:cNvSpPr/>
          <p:nvPr/>
        </p:nvSpPr>
        <p:spPr>
          <a:xfrm>
            <a:off x="274320" y="2651760"/>
            <a:ext cx="4023360" cy="329184"/>
          </a:xfrm>
          <a:prstGeom prst="rect">
            <a:avLst/>
          </a:prstGeom>
          <a:solidFill>
            <a:srgbClr val="2D9B4E"/>
          </a:solidFill>
          <a:ln w="12700">
            <a:solidFill>
              <a:srgbClr val="2D9B4E"/>
            </a:solidFill>
            <a:prstDash val="solid"/>
          </a:ln>
        </p:spPr>
      </p:sp>
      <p:sp>
        <p:nvSpPr>
          <p:cNvPr id="15" name="Text 13"/>
          <p:cNvSpPr/>
          <p:nvPr/>
        </p:nvSpPr>
        <p:spPr>
          <a:xfrm>
            <a:off x="320040" y="2679192"/>
            <a:ext cx="39319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Arial Black" pitchFamily="34" charset="0"/>
                <a:ea typeface="Arial Black" pitchFamily="34" charset="-122"/>
                <a:cs typeface="Arial Black" pitchFamily="34" charset="-120"/>
              </a:rPr>
              <a:t>📋  CERTIFICATION RULES</a:t>
            </a:r>
            <a:endParaRPr lang="en-US" sz="1000" dirty="0"/>
          </a:p>
        </p:txBody>
      </p:sp>
      <p:sp>
        <p:nvSpPr>
          <p:cNvPr id="16" name="Text 14"/>
          <p:cNvSpPr/>
          <p:nvPr/>
        </p:nvSpPr>
        <p:spPr>
          <a:xfrm>
            <a:off x="365760" y="3035808"/>
            <a:ext cx="3840480" cy="1207008"/>
          </a:xfrm>
          <a:prstGeom prst="rect">
            <a:avLst/>
          </a:prstGeom>
          <a:noFill/>
          <a:ln/>
        </p:spPr>
        <p:txBody>
          <a:bodyPr wrap="square" lIns="0" tIns="0" rIns="0" bIns="0" rtlCol="0" anchor="t"/>
          <a:lstStyle/>
          <a:p>
            <a:pPr marL="342900" indent="-342900">
              <a:spcAft>
                <a:spcPts val="300"/>
              </a:spcAft>
              <a:buSzPct val="100000"/>
              <a:buChar char="•"/>
            </a:pPr>
            <a:r>
              <a:rPr lang="en-US" sz="1000" dirty="0">
                <a:solidFill>
                  <a:srgbClr val="FFFFFF"/>
                </a:solidFill>
                <a:latin typeface="Calibri" pitchFamily="34" charset="0"/>
                <a:ea typeface="Calibri" pitchFamily="34" charset="-122"/>
                <a:cs typeface="Calibri" pitchFamily="34" charset="-120"/>
              </a:rPr>
              <a:t>ACAC framework must be visible in every objection response</a:t>
            </a:r>
            <a:endParaRPr lang="en-US" sz="1000" dirty="0"/>
          </a:p>
          <a:p>
            <a:pPr marL="342900" indent="-342900">
              <a:spcAft>
                <a:spcPts val="300"/>
              </a:spcAft>
              <a:buSzPct val="100000"/>
              <a:buChar char="•"/>
            </a:pPr>
            <a:r>
              <a:rPr lang="en-US" sz="1000" dirty="0">
                <a:solidFill>
                  <a:srgbClr val="FFFFFF"/>
                </a:solidFill>
                <a:latin typeface="Calibri" pitchFamily="34" charset="0"/>
                <a:ea typeface="Calibri" pitchFamily="34" charset="-122"/>
                <a:cs typeface="Calibri" pitchFamily="34" charset="-120"/>
              </a:rPr>
              <a:t>No skipping the Cushion — any argumentative tone fails automatically</a:t>
            </a:r>
            <a:endParaRPr lang="en-US" sz="1000" dirty="0"/>
          </a:p>
          <a:p>
            <a:pPr marL="342900" indent="-342900">
              <a:spcAft>
                <a:spcPts val="300"/>
              </a:spcAft>
              <a:buSzPct val="100000"/>
              <a:buChar char="•"/>
            </a:pPr>
            <a:r>
              <a:rPr lang="en-US" sz="1000" dirty="0">
                <a:solidFill>
                  <a:srgbClr val="FFFFFF"/>
                </a:solidFill>
                <a:latin typeface="Calibri" pitchFamily="34" charset="0"/>
                <a:ea typeface="Calibri" pitchFamily="34" charset="-122"/>
                <a:cs typeface="Calibri" pitchFamily="34" charset="-120"/>
              </a:rPr>
              <a:t>Rescue move required if consultation stalls mid-session</a:t>
            </a:r>
            <a:endParaRPr lang="en-US" sz="1000" dirty="0"/>
          </a:p>
          <a:p>
            <a:pPr marL="342900" indent="-342900">
              <a:spcAft>
                <a:spcPts val="300"/>
              </a:spcAft>
              <a:buSzPct val="100000"/>
              <a:buChar char="•"/>
            </a:pPr>
            <a:r>
              <a:rPr lang="en-US" sz="1000" dirty="0">
                <a:solidFill>
                  <a:srgbClr val="FFFFFF"/>
                </a:solidFill>
                <a:latin typeface="Calibri" pitchFamily="34" charset="0"/>
                <a:ea typeface="Calibri" pitchFamily="34" charset="-122"/>
                <a:cs typeface="Calibri" pitchFamily="34" charset="-120"/>
              </a:rPr>
              <a:t>Recording required — manager reviews within 24 hours</a:t>
            </a:r>
            <a:endParaRPr lang="en-US" sz="1000" dirty="0"/>
          </a:p>
        </p:txBody>
      </p:sp>
      <p:sp>
        <p:nvSpPr>
          <p:cNvPr id="17" name="Shape 15"/>
          <p:cNvSpPr/>
          <p:nvPr/>
        </p:nvSpPr>
        <p:spPr>
          <a:xfrm>
            <a:off x="4846320" y="2651760"/>
            <a:ext cx="4023360" cy="1664208"/>
          </a:xfrm>
          <a:prstGeom prst="rect">
            <a:avLst/>
          </a:prstGeom>
          <a:solidFill>
            <a:srgbClr val="1A2840"/>
          </a:solidFill>
          <a:ln w="19050">
            <a:solidFill>
              <a:srgbClr val="E07B39"/>
            </a:solidFill>
            <a:prstDash val="solid"/>
          </a:ln>
          <a:effectLst>
            <a:outerShdw sx="100000" sy="100000" kx="0" ky="0" algn="bl" rotWithShape="0" blurRad="101600" dist="38100" dir="8100000">
              <a:srgbClr val="000000">
                <a:alpha val="20000"/>
              </a:srgbClr>
            </a:outerShdw>
          </a:effectLst>
        </p:spPr>
      </p:sp>
      <p:sp>
        <p:nvSpPr>
          <p:cNvPr id="18" name="Shape 16"/>
          <p:cNvSpPr/>
          <p:nvPr/>
        </p:nvSpPr>
        <p:spPr>
          <a:xfrm>
            <a:off x="4846320" y="2651760"/>
            <a:ext cx="4023360" cy="329184"/>
          </a:xfrm>
          <a:prstGeom prst="rect">
            <a:avLst/>
          </a:prstGeom>
          <a:solidFill>
            <a:srgbClr val="E07B39"/>
          </a:solidFill>
          <a:ln w="12700">
            <a:solidFill>
              <a:srgbClr val="E07B39"/>
            </a:solidFill>
            <a:prstDash val="solid"/>
          </a:ln>
        </p:spPr>
      </p:sp>
      <p:sp>
        <p:nvSpPr>
          <p:cNvPr id="19" name="Text 17"/>
          <p:cNvSpPr/>
          <p:nvPr/>
        </p:nvSpPr>
        <p:spPr>
          <a:xfrm>
            <a:off x="4892040" y="2679192"/>
            <a:ext cx="39319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Arial Black" pitchFamily="34" charset="0"/>
                <a:ea typeface="Arial Black" pitchFamily="34" charset="-122"/>
                <a:cs typeface="Arial Black" pitchFamily="34" charset="-120"/>
              </a:rPr>
              <a:t>✅  PASS CRITERIA</a:t>
            </a:r>
            <a:endParaRPr lang="en-US" sz="1000" dirty="0"/>
          </a:p>
        </p:txBody>
      </p:sp>
      <p:sp>
        <p:nvSpPr>
          <p:cNvPr id="20" name="Text 18"/>
          <p:cNvSpPr/>
          <p:nvPr/>
        </p:nvSpPr>
        <p:spPr>
          <a:xfrm>
            <a:off x="4937760" y="3035808"/>
            <a:ext cx="3840480" cy="1207008"/>
          </a:xfrm>
          <a:prstGeom prst="rect">
            <a:avLst/>
          </a:prstGeom>
          <a:noFill/>
          <a:ln/>
        </p:spPr>
        <p:txBody>
          <a:bodyPr wrap="square" lIns="0" tIns="0" rIns="0" bIns="0" rtlCol="0" anchor="t"/>
          <a:lstStyle/>
          <a:p>
            <a:pPr marL="342900" indent="-342900">
              <a:spcAft>
                <a:spcPts val="300"/>
              </a:spcAft>
              <a:buSzPct val="100000"/>
              <a:buChar char="•"/>
            </a:pPr>
            <a:r>
              <a:rPr lang="en-US" sz="1000" dirty="0">
                <a:solidFill>
                  <a:srgbClr val="FFFFFF"/>
                </a:solidFill>
                <a:latin typeface="Calibri" pitchFamily="34" charset="0"/>
                <a:ea typeface="Calibri" pitchFamily="34" charset="-122"/>
                <a:cs typeface="Calibri" pitchFamily="34" charset="-120"/>
              </a:rPr>
              <a:t>Score 22/30 on the Evaluation Scorecard</a:t>
            </a:r>
            <a:endParaRPr lang="en-US" sz="1000" dirty="0"/>
          </a:p>
          <a:p>
            <a:pPr marL="342900" indent="-342900">
              <a:spcAft>
                <a:spcPts val="300"/>
              </a:spcAft>
              <a:buSzPct val="100000"/>
              <a:buChar char="•"/>
            </a:pPr>
            <a:r>
              <a:rPr lang="en-US" sz="1000" dirty="0">
                <a:solidFill>
                  <a:srgbClr val="FFFFFF"/>
                </a:solidFill>
                <a:latin typeface="Calibri" pitchFamily="34" charset="0"/>
                <a:ea typeface="Calibri" pitchFamily="34" charset="-122"/>
                <a:cs typeface="Calibri" pitchFamily="34" charset="-120"/>
              </a:rPr>
              <a:t>All 5 objections handled with visible ACAC structure</a:t>
            </a:r>
            <a:endParaRPr lang="en-US" sz="1000" dirty="0"/>
          </a:p>
          <a:p>
            <a:pPr marL="342900" indent="-342900">
              <a:spcAft>
                <a:spcPts val="300"/>
              </a:spcAft>
              <a:buSzPct val="100000"/>
              <a:buChar char="•"/>
            </a:pPr>
            <a:r>
              <a:rPr lang="en-US" sz="1000" dirty="0">
                <a:solidFill>
                  <a:srgbClr val="FFFFFF"/>
                </a:solidFill>
                <a:latin typeface="Calibri" pitchFamily="34" charset="0"/>
                <a:ea typeface="Calibri" pitchFamily="34" charset="-122"/>
                <a:cs typeface="Calibri" pitchFamily="34" charset="-120"/>
              </a:rPr>
              <a:t>No defensive responses — curiosity only</a:t>
            </a:r>
            <a:endParaRPr lang="en-US" sz="1000" dirty="0"/>
          </a:p>
          <a:p>
            <a:pPr marL="342900" indent="-342900">
              <a:spcAft>
                <a:spcPts val="300"/>
              </a:spcAft>
              <a:buSzPct val="100000"/>
              <a:buChar char="•"/>
            </a:pPr>
            <a:r>
              <a:rPr lang="en-US" sz="1000" dirty="0">
                <a:solidFill>
                  <a:srgbClr val="FFFFFF"/>
                </a:solidFill>
                <a:latin typeface="Calibri" pitchFamily="34" charset="0"/>
                <a:ea typeface="Calibri" pitchFamily="34" charset="-122"/>
                <a:cs typeface="Calibri" pitchFamily="34" charset="-120"/>
              </a:rPr>
              <a:t>Consultation ends with a scheduled next step</a:t>
            </a:r>
            <a:endParaRPr lang="en-US" sz="1000" dirty="0"/>
          </a:p>
        </p:txBody>
      </p:sp>
      <p:sp>
        <p:nvSpPr>
          <p:cNvPr id="21" name="Shape 19"/>
          <p:cNvSpPr/>
          <p:nvPr/>
        </p:nvSpPr>
        <p:spPr>
          <a:xfrm>
            <a:off x="0" y="4663440"/>
            <a:ext cx="9144000" cy="480060"/>
          </a:xfrm>
          <a:prstGeom prst="rect">
            <a:avLst/>
          </a:prstGeom>
          <a:solidFill>
            <a:srgbClr val="E07B39">
              <a:alpha val="15000"/>
            </a:srgbClr>
          </a:solidFill>
          <a:ln w="12700">
            <a:solidFill>
              <a:srgbClr val="E07B39">
                <a:alpha val="15000"/>
              </a:srgbClr>
            </a:solidFill>
            <a:prstDash val="solid"/>
          </a:ln>
        </p:spPr>
      </p:sp>
      <p:sp>
        <p:nvSpPr>
          <p:cNvPr id="22" name="Text 20"/>
          <p:cNvSpPr/>
          <p:nvPr/>
        </p:nvSpPr>
        <p:spPr>
          <a:xfrm>
            <a:off x="274320" y="4690872"/>
            <a:ext cx="8686800" cy="384048"/>
          </a:xfrm>
          <a:prstGeom prst="rect">
            <a:avLst/>
          </a:prstGeom>
          <a:noFill/>
          <a:ln/>
        </p:spPr>
        <p:txBody>
          <a:bodyPr wrap="square" lIns="0" tIns="0" rIns="0" bIns="0" rtlCol="0" anchor="ctr"/>
          <a:lstStyle/>
          <a:p>
            <a:pPr algn="l" indent="0" marL="0">
              <a:buNone/>
            </a:pPr>
            <a:r>
              <a:rPr lang="en-US" sz="900" i="1" dirty="0">
                <a:solidFill>
                  <a:srgbClr val="E07B39"/>
                </a:solidFill>
                <a:latin typeface="Calibri" pitchFamily="34" charset="0"/>
                <a:ea typeface="Calibri" pitchFamily="34" charset="-122"/>
                <a:cs typeface="Calibri" pitchFamily="34" charset="-120"/>
              </a:rPr>
              <a:t>📋 TRAINER NOTE: This is the hardest certification in the 7-day program. Reps who pass earn 'Master of Objections' status and advance to Day 7. Reps who score 18–21 get one targeted retry session. Below 18 requires a full Day 6 review.</a:t>
            </a:r>
            <a:endParaRPr lang="en-US" sz="900" dirty="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5">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F4A61D"/>
          </a:solidFill>
          <a:ln w="12700">
            <a:solidFill>
              <a:srgbClr val="F4A61D"/>
            </a:solidFill>
            <a:prstDash val="solid"/>
          </a:ln>
        </p:spPr>
      </p:sp>
      <p:sp>
        <p:nvSpPr>
          <p:cNvPr id="3" name="Text 1"/>
          <p:cNvSpPr/>
          <p:nvPr/>
        </p:nvSpPr>
        <p:spPr>
          <a:xfrm>
            <a:off x="274320" y="164592"/>
            <a:ext cx="8503920" cy="530352"/>
          </a:xfrm>
          <a:prstGeom prst="rect">
            <a:avLst/>
          </a:prstGeom>
          <a:noFill/>
          <a:ln/>
        </p:spPr>
        <p:txBody>
          <a:bodyPr wrap="square" lIns="0" tIns="0" rIns="0" bIns="0" rtlCol="0" anchor="ctr"/>
          <a:lstStyle/>
          <a:p>
            <a:pPr algn="l" indent="0" marL="0">
              <a:buNone/>
            </a:pPr>
            <a:r>
              <a:rPr lang="en-US" sz="2000" b="1" dirty="0">
                <a:solidFill>
                  <a:srgbClr val="F4A61D"/>
                </a:solidFill>
                <a:latin typeface="Arial Black" pitchFamily="34" charset="0"/>
                <a:ea typeface="Arial Black" pitchFamily="34" charset="-122"/>
                <a:cs typeface="Arial Black" pitchFamily="34" charset="-120"/>
              </a:rPr>
              <a:t>Day 6 Certification Scorecard: Master of Objections</a:t>
            </a:r>
            <a:endParaRPr lang="en-US" sz="2000" dirty="0"/>
          </a:p>
        </p:txBody>
      </p:sp>
      <p:sp>
        <p:nvSpPr>
          <p:cNvPr id="4" name="Shape 2"/>
          <p:cNvSpPr/>
          <p:nvPr/>
        </p:nvSpPr>
        <p:spPr>
          <a:xfrm>
            <a:off x="274320" y="713232"/>
            <a:ext cx="8503920" cy="27432"/>
          </a:xfrm>
          <a:prstGeom prst="rect">
            <a:avLst/>
          </a:prstGeom>
          <a:solidFill>
            <a:srgbClr val="F4A61D">
              <a:alpha val="40000"/>
            </a:srgbClr>
          </a:solidFill>
          <a:ln w="12700">
            <a:solidFill>
              <a:srgbClr val="F4A61D">
                <a:alpha val="40000"/>
              </a:srgbClr>
            </a:solidFill>
            <a:prstDash val="solid"/>
          </a:ln>
        </p:spPr>
      </p:sp>
      <p:sp>
        <p:nvSpPr>
          <p:cNvPr id="5" name="Shape 3"/>
          <p:cNvSpPr/>
          <p:nvPr/>
        </p:nvSpPr>
        <p:spPr>
          <a:xfrm>
            <a:off x="274320" y="822960"/>
            <a:ext cx="8503920" cy="685800"/>
          </a:xfrm>
          <a:prstGeom prst="rect">
            <a:avLst/>
          </a:prstGeom>
          <a:solidFill>
            <a:srgbClr val="1A2840"/>
          </a:solidFill>
          <a:ln w="12700">
            <a:solidFill>
              <a:srgbClr val="F4A61D"/>
            </a:solidFill>
            <a:prstDash val="solid"/>
          </a:ln>
          <a:effectLst>
            <a:outerShdw sx="100000" sy="100000" kx="0" ky="0" algn="bl" rotWithShape="0" blurRad="101600" dist="38100" dir="8100000">
              <a:srgbClr val="000000">
                <a:alpha val="20000"/>
              </a:srgbClr>
            </a:outerShdw>
          </a:effectLst>
        </p:spPr>
      </p:sp>
      <p:sp>
        <p:nvSpPr>
          <p:cNvPr id="6" name="Shape 4"/>
          <p:cNvSpPr/>
          <p:nvPr/>
        </p:nvSpPr>
        <p:spPr>
          <a:xfrm>
            <a:off x="274320" y="822960"/>
            <a:ext cx="1463040" cy="685800"/>
          </a:xfrm>
          <a:prstGeom prst="rect">
            <a:avLst/>
          </a:prstGeom>
          <a:solidFill>
            <a:srgbClr val="F4A61D">
              <a:alpha val="80000"/>
            </a:srgbClr>
          </a:solidFill>
          <a:ln w="12700">
            <a:solidFill>
              <a:srgbClr val="F4A61D"/>
            </a:solidFill>
            <a:prstDash val="solid"/>
          </a:ln>
        </p:spPr>
      </p:sp>
      <p:sp>
        <p:nvSpPr>
          <p:cNvPr id="7" name="Text 5"/>
          <p:cNvSpPr/>
          <p:nvPr/>
        </p:nvSpPr>
        <p:spPr>
          <a:xfrm>
            <a:off x="292608" y="859536"/>
            <a:ext cx="1417320" cy="612648"/>
          </a:xfrm>
          <a:prstGeom prst="rect">
            <a:avLst/>
          </a:prstGeom>
          <a:noFill/>
          <a:ln/>
        </p:spPr>
        <p:txBody>
          <a:bodyPr wrap="square" lIns="0" tIns="0" rIns="0" bIns="0" rtlCol="0" anchor="ctr"/>
          <a:lstStyle/>
          <a:p>
            <a:pPr algn="ctr" indent="0" marL="0">
              <a:buNone/>
            </a:pPr>
            <a:r>
              <a:rPr lang="en-US" sz="1800" b="1" dirty="0">
                <a:solidFill>
                  <a:srgbClr val="FFFFFF"/>
                </a:solidFill>
                <a:latin typeface="Arial Black" pitchFamily="34" charset="0"/>
                <a:ea typeface="Arial Black" pitchFamily="34" charset="-122"/>
                <a:cs typeface="Arial Black" pitchFamily="34" charset="-120"/>
              </a:rPr>
              <a:t>1–6 pts</a:t>
            </a:r>
            <a:endParaRPr lang="en-US" sz="1800" dirty="0"/>
          </a:p>
        </p:txBody>
      </p:sp>
      <p:sp>
        <p:nvSpPr>
          <p:cNvPr id="8" name="Text 6"/>
          <p:cNvSpPr/>
          <p:nvPr/>
        </p:nvSpPr>
        <p:spPr>
          <a:xfrm>
            <a:off x="1874520" y="896112"/>
            <a:ext cx="6766560" cy="566928"/>
          </a:xfrm>
          <a:prstGeom prst="rect">
            <a:avLst/>
          </a:prstGeom>
          <a:noFill/>
          <a:ln/>
        </p:spPr>
        <p:txBody>
          <a:bodyPr wrap="square" lIns="0" tIns="0" rIns="0" bIns="0" rtlCol="0" anchor="ctr"/>
          <a:lstStyle/>
          <a:p>
            <a:pPr indent="0" marL="0">
              <a:buNone/>
            </a:pPr>
            <a:r>
              <a:rPr lang="en-US" sz="1200" b="1" dirty="0">
                <a:solidFill>
                  <a:srgbClr val="F4A61D"/>
                </a:solidFill>
                <a:latin typeface="Arial Black" pitchFamily="34" charset="0"/>
                <a:ea typeface="Arial Black" pitchFamily="34" charset="-122"/>
                <a:cs typeface="Arial Black" pitchFamily="34" charset="-120"/>
              </a:rPr>
              <a:t>ACAC Framework Execution  </a:t>
            </a:r>
            <a:pPr indent="0" marL="0">
              <a:buNone/>
            </a:pPr>
            <a:r>
              <a:rPr lang="en-US" sz="1100" dirty="0">
                <a:solidFill>
                  <a:srgbClr val="8FA3B1"/>
                </a:solidFill>
                <a:latin typeface="Calibri" pitchFamily="34" charset="0"/>
                <a:ea typeface="Calibri" pitchFamily="34" charset="-122"/>
                <a:cs typeface="Calibri" pitchFamily="34" charset="-120"/>
              </a:rPr>
              <a:t>Was the full sequence visible in every response? Was the Cushion never skipped?</a:t>
            </a:r>
            <a:endParaRPr lang="en-US" sz="1200" dirty="0"/>
          </a:p>
        </p:txBody>
      </p:sp>
      <p:sp>
        <p:nvSpPr>
          <p:cNvPr id="9" name="Shape 7"/>
          <p:cNvSpPr/>
          <p:nvPr/>
        </p:nvSpPr>
        <p:spPr>
          <a:xfrm>
            <a:off x="274320" y="1627632"/>
            <a:ext cx="8503920" cy="685800"/>
          </a:xfrm>
          <a:prstGeom prst="rect">
            <a:avLst/>
          </a:prstGeom>
          <a:solidFill>
            <a:srgbClr val="1A2840"/>
          </a:solidFill>
          <a:ln w="12700">
            <a:solidFill>
              <a:srgbClr val="0891B2"/>
            </a:solidFill>
            <a:prstDash val="solid"/>
          </a:ln>
          <a:effectLst>
            <a:outerShdw sx="100000" sy="100000" kx="0" ky="0" algn="bl" rotWithShape="0" blurRad="101600" dist="38100" dir="8100000">
              <a:srgbClr val="000000">
                <a:alpha val="20000"/>
              </a:srgbClr>
            </a:outerShdw>
          </a:effectLst>
        </p:spPr>
      </p:sp>
      <p:sp>
        <p:nvSpPr>
          <p:cNvPr id="10" name="Shape 8"/>
          <p:cNvSpPr/>
          <p:nvPr/>
        </p:nvSpPr>
        <p:spPr>
          <a:xfrm>
            <a:off x="274320" y="1627632"/>
            <a:ext cx="1463040" cy="685800"/>
          </a:xfrm>
          <a:prstGeom prst="rect">
            <a:avLst/>
          </a:prstGeom>
          <a:solidFill>
            <a:srgbClr val="0891B2">
              <a:alpha val="80000"/>
            </a:srgbClr>
          </a:solidFill>
          <a:ln w="12700">
            <a:solidFill>
              <a:srgbClr val="0891B2"/>
            </a:solidFill>
            <a:prstDash val="solid"/>
          </a:ln>
        </p:spPr>
      </p:sp>
      <p:sp>
        <p:nvSpPr>
          <p:cNvPr id="11" name="Text 9"/>
          <p:cNvSpPr/>
          <p:nvPr/>
        </p:nvSpPr>
        <p:spPr>
          <a:xfrm>
            <a:off x="292608" y="1664208"/>
            <a:ext cx="1417320" cy="612648"/>
          </a:xfrm>
          <a:prstGeom prst="rect">
            <a:avLst/>
          </a:prstGeom>
          <a:noFill/>
          <a:ln/>
        </p:spPr>
        <p:txBody>
          <a:bodyPr wrap="square" lIns="0" tIns="0" rIns="0" bIns="0" rtlCol="0" anchor="ctr"/>
          <a:lstStyle/>
          <a:p>
            <a:pPr algn="ctr" indent="0" marL="0">
              <a:buNone/>
            </a:pPr>
            <a:r>
              <a:rPr lang="en-US" sz="1800" b="1" dirty="0">
                <a:solidFill>
                  <a:srgbClr val="FFFFFF"/>
                </a:solidFill>
                <a:latin typeface="Arial Black" pitchFamily="34" charset="0"/>
                <a:ea typeface="Arial Black" pitchFamily="34" charset="-122"/>
                <a:cs typeface="Arial Black" pitchFamily="34" charset="-120"/>
              </a:rPr>
              <a:t>1–6 pts</a:t>
            </a:r>
            <a:endParaRPr lang="en-US" sz="1800" dirty="0"/>
          </a:p>
        </p:txBody>
      </p:sp>
      <p:sp>
        <p:nvSpPr>
          <p:cNvPr id="12" name="Text 10"/>
          <p:cNvSpPr/>
          <p:nvPr/>
        </p:nvSpPr>
        <p:spPr>
          <a:xfrm>
            <a:off x="1874520" y="1700784"/>
            <a:ext cx="6766560" cy="566928"/>
          </a:xfrm>
          <a:prstGeom prst="rect">
            <a:avLst/>
          </a:prstGeom>
          <a:noFill/>
          <a:ln/>
        </p:spPr>
        <p:txBody>
          <a:bodyPr wrap="square" lIns="0" tIns="0" rIns="0" bIns="0" rtlCol="0" anchor="ctr"/>
          <a:lstStyle/>
          <a:p>
            <a:pPr indent="0" marL="0">
              <a:buNone/>
            </a:pPr>
            <a:r>
              <a:rPr lang="en-US" sz="1200" b="1" dirty="0">
                <a:solidFill>
                  <a:srgbClr val="0891B2"/>
                </a:solidFill>
                <a:latin typeface="Arial Black" pitchFamily="34" charset="0"/>
                <a:ea typeface="Arial Black" pitchFamily="34" charset="-122"/>
                <a:cs typeface="Arial Black" pitchFamily="34" charset="-120"/>
              </a:rPr>
              <a:t>Composure Under Hostility  </a:t>
            </a:r>
            <a:pPr indent="0" marL="0">
              <a:buNone/>
            </a:pPr>
            <a:r>
              <a:rPr lang="en-US" sz="1100" dirty="0">
                <a:solidFill>
                  <a:srgbClr val="8FA3B1"/>
                </a:solidFill>
                <a:latin typeface="Calibri" pitchFamily="34" charset="0"/>
                <a:ea typeface="Calibri" pitchFamily="34" charset="-122"/>
                <a:cs typeface="Calibri" pitchFamily="34" charset="-120"/>
              </a:rPr>
              <a:t>Did the rep maintain the Late Night DJ voice when challenged aggressively?</a:t>
            </a:r>
            <a:endParaRPr lang="en-US" sz="1200" dirty="0"/>
          </a:p>
        </p:txBody>
      </p:sp>
      <p:sp>
        <p:nvSpPr>
          <p:cNvPr id="13" name="Shape 11"/>
          <p:cNvSpPr/>
          <p:nvPr/>
        </p:nvSpPr>
        <p:spPr>
          <a:xfrm>
            <a:off x="274320" y="2432304"/>
            <a:ext cx="8503920" cy="685800"/>
          </a:xfrm>
          <a:prstGeom prst="rect">
            <a:avLst/>
          </a:prstGeom>
          <a:solidFill>
            <a:srgbClr val="1A2840"/>
          </a:solidFill>
          <a:ln w="12700">
            <a:solidFill>
              <a:srgbClr val="2D9B4E"/>
            </a:solidFill>
            <a:prstDash val="solid"/>
          </a:ln>
          <a:effectLst>
            <a:outerShdw sx="100000" sy="100000" kx="0" ky="0" algn="bl" rotWithShape="0" blurRad="101600" dist="38100" dir="8100000">
              <a:srgbClr val="000000">
                <a:alpha val="20000"/>
              </a:srgbClr>
            </a:outerShdw>
          </a:effectLst>
        </p:spPr>
      </p:sp>
      <p:sp>
        <p:nvSpPr>
          <p:cNvPr id="14" name="Shape 12"/>
          <p:cNvSpPr/>
          <p:nvPr/>
        </p:nvSpPr>
        <p:spPr>
          <a:xfrm>
            <a:off x="274320" y="2432304"/>
            <a:ext cx="1463040" cy="685800"/>
          </a:xfrm>
          <a:prstGeom prst="rect">
            <a:avLst/>
          </a:prstGeom>
          <a:solidFill>
            <a:srgbClr val="2D9B4E">
              <a:alpha val="80000"/>
            </a:srgbClr>
          </a:solidFill>
          <a:ln w="12700">
            <a:solidFill>
              <a:srgbClr val="2D9B4E"/>
            </a:solidFill>
            <a:prstDash val="solid"/>
          </a:ln>
        </p:spPr>
      </p:sp>
      <p:sp>
        <p:nvSpPr>
          <p:cNvPr id="15" name="Text 13"/>
          <p:cNvSpPr/>
          <p:nvPr/>
        </p:nvSpPr>
        <p:spPr>
          <a:xfrm>
            <a:off x="292608" y="2468880"/>
            <a:ext cx="1417320" cy="612648"/>
          </a:xfrm>
          <a:prstGeom prst="rect">
            <a:avLst/>
          </a:prstGeom>
          <a:noFill/>
          <a:ln/>
        </p:spPr>
        <p:txBody>
          <a:bodyPr wrap="square" lIns="0" tIns="0" rIns="0" bIns="0" rtlCol="0" anchor="ctr"/>
          <a:lstStyle/>
          <a:p>
            <a:pPr algn="ctr" indent="0" marL="0">
              <a:buNone/>
            </a:pPr>
            <a:r>
              <a:rPr lang="en-US" sz="1800" b="1" dirty="0">
                <a:solidFill>
                  <a:srgbClr val="FFFFFF"/>
                </a:solidFill>
                <a:latin typeface="Arial Black" pitchFamily="34" charset="0"/>
                <a:ea typeface="Arial Black" pitchFamily="34" charset="-122"/>
                <a:cs typeface="Arial Black" pitchFamily="34" charset="-120"/>
              </a:rPr>
              <a:t>1–6 pts</a:t>
            </a:r>
            <a:endParaRPr lang="en-US" sz="1800" dirty="0"/>
          </a:p>
        </p:txBody>
      </p:sp>
      <p:sp>
        <p:nvSpPr>
          <p:cNvPr id="16" name="Text 14"/>
          <p:cNvSpPr/>
          <p:nvPr/>
        </p:nvSpPr>
        <p:spPr>
          <a:xfrm>
            <a:off x="1874520" y="2505456"/>
            <a:ext cx="6766560" cy="566928"/>
          </a:xfrm>
          <a:prstGeom prst="rect">
            <a:avLst/>
          </a:prstGeom>
          <a:noFill/>
          <a:ln/>
        </p:spPr>
        <p:txBody>
          <a:bodyPr wrap="square" lIns="0" tIns="0" rIns="0" bIns="0" rtlCol="0" anchor="ctr"/>
          <a:lstStyle/>
          <a:p>
            <a:pPr indent="0" marL="0">
              <a:buNone/>
            </a:pPr>
            <a:r>
              <a:rPr lang="en-US" sz="1200" b="1" dirty="0">
                <a:solidFill>
                  <a:srgbClr val="2D9B4E"/>
                </a:solidFill>
                <a:latin typeface="Arial Black" pitchFamily="34" charset="0"/>
                <a:ea typeface="Arial Black" pitchFamily="34" charset="-122"/>
                <a:cs typeface="Arial Black" pitchFamily="34" charset="-120"/>
              </a:rPr>
              <a:t>Objection Isolation Accuracy  </a:t>
            </a:r>
            <a:pPr indent="0" marL="0">
              <a:buNone/>
            </a:pPr>
            <a:r>
              <a:rPr lang="en-US" sz="1100" dirty="0">
                <a:solidFill>
                  <a:srgbClr val="8FA3B1"/>
                </a:solidFill>
                <a:latin typeface="Calibri" pitchFamily="34" charset="0"/>
                <a:ea typeface="Calibri" pitchFamily="34" charset="-122"/>
                <a:cs typeface="Calibri" pitchFamily="34" charset="-120"/>
              </a:rPr>
              <a:t>Were Smoke Screens correctly identified and separated from real objections?</a:t>
            </a:r>
            <a:endParaRPr lang="en-US" sz="1200" dirty="0"/>
          </a:p>
        </p:txBody>
      </p:sp>
      <p:sp>
        <p:nvSpPr>
          <p:cNvPr id="17" name="Shape 15"/>
          <p:cNvSpPr/>
          <p:nvPr/>
        </p:nvSpPr>
        <p:spPr>
          <a:xfrm>
            <a:off x="274320" y="3236976"/>
            <a:ext cx="8503920" cy="685800"/>
          </a:xfrm>
          <a:prstGeom prst="rect">
            <a:avLst/>
          </a:prstGeom>
          <a:solidFill>
            <a:srgbClr val="1A2840"/>
          </a:solidFill>
          <a:ln w="12700">
            <a:solidFill>
              <a:srgbClr val="E07B39"/>
            </a:solidFill>
            <a:prstDash val="solid"/>
          </a:ln>
          <a:effectLst>
            <a:outerShdw sx="100000" sy="100000" kx="0" ky="0" algn="bl" rotWithShape="0" blurRad="101600" dist="38100" dir="8100000">
              <a:srgbClr val="000000">
                <a:alpha val="20000"/>
              </a:srgbClr>
            </a:outerShdw>
          </a:effectLst>
        </p:spPr>
      </p:sp>
      <p:sp>
        <p:nvSpPr>
          <p:cNvPr id="18" name="Shape 16"/>
          <p:cNvSpPr/>
          <p:nvPr/>
        </p:nvSpPr>
        <p:spPr>
          <a:xfrm>
            <a:off x="274320" y="3236976"/>
            <a:ext cx="1463040" cy="685800"/>
          </a:xfrm>
          <a:prstGeom prst="rect">
            <a:avLst/>
          </a:prstGeom>
          <a:solidFill>
            <a:srgbClr val="E07B39">
              <a:alpha val="80000"/>
            </a:srgbClr>
          </a:solidFill>
          <a:ln w="12700">
            <a:solidFill>
              <a:srgbClr val="E07B39"/>
            </a:solidFill>
            <a:prstDash val="solid"/>
          </a:ln>
        </p:spPr>
      </p:sp>
      <p:sp>
        <p:nvSpPr>
          <p:cNvPr id="19" name="Text 17"/>
          <p:cNvSpPr/>
          <p:nvPr/>
        </p:nvSpPr>
        <p:spPr>
          <a:xfrm>
            <a:off x="292608" y="3273552"/>
            <a:ext cx="1417320" cy="612648"/>
          </a:xfrm>
          <a:prstGeom prst="rect">
            <a:avLst/>
          </a:prstGeom>
          <a:noFill/>
          <a:ln/>
        </p:spPr>
        <p:txBody>
          <a:bodyPr wrap="square" lIns="0" tIns="0" rIns="0" bIns="0" rtlCol="0" anchor="ctr"/>
          <a:lstStyle/>
          <a:p>
            <a:pPr algn="ctr" indent="0" marL="0">
              <a:buNone/>
            </a:pPr>
            <a:r>
              <a:rPr lang="en-US" sz="1800" b="1" dirty="0">
                <a:solidFill>
                  <a:srgbClr val="FFFFFF"/>
                </a:solidFill>
                <a:latin typeface="Arial Black" pitchFamily="34" charset="0"/>
                <a:ea typeface="Arial Black" pitchFamily="34" charset="-122"/>
                <a:cs typeface="Arial Black" pitchFamily="34" charset="-120"/>
              </a:rPr>
              <a:t>1–6 pts</a:t>
            </a:r>
            <a:endParaRPr lang="en-US" sz="1800" dirty="0"/>
          </a:p>
        </p:txBody>
      </p:sp>
      <p:sp>
        <p:nvSpPr>
          <p:cNvPr id="20" name="Text 18"/>
          <p:cNvSpPr/>
          <p:nvPr/>
        </p:nvSpPr>
        <p:spPr>
          <a:xfrm>
            <a:off x="1874520" y="3310128"/>
            <a:ext cx="6766560" cy="566928"/>
          </a:xfrm>
          <a:prstGeom prst="rect">
            <a:avLst/>
          </a:prstGeom>
          <a:noFill/>
          <a:ln/>
        </p:spPr>
        <p:txBody>
          <a:bodyPr wrap="square" lIns="0" tIns="0" rIns="0" bIns="0" rtlCol="0" anchor="ctr"/>
          <a:lstStyle/>
          <a:p>
            <a:pPr indent="0" marL="0">
              <a:buNone/>
            </a:pPr>
            <a:r>
              <a:rPr lang="en-US" sz="1200" b="1" dirty="0">
                <a:solidFill>
                  <a:srgbClr val="E07B39"/>
                </a:solidFill>
                <a:latin typeface="Arial Black" pitchFamily="34" charset="0"/>
                <a:ea typeface="Arial Black" pitchFamily="34" charset="-122"/>
                <a:cs typeface="Arial Black" pitchFamily="34" charset="-120"/>
              </a:rPr>
              <a:t>Deal Rescue Deployment  </a:t>
            </a:r>
            <a:pPr indent="0" marL="0">
              <a:buNone/>
            </a:pPr>
            <a:r>
              <a:rPr lang="en-US" sz="1100" dirty="0">
                <a:solidFill>
                  <a:srgbClr val="8FA3B1"/>
                </a:solidFill>
                <a:latin typeface="Calibri" pitchFamily="34" charset="0"/>
                <a:ea typeface="Calibri" pitchFamily="34" charset="-122"/>
                <a:cs typeface="Calibri" pitchFamily="34" charset="-120"/>
              </a:rPr>
              <a:t>Was the Elephant/Take-Away/Revisit used correctly when the consultation stalled?</a:t>
            </a:r>
            <a:endParaRPr lang="en-US" sz="1200" dirty="0"/>
          </a:p>
        </p:txBody>
      </p:sp>
      <p:sp>
        <p:nvSpPr>
          <p:cNvPr id="21" name="Shape 19"/>
          <p:cNvSpPr/>
          <p:nvPr/>
        </p:nvSpPr>
        <p:spPr>
          <a:xfrm>
            <a:off x="274320" y="4041648"/>
            <a:ext cx="8503920" cy="685800"/>
          </a:xfrm>
          <a:prstGeom prst="rect">
            <a:avLst/>
          </a:prstGeom>
          <a:solidFill>
            <a:srgbClr val="1A2840"/>
          </a:solidFill>
          <a:ln w="12700">
            <a:solidFill>
              <a:srgbClr val="C0392B"/>
            </a:solidFill>
            <a:prstDash val="solid"/>
          </a:ln>
          <a:effectLst>
            <a:outerShdw sx="100000" sy="100000" kx="0" ky="0" algn="bl" rotWithShape="0" blurRad="101600" dist="38100" dir="8100000">
              <a:srgbClr val="000000">
                <a:alpha val="20000"/>
              </a:srgbClr>
            </a:outerShdw>
          </a:effectLst>
        </p:spPr>
      </p:sp>
      <p:sp>
        <p:nvSpPr>
          <p:cNvPr id="22" name="Shape 20"/>
          <p:cNvSpPr/>
          <p:nvPr/>
        </p:nvSpPr>
        <p:spPr>
          <a:xfrm>
            <a:off x="274320" y="4041648"/>
            <a:ext cx="1463040" cy="685800"/>
          </a:xfrm>
          <a:prstGeom prst="rect">
            <a:avLst/>
          </a:prstGeom>
          <a:solidFill>
            <a:srgbClr val="C0392B">
              <a:alpha val="80000"/>
            </a:srgbClr>
          </a:solidFill>
          <a:ln w="12700">
            <a:solidFill>
              <a:srgbClr val="C0392B"/>
            </a:solidFill>
            <a:prstDash val="solid"/>
          </a:ln>
        </p:spPr>
      </p:sp>
      <p:sp>
        <p:nvSpPr>
          <p:cNvPr id="23" name="Text 21"/>
          <p:cNvSpPr/>
          <p:nvPr/>
        </p:nvSpPr>
        <p:spPr>
          <a:xfrm>
            <a:off x="292608" y="4078224"/>
            <a:ext cx="1417320" cy="612648"/>
          </a:xfrm>
          <a:prstGeom prst="rect">
            <a:avLst/>
          </a:prstGeom>
          <a:noFill/>
          <a:ln/>
        </p:spPr>
        <p:txBody>
          <a:bodyPr wrap="square" lIns="0" tIns="0" rIns="0" bIns="0" rtlCol="0" anchor="ctr"/>
          <a:lstStyle/>
          <a:p>
            <a:pPr algn="ctr" indent="0" marL="0">
              <a:buNone/>
            </a:pPr>
            <a:r>
              <a:rPr lang="en-US" sz="1800" b="1" dirty="0">
                <a:solidFill>
                  <a:srgbClr val="FFFFFF"/>
                </a:solidFill>
                <a:latin typeface="Arial Black" pitchFamily="34" charset="0"/>
                <a:ea typeface="Arial Black" pitchFamily="34" charset="-122"/>
                <a:cs typeface="Arial Black" pitchFamily="34" charset="-120"/>
              </a:rPr>
              <a:t>1–6 pts</a:t>
            </a:r>
            <a:endParaRPr lang="en-US" sz="1800" dirty="0"/>
          </a:p>
        </p:txBody>
      </p:sp>
      <p:sp>
        <p:nvSpPr>
          <p:cNvPr id="24" name="Text 22"/>
          <p:cNvSpPr/>
          <p:nvPr/>
        </p:nvSpPr>
        <p:spPr>
          <a:xfrm>
            <a:off x="1874520" y="4114800"/>
            <a:ext cx="6766560" cy="566928"/>
          </a:xfrm>
          <a:prstGeom prst="rect">
            <a:avLst/>
          </a:prstGeom>
          <a:noFill/>
          <a:ln/>
        </p:spPr>
        <p:txBody>
          <a:bodyPr wrap="square" lIns="0" tIns="0" rIns="0" bIns="0" rtlCol="0" anchor="ctr"/>
          <a:lstStyle/>
          <a:p>
            <a:pPr indent="0" marL="0">
              <a:buNone/>
            </a:pPr>
            <a:r>
              <a:rPr lang="en-US" sz="1200" b="1" dirty="0">
                <a:solidFill>
                  <a:srgbClr val="C0392B"/>
                </a:solidFill>
                <a:latin typeface="Arial Black" pitchFamily="34" charset="0"/>
                <a:ea typeface="Arial Black" pitchFamily="34" charset="-122"/>
                <a:cs typeface="Arial Black" pitchFamily="34" charset="-120"/>
              </a:rPr>
              <a:t>Close Completion  </a:t>
            </a:r>
            <a:pPr indent="0" marL="0">
              <a:buNone/>
            </a:pPr>
            <a:r>
              <a:rPr lang="en-US" sz="1100" dirty="0">
                <a:solidFill>
                  <a:srgbClr val="8FA3B1"/>
                </a:solidFill>
                <a:latin typeface="Calibri" pitchFamily="34" charset="0"/>
                <a:ea typeface="Calibri" pitchFamily="34" charset="-122"/>
                <a:cs typeface="Calibri" pitchFamily="34" charset="-120"/>
              </a:rPr>
              <a:t>Did the consultation end with a clear next step — scheduled, confirmed, and on the calendar?</a:t>
            </a:r>
            <a:endParaRPr lang="en-US" sz="1200" dirty="0"/>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6">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F4A61D"/>
          </a:solidFill>
          <a:ln w="12700">
            <a:solidFill>
              <a:srgbClr val="F4A61D"/>
            </a:solidFill>
            <a:prstDash val="solid"/>
          </a:ln>
        </p:spPr>
      </p:sp>
      <p:sp>
        <p:nvSpPr>
          <p:cNvPr id="3" name="Text 1"/>
          <p:cNvSpPr/>
          <p:nvPr/>
        </p:nvSpPr>
        <p:spPr>
          <a:xfrm>
            <a:off x="274320" y="164592"/>
            <a:ext cx="8503920" cy="594360"/>
          </a:xfrm>
          <a:prstGeom prst="rect">
            <a:avLst/>
          </a:prstGeom>
          <a:noFill/>
          <a:ln/>
        </p:spPr>
        <p:txBody>
          <a:bodyPr wrap="square" lIns="0" tIns="0" rIns="0" bIns="0" rtlCol="0" anchor="ctr"/>
          <a:lstStyle/>
          <a:p>
            <a:pPr algn="l" indent="0" marL="0">
              <a:buNone/>
            </a:pPr>
            <a:r>
              <a:rPr lang="en-US" sz="2000" b="1" dirty="0">
                <a:solidFill>
                  <a:srgbClr val="F4A61D"/>
                </a:solidFill>
                <a:latin typeface="Arial Black" pitchFamily="34" charset="0"/>
                <a:ea typeface="Arial Black" pitchFamily="34" charset="-122"/>
                <a:cs typeface="Arial Black" pitchFamily="34" charset="-120"/>
              </a:rPr>
              <a:t>What a 30/30 Performance Looks Like</a:t>
            </a:r>
            <a:endParaRPr lang="en-US" sz="2000" dirty="0"/>
          </a:p>
        </p:txBody>
      </p:sp>
      <p:sp>
        <p:nvSpPr>
          <p:cNvPr id="4" name="Shape 2"/>
          <p:cNvSpPr/>
          <p:nvPr/>
        </p:nvSpPr>
        <p:spPr>
          <a:xfrm>
            <a:off x="274320" y="777240"/>
            <a:ext cx="8503920" cy="27432"/>
          </a:xfrm>
          <a:prstGeom prst="rect">
            <a:avLst/>
          </a:prstGeom>
          <a:solidFill>
            <a:srgbClr val="F4A61D">
              <a:alpha val="40000"/>
            </a:srgbClr>
          </a:solidFill>
          <a:ln w="12700">
            <a:solidFill>
              <a:srgbClr val="F4A61D">
                <a:alpha val="40000"/>
              </a:srgbClr>
            </a:solidFill>
            <a:prstDash val="solid"/>
          </a:ln>
        </p:spPr>
      </p:sp>
      <p:sp>
        <p:nvSpPr>
          <p:cNvPr id="5" name="Text 3"/>
          <p:cNvSpPr/>
          <p:nvPr/>
        </p:nvSpPr>
        <p:spPr>
          <a:xfrm>
            <a:off x="274320" y="914400"/>
            <a:ext cx="8503920" cy="2267712"/>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rgbClr val="FFFFFF"/>
                </a:solidFill>
                <a:latin typeface="Calibri" pitchFamily="34" charset="0"/>
                <a:ea typeface="Calibri" pitchFamily="34" charset="-122"/>
                <a:cs typeface="Calibri" pitchFamily="34" charset="-120"/>
              </a:rPr>
              <a:t>The rep treats every objection as information, not as an attack — curiosity is the baseline state throughout</a:t>
            </a:r>
            <a:endParaRPr lang="en-US" sz="1300" dirty="0"/>
          </a:p>
          <a:p>
            <a:pPr marL="342900" indent="-342900">
              <a:spcAft>
                <a:spcPts val="600"/>
              </a:spcAft>
              <a:buSzPct val="100000"/>
              <a:buChar char="•"/>
            </a:pPr>
            <a:r>
              <a:rPr lang="en-US" sz="1300" dirty="0">
                <a:solidFill>
                  <a:srgbClr val="FFFFFF"/>
                </a:solidFill>
                <a:latin typeface="Calibri" pitchFamily="34" charset="0"/>
                <a:ea typeface="Calibri" pitchFamily="34" charset="-122"/>
                <a:cs typeface="Calibri" pitchFamily="34" charset="-120"/>
              </a:rPr>
              <a:t>The Cushion is delivered with genuine warmth — never robotic, never rushed, never skipped</a:t>
            </a:r>
            <a:endParaRPr lang="en-US" sz="1300" dirty="0"/>
          </a:p>
          <a:p>
            <a:pPr marL="342900" indent="-342900">
              <a:spcAft>
                <a:spcPts val="600"/>
              </a:spcAft>
              <a:buSzPct val="100000"/>
              <a:buChar char="•"/>
            </a:pPr>
            <a:r>
              <a:rPr lang="en-US" sz="1300" dirty="0">
                <a:solidFill>
                  <a:srgbClr val="FFFFFF"/>
                </a:solidFill>
                <a:latin typeface="Calibri" pitchFamily="34" charset="0"/>
                <a:ea typeface="Calibri" pitchFamily="34" charset="-122"/>
                <a:cs typeface="Calibri" pitchFamily="34" charset="-120"/>
              </a:rPr>
              <a:t>The rep adjusts in real time: if one technique isn't landing, they pivot — they don't repeat the same approach louder</a:t>
            </a:r>
            <a:endParaRPr lang="en-US" sz="1300" dirty="0"/>
          </a:p>
          <a:p>
            <a:pPr marL="342900" indent="-342900">
              <a:spcAft>
                <a:spcPts val="600"/>
              </a:spcAft>
              <a:buSzPct val="100000"/>
              <a:buChar char="•"/>
            </a:pPr>
            <a:r>
              <a:rPr lang="en-US" sz="1300" dirty="0">
                <a:solidFill>
                  <a:srgbClr val="FFFFFF"/>
                </a:solidFill>
                <a:latin typeface="Calibri" pitchFamily="34" charset="0"/>
                <a:ea typeface="Calibri" pitchFamily="34" charset="-122"/>
                <a:cs typeface="Calibri" pitchFamily="34" charset="-120"/>
              </a:rPr>
              <a:t>The close feels inevitable — like the natural conclusion of a well-facilitated conversation, not a sales event</a:t>
            </a:r>
            <a:endParaRPr lang="en-US" sz="1300" dirty="0"/>
          </a:p>
        </p:txBody>
      </p:sp>
      <p:sp>
        <p:nvSpPr>
          <p:cNvPr id="6" name="Shape 4"/>
          <p:cNvSpPr/>
          <p:nvPr/>
        </p:nvSpPr>
        <p:spPr>
          <a:xfrm>
            <a:off x="0" y="4663440"/>
            <a:ext cx="9144000" cy="480060"/>
          </a:xfrm>
          <a:prstGeom prst="rect">
            <a:avLst/>
          </a:prstGeom>
          <a:solidFill>
            <a:srgbClr val="E07B39">
              <a:alpha val="15000"/>
            </a:srgbClr>
          </a:solidFill>
          <a:ln w="12700">
            <a:solidFill>
              <a:srgbClr val="E07B39">
                <a:alpha val="15000"/>
              </a:srgbClr>
            </a:solidFill>
            <a:prstDash val="solid"/>
          </a:ln>
        </p:spPr>
      </p:sp>
      <p:sp>
        <p:nvSpPr>
          <p:cNvPr id="7" name="Text 5"/>
          <p:cNvSpPr/>
          <p:nvPr/>
        </p:nvSpPr>
        <p:spPr>
          <a:xfrm>
            <a:off x="274320" y="4690872"/>
            <a:ext cx="8686800" cy="384048"/>
          </a:xfrm>
          <a:prstGeom prst="rect">
            <a:avLst/>
          </a:prstGeom>
          <a:noFill/>
          <a:ln/>
        </p:spPr>
        <p:txBody>
          <a:bodyPr wrap="square" lIns="0" tIns="0" rIns="0" bIns="0" rtlCol="0" anchor="ctr"/>
          <a:lstStyle/>
          <a:p>
            <a:pPr algn="l" indent="0" marL="0">
              <a:buNone/>
            </a:pPr>
            <a:r>
              <a:rPr lang="en-US" sz="900" i="1" dirty="0">
                <a:solidFill>
                  <a:srgbClr val="E07B39"/>
                </a:solidFill>
                <a:latin typeface="Calibri" pitchFamily="34" charset="0"/>
                <a:ea typeface="Calibri" pitchFamily="34" charset="-122"/>
                <a:cs typeface="Calibri" pitchFamily="34" charset="-120"/>
              </a:rPr>
              <a:t>📋 TRAINER NOTE: A 30/30 performance is rare. Play recordings from previous exemplary Gauntlet performances if available — let reps hear what mastery in motion sounds like. Elite performance has a feel that words alone cannot fully describe.</a:t>
            </a:r>
            <a:endParaRPr lang="en-US" sz="900" dirty="0"/>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67">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E07B39"/>
          </a:solidFill>
          <a:ln w="12700">
            <a:solidFill>
              <a:srgbClr val="E07B39"/>
            </a:solidFill>
            <a:prstDash val="solid"/>
          </a:ln>
        </p:spPr>
      </p:sp>
      <p:sp>
        <p:nvSpPr>
          <p:cNvPr id="3" name="Text 1"/>
          <p:cNvSpPr/>
          <p:nvPr/>
        </p:nvSpPr>
        <p:spPr>
          <a:xfrm>
            <a:off x="365760" y="73152"/>
            <a:ext cx="3657600" cy="365760"/>
          </a:xfrm>
          <a:prstGeom prst="rect">
            <a:avLst/>
          </a:prstGeom>
          <a:noFill/>
          <a:ln/>
        </p:spPr>
        <p:txBody>
          <a:bodyPr wrap="square" lIns="0" tIns="0" rIns="0" bIns="0" rtlCol="0" anchor="ctr"/>
          <a:lstStyle/>
          <a:p>
            <a:pPr algn="l" indent="0" marL="0">
              <a:buNone/>
            </a:pPr>
            <a:r>
              <a:rPr lang="en-US" sz="1200" b="1" spc="300" kern="0" dirty="0">
                <a:solidFill>
                  <a:srgbClr val="0D1B2A"/>
                </a:solidFill>
                <a:latin typeface="Arial Black" pitchFamily="34" charset="0"/>
                <a:ea typeface="Arial Black" pitchFamily="34" charset="-122"/>
                <a:cs typeface="Arial Black" pitchFamily="34" charset="-120"/>
              </a:rPr>
              <a:t>🎯  ACTIVITY</a:t>
            </a:r>
            <a:endParaRPr lang="en-US" sz="1200" dirty="0"/>
          </a:p>
        </p:txBody>
      </p:sp>
      <p:sp>
        <p:nvSpPr>
          <p:cNvPr id="4" name="Text 2"/>
          <p:cNvSpPr/>
          <p:nvPr/>
        </p:nvSpPr>
        <p:spPr>
          <a:xfrm>
            <a:off x="365760" y="457200"/>
            <a:ext cx="8412480" cy="457200"/>
          </a:xfrm>
          <a:prstGeom prst="rect">
            <a:avLst/>
          </a:prstGeom>
          <a:noFill/>
          <a:ln/>
        </p:spPr>
        <p:txBody>
          <a:bodyPr wrap="square" lIns="0" tIns="0" rIns="0" bIns="0" rtlCol="0" anchor="ctr"/>
          <a:lstStyle/>
          <a:p>
            <a:pPr algn="l" indent="0" marL="0">
              <a:buNone/>
            </a:pPr>
            <a:r>
              <a:rPr lang="en-US" sz="1700" b="1" dirty="0">
                <a:solidFill>
                  <a:srgbClr val="0D1B2A"/>
                </a:solidFill>
                <a:latin typeface="Arial Black" pitchFamily="34" charset="0"/>
                <a:ea typeface="Arial Black" pitchFamily="34" charset="-122"/>
                <a:cs typeface="Arial Black" pitchFamily="34" charset="-120"/>
              </a:rPr>
              <a:t>AI Simulation: The Miller Family Final Gauntlet</a:t>
            </a:r>
            <a:endParaRPr lang="en-US" sz="1700" dirty="0"/>
          </a:p>
        </p:txBody>
      </p:sp>
      <p:sp>
        <p:nvSpPr>
          <p:cNvPr id="5" name="Shape 3"/>
          <p:cNvSpPr/>
          <p:nvPr/>
        </p:nvSpPr>
        <p:spPr>
          <a:xfrm>
            <a:off x="274320" y="1143000"/>
            <a:ext cx="8595360" cy="475488"/>
          </a:xfrm>
          <a:prstGeom prst="rect">
            <a:avLst/>
          </a:prstGeom>
          <a:solidFill>
            <a:srgbClr val="1A2840"/>
          </a:solidFill>
          <a:ln w="12700">
            <a:solidFill>
              <a:srgbClr val="0891B2"/>
            </a:solidFill>
            <a:prstDash val="solid"/>
          </a:ln>
          <a:effectLst>
            <a:outerShdw sx="100000" sy="100000" kx="0" ky="0" algn="bl" rotWithShape="0" blurRad="101600" dist="38100" dir="8100000">
              <a:srgbClr val="000000">
                <a:alpha val="20000"/>
              </a:srgbClr>
            </a:outerShdw>
          </a:effectLst>
        </p:spPr>
      </p:sp>
      <p:sp>
        <p:nvSpPr>
          <p:cNvPr id="6" name="Text 4"/>
          <p:cNvSpPr/>
          <p:nvPr/>
        </p:nvSpPr>
        <p:spPr>
          <a:xfrm>
            <a:off x="411480" y="1170432"/>
            <a:ext cx="8321040" cy="420624"/>
          </a:xfrm>
          <a:prstGeom prst="rect">
            <a:avLst/>
          </a:prstGeom>
          <a:noFill/>
          <a:ln/>
        </p:spPr>
        <p:txBody>
          <a:bodyPr wrap="square" lIns="0" tIns="0" rIns="0" bIns="0" rtlCol="0" anchor="ctr"/>
          <a:lstStyle/>
          <a:p>
            <a:pPr algn="l" indent="0" marL="0">
              <a:buNone/>
            </a:pPr>
            <a:r>
              <a:rPr lang="en-US" sz="1100" b="1" i="1" dirty="0">
                <a:solidFill>
                  <a:srgbClr val="0891B2"/>
                </a:solidFill>
                <a:latin typeface="Calibri" pitchFamily="34" charset="0"/>
                <a:ea typeface="Calibri" pitchFamily="34" charset="-122"/>
                <a:cs typeface="Calibri" pitchFamily="34" charset="-120"/>
              </a:rPr>
              <a:t>OBJECTIVE: Handle a retired engineer Owl, a skeptical spouse, and a neighbor objection — close on the site survey</a:t>
            </a:r>
            <a:endParaRPr lang="en-US" sz="1100" dirty="0"/>
          </a:p>
        </p:txBody>
      </p:sp>
      <p:sp>
        <p:nvSpPr>
          <p:cNvPr id="7" name="Text 5"/>
          <p:cNvSpPr/>
          <p:nvPr/>
        </p:nvSpPr>
        <p:spPr>
          <a:xfrm>
            <a:off x="365760" y="1755648"/>
            <a:ext cx="6858000" cy="2834640"/>
          </a:xfrm>
          <a:prstGeom prst="rect">
            <a:avLst/>
          </a:prstGeom>
          <a:noFill/>
          <a:ln/>
        </p:spPr>
        <p:txBody>
          <a:bodyPr wrap="square" lIns="0" tIns="0" rIns="0" bIns="0" rtlCol="0" anchor="t"/>
          <a:lstStyle/>
          <a:p>
            <a:pPr indent="0" marL="0">
              <a:spcAft>
                <a:spcPts val="800"/>
              </a:spcAft>
              <a:buNone/>
            </a:pPr>
            <a:r>
              <a:rPr lang="en-US" sz="1200" dirty="0">
                <a:solidFill>
                  <a:srgbClr val="FFFFFF"/>
                </a:solidFill>
                <a:latin typeface="Calibri" pitchFamily="34" charset="0"/>
                <a:ea typeface="Calibri" pitchFamily="34" charset="-122"/>
                <a:cs typeface="Calibri" pitchFamily="34" charset="-120"/>
              </a:rPr>
              <a:t>1.  Scan QR code or click the link to launch the Miller Family AI Simulation bot</a:t>
            </a:r>
            <a:endParaRPr lang="en-US" sz="1200" dirty="0"/>
          </a:p>
          <a:p>
            <a:pPr indent="0" marL="0">
              <a:spcAft>
                <a:spcPts val="800"/>
              </a:spcAft>
              <a:buNone/>
            </a:pPr>
            <a:r>
              <a:rPr lang="en-US" sz="1200" dirty="0">
                <a:solidFill>
                  <a:srgbClr val="FFFFFF"/>
                </a:solidFill>
                <a:latin typeface="Calibri" pitchFamily="34" charset="0"/>
                <a:ea typeface="Calibri" pitchFamily="34" charset="-122"/>
                <a:cs typeface="Calibri" pitchFamily="34" charset="-120"/>
              </a:rPr>
              <a:t>2.  Mr. Miller (Owl) will demand degradation data, compare your quote to Competitor X, and question inverter specs</a:t>
            </a:r>
            <a:endParaRPr lang="en-US" sz="1200" dirty="0"/>
          </a:p>
          <a:p>
            <a:pPr indent="0" marL="0">
              <a:spcAft>
                <a:spcPts val="800"/>
              </a:spcAft>
              <a:buNone/>
            </a:pPr>
            <a:r>
              <a:rPr lang="en-US" sz="1200" dirty="0">
                <a:solidFill>
                  <a:srgbClr val="FFFFFF"/>
                </a:solidFill>
                <a:latin typeface="Calibri" pitchFamily="34" charset="0"/>
                <a:ea typeface="Calibri" pitchFamily="34" charset="-122"/>
                <a:cs typeface="Calibri" pitchFamily="34" charset="-120"/>
              </a:rPr>
              <a:t>3.  Mrs. Miller will surface the neighbor objection and a Smoke Screen about their 'financial advisor'</a:t>
            </a:r>
            <a:endParaRPr lang="en-US" sz="1200" dirty="0"/>
          </a:p>
          <a:p>
            <a:pPr indent="0" marL="0">
              <a:spcAft>
                <a:spcPts val="800"/>
              </a:spcAft>
              <a:buNone/>
            </a:pPr>
            <a:r>
              <a:rPr lang="en-US" sz="1200" dirty="0">
                <a:solidFill>
                  <a:srgbClr val="FFFFFF"/>
                </a:solidFill>
                <a:latin typeface="Calibri" pitchFamily="34" charset="0"/>
                <a:ea typeface="Calibri" pitchFamily="34" charset="-122"/>
                <a:cs typeface="Calibri" pitchFamily="34" charset="-120"/>
              </a:rPr>
              <a:t>4.  Goal: handle all 5 objection types, use ACAC throughout, and close on a scheduled site survey</a:t>
            </a:r>
            <a:endParaRPr lang="en-US" sz="1200" dirty="0"/>
          </a:p>
          <a:p>
            <a:pPr indent="0" marL="0">
              <a:spcAft>
                <a:spcPts val="800"/>
              </a:spcAft>
              <a:buNone/>
            </a:pPr>
            <a:r>
              <a:rPr lang="en-US" sz="1200" dirty="0">
                <a:solidFill>
                  <a:srgbClr val="FFFFFF"/>
                </a:solidFill>
                <a:latin typeface="Calibri" pitchFamily="34" charset="0"/>
                <a:ea typeface="Calibri" pitchFamily="34" charset="-122"/>
                <a:cs typeface="Calibri" pitchFamily="34" charset="-120"/>
              </a:rPr>
              <a:t>5.  Submit your recording for manager scoring on the Day 6 Evaluation Scorecard</a:t>
            </a:r>
            <a:endParaRPr lang="en-US" sz="1200" dirty="0"/>
          </a:p>
        </p:txBody>
      </p:sp>
      <p:sp>
        <p:nvSpPr>
          <p:cNvPr id="8" name="Shape 6"/>
          <p:cNvSpPr/>
          <p:nvPr/>
        </p:nvSpPr>
        <p:spPr>
          <a:xfrm>
            <a:off x="7132320" y="1755648"/>
            <a:ext cx="1737360" cy="914400"/>
          </a:xfrm>
          <a:prstGeom prst="rect">
            <a:avLst/>
          </a:prstGeom>
          <a:solidFill>
            <a:srgbClr val="F4A61D"/>
          </a:solidFill>
          <a:ln w="12700">
            <a:solidFill>
              <a:srgbClr val="F4A61D"/>
            </a:solidFill>
            <a:prstDash val="solid"/>
          </a:ln>
          <a:effectLst>
            <a:outerShdw sx="100000" sy="100000" kx="0" ky="0" algn="bl" rotWithShape="0" blurRad="101600" dist="38100" dir="8100000">
              <a:srgbClr val="000000">
                <a:alpha val="20000"/>
              </a:srgbClr>
            </a:outerShdw>
          </a:effectLst>
        </p:spPr>
      </p:sp>
      <p:sp>
        <p:nvSpPr>
          <p:cNvPr id="9" name="Text 7"/>
          <p:cNvSpPr/>
          <p:nvPr/>
        </p:nvSpPr>
        <p:spPr>
          <a:xfrm>
            <a:off x="7150608" y="1773936"/>
            <a:ext cx="1691640" cy="877824"/>
          </a:xfrm>
          <a:prstGeom prst="rect">
            <a:avLst/>
          </a:prstGeom>
          <a:noFill/>
          <a:ln/>
        </p:spPr>
        <p:txBody>
          <a:bodyPr wrap="square" lIns="0" tIns="0" rIns="0" bIns="0" rtlCol="0" anchor="ctr"/>
          <a:lstStyle/>
          <a:p>
            <a:pPr algn="ctr" indent="0" marL="0">
              <a:buNone/>
            </a:pPr>
            <a:r>
              <a:rPr lang="en-US" sz="1400" b="1" dirty="0">
                <a:solidFill>
                  <a:srgbClr val="0D1B2A"/>
                </a:solidFill>
                <a:latin typeface="Arial Black" pitchFamily="34" charset="0"/>
                <a:ea typeface="Arial Black" pitchFamily="34" charset="-122"/>
                <a:cs typeface="Arial Black" pitchFamily="34" charset="-120"/>
              </a:rPr>
              <a:t>45 MIN</a:t>
            </a:r>
            <a:endParaRPr lang="en-US" sz="1400" dirty="0"/>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name="Slide 68">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9144000" cy="1691640"/>
          </a:xfrm>
          <a:prstGeom prst="rect">
            <a:avLst/>
          </a:prstGeom>
          <a:solidFill>
            <a:srgbClr val="F4A61D"/>
          </a:solidFill>
          <a:ln w="12700">
            <a:solidFill>
              <a:srgbClr val="F4A61D"/>
            </a:solidFill>
            <a:prstDash val="solid"/>
          </a:ln>
        </p:spPr>
      </p:sp>
      <p:sp>
        <p:nvSpPr>
          <p:cNvPr id="3" name="Text 1"/>
          <p:cNvSpPr/>
          <p:nvPr/>
        </p:nvSpPr>
        <p:spPr>
          <a:xfrm>
            <a:off x="365760" y="137160"/>
            <a:ext cx="8412480" cy="420624"/>
          </a:xfrm>
          <a:prstGeom prst="rect">
            <a:avLst/>
          </a:prstGeom>
          <a:noFill/>
          <a:ln/>
        </p:spPr>
        <p:txBody>
          <a:bodyPr wrap="square" lIns="0" tIns="0" rIns="0" bIns="0" rtlCol="0" anchor="ctr"/>
          <a:lstStyle/>
          <a:p>
            <a:pPr algn="l" indent="0" marL="0">
              <a:buNone/>
            </a:pPr>
            <a:r>
              <a:rPr lang="en-US" sz="1300" b="1" spc="400" kern="0" dirty="0">
                <a:solidFill>
                  <a:srgbClr val="0D1B2A"/>
                </a:solidFill>
                <a:latin typeface="Arial Black" pitchFamily="34" charset="0"/>
                <a:ea typeface="Arial Black" pitchFamily="34" charset="-122"/>
                <a:cs typeface="Arial Black" pitchFamily="34" charset="-120"/>
              </a:rPr>
              <a:t>MODULE WRAP-UP</a:t>
            </a:r>
            <a:endParaRPr lang="en-US" sz="1300" dirty="0"/>
          </a:p>
        </p:txBody>
      </p:sp>
      <p:sp>
        <p:nvSpPr>
          <p:cNvPr id="4" name="Text 2"/>
          <p:cNvSpPr/>
          <p:nvPr/>
        </p:nvSpPr>
        <p:spPr>
          <a:xfrm>
            <a:off x="365760" y="530352"/>
            <a:ext cx="8412480" cy="1005840"/>
          </a:xfrm>
          <a:prstGeom prst="rect">
            <a:avLst/>
          </a:prstGeom>
          <a:noFill/>
          <a:ln/>
        </p:spPr>
        <p:txBody>
          <a:bodyPr wrap="square" lIns="0" tIns="0" rIns="0" bIns="0" rtlCol="0" anchor="ctr"/>
          <a:lstStyle/>
          <a:p>
            <a:pPr algn="l" indent="0" marL="0">
              <a:buNone/>
            </a:pPr>
            <a:r>
              <a:rPr lang="en-US" sz="2500" b="1" dirty="0">
                <a:solidFill>
                  <a:srgbClr val="0D1B2A"/>
                </a:solidFill>
                <a:latin typeface="Arial Black" pitchFamily="34" charset="0"/>
                <a:ea typeface="Arial Black" pitchFamily="34" charset="-122"/>
                <a:cs typeface="Arial Black" pitchFamily="34" charset="-120"/>
              </a:rPr>
              <a:t>Day 6 Wrap-Up</a:t>
            </a:r>
            <a:endParaRPr lang="en-US" sz="2500" dirty="0"/>
          </a:p>
        </p:txBody>
      </p:sp>
      <p:sp>
        <p:nvSpPr>
          <p:cNvPr id="5" name="Text 3"/>
          <p:cNvSpPr/>
          <p:nvPr/>
        </p:nvSpPr>
        <p:spPr>
          <a:xfrm>
            <a:off x="365760" y="1920240"/>
            <a:ext cx="8412480" cy="502920"/>
          </a:xfrm>
          <a:prstGeom prst="rect">
            <a:avLst/>
          </a:prstGeom>
          <a:noFill/>
          <a:ln/>
        </p:spPr>
        <p:txBody>
          <a:bodyPr wrap="square" lIns="0" tIns="0" rIns="0" bIns="0" rtlCol="0" anchor="ctr"/>
          <a:lstStyle/>
          <a:p>
            <a:pPr algn="l" indent="0" marL="0">
              <a:buNone/>
            </a:pPr>
            <a:r>
              <a:rPr lang="en-US" sz="1500" b="1" i="1" dirty="0">
                <a:solidFill>
                  <a:srgbClr val="F4A61D"/>
                </a:solidFill>
                <a:latin typeface="Calibri" pitchFamily="34" charset="0"/>
                <a:ea typeface="Calibri" pitchFamily="34" charset="-122"/>
                <a:cs typeface="Calibri" pitchFamily="34" charset="-120"/>
              </a:rPr>
              <a:t>The Master of Objections Mindset</a:t>
            </a:r>
            <a:endParaRPr lang="en-US" sz="1500" dirty="0"/>
          </a:p>
        </p:txBody>
      </p:sp>
      <p:sp>
        <p:nvSpPr>
          <p:cNvPr id="6" name="Shape 4"/>
          <p:cNvSpPr/>
          <p:nvPr/>
        </p:nvSpPr>
        <p:spPr>
          <a:xfrm>
            <a:off x="365760" y="2606040"/>
            <a:ext cx="164592" cy="164592"/>
          </a:xfrm>
          <a:prstGeom prst="ellipse">
            <a:avLst/>
          </a:prstGeom>
          <a:solidFill>
            <a:srgbClr val="F4A61D">
              <a:alpha val="40000"/>
            </a:srgbClr>
          </a:solidFill>
          <a:ln w="12700">
            <a:solidFill>
              <a:srgbClr val="F4A61D">
                <a:alpha val="40000"/>
              </a:srgbClr>
            </a:solidFill>
            <a:prstDash val="solid"/>
          </a:ln>
        </p:spPr>
      </p:sp>
      <p:sp>
        <p:nvSpPr>
          <p:cNvPr id="7" name="Shape 5"/>
          <p:cNvSpPr/>
          <p:nvPr/>
        </p:nvSpPr>
        <p:spPr>
          <a:xfrm>
            <a:off x="685800" y="2606040"/>
            <a:ext cx="164592" cy="164592"/>
          </a:xfrm>
          <a:prstGeom prst="ellipse">
            <a:avLst/>
          </a:prstGeom>
          <a:solidFill>
            <a:srgbClr val="F4A61D">
              <a:alpha val="40000"/>
            </a:srgbClr>
          </a:solidFill>
          <a:ln w="12700">
            <a:solidFill>
              <a:srgbClr val="F4A61D">
                <a:alpha val="40000"/>
              </a:srgbClr>
            </a:solidFill>
            <a:prstDash val="solid"/>
          </a:ln>
        </p:spPr>
      </p:sp>
      <p:sp>
        <p:nvSpPr>
          <p:cNvPr id="8" name="Shape 6"/>
          <p:cNvSpPr/>
          <p:nvPr/>
        </p:nvSpPr>
        <p:spPr>
          <a:xfrm>
            <a:off x="1005840" y="2606040"/>
            <a:ext cx="164592" cy="164592"/>
          </a:xfrm>
          <a:prstGeom prst="ellipse">
            <a:avLst/>
          </a:prstGeom>
          <a:solidFill>
            <a:srgbClr val="F4A61D">
              <a:alpha val="40000"/>
            </a:srgbClr>
          </a:solidFill>
          <a:ln w="12700">
            <a:solidFill>
              <a:srgbClr val="F4A61D">
                <a:alpha val="40000"/>
              </a:srgbClr>
            </a:solidFill>
            <a:prstDash val="solid"/>
          </a:ln>
        </p:spPr>
      </p:sp>
      <p:sp>
        <p:nvSpPr>
          <p:cNvPr id="9" name="Shape 7"/>
          <p:cNvSpPr/>
          <p:nvPr/>
        </p:nvSpPr>
        <p:spPr>
          <a:xfrm>
            <a:off x="1325880" y="2606040"/>
            <a:ext cx="164592" cy="164592"/>
          </a:xfrm>
          <a:prstGeom prst="ellipse">
            <a:avLst/>
          </a:prstGeom>
          <a:solidFill>
            <a:srgbClr val="F4A61D">
              <a:alpha val="40000"/>
            </a:srgbClr>
          </a:solidFill>
          <a:ln w="12700">
            <a:solidFill>
              <a:srgbClr val="F4A61D">
                <a:alpha val="40000"/>
              </a:srgbClr>
            </a:solidFill>
            <a:prstDash val="solid"/>
          </a:ln>
        </p:spPr>
      </p:sp>
      <p:sp>
        <p:nvSpPr>
          <p:cNvPr id="10" name="Shape 8"/>
          <p:cNvSpPr/>
          <p:nvPr/>
        </p:nvSpPr>
        <p:spPr>
          <a:xfrm>
            <a:off x="1645920" y="2606040"/>
            <a:ext cx="164592" cy="164592"/>
          </a:xfrm>
          <a:prstGeom prst="ellipse">
            <a:avLst/>
          </a:prstGeom>
          <a:solidFill>
            <a:srgbClr val="F4A61D">
              <a:alpha val="40000"/>
            </a:srgbClr>
          </a:solidFill>
          <a:ln w="12700">
            <a:solidFill>
              <a:srgbClr val="F4A61D">
                <a:alpha val="40000"/>
              </a:srgbClr>
            </a:solidFill>
            <a:prstDash val="solid"/>
          </a:ln>
        </p:spPr>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name="Slide 69">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F4A61D"/>
          </a:solidFill>
          <a:ln w="12700">
            <a:solidFill>
              <a:srgbClr val="F4A61D"/>
            </a:solidFill>
            <a:prstDash val="solid"/>
          </a:ln>
        </p:spPr>
      </p:sp>
      <p:sp>
        <p:nvSpPr>
          <p:cNvPr id="3" name="Text 1"/>
          <p:cNvSpPr/>
          <p:nvPr/>
        </p:nvSpPr>
        <p:spPr>
          <a:xfrm>
            <a:off x="274320" y="164592"/>
            <a:ext cx="8503920" cy="530352"/>
          </a:xfrm>
          <a:prstGeom prst="rect">
            <a:avLst/>
          </a:prstGeom>
          <a:noFill/>
          <a:ln/>
        </p:spPr>
        <p:txBody>
          <a:bodyPr wrap="square" lIns="0" tIns="0" rIns="0" bIns="0" rtlCol="0" anchor="ctr"/>
          <a:lstStyle/>
          <a:p>
            <a:pPr algn="l" indent="0" marL="0">
              <a:buNone/>
            </a:pPr>
            <a:r>
              <a:rPr lang="en-US" sz="2000" b="1" dirty="0">
                <a:solidFill>
                  <a:srgbClr val="F4A61D"/>
                </a:solidFill>
                <a:latin typeface="Arial Black" pitchFamily="34" charset="0"/>
                <a:ea typeface="Arial Black" pitchFamily="34" charset="-122"/>
                <a:cs typeface="Arial Black" pitchFamily="34" charset="-120"/>
              </a:rPr>
              <a:t>The 6 Laws of the Day 6 Master of Objections</a:t>
            </a:r>
            <a:endParaRPr lang="en-US" sz="2000" dirty="0"/>
          </a:p>
        </p:txBody>
      </p:sp>
      <p:sp>
        <p:nvSpPr>
          <p:cNvPr id="4" name="Shape 2"/>
          <p:cNvSpPr/>
          <p:nvPr/>
        </p:nvSpPr>
        <p:spPr>
          <a:xfrm>
            <a:off x="274320" y="713232"/>
            <a:ext cx="8503920" cy="27432"/>
          </a:xfrm>
          <a:prstGeom prst="rect">
            <a:avLst/>
          </a:prstGeom>
          <a:solidFill>
            <a:srgbClr val="F4A61D">
              <a:alpha val="40000"/>
            </a:srgbClr>
          </a:solidFill>
          <a:ln w="12700">
            <a:solidFill>
              <a:srgbClr val="F4A61D">
                <a:alpha val="40000"/>
              </a:srgbClr>
            </a:solidFill>
            <a:prstDash val="solid"/>
          </a:ln>
        </p:spPr>
      </p:sp>
      <p:sp>
        <p:nvSpPr>
          <p:cNvPr id="5" name="Shape 3"/>
          <p:cNvSpPr/>
          <p:nvPr/>
        </p:nvSpPr>
        <p:spPr>
          <a:xfrm>
            <a:off x="274320" y="868680"/>
            <a:ext cx="8503920" cy="822960"/>
          </a:xfrm>
          <a:prstGeom prst="rect">
            <a:avLst/>
          </a:prstGeom>
          <a:solidFill>
            <a:srgbClr val="1A2840"/>
          </a:solidFill>
          <a:ln w="19050">
            <a:solidFill>
              <a:srgbClr val="F4A61D"/>
            </a:solidFill>
            <a:prstDash val="solid"/>
          </a:ln>
          <a:effectLst>
            <a:outerShdw sx="100000" sy="100000" kx="0" ky="0" algn="bl" rotWithShape="0" blurRad="101600" dist="38100" dir="8100000">
              <a:srgbClr val="000000">
                <a:alpha val="20000"/>
              </a:srgbClr>
            </a:outerShdw>
          </a:effectLst>
        </p:spPr>
      </p:sp>
      <p:sp>
        <p:nvSpPr>
          <p:cNvPr id="6" name="Text 4"/>
          <p:cNvSpPr/>
          <p:nvPr/>
        </p:nvSpPr>
        <p:spPr>
          <a:xfrm>
            <a:off x="320040" y="914400"/>
            <a:ext cx="594360" cy="731520"/>
          </a:xfrm>
          <a:prstGeom prst="rect">
            <a:avLst/>
          </a:prstGeom>
          <a:noFill/>
          <a:ln/>
        </p:spPr>
        <p:txBody>
          <a:bodyPr wrap="square" lIns="0" tIns="0" rIns="0" bIns="0" rtlCol="0" anchor="ctr"/>
          <a:lstStyle/>
          <a:p>
            <a:pPr algn="ctr" indent="0" marL="0">
              <a:buNone/>
            </a:pPr>
            <a:r>
              <a:rPr lang="en-US" sz="2400" b="1" dirty="0">
                <a:solidFill>
                  <a:srgbClr val="F4A61D"/>
                </a:solidFill>
                <a:latin typeface="Arial Black" pitchFamily="34" charset="0"/>
                <a:ea typeface="Arial Black" pitchFamily="34" charset="-122"/>
                <a:cs typeface="Arial Black" pitchFamily="34" charset="-120"/>
              </a:rPr>
              <a:t>01</a:t>
            </a:r>
            <a:endParaRPr lang="en-US" sz="2400" dirty="0"/>
          </a:p>
        </p:txBody>
      </p:sp>
      <p:sp>
        <p:nvSpPr>
          <p:cNvPr id="7" name="Shape 5"/>
          <p:cNvSpPr/>
          <p:nvPr/>
        </p:nvSpPr>
        <p:spPr>
          <a:xfrm>
            <a:off x="960120" y="960120"/>
            <a:ext cx="27432" cy="640080"/>
          </a:xfrm>
          <a:prstGeom prst="rect">
            <a:avLst/>
          </a:prstGeom>
          <a:solidFill>
            <a:srgbClr val="F4A61D"/>
          </a:solidFill>
          <a:ln w="12700">
            <a:solidFill>
              <a:srgbClr val="F4A61D"/>
            </a:solidFill>
            <a:prstDash val="solid"/>
          </a:ln>
        </p:spPr>
      </p:sp>
      <p:sp>
        <p:nvSpPr>
          <p:cNvPr id="8" name="Text 6"/>
          <p:cNvSpPr/>
          <p:nvPr/>
        </p:nvSpPr>
        <p:spPr>
          <a:xfrm>
            <a:off x="1051560" y="960120"/>
            <a:ext cx="7589520" cy="685800"/>
          </a:xfrm>
          <a:prstGeom prst="rect">
            <a:avLst/>
          </a:prstGeom>
          <a:noFill/>
          <a:ln/>
        </p:spPr>
        <p:txBody>
          <a:bodyPr wrap="square" lIns="0" tIns="0" rIns="0" bIns="0" rtlCol="0" anchor="ctr"/>
          <a:lstStyle/>
          <a:p>
            <a:pPr indent="0" marL="0">
              <a:buNone/>
            </a:pPr>
            <a:r>
              <a:rPr lang="en-US" sz="1200" b="1" dirty="0">
                <a:solidFill>
                  <a:srgbClr val="FFFFFF"/>
                </a:solidFill>
                <a:latin typeface="Arial Black" pitchFamily="34" charset="0"/>
                <a:ea typeface="Arial Black" pitchFamily="34" charset="-122"/>
                <a:cs typeface="Arial Black" pitchFamily="34" charset="-120"/>
              </a:rPr>
              <a:t>The Cushion Is Non-Negotiable
</a:t>
            </a:r>
            <a:endParaRPr lang="en-US" sz="1200" dirty="0"/>
          </a:p>
          <a:p>
            <a:pPr indent="0" marL="0">
              <a:buNone/>
            </a:pPr>
            <a:r>
              <a:rPr lang="en-US" sz="1000" dirty="0">
                <a:solidFill>
                  <a:srgbClr val="8FA3B1"/>
                </a:solidFill>
                <a:latin typeface="Calibri" pitchFamily="34" charset="0"/>
                <a:ea typeface="Calibri" pitchFamily="34" charset="-122"/>
                <a:cs typeface="Calibri" pitchFamily="34" charset="-120"/>
              </a:rPr>
              <a:t>Never skip the Acknowledge step. An objection argued with is an objection that grows. An objection cushioned is one that deflates.</a:t>
            </a:r>
            <a:endParaRPr lang="en-US" sz="1200" dirty="0"/>
          </a:p>
        </p:txBody>
      </p:sp>
      <p:sp>
        <p:nvSpPr>
          <p:cNvPr id="9" name="Shape 7"/>
          <p:cNvSpPr/>
          <p:nvPr/>
        </p:nvSpPr>
        <p:spPr>
          <a:xfrm>
            <a:off x="274320" y="1828800"/>
            <a:ext cx="8503920" cy="822960"/>
          </a:xfrm>
          <a:prstGeom prst="rect">
            <a:avLst/>
          </a:prstGeom>
          <a:solidFill>
            <a:srgbClr val="1A2840"/>
          </a:solidFill>
          <a:ln w="19050">
            <a:solidFill>
              <a:srgbClr val="0891B2"/>
            </a:solidFill>
            <a:prstDash val="solid"/>
          </a:ln>
          <a:effectLst>
            <a:outerShdw sx="100000" sy="100000" kx="0" ky="0" algn="bl" rotWithShape="0" blurRad="101600" dist="38100" dir="8100000">
              <a:srgbClr val="000000">
                <a:alpha val="20000"/>
              </a:srgbClr>
            </a:outerShdw>
          </a:effectLst>
        </p:spPr>
      </p:sp>
      <p:sp>
        <p:nvSpPr>
          <p:cNvPr id="10" name="Text 8"/>
          <p:cNvSpPr/>
          <p:nvPr/>
        </p:nvSpPr>
        <p:spPr>
          <a:xfrm>
            <a:off x="320040" y="1874520"/>
            <a:ext cx="594360" cy="731520"/>
          </a:xfrm>
          <a:prstGeom prst="rect">
            <a:avLst/>
          </a:prstGeom>
          <a:noFill/>
          <a:ln/>
        </p:spPr>
        <p:txBody>
          <a:bodyPr wrap="square" lIns="0" tIns="0" rIns="0" bIns="0" rtlCol="0" anchor="ctr"/>
          <a:lstStyle/>
          <a:p>
            <a:pPr algn="ctr" indent="0" marL="0">
              <a:buNone/>
            </a:pPr>
            <a:r>
              <a:rPr lang="en-US" sz="2400" b="1" dirty="0">
                <a:solidFill>
                  <a:srgbClr val="0891B2"/>
                </a:solidFill>
                <a:latin typeface="Arial Black" pitchFamily="34" charset="0"/>
                <a:ea typeface="Arial Black" pitchFamily="34" charset="-122"/>
                <a:cs typeface="Arial Black" pitchFamily="34" charset="-120"/>
              </a:rPr>
              <a:t>02</a:t>
            </a:r>
            <a:endParaRPr lang="en-US" sz="2400" dirty="0"/>
          </a:p>
        </p:txBody>
      </p:sp>
      <p:sp>
        <p:nvSpPr>
          <p:cNvPr id="11" name="Shape 9"/>
          <p:cNvSpPr/>
          <p:nvPr/>
        </p:nvSpPr>
        <p:spPr>
          <a:xfrm>
            <a:off x="960120" y="1920240"/>
            <a:ext cx="27432" cy="640080"/>
          </a:xfrm>
          <a:prstGeom prst="rect">
            <a:avLst/>
          </a:prstGeom>
          <a:solidFill>
            <a:srgbClr val="0891B2"/>
          </a:solidFill>
          <a:ln w="12700">
            <a:solidFill>
              <a:srgbClr val="0891B2"/>
            </a:solidFill>
            <a:prstDash val="solid"/>
          </a:ln>
        </p:spPr>
      </p:sp>
      <p:sp>
        <p:nvSpPr>
          <p:cNvPr id="12" name="Text 10"/>
          <p:cNvSpPr/>
          <p:nvPr/>
        </p:nvSpPr>
        <p:spPr>
          <a:xfrm>
            <a:off x="1051560" y="1920240"/>
            <a:ext cx="7589520" cy="685800"/>
          </a:xfrm>
          <a:prstGeom prst="rect">
            <a:avLst/>
          </a:prstGeom>
          <a:noFill/>
          <a:ln/>
        </p:spPr>
        <p:txBody>
          <a:bodyPr wrap="square" lIns="0" tIns="0" rIns="0" bIns="0" rtlCol="0" anchor="ctr"/>
          <a:lstStyle/>
          <a:p>
            <a:pPr indent="0" marL="0">
              <a:buNone/>
            </a:pPr>
            <a:r>
              <a:rPr lang="en-US" sz="1200" b="1" dirty="0">
                <a:solidFill>
                  <a:srgbClr val="FFFFFF"/>
                </a:solidFill>
                <a:latin typeface="Arial Black" pitchFamily="34" charset="0"/>
                <a:ea typeface="Arial Black" pitchFamily="34" charset="-122"/>
                <a:cs typeface="Arial Black" pitchFamily="34" charset="-120"/>
              </a:rPr>
              <a:t>Smoke Before Fire
</a:t>
            </a:r>
            <a:endParaRPr lang="en-US" sz="1200" dirty="0"/>
          </a:p>
          <a:p>
            <a:pPr indent="0" marL="0">
              <a:buNone/>
            </a:pPr>
            <a:r>
              <a:rPr lang="en-US" sz="1000" dirty="0">
                <a:solidFill>
                  <a:srgbClr val="8FA3B1"/>
                </a:solidFill>
                <a:latin typeface="Calibri" pitchFamily="34" charset="0"/>
                <a:ea typeface="Calibri" pitchFamily="34" charset="-122"/>
                <a:cs typeface="Calibri" pitchFamily="34" charset="-120"/>
              </a:rPr>
              <a:t>Never address what they say until you know why they're saying it. The Isolate move separates polite excuses from real fears every time.</a:t>
            </a:r>
            <a:endParaRPr lang="en-US" sz="1200" dirty="0"/>
          </a:p>
        </p:txBody>
      </p:sp>
      <p:sp>
        <p:nvSpPr>
          <p:cNvPr id="13" name="Shape 11"/>
          <p:cNvSpPr/>
          <p:nvPr/>
        </p:nvSpPr>
        <p:spPr>
          <a:xfrm>
            <a:off x="274320" y="2788920"/>
            <a:ext cx="8503920" cy="822960"/>
          </a:xfrm>
          <a:prstGeom prst="rect">
            <a:avLst/>
          </a:prstGeom>
          <a:solidFill>
            <a:srgbClr val="1A2840"/>
          </a:solidFill>
          <a:ln w="19050">
            <a:solidFill>
              <a:srgbClr val="F4A61D"/>
            </a:solidFill>
            <a:prstDash val="solid"/>
          </a:ln>
          <a:effectLst>
            <a:outerShdw sx="100000" sy="100000" kx="0" ky="0" algn="bl" rotWithShape="0" blurRad="101600" dist="38100" dir="8100000">
              <a:srgbClr val="000000">
                <a:alpha val="20000"/>
              </a:srgbClr>
            </a:outerShdw>
          </a:effectLst>
        </p:spPr>
      </p:sp>
      <p:sp>
        <p:nvSpPr>
          <p:cNvPr id="14" name="Text 12"/>
          <p:cNvSpPr/>
          <p:nvPr/>
        </p:nvSpPr>
        <p:spPr>
          <a:xfrm>
            <a:off x="320040" y="2834640"/>
            <a:ext cx="594360" cy="731520"/>
          </a:xfrm>
          <a:prstGeom prst="rect">
            <a:avLst/>
          </a:prstGeom>
          <a:noFill/>
          <a:ln/>
        </p:spPr>
        <p:txBody>
          <a:bodyPr wrap="square" lIns="0" tIns="0" rIns="0" bIns="0" rtlCol="0" anchor="ctr"/>
          <a:lstStyle/>
          <a:p>
            <a:pPr algn="ctr" indent="0" marL="0">
              <a:buNone/>
            </a:pPr>
            <a:r>
              <a:rPr lang="en-US" sz="2400" b="1" dirty="0">
                <a:solidFill>
                  <a:srgbClr val="F4A61D"/>
                </a:solidFill>
                <a:latin typeface="Arial Black" pitchFamily="34" charset="0"/>
                <a:ea typeface="Arial Black" pitchFamily="34" charset="-122"/>
                <a:cs typeface="Arial Black" pitchFamily="34" charset="-120"/>
              </a:rPr>
              <a:t>03</a:t>
            </a:r>
            <a:endParaRPr lang="en-US" sz="2400" dirty="0"/>
          </a:p>
        </p:txBody>
      </p:sp>
      <p:sp>
        <p:nvSpPr>
          <p:cNvPr id="15" name="Shape 13"/>
          <p:cNvSpPr/>
          <p:nvPr/>
        </p:nvSpPr>
        <p:spPr>
          <a:xfrm>
            <a:off x="960120" y="2880360"/>
            <a:ext cx="27432" cy="640080"/>
          </a:xfrm>
          <a:prstGeom prst="rect">
            <a:avLst/>
          </a:prstGeom>
          <a:solidFill>
            <a:srgbClr val="F4A61D"/>
          </a:solidFill>
          <a:ln w="12700">
            <a:solidFill>
              <a:srgbClr val="F4A61D"/>
            </a:solidFill>
            <a:prstDash val="solid"/>
          </a:ln>
        </p:spPr>
      </p:sp>
      <p:sp>
        <p:nvSpPr>
          <p:cNvPr id="16" name="Text 14"/>
          <p:cNvSpPr/>
          <p:nvPr/>
        </p:nvSpPr>
        <p:spPr>
          <a:xfrm>
            <a:off x="1051560" y="2880360"/>
            <a:ext cx="7589520" cy="685800"/>
          </a:xfrm>
          <a:prstGeom prst="rect">
            <a:avLst/>
          </a:prstGeom>
          <a:noFill/>
          <a:ln/>
        </p:spPr>
        <p:txBody>
          <a:bodyPr wrap="square" lIns="0" tIns="0" rIns="0" bIns="0" rtlCol="0" anchor="ctr"/>
          <a:lstStyle/>
          <a:p>
            <a:pPr indent="0" marL="0">
              <a:buNone/>
            </a:pPr>
            <a:r>
              <a:rPr lang="en-US" sz="1200" b="1" dirty="0">
                <a:solidFill>
                  <a:srgbClr val="FFFFFF"/>
                </a:solidFill>
                <a:latin typeface="Arial Black" pitchFamily="34" charset="0"/>
                <a:ea typeface="Arial Black" pitchFamily="34" charset="-122"/>
                <a:cs typeface="Arial Black" pitchFamily="34" charset="-120"/>
              </a:rPr>
              <a:t>Agreement Disarms, Defense Escalates
</a:t>
            </a:r>
            <a:endParaRPr lang="en-US" sz="1200" dirty="0"/>
          </a:p>
          <a:p>
            <a:pPr indent="0" marL="0">
              <a:buNone/>
            </a:pPr>
            <a:r>
              <a:rPr lang="en-US" sz="1000" dirty="0">
                <a:solidFill>
                  <a:srgbClr val="8FA3B1"/>
                </a:solidFill>
                <a:latin typeface="Calibri" pitchFamily="34" charset="0"/>
                <a:ea typeface="Calibri" pitchFamily="34" charset="-122"/>
                <a:cs typeface="Calibri" pitchFamily="34" charset="-120"/>
              </a:rPr>
              <a:t>Join the resistance before redirecting it. A rep who agrees with skepticism removes the homeowner's reason to fight.</a:t>
            </a:r>
            <a:endParaRPr lang="en-US" sz="1200" dirty="0"/>
          </a:p>
        </p:txBody>
      </p:sp>
      <p:sp>
        <p:nvSpPr>
          <p:cNvPr id="17" name="Shape 15"/>
          <p:cNvSpPr/>
          <p:nvPr/>
        </p:nvSpPr>
        <p:spPr>
          <a:xfrm>
            <a:off x="274320" y="3749040"/>
            <a:ext cx="8503920" cy="822960"/>
          </a:xfrm>
          <a:prstGeom prst="rect">
            <a:avLst/>
          </a:prstGeom>
          <a:solidFill>
            <a:srgbClr val="1A2840"/>
          </a:solidFill>
          <a:ln w="19050">
            <a:solidFill>
              <a:srgbClr val="0891B2"/>
            </a:solidFill>
            <a:prstDash val="solid"/>
          </a:ln>
          <a:effectLst>
            <a:outerShdw sx="100000" sy="100000" kx="0" ky="0" algn="bl" rotWithShape="0" blurRad="101600" dist="38100" dir="8100000">
              <a:srgbClr val="000000">
                <a:alpha val="20000"/>
              </a:srgbClr>
            </a:outerShdw>
          </a:effectLst>
        </p:spPr>
      </p:sp>
      <p:sp>
        <p:nvSpPr>
          <p:cNvPr id="18" name="Text 16"/>
          <p:cNvSpPr/>
          <p:nvPr/>
        </p:nvSpPr>
        <p:spPr>
          <a:xfrm>
            <a:off x="320040" y="3794760"/>
            <a:ext cx="594360" cy="731520"/>
          </a:xfrm>
          <a:prstGeom prst="rect">
            <a:avLst/>
          </a:prstGeom>
          <a:noFill/>
          <a:ln/>
        </p:spPr>
        <p:txBody>
          <a:bodyPr wrap="square" lIns="0" tIns="0" rIns="0" bIns="0" rtlCol="0" anchor="ctr"/>
          <a:lstStyle/>
          <a:p>
            <a:pPr algn="ctr" indent="0" marL="0">
              <a:buNone/>
            </a:pPr>
            <a:r>
              <a:rPr lang="en-US" sz="2400" b="1" dirty="0">
                <a:solidFill>
                  <a:srgbClr val="0891B2"/>
                </a:solidFill>
                <a:latin typeface="Arial Black" pitchFamily="34" charset="0"/>
                <a:ea typeface="Arial Black" pitchFamily="34" charset="-122"/>
                <a:cs typeface="Arial Black" pitchFamily="34" charset="-120"/>
              </a:rPr>
              <a:t>04</a:t>
            </a:r>
            <a:endParaRPr lang="en-US" sz="2400" dirty="0"/>
          </a:p>
        </p:txBody>
      </p:sp>
      <p:sp>
        <p:nvSpPr>
          <p:cNvPr id="19" name="Shape 17"/>
          <p:cNvSpPr/>
          <p:nvPr/>
        </p:nvSpPr>
        <p:spPr>
          <a:xfrm>
            <a:off x="960120" y="3840480"/>
            <a:ext cx="27432" cy="640080"/>
          </a:xfrm>
          <a:prstGeom prst="rect">
            <a:avLst/>
          </a:prstGeom>
          <a:solidFill>
            <a:srgbClr val="0891B2"/>
          </a:solidFill>
          <a:ln w="12700">
            <a:solidFill>
              <a:srgbClr val="0891B2"/>
            </a:solidFill>
            <a:prstDash val="solid"/>
          </a:ln>
        </p:spPr>
      </p:sp>
      <p:sp>
        <p:nvSpPr>
          <p:cNvPr id="20" name="Text 18"/>
          <p:cNvSpPr/>
          <p:nvPr/>
        </p:nvSpPr>
        <p:spPr>
          <a:xfrm>
            <a:off x="1051560" y="3840480"/>
            <a:ext cx="7589520" cy="685800"/>
          </a:xfrm>
          <a:prstGeom prst="rect">
            <a:avLst/>
          </a:prstGeom>
          <a:noFill/>
          <a:ln/>
        </p:spPr>
        <p:txBody>
          <a:bodyPr wrap="square" lIns="0" tIns="0" rIns="0" bIns="0" rtlCol="0" anchor="ctr"/>
          <a:lstStyle/>
          <a:p>
            <a:pPr indent="0" marL="0">
              <a:buNone/>
            </a:pPr>
            <a:r>
              <a:rPr lang="en-US" sz="1200" b="1" dirty="0">
                <a:solidFill>
                  <a:srgbClr val="FFFFFF"/>
                </a:solidFill>
                <a:latin typeface="Arial Black" pitchFamily="34" charset="0"/>
                <a:ea typeface="Arial Black" pitchFamily="34" charset="-122"/>
                <a:cs typeface="Arial Black" pitchFamily="34" charset="-120"/>
              </a:rPr>
              <a:t>Calm Is a Weapon
</a:t>
            </a:r>
            <a:endParaRPr lang="en-US" sz="1200" dirty="0"/>
          </a:p>
          <a:p>
            <a:pPr indent="0" marL="0">
              <a:buNone/>
            </a:pPr>
            <a:r>
              <a:rPr lang="en-US" sz="1000" dirty="0">
                <a:solidFill>
                  <a:srgbClr val="8FA3B1"/>
                </a:solidFill>
                <a:latin typeface="Calibri" pitchFamily="34" charset="0"/>
                <a:ea typeface="Calibri" pitchFamily="34" charset="-122"/>
                <a:cs typeface="Calibri" pitchFamily="34" charset="-120"/>
              </a:rPr>
              <a:t>Your voice under pressure is the most powerful persuasion tool you own. The Late Night DJ voice closes deals that logic cannot.</a:t>
            </a:r>
            <a:endParaRPr lang="en-US" sz="1200" dirty="0"/>
          </a:p>
        </p:txBody>
      </p:sp>
      <p:sp>
        <p:nvSpPr>
          <p:cNvPr id="21" name="Shape 19"/>
          <p:cNvSpPr/>
          <p:nvPr/>
        </p:nvSpPr>
        <p:spPr>
          <a:xfrm>
            <a:off x="274320" y="4709160"/>
            <a:ext cx="8503920" cy="822960"/>
          </a:xfrm>
          <a:prstGeom prst="rect">
            <a:avLst/>
          </a:prstGeom>
          <a:solidFill>
            <a:srgbClr val="1A2840"/>
          </a:solidFill>
          <a:ln w="19050">
            <a:solidFill>
              <a:srgbClr val="F4A61D"/>
            </a:solidFill>
            <a:prstDash val="solid"/>
          </a:ln>
          <a:effectLst>
            <a:outerShdw sx="100000" sy="100000" kx="0" ky="0" algn="bl" rotWithShape="0" blurRad="101600" dist="38100" dir="8100000">
              <a:srgbClr val="000000">
                <a:alpha val="20000"/>
              </a:srgbClr>
            </a:outerShdw>
          </a:effectLst>
        </p:spPr>
      </p:sp>
      <p:sp>
        <p:nvSpPr>
          <p:cNvPr id="22" name="Text 20"/>
          <p:cNvSpPr/>
          <p:nvPr/>
        </p:nvSpPr>
        <p:spPr>
          <a:xfrm>
            <a:off x="320040" y="4754880"/>
            <a:ext cx="594360" cy="731520"/>
          </a:xfrm>
          <a:prstGeom prst="rect">
            <a:avLst/>
          </a:prstGeom>
          <a:noFill/>
          <a:ln/>
        </p:spPr>
        <p:txBody>
          <a:bodyPr wrap="square" lIns="0" tIns="0" rIns="0" bIns="0" rtlCol="0" anchor="ctr"/>
          <a:lstStyle/>
          <a:p>
            <a:pPr algn="ctr" indent="0" marL="0">
              <a:buNone/>
            </a:pPr>
            <a:r>
              <a:rPr lang="en-US" sz="2400" b="1" dirty="0">
                <a:solidFill>
                  <a:srgbClr val="F4A61D"/>
                </a:solidFill>
                <a:latin typeface="Arial Black" pitchFamily="34" charset="0"/>
                <a:ea typeface="Arial Black" pitchFamily="34" charset="-122"/>
                <a:cs typeface="Arial Black" pitchFamily="34" charset="-120"/>
              </a:rPr>
              <a:t>05</a:t>
            </a:r>
            <a:endParaRPr lang="en-US" sz="2400" dirty="0"/>
          </a:p>
        </p:txBody>
      </p:sp>
      <p:sp>
        <p:nvSpPr>
          <p:cNvPr id="23" name="Shape 21"/>
          <p:cNvSpPr/>
          <p:nvPr/>
        </p:nvSpPr>
        <p:spPr>
          <a:xfrm>
            <a:off x="960120" y="4800600"/>
            <a:ext cx="27432" cy="640080"/>
          </a:xfrm>
          <a:prstGeom prst="rect">
            <a:avLst/>
          </a:prstGeom>
          <a:solidFill>
            <a:srgbClr val="F4A61D"/>
          </a:solidFill>
          <a:ln w="12700">
            <a:solidFill>
              <a:srgbClr val="F4A61D"/>
            </a:solidFill>
            <a:prstDash val="solid"/>
          </a:ln>
        </p:spPr>
      </p:sp>
      <p:sp>
        <p:nvSpPr>
          <p:cNvPr id="24" name="Text 22"/>
          <p:cNvSpPr/>
          <p:nvPr/>
        </p:nvSpPr>
        <p:spPr>
          <a:xfrm>
            <a:off x="1051560" y="4800600"/>
            <a:ext cx="7589520" cy="685800"/>
          </a:xfrm>
          <a:prstGeom prst="rect">
            <a:avLst/>
          </a:prstGeom>
          <a:noFill/>
          <a:ln/>
        </p:spPr>
        <p:txBody>
          <a:bodyPr wrap="square" lIns="0" tIns="0" rIns="0" bIns="0" rtlCol="0" anchor="ctr"/>
          <a:lstStyle/>
          <a:p>
            <a:pPr indent="0" marL="0">
              <a:buNone/>
            </a:pPr>
            <a:r>
              <a:rPr lang="en-US" sz="1200" b="1" dirty="0">
                <a:solidFill>
                  <a:srgbClr val="FFFFFF"/>
                </a:solidFill>
                <a:latin typeface="Arial Black" pitchFamily="34" charset="0"/>
                <a:ea typeface="Arial Black" pitchFamily="34" charset="-122"/>
                <a:cs typeface="Arial Black" pitchFamily="34" charset="-120"/>
              </a:rPr>
              <a:t>Name the Wall
</a:t>
            </a:r>
            <a:endParaRPr lang="en-US" sz="1200" dirty="0"/>
          </a:p>
          <a:p>
            <a:pPr indent="0" marL="0">
              <a:buNone/>
            </a:pPr>
            <a:r>
              <a:rPr lang="en-US" sz="1000" dirty="0">
                <a:solidFill>
                  <a:srgbClr val="8FA3B1"/>
                </a:solidFill>
                <a:latin typeface="Calibri" pitchFamily="34" charset="0"/>
                <a:ea typeface="Calibri" pitchFamily="34" charset="-122"/>
                <a:cs typeface="Calibri" pitchFamily="34" charset="-120"/>
              </a:rPr>
              <a:t>When a deal stalls, call it out. The rep with the courage to say 'It feels like we've hit a wall' is the one who finds the door through it.</a:t>
            </a:r>
            <a:endParaRPr lang="en-US" sz="1200" dirty="0"/>
          </a:p>
        </p:txBody>
      </p:sp>
      <p:sp>
        <p:nvSpPr>
          <p:cNvPr id="25" name="Shape 23"/>
          <p:cNvSpPr/>
          <p:nvPr/>
        </p:nvSpPr>
        <p:spPr>
          <a:xfrm>
            <a:off x="274320" y="5669280"/>
            <a:ext cx="8503920" cy="822960"/>
          </a:xfrm>
          <a:prstGeom prst="rect">
            <a:avLst/>
          </a:prstGeom>
          <a:solidFill>
            <a:srgbClr val="1A2840"/>
          </a:solidFill>
          <a:ln w="19050">
            <a:solidFill>
              <a:srgbClr val="0891B2"/>
            </a:solidFill>
            <a:prstDash val="solid"/>
          </a:ln>
          <a:effectLst>
            <a:outerShdw sx="100000" sy="100000" kx="0" ky="0" algn="bl" rotWithShape="0" blurRad="101600" dist="38100" dir="8100000">
              <a:srgbClr val="000000">
                <a:alpha val="20000"/>
              </a:srgbClr>
            </a:outerShdw>
          </a:effectLst>
        </p:spPr>
      </p:sp>
      <p:sp>
        <p:nvSpPr>
          <p:cNvPr id="26" name="Text 24"/>
          <p:cNvSpPr/>
          <p:nvPr/>
        </p:nvSpPr>
        <p:spPr>
          <a:xfrm>
            <a:off x="320040" y="5715000"/>
            <a:ext cx="594360" cy="731520"/>
          </a:xfrm>
          <a:prstGeom prst="rect">
            <a:avLst/>
          </a:prstGeom>
          <a:noFill/>
          <a:ln/>
        </p:spPr>
        <p:txBody>
          <a:bodyPr wrap="square" lIns="0" tIns="0" rIns="0" bIns="0" rtlCol="0" anchor="ctr"/>
          <a:lstStyle/>
          <a:p>
            <a:pPr algn="ctr" indent="0" marL="0">
              <a:buNone/>
            </a:pPr>
            <a:r>
              <a:rPr lang="en-US" sz="2400" b="1" dirty="0">
                <a:solidFill>
                  <a:srgbClr val="0891B2"/>
                </a:solidFill>
                <a:latin typeface="Arial Black" pitchFamily="34" charset="0"/>
                <a:ea typeface="Arial Black" pitchFamily="34" charset="-122"/>
                <a:cs typeface="Arial Black" pitchFamily="34" charset="-120"/>
              </a:rPr>
              <a:t>06</a:t>
            </a:r>
            <a:endParaRPr lang="en-US" sz="2400" dirty="0"/>
          </a:p>
        </p:txBody>
      </p:sp>
      <p:sp>
        <p:nvSpPr>
          <p:cNvPr id="27" name="Shape 25"/>
          <p:cNvSpPr/>
          <p:nvPr/>
        </p:nvSpPr>
        <p:spPr>
          <a:xfrm>
            <a:off x="960120" y="5760720"/>
            <a:ext cx="27432" cy="640080"/>
          </a:xfrm>
          <a:prstGeom prst="rect">
            <a:avLst/>
          </a:prstGeom>
          <a:solidFill>
            <a:srgbClr val="0891B2"/>
          </a:solidFill>
          <a:ln w="12700">
            <a:solidFill>
              <a:srgbClr val="0891B2"/>
            </a:solidFill>
            <a:prstDash val="solid"/>
          </a:ln>
        </p:spPr>
      </p:sp>
      <p:sp>
        <p:nvSpPr>
          <p:cNvPr id="28" name="Text 26"/>
          <p:cNvSpPr/>
          <p:nvPr/>
        </p:nvSpPr>
        <p:spPr>
          <a:xfrm>
            <a:off x="1051560" y="5760720"/>
            <a:ext cx="7589520" cy="685800"/>
          </a:xfrm>
          <a:prstGeom prst="rect">
            <a:avLst/>
          </a:prstGeom>
          <a:noFill/>
          <a:ln/>
        </p:spPr>
        <p:txBody>
          <a:bodyPr wrap="square" lIns="0" tIns="0" rIns="0" bIns="0" rtlCol="0" anchor="ctr"/>
          <a:lstStyle/>
          <a:p>
            <a:pPr indent="0" marL="0">
              <a:buNone/>
            </a:pPr>
            <a:r>
              <a:rPr lang="en-US" sz="1200" b="1" dirty="0">
                <a:solidFill>
                  <a:srgbClr val="FFFFFF"/>
                </a:solidFill>
                <a:latin typeface="Arial Black" pitchFamily="34" charset="0"/>
                <a:ea typeface="Arial Black" pitchFamily="34" charset="-122"/>
                <a:cs typeface="Arial Black" pitchFamily="34" charset="-120"/>
              </a:rPr>
              <a:t>Every Objection Is Information
</a:t>
            </a:r>
            <a:endParaRPr lang="en-US" sz="1200" dirty="0"/>
          </a:p>
          <a:p>
            <a:pPr indent="0" marL="0">
              <a:buNone/>
            </a:pPr>
            <a:r>
              <a:rPr lang="en-US" sz="1000" dirty="0">
                <a:solidFill>
                  <a:srgbClr val="8FA3B1"/>
                </a:solidFill>
                <a:latin typeface="Calibri" pitchFamily="34" charset="0"/>
                <a:ea typeface="Calibri" pitchFamily="34" charset="-122"/>
                <a:cs typeface="Calibri" pitchFamily="34" charset="-120"/>
              </a:rPr>
              <a:t>The homeowner who objects is telling you exactly what they need to feel safe. Treat every objection as a gift — it's a roadmap to the close.</a:t>
            </a:r>
            <a:endParaRPr lang="en-US" sz="1200" dirty="0"/>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name="Slide 70">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F4A61D"/>
          </a:solidFill>
          <a:ln w="12700">
            <a:solidFill>
              <a:srgbClr val="F4A61D"/>
            </a:solidFill>
            <a:prstDash val="solid"/>
          </a:ln>
        </p:spPr>
      </p:sp>
      <p:sp>
        <p:nvSpPr>
          <p:cNvPr id="3" name="Text 1"/>
          <p:cNvSpPr/>
          <p:nvPr/>
        </p:nvSpPr>
        <p:spPr>
          <a:xfrm>
            <a:off x="274320" y="164592"/>
            <a:ext cx="8503920" cy="594360"/>
          </a:xfrm>
          <a:prstGeom prst="rect">
            <a:avLst/>
          </a:prstGeom>
          <a:noFill/>
          <a:ln/>
        </p:spPr>
        <p:txBody>
          <a:bodyPr wrap="square" lIns="0" tIns="0" rIns="0" bIns="0" rtlCol="0" anchor="ctr"/>
          <a:lstStyle/>
          <a:p>
            <a:pPr algn="l" indent="0" marL="0">
              <a:buNone/>
            </a:pPr>
            <a:r>
              <a:rPr lang="en-US" sz="2000" b="1" dirty="0">
                <a:solidFill>
                  <a:srgbClr val="F4A61D"/>
                </a:solidFill>
                <a:latin typeface="Arial Black" pitchFamily="34" charset="0"/>
                <a:ea typeface="Arial Black" pitchFamily="34" charset="-122"/>
                <a:cs typeface="Arial Black" pitchFamily="34" charset="-120"/>
              </a:rPr>
              <a:t>Day 6 Self-Assessment: Before You Go to Day 7</a:t>
            </a:r>
            <a:endParaRPr lang="en-US" sz="2000" dirty="0"/>
          </a:p>
        </p:txBody>
      </p:sp>
      <p:sp>
        <p:nvSpPr>
          <p:cNvPr id="4" name="Shape 2"/>
          <p:cNvSpPr/>
          <p:nvPr/>
        </p:nvSpPr>
        <p:spPr>
          <a:xfrm>
            <a:off x="274320" y="777240"/>
            <a:ext cx="8503920" cy="27432"/>
          </a:xfrm>
          <a:prstGeom prst="rect">
            <a:avLst/>
          </a:prstGeom>
          <a:solidFill>
            <a:srgbClr val="F4A61D">
              <a:alpha val="40000"/>
            </a:srgbClr>
          </a:solidFill>
          <a:ln w="12700">
            <a:solidFill>
              <a:srgbClr val="F4A61D">
                <a:alpha val="40000"/>
              </a:srgbClr>
            </a:solidFill>
            <a:prstDash val="solid"/>
          </a:ln>
        </p:spPr>
      </p:sp>
      <p:sp>
        <p:nvSpPr>
          <p:cNvPr id="5" name="Text 3"/>
          <p:cNvSpPr/>
          <p:nvPr/>
        </p:nvSpPr>
        <p:spPr>
          <a:xfrm>
            <a:off x="274320" y="914400"/>
            <a:ext cx="8503920" cy="2267712"/>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rgbClr val="FFFFFF"/>
                </a:solidFill>
                <a:latin typeface="Calibri" pitchFamily="34" charset="0"/>
                <a:ea typeface="Calibri" pitchFamily="34" charset="-122"/>
                <a:cs typeface="Calibri" pitchFamily="34" charset="-120"/>
              </a:rPr>
              <a:t>Can I deliver the ACAC framework for any objection without notes — and without skipping the Cushion?</a:t>
            </a:r>
            <a:endParaRPr lang="en-US" sz="1300" dirty="0"/>
          </a:p>
          <a:p>
            <a:pPr marL="342900" indent="-342900">
              <a:spcAft>
                <a:spcPts val="600"/>
              </a:spcAft>
              <a:buSzPct val="100000"/>
              <a:buChar char="•"/>
            </a:pPr>
            <a:r>
              <a:rPr lang="en-US" sz="1300" dirty="0">
                <a:solidFill>
                  <a:srgbClr val="FFFFFF"/>
                </a:solidFill>
                <a:latin typeface="Calibri" pitchFamily="34" charset="0"/>
                <a:ea typeface="Calibri" pitchFamily="34" charset="-122"/>
                <a:cs typeface="Calibri" pitchFamily="34" charset="-120"/>
              </a:rPr>
              <a:t>Can I identify a Smoke Screen within 60 seconds and isolate the real fear using the Magic Wand?</a:t>
            </a:r>
            <a:endParaRPr lang="en-US" sz="1300" dirty="0"/>
          </a:p>
          <a:p>
            <a:pPr marL="342900" indent="-342900">
              <a:spcAft>
                <a:spcPts val="600"/>
              </a:spcAft>
              <a:buSzPct val="100000"/>
              <a:buChar char="•"/>
            </a:pPr>
            <a:r>
              <a:rPr lang="en-US" sz="1300" dirty="0">
                <a:solidFill>
                  <a:srgbClr val="FFFFFF"/>
                </a:solidFill>
                <a:latin typeface="Calibri" pitchFamily="34" charset="0"/>
                <a:ea typeface="Calibri" pitchFamily="34" charset="-122"/>
                <a:cs typeface="Calibri" pitchFamily="34" charset="-120"/>
              </a:rPr>
              <a:t>Can I maintain the Late Night DJ voice when someone tells me solar is a scam — calmly, and without becoming defensive?</a:t>
            </a:r>
            <a:endParaRPr lang="en-US" sz="1300" dirty="0"/>
          </a:p>
          <a:p>
            <a:pPr marL="342900" indent="-342900">
              <a:spcAft>
                <a:spcPts val="600"/>
              </a:spcAft>
              <a:buSzPct val="100000"/>
              <a:buChar char="•"/>
            </a:pPr>
            <a:r>
              <a:rPr lang="en-US" sz="1300" dirty="0">
                <a:solidFill>
                  <a:srgbClr val="FFFFFF"/>
                </a:solidFill>
                <a:latin typeface="Calibri" pitchFamily="34" charset="0"/>
                <a:ea typeface="Calibri" pitchFamily="34" charset="-122"/>
                <a:cs typeface="Calibri" pitchFamily="34" charset="-120"/>
              </a:rPr>
              <a:t>Can I deploy the Deal Rescue toolkit (Elephant, Take-Away, Revisit) when a consultation goes sideways?</a:t>
            </a:r>
            <a:endParaRPr lang="en-US" sz="1300" dirty="0"/>
          </a:p>
          <a:p>
            <a:pPr marL="342900" indent="-342900">
              <a:spcAft>
                <a:spcPts val="600"/>
              </a:spcAft>
              <a:buSzPct val="100000"/>
              <a:buChar char="•"/>
            </a:pPr>
            <a:r>
              <a:rPr lang="en-US" sz="1300" dirty="0">
                <a:solidFill>
                  <a:srgbClr val="FFFFFF"/>
                </a:solidFill>
                <a:latin typeface="Calibri" pitchFamily="34" charset="0"/>
                <a:ea typeface="Calibri" pitchFamily="34" charset="-122"/>
                <a:cs typeface="Calibri" pitchFamily="34" charset="-120"/>
              </a:rPr>
              <a:t>Did I score 22/30 or above on the Gauntlet Scorecard?</a:t>
            </a:r>
            <a:endParaRPr lang="en-US" sz="1300" dirty="0"/>
          </a:p>
          <a:p>
            <a:pPr marL="342900" indent="-342900">
              <a:spcAft>
                <a:spcPts val="600"/>
              </a:spcAft>
              <a:buSzPct val="100000"/>
              <a:buChar char="•"/>
            </a:pPr>
            <a:r>
              <a:rPr lang="en-US" sz="1300" dirty="0">
                <a:solidFill>
                  <a:srgbClr val="FFFFFF"/>
                </a:solidFill>
                <a:latin typeface="Calibri" pitchFamily="34" charset="0"/>
                <a:ea typeface="Calibri" pitchFamily="34" charset="-122"/>
                <a:cs typeface="Calibri" pitchFamily="34" charset="-120"/>
              </a:rPr>
              <a:t>Can I debunk 5 media myths from memory with data and a financial bridge?</a:t>
            </a:r>
            <a:endParaRPr lang="en-US" sz="1300" dirty="0"/>
          </a:p>
        </p:txBody>
      </p:sp>
      <p:sp>
        <p:nvSpPr>
          <p:cNvPr id="6" name="Shape 4"/>
          <p:cNvSpPr/>
          <p:nvPr/>
        </p:nvSpPr>
        <p:spPr>
          <a:xfrm>
            <a:off x="0" y="4663440"/>
            <a:ext cx="9144000" cy="480060"/>
          </a:xfrm>
          <a:prstGeom prst="rect">
            <a:avLst/>
          </a:prstGeom>
          <a:solidFill>
            <a:srgbClr val="E07B39">
              <a:alpha val="15000"/>
            </a:srgbClr>
          </a:solidFill>
          <a:ln w="12700">
            <a:solidFill>
              <a:srgbClr val="E07B39">
                <a:alpha val="15000"/>
              </a:srgbClr>
            </a:solidFill>
            <a:prstDash val="solid"/>
          </a:ln>
        </p:spPr>
      </p:sp>
      <p:sp>
        <p:nvSpPr>
          <p:cNvPr id="7" name="Text 5"/>
          <p:cNvSpPr/>
          <p:nvPr/>
        </p:nvSpPr>
        <p:spPr>
          <a:xfrm>
            <a:off x="274320" y="4690872"/>
            <a:ext cx="8686800" cy="384048"/>
          </a:xfrm>
          <a:prstGeom prst="rect">
            <a:avLst/>
          </a:prstGeom>
          <a:noFill/>
          <a:ln/>
        </p:spPr>
        <p:txBody>
          <a:bodyPr wrap="square" lIns="0" tIns="0" rIns="0" bIns="0" rtlCol="0" anchor="ctr"/>
          <a:lstStyle/>
          <a:p>
            <a:pPr algn="l" indent="0" marL="0">
              <a:buNone/>
            </a:pPr>
            <a:r>
              <a:rPr lang="en-US" sz="900" i="1" dirty="0">
                <a:solidFill>
                  <a:srgbClr val="E07B39"/>
                </a:solidFill>
                <a:latin typeface="Calibri" pitchFamily="34" charset="0"/>
                <a:ea typeface="Calibri" pitchFamily="34" charset="-122"/>
                <a:cs typeface="Calibri" pitchFamily="34" charset="-120"/>
              </a:rPr>
              <a:t>📋 TRAINER NOTE: Day 7 is the final day: referral generation, pipeline management, personal brand, and the rep's long-term identity as a solar professional. Day 6 reps who haven't mastered composure will struggle on Day 7's live field scenarios.</a:t>
            </a:r>
            <a:endParaRPr lang="en-US" sz="900" dirty="0"/>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name="Slide 71">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9144000" cy="1417320"/>
          </a:xfrm>
          <a:prstGeom prst="rect">
            <a:avLst/>
          </a:prstGeom>
          <a:solidFill>
            <a:srgbClr val="1A2840"/>
          </a:solidFill>
          <a:ln w="12700">
            <a:solidFill>
              <a:srgbClr val="1A2840"/>
            </a:solidFill>
            <a:prstDash val="solid"/>
          </a:ln>
        </p:spPr>
      </p:sp>
      <p:sp>
        <p:nvSpPr>
          <p:cNvPr id="3" name="Shape 1"/>
          <p:cNvSpPr/>
          <p:nvPr/>
        </p:nvSpPr>
        <p:spPr>
          <a:xfrm>
            <a:off x="0" y="0"/>
            <a:ext cx="320040" cy="1417320"/>
          </a:xfrm>
          <a:prstGeom prst="rect">
            <a:avLst/>
          </a:prstGeom>
          <a:solidFill>
            <a:srgbClr val="F4A61D"/>
          </a:solidFill>
          <a:ln w="12700">
            <a:solidFill>
              <a:srgbClr val="F4A61D"/>
            </a:solidFill>
            <a:prstDash val="solid"/>
          </a:ln>
        </p:spPr>
      </p:sp>
      <p:sp>
        <p:nvSpPr>
          <p:cNvPr id="4" name="Text 2"/>
          <p:cNvSpPr/>
          <p:nvPr/>
        </p:nvSpPr>
        <p:spPr>
          <a:xfrm>
            <a:off x="502920" y="164592"/>
            <a:ext cx="8229600" cy="384048"/>
          </a:xfrm>
          <a:prstGeom prst="rect">
            <a:avLst/>
          </a:prstGeom>
          <a:noFill/>
          <a:ln/>
        </p:spPr>
        <p:txBody>
          <a:bodyPr wrap="square" lIns="0" tIns="0" rIns="0" bIns="0" rtlCol="0" anchor="ctr"/>
          <a:lstStyle/>
          <a:p>
            <a:pPr algn="l" indent="0" marL="0">
              <a:buNone/>
            </a:pPr>
            <a:r>
              <a:rPr lang="en-US" sz="1200" b="1" spc="400" kern="0" dirty="0">
                <a:solidFill>
                  <a:srgbClr val="F4A61D"/>
                </a:solidFill>
                <a:latin typeface="Arial Black" pitchFamily="34" charset="0"/>
                <a:ea typeface="Arial Black" pitchFamily="34" charset="-122"/>
                <a:cs typeface="Arial Black" pitchFamily="34" charset="-120"/>
              </a:rPr>
              <a:t>COMING UP: DAY 7</a:t>
            </a:r>
            <a:endParaRPr lang="en-US" sz="1200" dirty="0"/>
          </a:p>
        </p:txBody>
      </p:sp>
      <p:sp>
        <p:nvSpPr>
          <p:cNvPr id="5" name="Text 3"/>
          <p:cNvSpPr/>
          <p:nvPr/>
        </p:nvSpPr>
        <p:spPr>
          <a:xfrm>
            <a:off x="502920" y="603504"/>
            <a:ext cx="8229600" cy="676656"/>
          </a:xfrm>
          <a:prstGeom prst="rect">
            <a:avLst/>
          </a:prstGeom>
          <a:noFill/>
          <a:ln/>
        </p:spPr>
        <p:txBody>
          <a:bodyPr wrap="square" lIns="0" tIns="0" rIns="0" bIns="0" rtlCol="0" anchor="ctr"/>
          <a:lstStyle/>
          <a:p>
            <a:pPr algn="l" indent="0" marL="0">
              <a:buNone/>
            </a:pPr>
            <a:r>
              <a:rPr lang="en-US" sz="2100" b="1" dirty="0">
                <a:solidFill>
                  <a:srgbClr val="FFFFFF"/>
                </a:solidFill>
                <a:latin typeface="Arial Black" pitchFamily="34" charset="0"/>
                <a:ea typeface="Arial Black" pitchFamily="34" charset="-122"/>
                <a:cs typeface="Arial Black" pitchFamily="34" charset="-120"/>
              </a:rPr>
              <a:t>Long-Term Excellence &amp; The Solar Professional</a:t>
            </a:r>
            <a:endParaRPr lang="en-US" sz="2100" dirty="0"/>
          </a:p>
        </p:txBody>
      </p:sp>
      <p:sp>
        <p:nvSpPr>
          <p:cNvPr id="6" name="Shape 4"/>
          <p:cNvSpPr/>
          <p:nvPr/>
        </p:nvSpPr>
        <p:spPr>
          <a:xfrm>
            <a:off x="274320" y="1600200"/>
            <a:ext cx="4023360" cy="1444752"/>
          </a:xfrm>
          <a:prstGeom prst="rect">
            <a:avLst/>
          </a:prstGeom>
          <a:solidFill>
            <a:srgbClr val="1A2840"/>
          </a:solidFill>
          <a:ln w="12700">
            <a:solidFill>
              <a:srgbClr val="F4A61D"/>
            </a:solidFill>
            <a:prstDash val="solid"/>
          </a:ln>
          <a:effectLst>
            <a:outerShdw sx="100000" sy="100000" kx="0" ky="0" algn="bl" rotWithShape="0" blurRad="101600" dist="38100" dir="8100000">
              <a:srgbClr val="000000">
                <a:alpha val="20000"/>
              </a:srgbClr>
            </a:outerShdw>
          </a:effectLst>
        </p:spPr>
      </p:sp>
      <p:sp>
        <p:nvSpPr>
          <p:cNvPr id="7" name="Text 5"/>
          <p:cNvSpPr/>
          <p:nvPr/>
        </p:nvSpPr>
        <p:spPr>
          <a:xfrm>
            <a:off x="411480" y="1728216"/>
            <a:ext cx="3749040" cy="384048"/>
          </a:xfrm>
          <a:prstGeom prst="rect">
            <a:avLst/>
          </a:prstGeom>
          <a:noFill/>
          <a:ln/>
        </p:spPr>
        <p:txBody>
          <a:bodyPr wrap="square" lIns="0" tIns="0" rIns="0" bIns="0" rtlCol="0" anchor="ctr"/>
          <a:lstStyle/>
          <a:p>
            <a:pPr algn="l" indent="0" marL="0">
              <a:buNone/>
            </a:pPr>
            <a:r>
              <a:rPr lang="en-US" sz="1300" b="1" dirty="0">
                <a:solidFill>
                  <a:srgbClr val="F4A61D"/>
                </a:solidFill>
                <a:latin typeface="Arial Black" pitchFamily="34" charset="0"/>
                <a:ea typeface="Arial Black" pitchFamily="34" charset="-122"/>
                <a:cs typeface="Arial Black" pitchFamily="34" charset="-120"/>
              </a:rPr>
              <a:t>🤝  Referrals at the Table</a:t>
            </a:r>
            <a:endParaRPr lang="en-US" sz="1300" dirty="0"/>
          </a:p>
        </p:txBody>
      </p:sp>
      <p:sp>
        <p:nvSpPr>
          <p:cNvPr id="8" name="Text 6"/>
          <p:cNvSpPr/>
          <p:nvPr/>
        </p:nvSpPr>
        <p:spPr>
          <a:xfrm>
            <a:off x="411480" y="2167128"/>
            <a:ext cx="3749040" cy="685800"/>
          </a:xfrm>
          <a:prstGeom prst="rect">
            <a:avLst/>
          </a:prstGeom>
          <a:noFill/>
          <a:ln/>
        </p:spPr>
        <p:txBody>
          <a:bodyPr wrap="square" lIns="0" tIns="0" rIns="0" bIns="0" rtlCol="0" anchor="ctr"/>
          <a:lstStyle/>
          <a:p>
            <a:pPr algn="l" indent="0" marL="0">
              <a:buNone/>
            </a:pPr>
            <a:r>
              <a:rPr lang="en-US" sz="1100" dirty="0">
                <a:solidFill>
                  <a:srgbClr val="8FA3B1"/>
                </a:solidFill>
                <a:latin typeface="Calibri" pitchFamily="34" charset="0"/>
                <a:ea typeface="Calibri" pitchFamily="34" charset="-122"/>
                <a:cs typeface="Calibri" pitchFamily="34" charset="-120"/>
              </a:rPr>
              <a:t>Generating 3 warm referrals while the ink is still wet — the system that doubles your pipeline</a:t>
            </a:r>
            <a:endParaRPr lang="en-US" sz="1100" dirty="0"/>
          </a:p>
        </p:txBody>
      </p:sp>
      <p:sp>
        <p:nvSpPr>
          <p:cNvPr id="9" name="Shape 7"/>
          <p:cNvSpPr/>
          <p:nvPr/>
        </p:nvSpPr>
        <p:spPr>
          <a:xfrm>
            <a:off x="4754880" y="1600200"/>
            <a:ext cx="4023360" cy="1444752"/>
          </a:xfrm>
          <a:prstGeom prst="rect">
            <a:avLst/>
          </a:prstGeom>
          <a:solidFill>
            <a:srgbClr val="1A2840"/>
          </a:solidFill>
          <a:ln w="12700">
            <a:solidFill>
              <a:srgbClr val="F4A61D"/>
            </a:solidFill>
            <a:prstDash val="solid"/>
          </a:ln>
          <a:effectLst>
            <a:outerShdw sx="100000" sy="100000" kx="0" ky="0" algn="bl" rotWithShape="0" blurRad="101600" dist="38100" dir="8100000">
              <a:srgbClr val="000000">
                <a:alpha val="20000"/>
              </a:srgbClr>
            </a:outerShdw>
          </a:effectLst>
        </p:spPr>
      </p:sp>
      <p:sp>
        <p:nvSpPr>
          <p:cNvPr id="10" name="Text 8"/>
          <p:cNvSpPr/>
          <p:nvPr/>
        </p:nvSpPr>
        <p:spPr>
          <a:xfrm>
            <a:off x="4892040" y="1728216"/>
            <a:ext cx="3749040" cy="384048"/>
          </a:xfrm>
          <a:prstGeom prst="rect">
            <a:avLst/>
          </a:prstGeom>
          <a:noFill/>
          <a:ln/>
        </p:spPr>
        <p:txBody>
          <a:bodyPr wrap="square" lIns="0" tIns="0" rIns="0" bIns="0" rtlCol="0" anchor="ctr"/>
          <a:lstStyle/>
          <a:p>
            <a:pPr algn="l" indent="0" marL="0">
              <a:buNone/>
            </a:pPr>
            <a:r>
              <a:rPr lang="en-US" sz="1300" b="1" dirty="0">
                <a:solidFill>
                  <a:srgbClr val="F4A61D"/>
                </a:solidFill>
                <a:latin typeface="Arial Black" pitchFamily="34" charset="0"/>
                <a:ea typeface="Arial Black" pitchFamily="34" charset="-122"/>
                <a:cs typeface="Arial Black" pitchFamily="34" charset="-120"/>
              </a:rPr>
              <a:t>📊  Pipeline Management</a:t>
            </a:r>
            <a:endParaRPr lang="en-US" sz="1300" dirty="0"/>
          </a:p>
        </p:txBody>
      </p:sp>
      <p:sp>
        <p:nvSpPr>
          <p:cNvPr id="11" name="Text 9"/>
          <p:cNvSpPr/>
          <p:nvPr/>
        </p:nvSpPr>
        <p:spPr>
          <a:xfrm>
            <a:off x="4892040" y="2167128"/>
            <a:ext cx="3749040" cy="685800"/>
          </a:xfrm>
          <a:prstGeom prst="rect">
            <a:avLst/>
          </a:prstGeom>
          <a:noFill/>
          <a:ln/>
        </p:spPr>
        <p:txBody>
          <a:bodyPr wrap="square" lIns="0" tIns="0" rIns="0" bIns="0" rtlCol="0" anchor="ctr"/>
          <a:lstStyle/>
          <a:p>
            <a:pPr algn="l" indent="0" marL="0">
              <a:buNone/>
            </a:pPr>
            <a:r>
              <a:rPr lang="en-US" sz="1100" dirty="0">
                <a:solidFill>
                  <a:srgbClr val="8FA3B1"/>
                </a:solidFill>
                <a:latin typeface="Calibri" pitchFamily="34" charset="0"/>
                <a:ea typeface="Calibri" pitchFamily="34" charset="-122"/>
                <a:cs typeface="Calibri" pitchFamily="34" charset="-120"/>
              </a:rPr>
              <a:t>Lead stages, follow-up cadence, and CRM discipline that prevents deals from dying in the dark</a:t>
            </a:r>
            <a:endParaRPr lang="en-US" sz="1100" dirty="0"/>
          </a:p>
        </p:txBody>
      </p:sp>
      <p:sp>
        <p:nvSpPr>
          <p:cNvPr id="12" name="Shape 10"/>
          <p:cNvSpPr/>
          <p:nvPr/>
        </p:nvSpPr>
        <p:spPr>
          <a:xfrm>
            <a:off x="274320" y="3218688"/>
            <a:ext cx="4023360" cy="1444752"/>
          </a:xfrm>
          <a:prstGeom prst="rect">
            <a:avLst/>
          </a:prstGeom>
          <a:solidFill>
            <a:srgbClr val="1A2840"/>
          </a:solidFill>
          <a:ln w="12700">
            <a:solidFill>
              <a:srgbClr val="F4A61D"/>
            </a:solidFill>
            <a:prstDash val="solid"/>
          </a:ln>
          <a:effectLst>
            <a:outerShdw sx="100000" sy="100000" kx="0" ky="0" algn="bl" rotWithShape="0" blurRad="101600" dist="38100" dir="8100000">
              <a:srgbClr val="000000">
                <a:alpha val="20000"/>
              </a:srgbClr>
            </a:outerShdw>
          </a:effectLst>
        </p:spPr>
      </p:sp>
      <p:sp>
        <p:nvSpPr>
          <p:cNvPr id="13" name="Text 11"/>
          <p:cNvSpPr/>
          <p:nvPr/>
        </p:nvSpPr>
        <p:spPr>
          <a:xfrm>
            <a:off x="411480" y="3346704"/>
            <a:ext cx="3749040" cy="384048"/>
          </a:xfrm>
          <a:prstGeom prst="rect">
            <a:avLst/>
          </a:prstGeom>
          <a:noFill/>
          <a:ln/>
        </p:spPr>
        <p:txBody>
          <a:bodyPr wrap="square" lIns="0" tIns="0" rIns="0" bIns="0" rtlCol="0" anchor="ctr"/>
          <a:lstStyle/>
          <a:p>
            <a:pPr algn="l" indent="0" marL="0">
              <a:buNone/>
            </a:pPr>
            <a:r>
              <a:rPr lang="en-US" sz="1300" b="1" dirty="0">
                <a:solidFill>
                  <a:srgbClr val="F4A61D"/>
                </a:solidFill>
                <a:latin typeface="Arial Black" pitchFamily="34" charset="0"/>
                <a:ea typeface="Arial Black" pitchFamily="34" charset="-122"/>
                <a:cs typeface="Arial Black" pitchFamily="34" charset="-120"/>
              </a:rPr>
              <a:t>🌟  Personal Brand</a:t>
            </a:r>
            <a:endParaRPr lang="en-US" sz="1300" dirty="0"/>
          </a:p>
        </p:txBody>
      </p:sp>
      <p:sp>
        <p:nvSpPr>
          <p:cNvPr id="14" name="Text 12"/>
          <p:cNvSpPr/>
          <p:nvPr/>
        </p:nvSpPr>
        <p:spPr>
          <a:xfrm>
            <a:off x="411480" y="3785616"/>
            <a:ext cx="3749040" cy="685800"/>
          </a:xfrm>
          <a:prstGeom prst="rect">
            <a:avLst/>
          </a:prstGeom>
          <a:noFill/>
          <a:ln/>
        </p:spPr>
        <p:txBody>
          <a:bodyPr wrap="square" lIns="0" tIns="0" rIns="0" bIns="0" rtlCol="0" anchor="ctr"/>
          <a:lstStyle/>
          <a:p>
            <a:pPr algn="l" indent="0" marL="0">
              <a:buNone/>
            </a:pPr>
            <a:r>
              <a:rPr lang="en-US" sz="1100" dirty="0">
                <a:solidFill>
                  <a:srgbClr val="8FA3B1"/>
                </a:solidFill>
                <a:latin typeface="Calibri" pitchFamily="34" charset="0"/>
                <a:ea typeface="Calibri" pitchFamily="34" charset="-122"/>
                <a:cs typeface="Calibri" pitchFamily="34" charset="-120"/>
              </a:rPr>
              <a:t>Building a reputation in your market that makes homeowners call YOU before you knock</a:t>
            </a:r>
            <a:endParaRPr lang="en-US" sz="1100" dirty="0"/>
          </a:p>
        </p:txBody>
      </p:sp>
      <p:sp>
        <p:nvSpPr>
          <p:cNvPr id="15" name="Shape 13"/>
          <p:cNvSpPr/>
          <p:nvPr/>
        </p:nvSpPr>
        <p:spPr>
          <a:xfrm>
            <a:off x="4754880" y="3218688"/>
            <a:ext cx="4023360" cy="1444752"/>
          </a:xfrm>
          <a:prstGeom prst="rect">
            <a:avLst/>
          </a:prstGeom>
          <a:solidFill>
            <a:srgbClr val="1A2840"/>
          </a:solidFill>
          <a:ln w="12700">
            <a:solidFill>
              <a:srgbClr val="F4A61D"/>
            </a:solidFill>
            <a:prstDash val="solid"/>
          </a:ln>
          <a:effectLst>
            <a:outerShdw sx="100000" sy="100000" kx="0" ky="0" algn="bl" rotWithShape="0" blurRad="101600" dist="38100" dir="8100000">
              <a:srgbClr val="000000">
                <a:alpha val="20000"/>
              </a:srgbClr>
            </a:outerShdw>
          </a:effectLst>
        </p:spPr>
      </p:sp>
      <p:sp>
        <p:nvSpPr>
          <p:cNvPr id="16" name="Text 14"/>
          <p:cNvSpPr/>
          <p:nvPr/>
        </p:nvSpPr>
        <p:spPr>
          <a:xfrm>
            <a:off x="4892040" y="3346704"/>
            <a:ext cx="3749040" cy="384048"/>
          </a:xfrm>
          <a:prstGeom prst="rect">
            <a:avLst/>
          </a:prstGeom>
          <a:noFill/>
          <a:ln/>
        </p:spPr>
        <p:txBody>
          <a:bodyPr wrap="square" lIns="0" tIns="0" rIns="0" bIns="0" rtlCol="0" anchor="ctr"/>
          <a:lstStyle/>
          <a:p>
            <a:pPr algn="l" indent="0" marL="0">
              <a:buNone/>
            </a:pPr>
            <a:r>
              <a:rPr lang="en-US" sz="1300" b="1" dirty="0">
                <a:solidFill>
                  <a:srgbClr val="F4A61D"/>
                </a:solidFill>
                <a:latin typeface="Arial Black" pitchFamily="34" charset="0"/>
                <a:ea typeface="Arial Black" pitchFamily="34" charset="-122"/>
                <a:cs typeface="Arial Black" pitchFamily="34" charset="-120"/>
              </a:rPr>
              <a:t>🏆  Final Certification</a:t>
            </a:r>
            <a:endParaRPr lang="en-US" sz="1300" dirty="0"/>
          </a:p>
        </p:txBody>
      </p:sp>
      <p:sp>
        <p:nvSpPr>
          <p:cNvPr id="17" name="Text 15"/>
          <p:cNvSpPr/>
          <p:nvPr/>
        </p:nvSpPr>
        <p:spPr>
          <a:xfrm>
            <a:off x="4892040" y="3785616"/>
            <a:ext cx="3749040" cy="685800"/>
          </a:xfrm>
          <a:prstGeom prst="rect">
            <a:avLst/>
          </a:prstGeom>
          <a:noFill/>
          <a:ln/>
        </p:spPr>
        <p:txBody>
          <a:bodyPr wrap="square" lIns="0" tIns="0" rIns="0" bIns="0" rtlCol="0" anchor="ctr"/>
          <a:lstStyle/>
          <a:p>
            <a:pPr algn="l" indent="0" marL="0">
              <a:buNone/>
            </a:pPr>
            <a:r>
              <a:rPr lang="en-US" sz="1100" dirty="0">
                <a:solidFill>
                  <a:srgbClr val="8FA3B1"/>
                </a:solidFill>
                <a:latin typeface="Calibri" pitchFamily="34" charset="0"/>
                <a:ea typeface="Calibri" pitchFamily="34" charset="-122"/>
                <a:cs typeface="Calibri" pitchFamily="34" charset="-120"/>
              </a:rPr>
              <a:t>The 7-Day Solar Accelerator Closer Certification — the credential that defines your career</a:t>
            </a:r>
            <a:endParaRPr lang="en-US" sz="1100" dirty="0"/>
          </a:p>
        </p:txBody>
      </p:sp>
      <p:sp>
        <p:nvSpPr>
          <p:cNvPr id="18" name="Shape 16"/>
          <p:cNvSpPr/>
          <p:nvPr/>
        </p:nvSpPr>
        <p:spPr>
          <a:xfrm>
            <a:off x="0" y="4709160"/>
            <a:ext cx="9144000" cy="434340"/>
          </a:xfrm>
          <a:prstGeom prst="rect">
            <a:avLst/>
          </a:prstGeom>
          <a:solidFill>
            <a:srgbClr val="F4A61D"/>
          </a:solidFill>
          <a:ln w="12700">
            <a:solidFill>
              <a:srgbClr val="F4A61D"/>
            </a:solidFill>
            <a:prstDash val="solid"/>
          </a:ln>
        </p:spPr>
      </p:sp>
      <p:sp>
        <p:nvSpPr>
          <p:cNvPr id="19" name="Text 17"/>
          <p:cNvSpPr/>
          <p:nvPr/>
        </p:nvSpPr>
        <p:spPr>
          <a:xfrm>
            <a:off x="457200" y="4736592"/>
            <a:ext cx="8229600" cy="402336"/>
          </a:xfrm>
          <a:prstGeom prst="rect">
            <a:avLst/>
          </a:prstGeom>
          <a:noFill/>
          <a:ln/>
        </p:spPr>
        <p:txBody>
          <a:bodyPr wrap="square" lIns="0" tIns="0" rIns="0" bIns="0" rtlCol="0" anchor="ctr"/>
          <a:lstStyle/>
          <a:p>
            <a:pPr algn="ctr" indent="0" marL="0">
              <a:buNone/>
            </a:pPr>
            <a:r>
              <a:rPr lang="en-US" sz="1300" b="1" dirty="0">
                <a:solidFill>
                  <a:srgbClr val="0D1B2A"/>
                </a:solidFill>
                <a:latin typeface="Arial Black" pitchFamily="34" charset="0"/>
                <a:ea typeface="Arial Black" pitchFamily="34" charset="-122"/>
                <a:cs typeface="Arial Black" pitchFamily="34" charset="-120"/>
              </a:rPr>
              <a:t>Solar Accelerator  ·  Day 6 Complete  ·  You Are the Master of Objections. One Day Left.</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71</Slides>
  <Notes>71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71</vt:i4>
      </vt:variant>
    </vt:vector>
  </HeadingPairs>
  <TitlesOfParts>
    <vt:vector size="7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lpstr>Slide 66</vt:lpstr>
      <vt:lpstr>Slide 67</vt:lpstr>
      <vt:lpstr>Slide 68</vt:lpstr>
      <vt:lpstr>Slide 69</vt:lpstr>
      <vt:lpstr>Slide 70</vt:lpstr>
      <vt:lpstr>Slide 71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Solar Accelerator – Day 6</dc:title>
  <dc:subject>PptxGenJS Presentation</dc:subject>
  <dc:creator>PptxGenJS</dc:creator>
  <cp:lastModifiedBy>PptxGenJS</cp:lastModifiedBy>
  <cp:revision>1</cp:revision>
  <dcterms:created xsi:type="dcterms:W3CDTF">2026-03-09T16:31:46Z</dcterms:created>
  <dcterms:modified xsi:type="dcterms:W3CDTF">2026-03-09T16:31:46Z</dcterms:modified>
</cp:coreProperties>
</file>