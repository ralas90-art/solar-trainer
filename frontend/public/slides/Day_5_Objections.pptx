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Lst>
  <p:notesMasterIdLst>
    <p:notesMasterId r:id="rId7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1600200"/>
            <a:ext cx="9144000" cy="2011680"/>
          </a:xfrm>
          <a:prstGeom prst="rect">
            <a:avLst/>
          </a:prstGeom>
          <a:solidFill>
            <a:srgbClr val="1A2840"/>
          </a:solidFill>
          <a:ln w="12700">
            <a:solidFill>
              <a:srgbClr val="1A2840"/>
            </a:solidFill>
            <a:prstDash val="solid"/>
          </a:ln>
        </p:spPr>
      </p:sp>
      <p:sp>
        <p:nvSpPr>
          <p:cNvPr id="3" name="Shape 1"/>
          <p:cNvSpPr/>
          <p:nvPr/>
        </p:nvSpPr>
        <p:spPr>
          <a:xfrm>
            <a:off x="0" y="1600200"/>
            <a:ext cx="320040" cy="2011680"/>
          </a:xfrm>
          <a:prstGeom prst="rect">
            <a:avLst/>
          </a:prstGeom>
          <a:solidFill>
            <a:srgbClr val="F4A61D"/>
          </a:solidFill>
          <a:ln w="12700">
            <a:solidFill>
              <a:srgbClr val="F4A61D"/>
            </a:solidFill>
            <a:prstDash val="solid"/>
          </a:ln>
        </p:spPr>
      </p:sp>
      <p:sp>
        <p:nvSpPr>
          <p:cNvPr id="4" name="Text 2"/>
          <p:cNvSpPr/>
          <p:nvPr/>
        </p:nvSpPr>
        <p:spPr>
          <a:xfrm>
            <a:off x="548640" y="384048"/>
            <a:ext cx="8229600" cy="512064"/>
          </a:xfrm>
          <a:prstGeom prst="rect">
            <a:avLst/>
          </a:prstGeom>
          <a:noFill/>
          <a:ln/>
        </p:spPr>
        <p:txBody>
          <a:bodyPr wrap="square" lIns="0" tIns="0" rIns="0" bIns="0" rtlCol="0" anchor="ctr"/>
          <a:lstStyle/>
          <a:p>
            <a:pPr algn="l" indent="0" marL="0">
              <a:buNone/>
            </a:pPr>
            <a:r>
              <a:rPr lang="en-US" sz="1300" b="1" spc="500" kern="0" dirty="0">
                <a:solidFill>
                  <a:srgbClr val="F4A61D"/>
                </a:solidFill>
                <a:latin typeface="Arial Black" pitchFamily="34" charset="0"/>
                <a:ea typeface="Arial Black" pitchFamily="34" charset="-122"/>
                <a:cs typeface="Arial Black" pitchFamily="34" charset="-120"/>
              </a:rPr>
              <a:t>SOLAR ACCELERATOR</a:t>
            </a:r>
            <a:endParaRPr lang="en-US" sz="1300" dirty="0"/>
          </a:p>
        </p:txBody>
      </p:sp>
      <p:sp>
        <p:nvSpPr>
          <p:cNvPr id="5" name="Text 3"/>
          <p:cNvSpPr/>
          <p:nvPr/>
        </p:nvSpPr>
        <p:spPr>
          <a:xfrm>
            <a:off x="548640" y="868680"/>
            <a:ext cx="8229600" cy="804672"/>
          </a:xfrm>
          <a:prstGeom prst="rect">
            <a:avLst/>
          </a:prstGeom>
          <a:noFill/>
          <a:ln/>
        </p:spPr>
        <p:txBody>
          <a:bodyPr wrap="square" lIns="0" tIns="0" rIns="0" bIns="0" rtlCol="0" anchor="ctr"/>
          <a:lstStyle/>
          <a:p>
            <a:pPr algn="l" indent="0" marL="0">
              <a:buNone/>
            </a:pPr>
            <a:r>
              <a:rPr lang="en-US" sz="1700" dirty="0">
                <a:solidFill>
                  <a:srgbClr val="8FA3B1"/>
                </a:solidFill>
                <a:latin typeface="Calibri" pitchFamily="34" charset="0"/>
                <a:ea typeface="Calibri" pitchFamily="34" charset="-122"/>
                <a:cs typeface="Calibri" pitchFamily="34" charset="-120"/>
              </a:rPr>
              <a:t>7-Day Sales Rep</a:t>
            </a:r>
            <a:endParaRPr lang="en-US" sz="1700" dirty="0"/>
          </a:p>
          <a:p>
            <a:pPr algn="l" indent="0" marL="0">
              <a:buNone/>
            </a:pPr>
            <a:r>
              <a:rPr lang="en-US" sz="1700" dirty="0">
                <a:solidFill>
                  <a:srgbClr val="8FA3B1"/>
                </a:solidFill>
                <a:latin typeface="Calibri" pitchFamily="34" charset="0"/>
                <a:ea typeface="Calibri" pitchFamily="34" charset="-122"/>
                <a:cs typeface="Calibri" pitchFamily="34" charset="-120"/>
              </a:rPr>
              <a:t>Certification Program</a:t>
            </a:r>
            <a:endParaRPr lang="en-US" sz="1700" dirty="0"/>
          </a:p>
        </p:txBody>
      </p:sp>
      <p:sp>
        <p:nvSpPr>
          <p:cNvPr id="6" name="Text 4"/>
          <p:cNvSpPr/>
          <p:nvPr/>
        </p:nvSpPr>
        <p:spPr>
          <a:xfrm>
            <a:off x="548640" y="1691640"/>
            <a:ext cx="2743200" cy="640080"/>
          </a:xfrm>
          <a:prstGeom prst="rect">
            <a:avLst/>
          </a:prstGeom>
          <a:noFill/>
          <a:ln/>
        </p:spPr>
        <p:txBody>
          <a:bodyPr wrap="square" lIns="0" tIns="0" rIns="0" bIns="0" rtlCol="0" anchor="ctr"/>
          <a:lstStyle/>
          <a:p>
            <a:pPr algn="l" indent="0" marL="0">
              <a:buNone/>
            </a:pPr>
            <a:r>
              <a:rPr lang="en-US" sz="3800" b="1" dirty="0">
                <a:solidFill>
                  <a:srgbClr val="FFFFFF"/>
                </a:solidFill>
                <a:latin typeface="Arial Black" pitchFamily="34" charset="0"/>
                <a:ea typeface="Arial Black" pitchFamily="34" charset="-122"/>
                <a:cs typeface="Arial Black" pitchFamily="34" charset="-120"/>
              </a:rPr>
              <a:t>DAY 5</a:t>
            </a:r>
            <a:endParaRPr lang="en-US" sz="3800" dirty="0"/>
          </a:p>
        </p:txBody>
      </p:sp>
      <p:sp>
        <p:nvSpPr>
          <p:cNvPr id="7" name="Text 5"/>
          <p:cNvSpPr/>
          <p:nvPr/>
        </p:nvSpPr>
        <p:spPr>
          <a:xfrm>
            <a:off x="548640" y="2377440"/>
            <a:ext cx="8229600" cy="502920"/>
          </a:xfrm>
          <a:prstGeom prst="rect">
            <a:avLst/>
          </a:prstGeom>
          <a:noFill/>
          <a:ln/>
        </p:spPr>
        <p:txBody>
          <a:bodyPr wrap="square" lIns="0" tIns="0" rIns="0" bIns="0" rtlCol="0" anchor="ctr"/>
          <a:lstStyle/>
          <a:p>
            <a:pPr algn="l" indent="0" marL="0">
              <a:buNone/>
            </a:pPr>
            <a:r>
              <a:rPr lang="en-US" sz="2000" i="1" dirty="0">
                <a:solidFill>
                  <a:srgbClr val="F4A61D"/>
                </a:solidFill>
                <a:latin typeface="Calibri" pitchFamily="34" charset="0"/>
                <a:ea typeface="Calibri" pitchFamily="34" charset="-122"/>
                <a:cs typeface="Calibri" pitchFamily="34" charset="-120"/>
              </a:rPr>
              <a:t>Closing Psychology &amp; Deal Conversion</a:t>
            </a:r>
            <a:endParaRPr lang="en-US" sz="2000" dirty="0"/>
          </a:p>
        </p:txBody>
      </p:sp>
      <p:sp>
        <p:nvSpPr>
          <p:cNvPr id="8" name="Text 6"/>
          <p:cNvSpPr/>
          <p:nvPr/>
        </p:nvSpPr>
        <p:spPr>
          <a:xfrm>
            <a:off x="548640" y="2944368"/>
            <a:ext cx="8229600" cy="347472"/>
          </a:xfrm>
          <a:prstGeom prst="rect">
            <a:avLst/>
          </a:prstGeom>
          <a:noFill/>
          <a:ln/>
        </p:spPr>
        <p:txBody>
          <a:bodyPr wrap="square" lIns="0" tIns="0" rIns="0" bIns="0" rtlCol="0" anchor="ctr"/>
          <a:lstStyle/>
          <a:p>
            <a:pPr algn="l" indent="0" marL="0">
              <a:buNone/>
            </a:pPr>
            <a:r>
              <a:rPr lang="en-US" sz="1000" dirty="0">
                <a:solidFill>
                  <a:srgbClr val="A0AEC0"/>
                </a:solidFill>
                <a:latin typeface="Calibri" pitchFamily="34" charset="0"/>
                <a:ea typeface="Calibri" pitchFamily="34" charset="-122"/>
                <a:cs typeface="Calibri" pitchFamily="34" charset="-120"/>
              </a:rPr>
              <a:t>Modules 5.1 – 5.11  ·  Buying Signals · Fear Gap · Assumptive Close · Objection Gauntlet · Certification</a:t>
            </a:r>
            <a:endParaRPr lang="en-US" sz="1000" dirty="0"/>
          </a:p>
        </p:txBody>
      </p:sp>
      <p:sp>
        <p:nvSpPr>
          <p:cNvPr id="9" name="Shape 7"/>
          <p:cNvSpPr/>
          <p:nvPr/>
        </p:nvSpPr>
        <p:spPr>
          <a:xfrm>
            <a:off x="0" y="4498848"/>
            <a:ext cx="9144000" cy="644652"/>
          </a:xfrm>
          <a:prstGeom prst="rect">
            <a:avLst/>
          </a:prstGeom>
          <a:solidFill>
            <a:srgbClr val="F4A61D"/>
          </a:solidFill>
          <a:ln w="12700">
            <a:solidFill>
              <a:srgbClr val="F4A61D"/>
            </a:solidFill>
            <a:prstDash val="solid"/>
          </a:ln>
        </p:spPr>
      </p:sp>
      <p:sp>
        <p:nvSpPr>
          <p:cNvPr id="10" name="Text 8"/>
          <p:cNvSpPr/>
          <p:nvPr/>
        </p:nvSpPr>
        <p:spPr>
          <a:xfrm>
            <a:off x="457200" y="4517136"/>
            <a:ext cx="8229600" cy="608076"/>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Read the Room. Bridge to the Close. Handle Every Objection. Get the Signature.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5.1</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Reading the Room: Identifying Buying Signals</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Spot the Green Light Before They Say a Word</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 — BUYING SIGNALS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Homeowner Is Already Buying — Can You See 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How body language transitions signal readiness — the Lean-In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Future-Pacing Questions: ownership language disguised as logistics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Possession Tone shift: 'the solar' becomes 'our solar'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Differentiating stalling questions from buying questions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Visual Shift: Reading Body Language in Real Time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Leaning BACK = defensive/skeptical — do not push forward, ask a question instead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Leaning IN toward the iPad = interest activated — this is a green light to advance the story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Touching hardware samples = tactile engagement — they are mentally placing the product on their roof</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Looking at their spouse for approval = they want to buy but need permission — address both immediately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Body language is a faster signal than words. Train reps to scan for physical shifts every 5 minutes. When the lean-in happens, the rep should slow down — not speed up. Let the moment breathe.</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Future-Pacing Questions: Ownership Language in Disguise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'How long does the install actually take?' → They are scheduling the crew in their mind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'What color are the panel frames?' → They are picturing their roof already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'Does this fully cover the whole bill?' → They are calculating their new reality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None of these are objections. They are BUYING SIGNALS. Answer warmly and advance.</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How long does the install actually take once we decide?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Usually one day — the crew shows up in the morning, and by evening you've got panels on the roof. It's actually the permitting phase that takes the most time, and we handle all of that. Want me to show you the full timeline?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common rep mistake: treating a future-pacing question like an objection and going defensive. When they ask 'how long is the install,' the correct response is: 'Great question — once we confirm the design today, you'd typically be on the roof in 30–45 days.'</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Possession Tone: When 'The Solar' Becomes 'Our Solar'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Early in the presentation: 'How does YOUR system work?' — they are evaluating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Mid-presentation: 'Where would THE panels go on the roof?' — warming up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Buying signal: 'Where would WE put the battery?' — mental ownership has occurred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Full green light: 'We'd need to check what OUR HOA says...' — they are already living in the post-purchase reality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When a homeowner uses 'we' and 'our,' the sale is mentally complete. The rep's only job from this point forward is to remove logistical obstacles. Do not re-pitch value — just answer questions and move to next steps.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66928"/>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Stalling Questions vs. Buying Questions: Know the Difference</a:t>
            </a:r>
            <a:endParaRPr lang="en-US" sz="2100" dirty="0"/>
          </a:p>
        </p:txBody>
      </p:sp>
      <p:sp>
        <p:nvSpPr>
          <p:cNvPr id="4" name="Shape 2"/>
          <p:cNvSpPr/>
          <p:nvPr/>
        </p:nvSpPr>
        <p:spPr>
          <a:xfrm>
            <a:off x="274320" y="749808"/>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4023360" cy="356616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68680"/>
            <a:ext cx="4023360" cy="384048"/>
          </a:xfrm>
          <a:prstGeom prst="rect">
            <a:avLst/>
          </a:prstGeom>
          <a:solidFill>
            <a:srgbClr val="0891B2"/>
          </a:solidFill>
          <a:ln w="12700">
            <a:solidFill>
              <a:srgbClr val="0891B2"/>
            </a:solidFill>
            <a:prstDash val="solid"/>
          </a:ln>
        </p:spPr>
      </p:sp>
      <p:sp>
        <p:nvSpPr>
          <p:cNvPr id="7" name="Text 5"/>
          <p:cNvSpPr/>
          <p:nvPr/>
        </p:nvSpPr>
        <p:spPr>
          <a:xfrm>
            <a:off x="320040" y="886968"/>
            <a:ext cx="393192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STALLING QUESTIONS (Smoke Screens)</a:t>
            </a:r>
            <a:endParaRPr lang="en-US" sz="1100" dirty="0"/>
          </a:p>
        </p:txBody>
      </p:sp>
      <p:sp>
        <p:nvSpPr>
          <p:cNvPr id="8" name="Text 6"/>
          <p:cNvSpPr/>
          <p:nvPr/>
        </p:nvSpPr>
        <p:spPr>
          <a:xfrm>
            <a:off x="384048" y="1325880"/>
            <a:ext cx="3840480" cy="30175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'Can I take this paperwork and look it over?'</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'Can you just email me a quote?'</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'We need to talk to our accountant first'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'Can I look at this later tonight?'</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'Do you have a brochure I can keep?'</a:t>
            </a:r>
            <a:endParaRPr lang="en-US" sz="1100" dirty="0"/>
          </a:p>
        </p:txBody>
      </p:sp>
      <p:sp>
        <p:nvSpPr>
          <p:cNvPr id="9" name="Shape 7"/>
          <p:cNvSpPr/>
          <p:nvPr/>
        </p:nvSpPr>
        <p:spPr>
          <a:xfrm>
            <a:off x="4846320" y="868680"/>
            <a:ext cx="4023360" cy="356616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68680"/>
            <a:ext cx="4023360" cy="384048"/>
          </a:xfrm>
          <a:prstGeom prst="rect">
            <a:avLst/>
          </a:prstGeom>
          <a:solidFill>
            <a:srgbClr val="F4A61D"/>
          </a:solidFill>
          <a:ln w="12700">
            <a:solidFill>
              <a:srgbClr val="F4A61D"/>
            </a:solidFill>
            <a:prstDash val="solid"/>
          </a:ln>
        </p:spPr>
      </p:sp>
      <p:sp>
        <p:nvSpPr>
          <p:cNvPr id="11" name="Text 9"/>
          <p:cNvSpPr/>
          <p:nvPr/>
        </p:nvSpPr>
        <p:spPr>
          <a:xfrm>
            <a:off x="4892040" y="886968"/>
            <a:ext cx="3931920" cy="347472"/>
          </a:xfrm>
          <a:prstGeom prst="rect">
            <a:avLst/>
          </a:prstGeom>
          <a:noFill/>
          <a:ln/>
        </p:spPr>
        <p:txBody>
          <a:bodyPr wrap="square" lIns="0" tIns="0" rIns="0" bIns="0" rtlCol="0" anchor="ctr"/>
          <a:lstStyle/>
          <a:p>
            <a:pPr algn="ctr" indent="0" marL="0">
              <a:buNone/>
            </a:pPr>
            <a:r>
              <a:rPr lang="en-US" sz="1100" b="1" dirty="0">
                <a:solidFill>
                  <a:srgbClr val="0D1B2A"/>
                </a:solidFill>
                <a:latin typeface="Arial Black" pitchFamily="34" charset="0"/>
                <a:ea typeface="Arial Black" pitchFamily="34" charset="-122"/>
                <a:cs typeface="Arial Black" pitchFamily="34" charset="-120"/>
              </a:rPr>
              <a:t>✅  BUYING QUESTIONS (Green Lights)</a:t>
            </a:r>
            <a:endParaRPr lang="en-US" sz="1100" dirty="0"/>
          </a:p>
        </p:txBody>
      </p:sp>
      <p:sp>
        <p:nvSpPr>
          <p:cNvPr id="12" name="Text 10"/>
          <p:cNvSpPr/>
          <p:nvPr/>
        </p:nvSpPr>
        <p:spPr>
          <a:xfrm>
            <a:off x="4956048" y="1325880"/>
            <a:ext cx="3840480" cy="3017520"/>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'How soon can you get started on the permits?'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'Does the app show daily production?'</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'What happens if a panel breaks in 10 years?'</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'Can we add a battery later?'</a:t>
            </a:r>
            <a:endParaRPr lang="en-US" sz="1100" dirty="0"/>
          </a:p>
          <a:p>
            <a:pPr marL="342900" indent="-342900">
              <a:spcAft>
                <a:spcPts val="500"/>
              </a:spcAft>
              <a:buSzPct val="100000"/>
              <a:buChar char="•"/>
            </a:pPr>
            <a:r>
              <a:rPr lang="en-US" sz="1100" dirty="0">
                <a:solidFill>
                  <a:srgbClr val="FFFFFF"/>
                </a:solidFill>
                <a:latin typeface="Calibri" pitchFamily="34" charset="0"/>
                <a:ea typeface="Calibri" pitchFamily="34" charset="-122"/>
                <a:cs typeface="Calibri" pitchFamily="34" charset="-120"/>
              </a:rPr>
              <a:t>'What color do the panels come in?'</a:t>
            </a:r>
            <a:endParaRPr lang="en-US" sz="1100" dirty="0"/>
          </a:p>
        </p:txBody>
      </p:sp>
      <p:sp>
        <p:nvSpPr>
          <p:cNvPr id="13" name="Shape 11"/>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4" name="Text 12"/>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Stalling questions are designed to exit the conversation. Buying questions are designed to build confidence in a decision already being made. Reps who can tell the difference close at significantly higher rates.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Buying Signal Cheat Sheet: 8 Signals to Watch For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Body: Leans in, touches samples, turns to face you directly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Spouse: Looks at each other and nods — they are 'voting' privately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Logistics: Asks about install timing, site survey, HOA process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Ownership: Uses 'we,' 'our,' 'my panels,' 'our system'</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Math: Re-calculates savings, double-checks numbers on the iPad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Future: 'What happens if we sell the house?'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Surprise: 'Wait — so we wouldn't owe anything after year 12?'</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  Commitment: 'What do we need to do to lock this in?'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Build this into a laminated cheat sheet for every rep's field folder. The first time they see all 8 signals in a single appointment — and recognize them — their close rate will jump immediately.</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Signal Identification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Identify buying vs. stalling signals in live-recorded homeowner interactions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plays 5 short video clips (or reads 5 scripted homeowner dialogues aloud)</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Reps must 'buzz in' (raise hand / hit table) the moment they spot a buying signal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Rep must identify: What was the signal? Body, Language, or Logic?</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Debrief: What would you say next to capitalize on that signal?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Each rep creates their personal 'Buying Signal Cheat Sheet' for their field folder</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5.2</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Decision Psychology: The 'Fear Gap'</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Why Homeowners Freeze — and How to Bridge the Gap</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5.2 — THE FEAR GAP</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Space Between 'I Want This' and 'I'll Sign'</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Analysis paralysis: why complexity is the enemy of the close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Loss aversion: homeowners are 2x more motivated to stop losing than to start winning</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'Good Person' validation: removing the 'first mover' fear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How to lower perceived risk without lowering price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What Is the Fear Gap?</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Fear Gap = the psychological distance between a homeowner who WANTS solar and one who SIGNS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is not a price gap, a knowledge gap, or a trust gap — it is a risk perception gap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brain's default response to large decisions: 'What if I'm wrong?' dominates 'What if I'm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Our job: make the cost of inaction feel greater than the cost of action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Fear Gap is invisible — reps cannot argue their way across it. They can only lower the perceived risk on one side and raise the perceived cost on the other. That is the entire psychology of Day 5.</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Psychology of Loss Aversion</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1005840"/>
            <a:ext cx="2727960" cy="3474720"/>
          </a:xfrm>
          <a:prstGeom prst="rect">
            <a:avLst/>
          </a:prstGeom>
          <a:solidFill>
            <a:srgbClr val="1A2840"/>
          </a:solidFill>
          <a:ln w="2540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65760" y="1261872"/>
            <a:ext cx="2545080" cy="1298448"/>
          </a:xfrm>
          <a:prstGeom prst="rect">
            <a:avLst/>
          </a:prstGeom>
          <a:noFill/>
          <a:ln/>
        </p:spPr>
        <p:txBody>
          <a:bodyPr wrap="square" lIns="0" tIns="0" rIns="0" bIns="0" rtlCol="0" anchor="ctr"/>
          <a:lstStyle/>
          <a:p>
            <a:pPr algn="ctr" indent="0" marL="0">
              <a:buNone/>
            </a:pPr>
            <a:r>
              <a:rPr lang="en-US" sz="4200" b="1" dirty="0">
                <a:solidFill>
                  <a:srgbClr val="F4A61D"/>
                </a:solidFill>
                <a:latin typeface="Arial Black" pitchFamily="34" charset="0"/>
                <a:ea typeface="Arial Black" pitchFamily="34" charset="-122"/>
                <a:cs typeface="Arial Black" pitchFamily="34" charset="-120"/>
              </a:rPr>
              <a:t>2×</a:t>
            </a:r>
            <a:endParaRPr lang="en-US" sz="4200" dirty="0"/>
          </a:p>
        </p:txBody>
      </p:sp>
      <p:sp>
        <p:nvSpPr>
          <p:cNvPr id="7" name="Text 5"/>
          <p:cNvSpPr/>
          <p:nvPr/>
        </p:nvSpPr>
        <p:spPr>
          <a:xfrm>
            <a:off x="36576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More Motivated</a:t>
            </a:r>
            <a:endParaRPr lang="en-US" sz="1300" dirty="0"/>
          </a:p>
        </p:txBody>
      </p:sp>
      <p:sp>
        <p:nvSpPr>
          <p:cNvPr id="8" name="Text 6"/>
          <p:cNvSpPr/>
          <p:nvPr/>
        </p:nvSpPr>
        <p:spPr>
          <a:xfrm>
            <a:off x="36576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by not losing vs. gaining the same amount</a:t>
            </a:r>
            <a:endParaRPr lang="en-US" sz="1000" dirty="0"/>
          </a:p>
        </p:txBody>
      </p:sp>
      <p:sp>
        <p:nvSpPr>
          <p:cNvPr id="9" name="Shape 7"/>
          <p:cNvSpPr/>
          <p:nvPr/>
        </p:nvSpPr>
        <p:spPr>
          <a:xfrm>
            <a:off x="3139440" y="1005840"/>
            <a:ext cx="2727960" cy="3474720"/>
          </a:xfrm>
          <a:prstGeom prst="rect">
            <a:avLst/>
          </a:prstGeom>
          <a:solidFill>
            <a:srgbClr val="1A2840"/>
          </a:solidFill>
          <a:ln w="2540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30880" y="1261872"/>
            <a:ext cx="2545080" cy="1298448"/>
          </a:xfrm>
          <a:prstGeom prst="rect">
            <a:avLst/>
          </a:prstGeom>
          <a:noFill/>
          <a:ln/>
        </p:spPr>
        <p:txBody>
          <a:bodyPr wrap="square" lIns="0" tIns="0" rIns="0" bIns="0" rtlCol="0" anchor="ctr"/>
          <a:lstStyle/>
          <a:p>
            <a:pPr algn="ctr" indent="0" marL="0">
              <a:buNone/>
            </a:pPr>
            <a:r>
              <a:rPr lang="en-US" sz="4200" b="1" dirty="0">
                <a:solidFill>
                  <a:srgbClr val="0891B2"/>
                </a:solidFill>
                <a:latin typeface="Arial Black" pitchFamily="34" charset="0"/>
                <a:ea typeface="Arial Black" pitchFamily="34" charset="-122"/>
                <a:cs typeface="Arial Black" pitchFamily="34" charset="-120"/>
              </a:rPr>
              <a:t>~90%</a:t>
            </a:r>
            <a:endParaRPr lang="en-US" sz="4200" dirty="0"/>
          </a:p>
        </p:txBody>
      </p:sp>
      <p:sp>
        <p:nvSpPr>
          <p:cNvPr id="11" name="Text 9"/>
          <p:cNvSpPr/>
          <p:nvPr/>
        </p:nvSpPr>
        <p:spPr>
          <a:xfrm>
            <a:off x="323088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Decisions</a:t>
            </a:r>
            <a:endParaRPr lang="en-US" sz="1300" dirty="0"/>
          </a:p>
        </p:txBody>
      </p:sp>
      <p:sp>
        <p:nvSpPr>
          <p:cNvPr id="12" name="Text 10"/>
          <p:cNvSpPr/>
          <p:nvPr/>
        </p:nvSpPr>
        <p:spPr>
          <a:xfrm>
            <a:off x="323088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are emotional first, rationalized second</a:t>
            </a:r>
            <a:endParaRPr lang="en-US" sz="1000" dirty="0"/>
          </a:p>
        </p:txBody>
      </p:sp>
      <p:sp>
        <p:nvSpPr>
          <p:cNvPr id="13" name="Shape 11"/>
          <p:cNvSpPr/>
          <p:nvPr/>
        </p:nvSpPr>
        <p:spPr>
          <a:xfrm>
            <a:off x="6004560" y="1005840"/>
            <a:ext cx="2727960" cy="3474720"/>
          </a:xfrm>
          <a:prstGeom prst="rect">
            <a:avLst/>
          </a:prstGeom>
          <a:solidFill>
            <a:srgbClr val="1A2840"/>
          </a:solidFill>
          <a:ln w="25400">
            <a:solidFill>
              <a:srgbClr val="2D9B4E"/>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6096000" y="1261872"/>
            <a:ext cx="2545080" cy="1298448"/>
          </a:xfrm>
          <a:prstGeom prst="rect">
            <a:avLst/>
          </a:prstGeom>
          <a:noFill/>
          <a:ln/>
        </p:spPr>
        <p:txBody>
          <a:bodyPr wrap="square" lIns="0" tIns="0" rIns="0" bIns="0" rtlCol="0" anchor="ctr"/>
          <a:lstStyle/>
          <a:p>
            <a:pPr algn="ctr" indent="0" marL="0">
              <a:buNone/>
            </a:pPr>
            <a:r>
              <a:rPr lang="en-US" sz="4200" b="1" dirty="0">
                <a:solidFill>
                  <a:srgbClr val="2D9B4E"/>
                </a:solidFill>
                <a:latin typeface="Arial Black" pitchFamily="34" charset="0"/>
                <a:ea typeface="Arial Black" pitchFamily="34" charset="-122"/>
                <a:cs typeface="Arial Black" pitchFamily="34" charset="-120"/>
              </a:rPr>
              <a:t>$0</a:t>
            </a:r>
            <a:endParaRPr lang="en-US" sz="4200" dirty="0"/>
          </a:p>
        </p:txBody>
      </p:sp>
      <p:sp>
        <p:nvSpPr>
          <p:cNvPr id="15" name="Text 13"/>
          <p:cNvSpPr/>
          <p:nvPr/>
        </p:nvSpPr>
        <p:spPr>
          <a:xfrm>
            <a:off x="6096000" y="2606040"/>
            <a:ext cx="2545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Black" pitchFamily="34" charset="0"/>
                <a:ea typeface="Arial Black" pitchFamily="34" charset="-122"/>
                <a:cs typeface="Arial Black" pitchFamily="34" charset="-120"/>
              </a:rPr>
              <a:t>Return</a:t>
            </a:r>
            <a:endParaRPr lang="en-US" sz="1300" dirty="0"/>
          </a:p>
        </p:txBody>
      </p:sp>
      <p:sp>
        <p:nvSpPr>
          <p:cNvPr id="16" name="Text 14"/>
          <p:cNvSpPr/>
          <p:nvPr/>
        </p:nvSpPr>
        <p:spPr>
          <a:xfrm>
            <a:off x="6096000" y="3154680"/>
            <a:ext cx="2545080" cy="502920"/>
          </a:xfrm>
          <a:prstGeom prst="rect">
            <a:avLst/>
          </a:prstGeom>
          <a:noFill/>
          <a:ln/>
        </p:spPr>
        <p:txBody>
          <a:bodyPr wrap="square" lIns="0" tIns="0" rIns="0" bIns="0" rtlCol="0" anchor="ctr"/>
          <a:lstStyle/>
          <a:p>
            <a:pPr algn="ctr" indent="0" marL="0">
              <a:buNone/>
            </a:pPr>
            <a:r>
              <a:rPr lang="en-US" sz="1000" i="1" dirty="0">
                <a:solidFill>
                  <a:srgbClr val="A0AEC0"/>
                </a:solidFill>
                <a:latin typeface="Calibri" pitchFamily="34" charset="0"/>
                <a:ea typeface="Calibri" pitchFamily="34" charset="-122"/>
                <a:cs typeface="Calibri" pitchFamily="34" charset="-120"/>
              </a:rPr>
              <a:t>on 25 years of utility payments (status quo ROI)</a:t>
            </a:r>
            <a:endParaRPr lang="en-US" sz="1000" dirty="0"/>
          </a:p>
        </p:txBody>
      </p:sp>
      <p:sp>
        <p:nvSpPr>
          <p:cNvPr id="17" name="Shape 15"/>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8" name="Text 16"/>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Daniel Kahneman's research on loss aversion is the scientific foundation of the COI close. Reps don't need to cite the research — they just need to understand that 'Stop Losing $3,000 a Year' outperforms 'Save $3,000 a Year' every time.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Analysis Paralysis: Complexity Kills the Close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More options = more cognitive load = the brain defaults to 'No' (the safe choice)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fix: reduce the entire decision to ONE binary question — 'Utility vs. Solar'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present 'Loan A vs. Loan B vs. Lease C vs. PPA D' — present 'Standard vs. Premium'</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'You've already decided you don't want to keep renting power. Now we just pick the scale.'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Sheena Iyengar jam study: 24 flavors attracted more browsers, 6 flavors drove 10x more purchases. Solar reps who show more options are 'attracting lookers' not 'closing buyers.'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Loss Aversion vs. Gain Seeking: Frame the Close Correctly</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Gain Frame (weaker): 'You could SAVE $60,000 over 25 years with solar'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Loss Frame (stronger): 'You will LOSE $72,000 to the utility over the next 25 years if nothing changes'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most powerful close in solar: 'You are already paying for this — you just aren't getting anything for it'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Make the status quo feel like the risky choice, not solar</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Here's the thing I want to make sure lands before we move on. If nothing changes today, you will send [Utility] approximately $72,000 over the next 25 years. Not save — spend. And at the end of those 25 years, what do you own? Nothing.</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you put it that way, it does feel like we're just... throwing money away.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exactly what's happening right now. Solar doesn't cost money — it stops the leak.</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Test this with reps: say the same number two ways — 'save $250/month' vs. 'stop losing $250/month every month.' Measure which one lands harder in their own gut. That visceral difference is the science.</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'Good Person' Validation: Removing the First Mover Fear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Homeowners fear: 'Am I being reckless? Are smart people actually doing this?'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Social proof removes this fear — but it must be LOCAL and SPECIFIC, not generic</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 neighbors three blocks over signed last month — here's a photo of the install'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'Over 14,000 families in [City] have made this same decision in the last 3 years'</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Generic proof ('millions of homes have solar') does not move the needle. Specific local proof ('the Smith family on Oak Street did this in October — here's their first bill') is 10x more powerful. Build a local proof library for every rep.</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Risk vs. Reward Worksheet</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Write a 'Risk-Reversal' statement for every fear homeowners have at the close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writes down 5 fears a homeowner might have right before signing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For each fear, write ONE 'Risk-Reversal' sentence that reframes the fear as the safe choice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Example: Fear: 'What if the company goes under?' → Reversal: 'The warranty is backed by the manufacturer directly — not just us'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review: Does each reversal actually reduce the fear or just argue with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written 'Validation Script' for the 5 most common fears in your market</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5.3</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Transitioning into the Close</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Eliminating the Awkward Silence Between 'Yes, I Like It' and 'Sign Here'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5.3 — THE TRANSITION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Soft Landing: From Proposal to Agreement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Summary Close: stacking the 3 reasons they said they wanted solar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Trial Closes: gauging temperature without pressure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Permission-Based Closing: asking for the next step, not the signature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Eliminating the dreaded 'So... what do you think?' silence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Summary Close: The 'Stacking' Technique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Immediately before asking for the business, recap the homeowner's OWN 3 reasons from discovery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 mentioned you wanted to protect your retirement... you were frustrated with the 10% hikes... and you wanted to own your power instead of renting it forever...'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Then: 'This design solves all three of those things. Does that seem right?'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they say yes to the summary, the close is a formality — they've already agreed to their own reasons</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Before I show you the final step, let me make sure I've got this right. You told me three things matter most: you're tired of the hikes, you want to protect your retirement, and you want to own instead of rent. Did I get that right?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Yeah, that's exactly it.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Good. This design solves all three. The next step is pretty simple from here.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Stacking Technique works because the homeowner cannot argue with their own words. You are not making a case — you are playing back their case to them. Their reasons become the close.</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Natural Bridge: Trial Closes That Test Temperature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'Based on everything we've reviewed, does this seem like the most logical path for your home?'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'Does the monthly payment fit comfortably within your household budget?'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'Is there anything about the design or the math that doesn't feel right to you?'</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'Yes' to any trial close is a micro-commitment — stack 3–4 of these before the final ask</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Trial closes are not tricks — they are checkpoints. Each one either confirms you are on track or reveals a hidden objection before you reach the final ask. A 'No' to a trial close is valuable — it tells you exactly what to address.</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Permission-Based Closing: The Next Step, Not the Signature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Avoid: 'Are you ready to sign?' — this triggers final-decision anxiety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Use instead: 'Usually the next step is to see if the house officially qualifies. Want to get that started?'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'Would it make sense to just lock in your place in the install queue while rates are still where they are?'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 just need to verify a couple of details for the utility application — what's the best email for the project?'</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The next step is actually pretty simple — we just see if the utility and the house both give us the green light. All I need is a couple of details to kick off the application. What's the best email address for the project updates?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it's john.smith@email.com.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And the address here is 1234 Maple Street — is that the one on the utility bill?</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word 'signature' triggers anxiety. The phrase 'next step' triggers logistics. You are not asking them to make a permanent life decision — you are asking them to take a sensible next step. The signature is part of the process, not the moment of judgment.</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Bridge Roleplay</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a perfect 30-second transition from the final numbers slide to the Next Steps conversation</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ends the proposal at the 'monthly payment' slide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Must deliver: Summary Stack (3 reasons) → Trial Close → Permission-Based Bridge — all in 30 seconds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No filler words, no 'So... um... what do you think?'</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grades: Did this feel natural or scripted? Did it flow without pressure?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Record a 1-minute audio clip of the perfect transition — submit for manager review</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5.4</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Assumptive Closing &amp; Choice Architecture</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When vs. If. This vs. That. The Signature Without the Ask.</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5.4 — ASSUMPTIVE CLOSING</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Confidence of a Doctor Prescribing Medicine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'When, Not If' mentality: language that assumes the deal is done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Choice Architecture: binary questions that guide the decision flow</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Paperwork Pivot: transitioning to the agreement without saying 'sign'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Never ask a Yes/No question when you can ask a This/That question</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'When, Not If' Mentality</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sentence should assume the purchase is happening — remove 'if' from your vocabulary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you decide to go ahead' → 'WHEN we get started on your project...'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you sign today' → 'WHEN the site surveyor comes out next week...'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this works for you' → 'WHEN the utility swaps your meter, you'll see credits immediately'</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 (weak):</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if you decide to go ahead with this, we'd schedule the site survey...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 (strong):</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we get the site survey scheduled — usually within the first week — the surveyor will confirm everything we talked about today. The crew typically follows about 3 weeks after that.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Okay, so what do we need to do right now?</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not manipulation — it is confident guidance. A doctor doesn't say 'if you decide to take this medication.' They say 'when you start taking this.' The rep is the expert. When vs. If signals that confidence.</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Choice Architecture: The Alternative Close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ask: 'Do you want to move forward?' — binary Yes/No triggers escape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Ask instead: 'Would Tuesday or Wednesday work better for the site inspection?'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'Do you prefer the all-black panels or the standard aluminum frames?'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'Would you want the battery included from the start, or add it in year 2 when the rebate window opens?'</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Every alternative close assumes the sale is done and moves the conversation to implementation. The homeowner's brain shifts from 'Should I do this?' to 'How should I do this?' — an entirely different psychological state.</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Paperwork Pivot: Getting to the Agreement Without the 'S-Word'</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say 'sign' — say 'verify,' 'confirm,' 'authorize,' or 'initial'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 just need to pull up the utility application and verify a few details'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first thing is just your contact info for the project team — what's the best cell number?'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'Once I get your email and address confirmed, the system kicks off the permit application automatically'</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 so the next step is just the utility application. All I need to start is your email, the address, and the name on the utility account. What's the best email for project updates?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Sure — it's mary.johnson@gmail.com.</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Perfect. And the name on the utility bill — is that both of you or just one?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Both of us.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Got it. And let me just pull up the agreement for you to review...</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Paperwork Pivot works because information-gathering feels like logistics, not commitment. By the time the homeowner is entering their email address, they are already psychologically in the post-purchase state. The paperwork just makes it official.</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'This or That'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5 Alternative Close questions that eliminate Yes/No and advance the sale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writes 5 'This or That' questions for different stages of the final conversation</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Required coverage: panel choice, scheduling, financing option, battery, site survey timing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Test: Does each question assume the sale is happening? Is it impossible to answer 'No' to 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Partner delivers each question in character — does it feel natural or pushy?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Written 'Alternative Close Script' for scheduling the site survey</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5.5</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Defeating 'I Need to Think About It'</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Clearing the Smoke to Find the Fire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5.5 — THE THINK ABOUT IT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#1 Stall in Solar — Solved</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Smoke Screen: 'Think about it' is a feeling, not a plan</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'What Specifically?' pivot — narrowing a cloud to a pinpoint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Thinking Cost Calculation: making the delay painful and quantifiable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Fairness Frame: turning the stall into a financial decision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Smoke Screen: What 'I Need to Think About It' Really Means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 need to think about it' is almost never about thinking — it is about an unresolved fear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three fires behind the smoke: Price (math doesn't add up), Trust (not sure about the company), Timing (wrong moment in life)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 job is not to argue with the smoke — it's to ask the question that reveals the fire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Rule: Never let a homeowner leave without knowing WHICH of the three fears is driving the stall</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If a rep lets a homeowner walk with 'I'll think about it,' they have done the homeowner a disservice. That homeowner will pay $3,000 to the utility over the next year 'thinking about it.' Finding the real objection is an act of service, not aggression.</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'What Specifically?' Pivot: Find the Fire</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786384"/>
            <a:ext cx="8503920" cy="329184"/>
          </a:xfrm>
          <a:prstGeom prst="rect">
            <a:avLst/>
          </a:prstGeom>
          <a:noFill/>
          <a:ln/>
        </p:spPr>
        <p:txBody>
          <a:bodyPr wrap="square" lIns="0" tIns="0" rIns="0" bIns="0" rtlCol="0" anchor="ctr"/>
          <a:lstStyle/>
          <a:p>
            <a:pPr algn="l" indent="0" marL="0">
              <a:buNone/>
            </a:pPr>
            <a:r>
              <a:rPr lang="en-US" sz="1000" i="1" dirty="0">
                <a:solidFill>
                  <a:srgbClr val="A0AEC0"/>
                </a:solidFill>
                <a:latin typeface="Calibri" pitchFamily="34" charset="0"/>
                <a:ea typeface="Calibri" pitchFamily="34" charset="-122"/>
                <a:cs typeface="Calibri" pitchFamily="34" charset="-120"/>
              </a:rPr>
              <a:t>Scenario: Homeowner has just said 'We just need a little time to think it over.'</a:t>
            </a:r>
            <a:endParaRPr lang="en-US" sz="1000" dirty="0"/>
          </a:p>
        </p:txBody>
      </p:sp>
      <p:sp>
        <p:nvSpPr>
          <p:cNvPr id="6" name="Shape 4"/>
          <p:cNvSpPr/>
          <p:nvPr/>
        </p:nvSpPr>
        <p:spPr>
          <a:xfrm>
            <a:off x="274320" y="1170432"/>
            <a:ext cx="8321040" cy="749808"/>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384048" y="1225296"/>
            <a:ext cx="8138160" cy="640080"/>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I completely respect that — this is a big decision and I never want anyone to feel rushed. Can I ask you one question, though?</a:t>
            </a:r>
            <a:endParaRPr lang="en-US" sz="1000" dirty="0"/>
          </a:p>
        </p:txBody>
      </p:sp>
      <p:sp>
        <p:nvSpPr>
          <p:cNvPr id="8" name="Shape 6"/>
          <p:cNvSpPr/>
          <p:nvPr/>
        </p:nvSpPr>
        <p:spPr>
          <a:xfrm>
            <a:off x="274320" y="2011680"/>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384048" y="2066544"/>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Sure.</a:t>
            </a:r>
            <a:endParaRPr lang="en-US" sz="1000" dirty="0"/>
          </a:p>
        </p:txBody>
      </p:sp>
      <p:sp>
        <p:nvSpPr>
          <p:cNvPr id="10" name="Shape 8"/>
          <p:cNvSpPr/>
          <p:nvPr/>
        </p:nvSpPr>
        <p:spPr>
          <a:xfrm>
            <a:off x="274320" y="2615184"/>
            <a:ext cx="8321040" cy="10058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1" name="Text 9"/>
          <p:cNvSpPr/>
          <p:nvPr/>
        </p:nvSpPr>
        <p:spPr>
          <a:xfrm>
            <a:off x="384048" y="2670048"/>
            <a:ext cx="8138160" cy="896112"/>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Usually when people say they need to think about it, it's one of two things: either the math doesn't quite add up the way they expected, or they aren't 100% sure about the company yet. Which one is it for you?</a:t>
            </a:r>
            <a:endParaRPr lang="en-US" sz="1000" dirty="0"/>
          </a:p>
        </p:txBody>
      </p:sp>
      <p:sp>
        <p:nvSpPr>
          <p:cNvPr id="12" name="Shape 10"/>
          <p:cNvSpPr/>
          <p:nvPr/>
        </p:nvSpPr>
        <p:spPr>
          <a:xfrm>
            <a:off x="274320" y="3712464"/>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384048" y="3767328"/>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I guess it's more about... I just want to make sure the savings are actually real.</a:t>
            </a:r>
            <a:endParaRPr lang="en-US" sz="1000" dirty="0"/>
          </a:p>
        </p:txBody>
      </p:sp>
      <p:sp>
        <p:nvSpPr>
          <p:cNvPr id="14" name="Shape 12"/>
          <p:cNvSpPr/>
          <p:nvPr/>
        </p:nvSpPr>
        <p:spPr>
          <a:xfrm>
            <a:off x="274320" y="4315968"/>
            <a:ext cx="8321040" cy="1005840"/>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5" name="Text 13"/>
          <p:cNvSpPr/>
          <p:nvPr/>
        </p:nvSpPr>
        <p:spPr>
          <a:xfrm>
            <a:off x="384048" y="4370832"/>
            <a:ext cx="8138160" cy="896112"/>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That's completely fair. So if we can nail down exactly what your savings would look like — with a real production guarantee — that's the thing that would make you comfortable moving forward?</a:t>
            </a:r>
            <a:endParaRPr lang="en-US" sz="1000" dirty="0"/>
          </a:p>
        </p:txBody>
      </p:sp>
      <p:sp>
        <p:nvSpPr>
          <p:cNvPr id="16" name="Shape 14"/>
          <p:cNvSpPr/>
          <p:nvPr/>
        </p:nvSpPr>
        <p:spPr>
          <a:xfrm>
            <a:off x="274320" y="5413248"/>
            <a:ext cx="8321040" cy="512064"/>
          </a:xfrm>
          <a:prstGeom prst="rect">
            <a:avLst/>
          </a:prstGeom>
          <a:solidFill>
            <a:srgbClr val="1A2840">
              <a:alpha val="60000"/>
            </a:srgbClr>
          </a:solidFill>
          <a:ln w="12700">
            <a:solidFill>
              <a:srgbClr val="4A5568"/>
            </a:solidFill>
            <a:prstDash val="solid"/>
          </a:ln>
          <a:effectLst>
            <a:outerShdw sx="100000" sy="100000" kx="0" ky="0" algn="bl" rotWithShape="0" blurRad="101600" dist="38100" dir="8100000">
              <a:srgbClr val="000000">
                <a:alpha val="20000"/>
              </a:srgbClr>
            </a:outerShdw>
          </a:effectLst>
        </p:spPr>
      </p:sp>
      <p:sp>
        <p:nvSpPr>
          <p:cNvPr id="17" name="Text 15"/>
          <p:cNvSpPr/>
          <p:nvPr/>
        </p:nvSpPr>
        <p:spPr>
          <a:xfrm>
            <a:off x="384048" y="5468112"/>
            <a:ext cx="8138160" cy="402336"/>
          </a:xfrm>
          <a:prstGeom prst="rect">
            <a:avLst/>
          </a:prstGeom>
          <a:noFill/>
          <a:ln/>
        </p:spPr>
        <p:txBody>
          <a:bodyPr wrap="square" lIns="0" tIns="0" rIns="0" bIns="0" rtlCol="0" anchor="ctr"/>
          <a:lstStyle/>
          <a:p>
            <a:pPr indent="0" marL="0">
              <a:buNone/>
            </a:pPr>
            <a:r>
              <a:rPr lang="en-US" sz="1000" b="1" dirty="0">
                <a:solidFill>
                  <a:srgbClr val="8FA3B1"/>
                </a:solidFill>
                <a:latin typeface="Arial Black" pitchFamily="34" charset="0"/>
                <a:ea typeface="Arial Black" pitchFamily="34" charset="-122"/>
                <a:cs typeface="Arial Black" pitchFamily="34" charset="-120"/>
              </a:rPr>
              <a:t>HO: </a:t>
            </a:r>
            <a:pPr indent="0" marL="0">
              <a:buNone/>
            </a:pPr>
            <a:r>
              <a:rPr lang="en-US" sz="1000" dirty="0">
                <a:solidFill>
                  <a:srgbClr val="FFFFFF"/>
                </a:solidFill>
                <a:latin typeface="Calibri" pitchFamily="34" charset="0"/>
                <a:ea typeface="Calibri" pitchFamily="34" charset="-122"/>
                <a:cs typeface="Calibri" pitchFamily="34" charset="-120"/>
              </a:rPr>
              <a:t>Yeah, I think so.</a:t>
            </a:r>
            <a:endParaRPr lang="en-US" sz="1000" dirty="0"/>
          </a:p>
        </p:txBody>
      </p:sp>
      <p:sp>
        <p:nvSpPr>
          <p:cNvPr id="18" name="Shape 16"/>
          <p:cNvSpPr/>
          <p:nvPr/>
        </p:nvSpPr>
        <p:spPr>
          <a:xfrm>
            <a:off x="274320" y="6016752"/>
            <a:ext cx="8321040" cy="512064"/>
          </a:xfrm>
          <a:prstGeom prst="rect">
            <a:avLst/>
          </a:prstGeom>
          <a:solidFill>
            <a:srgbClr val="0891B2">
              <a:alpha val="80000"/>
            </a:srgbClr>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9" name="Text 17"/>
          <p:cNvSpPr/>
          <p:nvPr/>
        </p:nvSpPr>
        <p:spPr>
          <a:xfrm>
            <a:off x="384048" y="6071616"/>
            <a:ext cx="8138160" cy="402336"/>
          </a:xfrm>
          <a:prstGeom prst="rect">
            <a:avLst/>
          </a:prstGeom>
          <a:noFill/>
          <a:ln/>
        </p:spPr>
        <p:txBody>
          <a:bodyPr wrap="square" lIns="0" tIns="0" rIns="0" bIns="0" rtlCol="0" anchor="ctr"/>
          <a:lstStyle/>
          <a:p>
            <a:pPr indent="0" marL="0">
              <a:buNone/>
            </a:pPr>
            <a:r>
              <a:rPr lang="en-US" sz="1000" b="1" dirty="0">
                <a:solidFill>
                  <a:srgbClr val="F4A61D"/>
                </a:solidFill>
                <a:latin typeface="Arial Black" pitchFamily="34" charset="0"/>
                <a:ea typeface="Arial Black" pitchFamily="34" charset="-122"/>
                <a:cs typeface="Arial Black" pitchFamily="34" charset="-120"/>
              </a:rPr>
              <a:t>Rep: </a:t>
            </a:r>
            <a:pPr indent="0" marL="0">
              <a:buNone/>
            </a:pPr>
            <a:r>
              <a:rPr lang="en-US" sz="1000" dirty="0">
                <a:solidFill>
                  <a:srgbClr val="FFFFFF"/>
                </a:solidFill>
                <a:latin typeface="Calibri" pitchFamily="34" charset="0"/>
                <a:ea typeface="Calibri" pitchFamily="34" charset="-122"/>
                <a:cs typeface="Calibri" pitchFamily="34" charset="-120"/>
              </a:rPr>
              <a:t>Perfect. Let me show you the production guarantee right now.</a:t>
            </a:r>
            <a:endParaRPr lang="en-US" sz="1000" dirty="0"/>
          </a:p>
        </p:txBody>
      </p:sp>
      <p:sp>
        <p:nvSpPr>
          <p:cNvPr id="20" name="Shape 1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1" name="Text 1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'Which one is it for you?' question is magic because it makes the homeowner choose a specific lane. Once they identify the real concern, you have something to solve. An amorphous 'think about it' has nothing to solve.</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Thinking Cost Calculation</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month of delay = 1 more utility bill with zero return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At $250/month: 12 months of 'thinking' = $3,000 gone forever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'What part of the $3,000 you'll pay [Utility] while you're thinking are you most comfortable losing?'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Fairness Frame: 'Does it seem fair to keep paying the utility while you decide whether to stop?'</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be completely transparent with you about something. While you're thinking about this, the utility doesn't pause. At $250 a month, thinking for a year costs you $3,000 that you'll never get back. I'm not trying to pressure you — I just want to make sure you have all the numbers, including that one.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Huh. I hadn't thought about it that way.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So the question isn't really 'Should I do this?' It's 'How long am I comfortable paying the utility to think about it?'</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Objection Isolation: What's Behind the 'Think About It'</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160520" cy="347472"/>
          </a:xfrm>
          <a:prstGeom prst="rect">
            <a:avLst/>
          </a:prstGeom>
          <a:solidFill>
            <a:srgbClr val="C0392B"/>
          </a:solidFill>
          <a:ln w="12700">
            <a:solidFill>
              <a:srgbClr val="C0392B"/>
            </a:solidFill>
            <a:prstDash val="solid"/>
          </a:ln>
        </p:spPr>
      </p:sp>
      <p:sp>
        <p:nvSpPr>
          <p:cNvPr id="6" name="Shape 4"/>
          <p:cNvSpPr/>
          <p:nvPr/>
        </p:nvSpPr>
        <p:spPr>
          <a:xfrm>
            <a:off x="4572000" y="804672"/>
            <a:ext cx="4206240" cy="347472"/>
          </a:xfrm>
          <a:prstGeom prst="rect">
            <a:avLst/>
          </a:prstGeom>
          <a:solidFill>
            <a:srgbClr val="2D9B4E"/>
          </a:solidFill>
          <a:ln w="12700">
            <a:solidFill>
              <a:srgbClr val="2D9B4E"/>
            </a:solidFill>
            <a:prstDash val="solid"/>
          </a:ln>
        </p:spPr>
      </p:sp>
      <p:sp>
        <p:nvSpPr>
          <p:cNvPr id="7" name="Text 5"/>
          <p:cNvSpPr/>
          <p:nvPr/>
        </p:nvSpPr>
        <p:spPr>
          <a:xfrm>
            <a:off x="320040" y="822960"/>
            <a:ext cx="4069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p:txBody>
      </p:sp>
      <p:sp>
        <p:nvSpPr>
          <p:cNvPr id="8" name="Text 6"/>
          <p:cNvSpPr/>
          <p:nvPr/>
        </p:nvSpPr>
        <p:spPr>
          <a:xfrm>
            <a:off x="4617720" y="822960"/>
            <a:ext cx="4114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a:t>
            </a:r>
            <a:endParaRPr lang="en-US" sz="1100" dirty="0"/>
          </a:p>
        </p:txBody>
      </p:sp>
      <p:sp>
        <p:nvSpPr>
          <p:cNvPr id="9" name="Shape 7"/>
          <p:cNvSpPr/>
          <p:nvPr/>
        </p:nvSpPr>
        <p:spPr>
          <a:xfrm>
            <a:off x="274320" y="1225296"/>
            <a:ext cx="4160520" cy="585216"/>
          </a:xfrm>
          <a:prstGeom prst="rect">
            <a:avLst/>
          </a:prstGeom>
          <a:solidFill>
            <a:srgbClr val="1A2840"/>
          </a:solidFill>
          <a:ln w="6350">
            <a:solidFill>
              <a:srgbClr val="4A5568"/>
            </a:solidFill>
            <a:prstDash val="solid"/>
          </a:ln>
        </p:spPr>
      </p:sp>
      <p:sp>
        <p:nvSpPr>
          <p:cNvPr id="10" name="Shape 8"/>
          <p:cNvSpPr/>
          <p:nvPr/>
        </p:nvSpPr>
        <p:spPr>
          <a:xfrm>
            <a:off x="4572000" y="1225296"/>
            <a:ext cx="4206240" cy="585216"/>
          </a:xfrm>
          <a:prstGeom prst="rect">
            <a:avLst/>
          </a:prstGeom>
          <a:solidFill>
            <a:srgbClr val="1A2840"/>
          </a:solidFill>
          <a:ln w="6350">
            <a:solidFill>
              <a:srgbClr val="4A5568"/>
            </a:solidFill>
            <a:prstDash val="solid"/>
          </a:ln>
        </p:spPr>
      </p:sp>
      <p:sp>
        <p:nvSpPr>
          <p:cNvPr id="11" name="Text 9"/>
          <p:cNvSpPr/>
          <p:nvPr/>
        </p:nvSpPr>
        <p:spPr>
          <a:xfrm>
            <a:off x="365760" y="1271016"/>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 want to look at the numbers again'</a:t>
            </a:r>
            <a:endParaRPr lang="en-US" sz="1100" dirty="0"/>
          </a:p>
        </p:txBody>
      </p:sp>
      <p:sp>
        <p:nvSpPr>
          <p:cNvPr id="12" name="Text 10"/>
          <p:cNvSpPr/>
          <p:nvPr/>
        </p:nvSpPr>
        <p:spPr>
          <a:xfrm>
            <a:off x="4663440" y="1271016"/>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'Absolutely — let's look at them together right now. Which part feels unclear?'</a:t>
            </a:r>
            <a:endParaRPr lang="en-US" sz="1100" dirty="0"/>
          </a:p>
        </p:txBody>
      </p:sp>
      <p:sp>
        <p:nvSpPr>
          <p:cNvPr id="13" name="Shape 11"/>
          <p:cNvSpPr/>
          <p:nvPr/>
        </p:nvSpPr>
        <p:spPr>
          <a:xfrm>
            <a:off x="274320" y="1901952"/>
            <a:ext cx="4160520" cy="585216"/>
          </a:xfrm>
          <a:prstGeom prst="rect">
            <a:avLst/>
          </a:prstGeom>
          <a:solidFill>
            <a:srgbClr val="0D1B2A"/>
          </a:solidFill>
          <a:ln w="6350">
            <a:solidFill>
              <a:srgbClr val="4A5568"/>
            </a:solidFill>
            <a:prstDash val="solid"/>
          </a:ln>
        </p:spPr>
      </p:sp>
      <p:sp>
        <p:nvSpPr>
          <p:cNvPr id="14" name="Shape 12"/>
          <p:cNvSpPr/>
          <p:nvPr/>
        </p:nvSpPr>
        <p:spPr>
          <a:xfrm>
            <a:off x="4572000" y="1901952"/>
            <a:ext cx="4206240" cy="585216"/>
          </a:xfrm>
          <a:prstGeom prst="rect">
            <a:avLst/>
          </a:prstGeom>
          <a:solidFill>
            <a:srgbClr val="0D1B2A"/>
          </a:solidFill>
          <a:ln w="6350">
            <a:solidFill>
              <a:srgbClr val="4A5568"/>
            </a:solidFill>
            <a:prstDash val="solid"/>
          </a:ln>
        </p:spPr>
      </p:sp>
      <p:sp>
        <p:nvSpPr>
          <p:cNvPr id="15" name="Text 13"/>
          <p:cNvSpPr/>
          <p:nvPr/>
        </p:nvSpPr>
        <p:spPr>
          <a:xfrm>
            <a:off x="365760" y="1947672"/>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 need to talk to my accountant'</a:t>
            </a:r>
            <a:endParaRPr lang="en-US" sz="1100" dirty="0"/>
          </a:p>
        </p:txBody>
      </p:sp>
      <p:sp>
        <p:nvSpPr>
          <p:cNvPr id="16" name="Text 14"/>
          <p:cNvSpPr/>
          <p:nvPr/>
        </p:nvSpPr>
        <p:spPr>
          <a:xfrm>
            <a:off x="4663440" y="1947672"/>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'Smart. What specific question would you want them to answer? I can probably address it now.'</a:t>
            </a:r>
            <a:endParaRPr lang="en-US" sz="1100" dirty="0"/>
          </a:p>
        </p:txBody>
      </p:sp>
      <p:sp>
        <p:nvSpPr>
          <p:cNvPr id="17" name="Shape 15"/>
          <p:cNvSpPr/>
          <p:nvPr/>
        </p:nvSpPr>
        <p:spPr>
          <a:xfrm>
            <a:off x="274320" y="2578608"/>
            <a:ext cx="4160520" cy="585216"/>
          </a:xfrm>
          <a:prstGeom prst="rect">
            <a:avLst/>
          </a:prstGeom>
          <a:solidFill>
            <a:srgbClr val="1A2840"/>
          </a:solidFill>
          <a:ln w="6350">
            <a:solidFill>
              <a:srgbClr val="4A5568"/>
            </a:solidFill>
            <a:prstDash val="solid"/>
          </a:ln>
        </p:spPr>
      </p:sp>
      <p:sp>
        <p:nvSpPr>
          <p:cNvPr id="18" name="Shape 16"/>
          <p:cNvSpPr/>
          <p:nvPr/>
        </p:nvSpPr>
        <p:spPr>
          <a:xfrm>
            <a:off x="4572000" y="2578608"/>
            <a:ext cx="4206240" cy="585216"/>
          </a:xfrm>
          <a:prstGeom prst="rect">
            <a:avLst/>
          </a:prstGeom>
          <a:solidFill>
            <a:srgbClr val="1A2840"/>
          </a:solidFill>
          <a:ln w="6350">
            <a:solidFill>
              <a:srgbClr val="4A5568"/>
            </a:solidFill>
            <a:prstDash val="solid"/>
          </a:ln>
        </p:spPr>
      </p:sp>
      <p:sp>
        <p:nvSpPr>
          <p:cNvPr id="19" name="Text 17"/>
          <p:cNvSpPr/>
          <p:nvPr/>
        </p:nvSpPr>
        <p:spPr>
          <a:xfrm>
            <a:off x="365760" y="2624328"/>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just don't make decisions this fast'</a:t>
            </a:r>
            <a:endParaRPr lang="en-US" sz="1100" dirty="0"/>
          </a:p>
        </p:txBody>
      </p:sp>
      <p:sp>
        <p:nvSpPr>
          <p:cNvPr id="20" name="Text 18"/>
          <p:cNvSpPr/>
          <p:nvPr/>
        </p:nvSpPr>
        <p:spPr>
          <a:xfrm>
            <a:off x="4663440" y="2624328"/>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'I respect that. What would need to be true for this to feel like the right time?'</a:t>
            </a:r>
            <a:endParaRPr lang="en-US" sz="1100" dirty="0"/>
          </a:p>
        </p:txBody>
      </p:sp>
      <p:sp>
        <p:nvSpPr>
          <p:cNvPr id="21" name="Shape 19"/>
          <p:cNvSpPr/>
          <p:nvPr/>
        </p:nvSpPr>
        <p:spPr>
          <a:xfrm>
            <a:off x="274320" y="3255264"/>
            <a:ext cx="4160520" cy="585216"/>
          </a:xfrm>
          <a:prstGeom prst="rect">
            <a:avLst/>
          </a:prstGeom>
          <a:solidFill>
            <a:srgbClr val="0D1B2A"/>
          </a:solidFill>
          <a:ln w="6350">
            <a:solidFill>
              <a:srgbClr val="4A5568"/>
            </a:solidFill>
            <a:prstDash val="solid"/>
          </a:ln>
        </p:spPr>
      </p:sp>
      <p:sp>
        <p:nvSpPr>
          <p:cNvPr id="22" name="Shape 20"/>
          <p:cNvSpPr/>
          <p:nvPr/>
        </p:nvSpPr>
        <p:spPr>
          <a:xfrm>
            <a:off x="4572000" y="3255264"/>
            <a:ext cx="4206240" cy="585216"/>
          </a:xfrm>
          <a:prstGeom prst="rect">
            <a:avLst/>
          </a:prstGeom>
          <a:solidFill>
            <a:srgbClr val="0D1B2A"/>
          </a:solidFill>
          <a:ln w="6350">
            <a:solidFill>
              <a:srgbClr val="4A5568"/>
            </a:solidFill>
            <a:prstDash val="solid"/>
          </a:ln>
        </p:spPr>
      </p:sp>
      <p:sp>
        <p:nvSpPr>
          <p:cNvPr id="23" name="Text 21"/>
          <p:cNvSpPr/>
          <p:nvPr/>
        </p:nvSpPr>
        <p:spPr>
          <a:xfrm>
            <a:off x="365760" y="3300984"/>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'I want to research the company more'</a:t>
            </a:r>
            <a:endParaRPr lang="en-US" sz="1100" dirty="0"/>
          </a:p>
        </p:txBody>
      </p:sp>
      <p:sp>
        <p:nvSpPr>
          <p:cNvPr id="24" name="Text 22"/>
          <p:cNvSpPr/>
          <p:nvPr/>
        </p:nvSpPr>
        <p:spPr>
          <a:xfrm>
            <a:off x="4663440" y="3300984"/>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'Fair. What are you looking for? Let me pull up our reviews and BBB rating right now.'</a:t>
            </a:r>
            <a:endParaRPr lang="en-US" sz="1100" dirty="0"/>
          </a:p>
        </p:txBody>
      </p:sp>
      <p:sp>
        <p:nvSpPr>
          <p:cNvPr id="25" name="Shape 23"/>
          <p:cNvSpPr/>
          <p:nvPr/>
        </p:nvSpPr>
        <p:spPr>
          <a:xfrm>
            <a:off x="274320" y="3931920"/>
            <a:ext cx="4160520" cy="585216"/>
          </a:xfrm>
          <a:prstGeom prst="rect">
            <a:avLst/>
          </a:prstGeom>
          <a:solidFill>
            <a:srgbClr val="1A2840"/>
          </a:solidFill>
          <a:ln w="6350">
            <a:solidFill>
              <a:srgbClr val="4A5568"/>
            </a:solidFill>
            <a:prstDash val="solid"/>
          </a:ln>
        </p:spPr>
      </p:sp>
      <p:sp>
        <p:nvSpPr>
          <p:cNvPr id="26" name="Shape 24"/>
          <p:cNvSpPr/>
          <p:nvPr/>
        </p:nvSpPr>
        <p:spPr>
          <a:xfrm>
            <a:off x="4572000" y="3931920"/>
            <a:ext cx="4206240" cy="585216"/>
          </a:xfrm>
          <a:prstGeom prst="rect">
            <a:avLst/>
          </a:prstGeom>
          <a:solidFill>
            <a:srgbClr val="1A2840"/>
          </a:solidFill>
          <a:ln w="6350">
            <a:solidFill>
              <a:srgbClr val="4A5568"/>
            </a:solidFill>
            <a:prstDash val="solid"/>
          </a:ln>
        </p:spPr>
      </p:sp>
      <p:sp>
        <p:nvSpPr>
          <p:cNvPr id="27" name="Text 25"/>
          <p:cNvSpPr/>
          <p:nvPr/>
        </p:nvSpPr>
        <p:spPr>
          <a:xfrm>
            <a:off x="365760" y="3977640"/>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need to sleep on it'</a:t>
            </a:r>
            <a:endParaRPr lang="en-US" sz="1100" dirty="0"/>
          </a:p>
        </p:txBody>
      </p:sp>
      <p:sp>
        <p:nvSpPr>
          <p:cNvPr id="28" name="Text 26"/>
          <p:cNvSpPr/>
          <p:nvPr/>
        </p:nvSpPr>
        <p:spPr>
          <a:xfrm>
            <a:off x="4663440" y="3977640"/>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'Of course. What's the one thing you'd want to feel certain about by morning?'</a:t>
            </a:r>
            <a:endParaRPr lang="en-US" sz="1100" dirty="0"/>
          </a:p>
        </p:txBody>
      </p:sp>
      <p:sp>
        <p:nvSpPr>
          <p:cNvPr id="29" name="Shape 27"/>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30" name="Text 28"/>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Each response does two things: validates the concern AND narrows it to a specific, solvable issue. Reps who master this technique rarely walk away without at least identifying the real objection.</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'Think About It' Hot Seat</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Stay calm and isolate the real objection behind repeated stalling</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plays a homeowner who says 'I just need some time' to EVERY response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Rep must use the sequence: Validate → 'What Specifically?' → Thinking Cost → Fairness Frame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The 'homeowner' does not give in until the rep correctly identifies and names the real fear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watches for: Does the rep get frustrated? Do they get louder or faster? Both are fails.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Each rep completes the 'Objection Isolation' flowchart worksheet</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35 MIN</a:t>
            </a:r>
            <a:endParaRPr lang="en-US" sz="14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5.6</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'More Quotes' &amp; Comparison Trap</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Positioning as the Only Choice, Not Just the Best Choice</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5.6 — MORE QUOTES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How to Handle 'I Want to Shop Around' Without Badmouthing Anyone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Apples to Oranges: teaching homeowners how to compare correctly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Value of Time frame: shopping has a real cost that compounds daily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Expert Advisor Pivot: becoming their guide through the comparison process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Differentiating on 'Onlys' — things only your company provides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Apples to Oranges: Not All Quotes Are Created Equal</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4 dimensions that differ between quotes and are rarely communicated: Equipment quality, Workmanship warranty, Post-install monitoring, Long-term service support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quote for solar is like a quote for surgery — the cheapest surgeon is not necessarily the best choice'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Help the homeowner understand what they are actually evaluating: total lifetime value, not upfront cost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Offer to create a side-by-side comparison framework so they know what to look for in every quote</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totally support getting more quotes — that's a smart thing to do. Let me give you the four things that actually matter so you know what to compare. Most people just look at price and miss the three things that matter most.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Like what?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Workmanship warranty, who's doing the monitoring after install, and what happens when something goes wrong in year 8. Those are what separate a good company from a cheap one.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rep who teaches the homeowner how to shop correctly positions themselves as the expert. And the expert's quote is always the benchmark. Every competitor will be measured against the framework you establish.</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Value of Time Frame: Shopping Has a Cost</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Every week of comparison shopping = more utility bills with zero return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you spend 10 hours getting 3 more quotes and save $500 — but lose $1,000 in incentives while waiting — did you win?'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Net metering grandfathering windows, ITC percentages, local rebate 'buckets' — these close without warning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market doesn't wait for the shopping process. Once that rebate bucket closes, the math changes permanently.'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is ethical urgency — not manufactured. If there are real incentive windows closing, reps have an obligation to communicate them. If there are not, don't fabricate them. Use the 'time cost of shopping' only when it is genuinely true.</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Expert Advisor Pivot: From Salesperson to Guide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I could show you that our service, equipment, and long-term protection are exactly what you'd be looking for in those other quotes anyway — is there any reason we wouldn't start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This question reframes the rep as the expert whose product would pass the homeowner's own test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It also contains a hidden close: if they say 'no reason,' they have committed to starting today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they name a reason, you've just flushed out the real objection</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Let me ask you something. If you got 3 more quotes and then did a side-by-side on equipment, warranty, monitoring, and service — and ours came out on top — is there any reason you wouldn't come back and go with us?</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mean... no, I guess not.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Great. So let me save you 10 hours and show you that comparison right now. What specifically would you be looking for?</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Comparison Matrix Exercise</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3-column competitive advantage framework reps can use in the field</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Each rep lists 3 things their company does that budget competitors typically do NOT offer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For each differentiator, write a one-sentence 'Risk Insurance' explanation — why the absence of this hurts the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Test: Could you deliver this comparison live on an iPad while a homeowner watches?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Role-play: Partner plays a homeowner who says 'I found a company that's $4,000 cheaper'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Written 'Competitive Advantage' script — 3 differentiators, 3 risk reversals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5.7</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'Price/Payment Is High' Objection</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Making Large Numbers Small — and Reframing the Comparison</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5.7 — PRICE OBJECTION</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Break It Down. Redirect It. Own 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Daily Coffee reframe: from $50/month to $1.60/day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Equity vs. Expense: solar payment as principal, utility as interest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Finding the Budget Leak: what they are already spending that solar replaces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Math on the Fly drill: live calculation under pressure</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'Daily Coffee' Reframing: Granular Math</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the solar payment is $50/month higher than their current bill: that is $1.67 per 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'Is the certainty of owning your power worth less than a cup of coffee per day?'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Extend it: 'That's the difference between a rising bill and a fixed one — forever — for the price of a latte'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For larger differences: break it to weekly ($11.50/week) and compare to a restaurant meal, a streaming subscription, or a gym membership</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Can I show you something quick? The difference between your current bill and the solar payment is $50 a month. Let me do the math — $50 divided by 30 days is $1.67 a day. So the question is: is the certainty of owning your power worth $1.67 a day?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When you put it that way, it sounds pretty reasonable.</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because it is. For the price of a cup of coffee, you eliminate the 10% hikes forever.</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Granular math is not a trick — it is a legitimate way to make large numbers real. The homeowner already knows $1.67 a day is nothing. The moment they do that math in their head, the 'high payment' objection evaporates.</a:t>
            </a:r>
            <a:endParaRPr lang="en-US" sz="9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Equity vs. Expense: Solar Is Principal, Utility Is Interest</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Utility payment: 100% expense — builds zero equity, zero asset, zero value at the end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payment: builds ownership — at the end of the term, you own a producing asset on your home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'Which would you rather have: a high bill that goes to a monopoly forever, or a payment that ends and builds value in your home?'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Connect to the BOLT type: Owls want the ROI math. Turtles want the safety. Lions want the story. Bulls want the speed.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'Principal vs. Interest' framing is especially powerful for homeowners who own their home and understand mortgage psychology. They already know principal builds equity. Apply that mental model to their energy payment.</a:t>
            </a:r>
            <a:endParaRPr lang="en-US" sz="9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Finding the Budget Leak: You're Already Spending This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Look at what the homeowner currently spends on subscriptions, dining, luxury items that are comparable in cost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'You're already spending this money — we're just changing the name on the check'</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Common budget leaks: cable TV ($120/mo), dining out ($300/mo), gym memberships ($80/mo)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'You kept the gym membership for 3 years — solar actually pays you back at the end'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technique requires tact — do not attack their lifestyle choices. The goal is to show that they are already capable of the payment, not to shame them. 'You're clearly someone who values quality — this is just applying that same value to your energy.'</a:t>
            </a:r>
            <a:endParaRPr lang="en-US" sz="9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Price Objection Response Matrix</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160520" cy="347472"/>
          </a:xfrm>
          <a:prstGeom prst="rect">
            <a:avLst/>
          </a:prstGeom>
          <a:solidFill>
            <a:srgbClr val="C0392B"/>
          </a:solidFill>
          <a:ln w="12700">
            <a:solidFill>
              <a:srgbClr val="C0392B"/>
            </a:solidFill>
            <a:prstDash val="solid"/>
          </a:ln>
        </p:spPr>
      </p:sp>
      <p:sp>
        <p:nvSpPr>
          <p:cNvPr id="6" name="Shape 4"/>
          <p:cNvSpPr/>
          <p:nvPr/>
        </p:nvSpPr>
        <p:spPr>
          <a:xfrm>
            <a:off x="4572000" y="804672"/>
            <a:ext cx="4206240" cy="347472"/>
          </a:xfrm>
          <a:prstGeom prst="rect">
            <a:avLst/>
          </a:prstGeom>
          <a:solidFill>
            <a:srgbClr val="2D9B4E"/>
          </a:solidFill>
          <a:ln w="12700">
            <a:solidFill>
              <a:srgbClr val="2D9B4E"/>
            </a:solidFill>
            <a:prstDash val="solid"/>
          </a:ln>
        </p:spPr>
      </p:sp>
      <p:sp>
        <p:nvSpPr>
          <p:cNvPr id="7" name="Text 5"/>
          <p:cNvSpPr/>
          <p:nvPr/>
        </p:nvSpPr>
        <p:spPr>
          <a:xfrm>
            <a:off x="320040" y="822960"/>
            <a:ext cx="406908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HOMEOWNER SAYS</a:t>
            </a:r>
            <a:endParaRPr lang="en-US" sz="1100" dirty="0"/>
          </a:p>
        </p:txBody>
      </p:sp>
      <p:sp>
        <p:nvSpPr>
          <p:cNvPr id="8" name="Text 6"/>
          <p:cNvSpPr/>
          <p:nvPr/>
        </p:nvSpPr>
        <p:spPr>
          <a:xfrm>
            <a:off x="4617720" y="822960"/>
            <a:ext cx="4114800"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Black" pitchFamily="34" charset="0"/>
                <a:ea typeface="Arial Black" pitchFamily="34" charset="-122"/>
                <a:cs typeface="Arial Black" pitchFamily="34" charset="-120"/>
              </a:rPr>
              <a:t>✅  REP RESPONDS</a:t>
            </a:r>
            <a:endParaRPr lang="en-US" sz="1100" dirty="0"/>
          </a:p>
        </p:txBody>
      </p:sp>
      <p:sp>
        <p:nvSpPr>
          <p:cNvPr id="9" name="Shape 7"/>
          <p:cNvSpPr/>
          <p:nvPr/>
        </p:nvSpPr>
        <p:spPr>
          <a:xfrm>
            <a:off x="274320" y="1225296"/>
            <a:ext cx="4160520" cy="585216"/>
          </a:xfrm>
          <a:prstGeom prst="rect">
            <a:avLst/>
          </a:prstGeom>
          <a:solidFill>
            <a:srgbClr val="1A2840"/>
          </a:solidFill>
          <a:ln w="6350">
            <a:solidFill>
              <a:srgbClr val="4A5568"/>
            </a:solidFill>
            <a:prstDash val="solid"/>
          </a:ln>
        </p:spPr>
      </p:sp>
      <p:sp>
        <p:nvSpPr>
          <p:cNvPr id="10" name="Shape 8"/>
          <p:cNvSpPr/>
          <p:nvPr/>
        </p:nvSpPr>
        <p:spPr>
          <a:xfrm>
            <a:off x="4572000" y="1225296"/>
            <a:ext cx="4206240" cy="585216"/>
          </a:xfrm>
          <a:prstGeom prst="rect">
            <a:avLst/>
          </a:prstGeom>
          <a:solidFill>
            <a:srgbClr val="1A2840"/>
          </a:solidFill>
          <a:ln w="6350">
            <a:solidFill>
              <a:srgbClr val="4A5568"/>
            </a:solidFill>
            <a:prstDash val="solid"/>
          </a:ln>
        </p:spPr>
      </p:sp>
      <p:sp>
        <p:nvSpPr>
          <p:cNvPr id="11" name="Text 9"/>
          <p:cNvSpPr/>
          <p:nvPr/>
        </p:nvSpPr>
        <p:spPr>
          <a:xfrm>
            <a:off x="365760" y="1271016"/>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payment is just too high for us right now'</a:t>
            </a:r>
            <a:endParaRPr lang="en-US" sz="1100" dirty="0"/>
          </a:p>
        </p:txBody>
      </p:sp>
      <p:sp>
        <p:nvSpPr>
          <p:cNvPr id="12" name="Text 10"/>
          <p:cNvSpPr/>
          <p:nvPr/>
        </p:nvSpPr>
        <p:spPr>
          <a:xfrm>
            <a:off x="4663440" y="1271016"/>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'Compared to what? At $1.67/day, it's actually the cheapest thing you'll do this month that lasts forever.'</a:t>
            </a:r>
            <a:endParaRPr lang="en-US" sz="1100" dirty="0"/>
          </a:p>
        </p:txBody>
      </p:sp>
      <p:sp>
        <p:nvSpPr>
          <p:cNvPr id="13" name="Shape 11"/>
          <p:cNvSpPr/>
          <p:nvPr/>
        </p:nvSpPr>
        <p:spPr>
          <a:xfrm>
            <a:off x="274320" y="1901952"/>
            <a:ext cx="4160520" cy="585216"/>
          </a:xfrm>
          <a:prstGeom prst="rect">
            <a:avLst/>
          </a:prstGeom>
          <a:solidFill>
            <a:srgbClr val="0D1B2A"/>
          </a:solidFill>
          <a:ln w="6350">
            <a:solidFill>
              <a:srgbClr val="4A5568"/>
            </a:solidFill>
            <a:prstDash val="solid"/>
          </a:ln>
        </p:spPr>
      </p:sp>
      <p:sp>
        <p:nvSpPr>
          <p:cNvPr id="14" name="Shape 12"/>
          <p:cNvSpPr/>
          <p:nvPr/>
        </p:nvSpPr>
        <p:spPr>
          <a:xfrm>
            <a:off x="4572000" y="1901952"/>
            <a:ext cx="4206240" cy="585216"/>
          </a:xfrm>
          <a:prstGeom prst="rect">
            <a:avLst/>
          </a:prstGeom>
          <a:solidFill>
            <a:srgbClr val="0D1B2A"/>
          </a:solidFill>
          <a:ln w="6350">
            <a:solidFill>
              <a:srgbClr val="4A5568"/>
            </a:solidFill>
            <a:prstDash val="solid"/>
          </a:ln>
        </p:spPr>
      </p:sp>
      <p:sp>
        <p:nvSpPr>
          <p:cNvPr id="15" name="Text 13"/>
          <p:cNvSpPr/>
          <p:nvPr/>
        </p:nvSpPr>
        <p:spPr>
          <a:xfrm>
            <a:off x="365760" y="1947672"/>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'We were hoping it would save us money on Day 1'</a:t>
            </a:r>
            <a:endParaRPr lang="en-US" sz="1100" dirty="0"/>
          </a:p>
        </p:txBody>
      </p:sp>
      <p:sp>
        <p:nvSpPr>
          <p:cNvPr id="16" name="Text 14"/>
          <p:cNvSpPr/>
          <p:nvPr/>
        </p:nvSpPr>
        <p:spPr>
          <a:xfrm>
            <a:off x="4663440" y="1947672"/>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'Let me show you the 18-month curve — at month 19, your solar payment disappears in value vs. the rising utility.'</a:t>
            </a:r>
            <a:endParaRPr lang="en-US" sz="1100" dirty="0"/>
          </a:p>
        </p:txBody>
      </p:sp>
      <p:sp>
        <p:nvSpPr>
          <p:cNvPr id="17" name="Shape 15"/>
          <p:cNvSpPr/>
          <p:nvPr/>
        </p:nvSpPr>
        <p:spPr>
          <a:xfrm>
            <a:off x="274320" y="2578608"/>
            <a:ext cx="4160520" cy="585216"/>
          </a:xfrm>
          <a:prstGeom prst="rect">
            <a:avLst/>
          </a:prstGeom>
          <a:solidFill>
            <a:srgbClr val="1A2840"/>
          </a:solidFill>
          <a:ln w="6350">
            <a:solidFill>
              <a:srgbClr val="4A5568"/>
            </a:solidFill>
            <a:prstDash val="solid"/>
          </a:ln>
        </p:spPr>
      </p:sp>
      <p:sp>
        <p:nvSpPr>
          <p:cNvPr id="18" name="Shape 16"/>
          <p:cNvSpPr/>
          <p:nvPr/>
        </p:nvSpPr>
        <p:spPr>
          <a:xfrm>
            <a:off x="4572000" y="2578608"/>
            <a:ext cx="4206240" cy="585216"/>
          </a:xfrm>
          <a:prstGeom prst="rect">
            <a:avLst/>
          </a:prstGeom>
          <a:solidFill>
            <a:srgbClr val="1A2840"/>
          </a:solidFill>
          <a:ln w="6350">
            <a:solidFill>
              <a:srgbClr val="4A5568"/>
            </a:solidFill>
            <a:prstDash val="solid"/>
          </a:ln>
        </p:spPr>
      </p:sp>
      <p:sp>
        <p:nvSpPr>
          <p:cNvPr id="19" name="Text 17"/>
          <p:cNvSpPr/>
          <p:nvPr/>
        </p:nvSpPr>
        <p:spPr>
          <a:xfrm>
            <a:off x="365760" y="2624328"/>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'The total cost just seems really high'</a:t>
            </a:r>
            <a:endParaRPr lang="en-US" sz="1100" dirty="0"/>
          </a:p>
        </p:txBody>
      </p:sp>
      <p:sp>
        <p:nvSpPr>
          <p:cNvPr id="20" name="Text 18"/>
          <p:cNvSpPr/>
          <p:nvPr/>
        </p:nvSpPr>
        <p:spPr>
          <a:xfrm>
            <a:off x="4663440" y="2624328"/>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'Totally fair. What's your current mortgage payment? Solar is about 5% of that — for a 25-year asset.'</a:t>
            </a:r>
            <a:endParaRPr lang="en-US" sz="1100" dirty="0"/>
          </a:p>
        </p:txBody>
      </p:sp>
      <p:sp>
        <p:nvSpPr>
          <p:cNvPr id="21" name="Shape 19"/>
          <p:cNvSpPr/>
          <p:nvPr/>
        </p:nvSpPr>
        <p:spPr>
          <a:xfrm>
            <a:off x="274320" y="3255264"/>
            <a:ext cx="4160520" cy="585216"/>
          </a:xfrm>
          <a:prstGeom prst="rect">
            <a:avLst/>
          </a:prstGeom>
          <a:solidFill>
            <a:srgbClr val="0D1B2A"/>
          </a:solidFill>
          <a:ln w="6350">
            <a:solidFill>
              <a:srgbClr val="4A5568"/>
            </a:solidFill>
            <a:prstDash val="solid"/>
          </a:ln>
        </p:spPr>
      </p:sp>
      <p:sp>
        <p:nvSpPr>
          <p:cNvPr id="22" name="Shape 20"/>
          <p:cNvSpPr/>
          <p:nvPr/>
        </p:nvSpPr>
        <p:spPr>
          <a:xfrm>
            <a:off x="4572000" y="3255264"/>
            <a:ext cx="4206240" cy="585216"/>
          </a:xfrm>
          <a:prstGeom prst="rect">
            <a:avLst/>
          </a:prstGeom>
          <a:solidFill>
            <a:srgbClr val="0D1B2A"/>
          </a:solidFill>
          <a:ln w="6350">
            <a:solidFill>
              <a:srgbClr val="4A5568"/>
            </a:solidFill>
            <a:prstDash val="solid"/>
          </a:ln>
        </p:spPr>
      </p:sp>
      <p:sp>
        <p:nvSpPr>
          <p:cNvPr id="23" name="Text 21"/>
          <p:cNvSpPr/>
          <p:nvPr/>
        </p:nvSpPr>
        <p:spPr>
          <a:xfrm>
            <a:off x="365760" y="3300984"/>
            <a:ext cx="3977640" cy="493776"/>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'Other companies were cheaper'</a:t>
            </a:r>
            <a:endParaRPr lang="en-US" sz="1100" dirty="0"/>
          </a:p>
        </p:txBody>
      </p:sp>
      <p:sp>
        <p:nvSpPr>
          <p:cNvPr id="24" name="Text 22"/>
          <p:cNvSpPr/>
          <p:nvPr/>
        </p:nvSpPr>
        <p:spPr>
          <a:xfrm>
            <a:off x="4663440" y="3300984"/>
            <a:ext cx="4023360" cy="49377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'What did their workmanship warranty cover? And who's monitoring the system after install?'</a:t>
            </a:r>
            <a:endParaRPr lang="en-US" sz="1100" dirty="0"/>
          </a:p>
        </p:txBody>
      </p:sp>
      <p:sp>
        <p:nvSpPr>
          <p:cNvPr id="25" name="Shape 2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6" name="Text 2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For each objection, the goal is to redirect the comparison. The homeowner is comparing solar payment to zero — but zero is not the real alternative. The alternative is the utility bill, the inflation, and the zero equity.</a:t>
            </a:r>
            <a:endParaRPr lang="en-US" sz="9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Math on the Fly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Live-calculate the Daily Cost of Ownership for any solar payment in under 20 seconds</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Trainer calls out: solar payment $178/mo, utility bill $240/mo — rep must say 'Daily difference: $2.07' without a calculator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Second round: solar payment $210/mo, utility bill $195/mo — rep must pivot to the price protection close (Day 1 isn't savings — future protection is)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Third round: rep must calculate the 'Thinking Cost' — $240/mo × 12 months = $2,880 while deciding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zero hesitation, confident delivery — the math is the close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laminated 'Daily Value' cheat sheet for the rep's top 3 solar plan payment scenarios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5.8</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Spouse &amp; Decision-Maker Dynamic</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Facilitating a Unit Decision — Not a Solo Sell</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5.8 — SPOUSE DYNAMICS</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Win the Skeptic. Close the Unit.</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Good Cop/Bad Cop dynamic: addressing the Protector without alienating the Excited</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Co-Pilot Strategy: turning the hesitant spouse into the Technical Reviewer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Joint Future Frame: questions that require both to answer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Unity Questions: pulling both spouses into the same decision</a:t>
            </a:r>
            <a:endParaRPr lang="en-US" sz="13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Good Cop / Bad Cop Dynamic: Recognize the Roles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In most couples, one spouse is naturally more excited, one is more protective — know which is which within 5 minutes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'Protector' is not the enemy — they are doing their job. Validate their role first.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'Mary, I can see you're the one making sure this is the right decision for the family — I respect that completely'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sell only to the excited spouse — the Protector will kill the deal in the driveway</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most common Day 5 failure: the rep connects deeply with one spouse and 'loses' the other. Always address the skeptic's concerns explicitly, even if the excited spouse is already sold. The Protector has veto power.</a:t>
            </a:r>
            <a:endParaRPr lang="en-US" sz="9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Co-Pilot Strategy: Make the Skeptic the Expert</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Assign the hesitant spouse a specific role: 'I want YOUR input on the financial math'</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'John, since you handle the finances — what part of the ROI doesn't sit right with you yet?'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By making them the Technical Reviewer, you validate their intelligence and redirect their skepticism into productive analysis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they raise a concern, treat it as data, not resistance: 'That's exactly the right question — let me show you'</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John, I actually want your input specifically on the financial side — you're clearly the one who's going to stress-test this. Looking at the 25-year projection, what's the number that doesn't sit right with you yet?</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John:</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Well, I'm not sure the production estimate is accurate for our roof specifically.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 is exactly the right thing to scrutinize. Let me show you the LIDAR data for your roof — this is your specific shading analysis, not a generic estimate.</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Co-Pilot strategy works because it removes the adversarial dynamic. The skeptical spouse stops being the obstacle and starts being the evaluator. Evaluators want to find the right answer — not escape the conversation.</a:t>
            </a:r>
            <a:endParaRPr lang="en-US" sz="9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Joint Future Frame: Questions That Require Both to Answer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'Where do you both see yourselves in this home 10 years from now?'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you think about the legacy you're building for your family — does owning your energy factor into that?'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you could tell your future selves one thing about this decision, what do you think they'd want to hear?'</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These questions pull both spouses into a shared vision — and a shared vision moves together toward a shared decision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Joint Future framing is particularly powerful when one spouse is excited about legacy or responsibility and the other is primarily financial. The financial spouse can't argue against their own family's future. These questions unite the room.</a:t>
            </a:r>
            <a:endParaRPr lang="en-US" sz="9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Tough Spouse Roleplay</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Win over the hesitant spouse without losing the excited one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Three-person roleplay: Rep, Excited Spouse, Hesitant Spouse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The Hesitant Spouse's objection: 'I just don't think the timing is right for us'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Rep must: validate the Protector, use the Co-Pilot strategy, AND deliver a Joint Future Frame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The Excited Spouse can help but the Rep must direct the Hesitant Spouse specifically</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The scene ends only when both spouses verbally agree to the next step</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6.  Deliverable: Written 'Unity Question' script — 5 questions that pull both spouses into the decision</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5.9</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Creating Natural Urgency</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Real Deadlines. Real Consequences. Zero Pressure Tactics.</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5.9 — NATURAL URGENCY</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Urgency That Comes From the Market, Not the Rep</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Operational urgency: the install queue is real and has consequences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Rate hike windows: utility calendar dates the homeowner needs to know</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Solar Window: why winter decisions drive summer savings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30-second Timeline Close</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Operational Urgency: The Install Queue Is Real</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installation crews are scheduled weeks to months in advance — 'first in, first served'</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'If we start the paperwork today, you're in the queue for [Month]. If we wait 30 days, that's [Month+1].'</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it as protecting the homeowner: 'I don't want you to lose your spot because of a 2-week delay'</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difference between signing today vs. next month: $200–$400 in additional utility bills paid while waiting</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I want to make sure you know something practical. Our install crews are scheduled out about 5 weeks right now. If we start your application today, you're looking at panels on the roof by [Date]. If we wait until next month, that pushes to [Date+5wks]. I just want you to have that timeline so you can factor it into your thinking.</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urgency is REAL — never fabricate queue pressure. If your install timeline is genuinely 4–6 weeks, the homeowner should know. That's an honest business fact that happens to also create logical urgency.</a:t>
            </a:r>
            <a:endParaRPr lang="en-US" sz="9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Rate Hike Windows: Grandfathering the Homeowner</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Most utilities schedule rate increases on a known annual or semi-annual calendar — know yours</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'[Utility]'s next rate increase is filed for [Month] — if we get your application in before then, you're grandfathered at the current rate structure'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Net Metering changes have a history of eliminating legacy agreements overnight (NEM 2.0 → NEM 3.0 in CA)</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as protection, not pressure: 'I want to make sure you're locked in before the rules change — because they always do'</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Grandfathering urgency is among the most powerful because it is about protection, not sales. The homeowner is not being pushed — they are being warned. That framing preserves trust while creating urgency.</a:t>
            </a:r>
            <a:endParaRPr lang="en-US" sz="9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Solar Window: Winter Decisions Drive Summer Savings</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Solar systems take 6–8 weeks from signature to Permission to Operate (PTO)</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decision made in November → panels producing by January → first summer fully offset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A decision delayed to March → PTO in June → first summer only partially offset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panels you install in winter are the ones saving you money in July. The decision you delay until spring costs you the first summer.'</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This urgency is especially powerful in markets with hot summers where utility bills spike dramatically. Help homeowners visualize the first July bill AFTER solar vs. the first July bill WITHOUT the decision they're delaying today.</a:t>
            </a:r>
            <a:endParaRPr lang="en-US" sz="9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Urgency Mapping</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Build a visual Project Timeline that makes the cost of delay visible in real time</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On an iPad or whiteboard, rep draws a timeline: Today → Application → Permit → Install → PTO</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Mark two tracks: 'Sign Today' path vs. 'Wait 30 Days' path — show the PTO date difference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Add the utility bill cost between the two PTO dates — this is the financial cost of waiting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Practice delivering the 30-second Timeline Close while pointing at the visual</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30-second 'Timeline Close' script that uses real local install dates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25 MIN</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5.10</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The Closing Conversation Flow</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5 Steps from 'I Like It' to 'Where Do I Sign?'</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5.10 — THE CLOSING FLOW</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The Closing Ladder: Small Yeses Lead to the Big Yes</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1: The Recap Agreement — confirming the design solves their stated problems</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2: The Logic Check — confirming the math beats the utility</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 3: The Risk Reversal — the warranty removes the last fear</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Steps 4 &amp; 5: The Assumptive Move + Post-Sign Reassurance</a:t>
            </a:r>
            <a:endParaRPr lang="en-US" sz="13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5-Step Closing Ladder</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8503920" cy="65836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512064" cy="658368"/>
          </a:xfrm>
          <a:prstGeom prst="rect">
            <a:avLst/>
          </a:prstGeom>
          <a:solidFill>
            <a:srgbClr val="F4A61D"/>
          </a:solidFill>
          <a:ln w="12700">
            <a:solidFill>
              <a:srgbClr val="F4A61D"/>
            </a:solidFill>
            <a:prstDash val="solid"/>
          </a:ln>
        </p:spPr>
      </p:sp>
      <p:sp>
        <p:nvSpPr>
          <p:cNvPr id="7" name="Text 5"/>
          <p:cNvSpPr/>
          <p:nvPr/>
        </p:nvSpPr>
        <p:spPr>
          <a:xfrm>
            <a:off x="274320" y="822960"/>
            <a:ext cx="512064"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1</a:t>
            </a:r>
            <a:endParaRPr lang="en-US" sz="1800" dirty="0"/>
          </a:p>
        </p:txBody>
      </p:sp>
      <p:sp>
        <p:nvSpPr>
          <p:cNvPr id="8" name="Text 6"/>
          <p:cNvSpPr/>
          <p:nvPr/>
        </p:nvSpPr>
        <p:spPr>
          <a:xfrm>
            <a:off x="914400" y="850392"/>
            <a:ext cx="7772400" cy="566928"/>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Step 1 — The Recap Agreement  </a:t>
            </a:r>
            <a:pPr indent="0" marL="0">
              <a:buNone/>
            </a:pPr>
            <a:r>
              <a:rPr lang="en-US" sz="1100" dirty="0">
                <a:solidFill>
                  <a:srgbClr val="FFFFFF"/>
                </a:solidFill>
                <a:latin typeface="Calibri" pitchFamily="34" charset="0"/>
                <a:ea typeface="Calibri" pitchFamily="34" charset="-122"/>
                <a:cs typeface="Calibri" pitchFamily="34" charset="-120"/>
              </a:rPr>
              <a:t>'Does this design solve the problems we talked about — the hikes, the retirement budget, the lifetime cost?' → Get a 'Yes'</a:t>
            </a:r>
            <a:endParaRPr lang="en-US" sz="1200" dirty="0"/>
          </a:p>
        </p:txBody>
      </p:sp>
      <p:sp>
        <p:nvSpPr>
          <p:cNvPr id="9" name="Shape 7"/>
          <p:cNvSpPr/>
          <p:nvPr/>
        </p:nvSpPr>
        <p:spPr>
          <a:xfrm>
            <a:off x="274320" y="1554480"/>
            <a:ext cx="8503920" cy="65836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554480"/>
            <a:ext cx="512064" cy="658368"/>
          </a:xfrm>
          <a:prstGeom prst="rect">
            <a:avLst/>
          </a:prstGeom>
          <a:solidFill>
            <a:srgbClr val="0891B2"/>
          </a:solidFill>
          <a:ln w="12700">
            <a:solidFill>
              <a:srgbClr val="0891B2"/>
            </a:solidFill>
            <a:prstDash val="solid"/>
          </a:ln>
        </p:spPr>
      </p:sp>
      <p:sp>
        <p:nvSpPr>
          <p:cNvPr id="11" name="Text 9"/>
          <p:cNvSpPr/>
          <p:nvPr/>
        </p:nvSpPr>
        <p:spPr>
          <a:xfrm>
            <a:off x="274320" y="1572768"/>
            <a:ext cx="512064" cy="621792"/>
          </a:xfrm>
          <a:prstGeom prst="rect">
            <a:avLst/>
          </a:prstGeom>
          <a:noFill/>
          <a:ln/>
        </p:spPr>
        <p:txBody>
          <a:bodyPr wrap="square" lIns="0" tIns="0" rIns="0" bIns="0" rtlCol="0" anchor="ctr"/>
          <a:lstStyle/>
          <a:p>
            <a:pPr algn="ctr" indent="0" marL="0">
              <a:buNone/>
            </a:pPr>
            <a:r>
              <a:rPr lang="en-US" sz="1800" b="1" dirty="0">
                <a:solidFill>
                  <a:srgbClr val="0D1B2A"/>
                </a:solidFill>
                <a:latin typeface="Arial Black" pitchFamily="34" charset="0"/>
                <a:ea typeface="Arial Black" pitchFamily="34" charset="-122"/>
                <a:cs typeface="Arial Black" pitchFamily="34" charset="-120"/>
              </a:rPr>
              <a:t>2</a:t>
            </a:r>
            <a:endParaRPr lang="en-US" sz="1800" dirty="0"/>
          </a:p>
        </p:txBody>
      </p:sp>
      <p:sp>
        <p:nvSpPr>
          <p:cNvPr id="12" name="Text 10"/>
          <p:cNvSpPr/>
          <p:nvPr/>
        </p:nvSpPr>
        <p:spPr>
          <a:xfrm>
            <a:off x="914400" y="1600200"/>
            <a:ext cx="7772400" cy="566928"/>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Step 2 — The Logic Check  </a:t>
            </a:r>
            <a:pPr indent="0" marL="0">
              <a:buNone/>
            </a:pPr>
            <a:r>
              <a:rPr lang="en-US" sz="1100" dirty="0">
                <a:solidFill>
                  <a:srgbClr val="FFFFFF"/>
                </a:solidFill>
                <a:latin typeface="Calibri" pitchFamily="34" charset="0"/>
                <a:ea typeface="Calibri" pitchFamily="34" charset="-122"/>
                <a:cs typeface="Calibri" pitchFamily="34" charset="-120"/>
              </a:rPr>
              <a:t>'Does the math make more sense than continuing to pay [Utility]?' → Confirm the numbers are clear</a:t>
            </a:r>
            <a:endParaRPr lang="en-US" sz="1200" dirty="0"/>
          </a:p>
        </p:txBody>
      </p:sp>
      <p:sp>
        <p:nvSpPr>
          <p:cNvPr id="13" name="Shape 11"/>
          <p:cNvSpPr/>
          <p:nvPr/>
        </p:nvSpPr>
        <p:spPr>
          <a:xfrm>
            <a:off x="274320" y="2304288"/>
            <a:ext cx="8503920" cy="65836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304288"/>
            <a:ext cx="512064" cy="658368"/>
          </a:xfrm>
          <a:prstGeom prst="rect">
            <a:avLst/>
          </a:prstGeom>
          <a:solidFill>
            <a:srgbClr val="2D9B4E"/>
          </a:solidFill>
          <a:ln w="12700">
            <a:solidFill>
              <a:srgbClr val="2D9B4E"/>
            </a:solidFill>
            <a:prstDash val="solid"/>
          </a:ln>
        </p:spPr>
      </p:sp>
      <p:sp>
        <p:nvSpPr>
          <p:cNvPr id="15" name="Text 13"/>
          <p:cNvSpPr/>
          <p:nvPr/>
        </p:nvSpPr>
        <p:spPr>
          <a:xfrm>
            <a:off x="274320" y="2322576"/>
            <a:ext cx="512064"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3</a:t>
            </a:r>
            <a:endParaRPr lang="en-US" sz="1800" dirty="0"/>
          </a:p>
        </p:txBody>
      </p:sp>
      <p:sp>
        <p:nvSpPr>
          <p:cNvPr id="16" name="Text 14"/>
          <p:cNvSpPr/>
          <p:nvPr/>
        </p:nvSpPr>
        <p:spPr>
          <a:xfrm>
            <a:off x="914400" y="2350008"/>
            <a:ext cx="7772400" cy="566928"/>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Step 3 — The Risk Reversal  </a:t>
            </a:r>
            <a:pPr indent="0" marL="0">
              <a:buNone/>
            </a:pPr>
            <a:r>
              <a:rPr lang="en-US" sz="1100" dirty="0">
                <a:solidFill>
                  <a:srgbClr val="FFFFFF"/>
                </a:solidFill>
                <a:latin typeface="Calibri" pitchFamily="34" charset="0"/>
                <a:ea typeface="Calibri" pitchFamily="34" charset="-122"/>
                <a:cs typeface="Calibri" pitchFamily="34" charset="-120"/>
              </a:rPr>
              <a:t>'The 25-year warranty and production guarantee mean your investment is protected. Does that give you confidence?' → Remove the last fear</a:t>
            </a:r>
            <a:endParaRPr lang="en-US" sz="1200" dirty="0"/>
          </a:p>
        </p:txBody>
      </p:sp>
      <p:sp>
        <p:nvSpPr>
          <p:cNvPr id="17" name="Shape 15"/>
          <p:cNvSpPr/>
          <p:nvPr/>
        </p:nvSpPr>
        <p:spPr>
          <a:xfrm>
            <a:off x="274320" y="3054096"/>
            <a:ext cx="8503920" cy="65836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054096"/>
            <a:ext cx="512064" cy="658368"/>
          </a:xfrm>
          <a:prstGeom prst="rect">
            <a:avLst/>
          </a:prstGeom>
          <a:solidFill>
            <a:srgbClr val="E07B39"/>
          </a:solidFill>
          <a:ln w="12700">
            <a:solidFill>
              <a:srgbClr val="E07B39"/>
            </a:solidFill>
            <a:prstDash val="solid"/>
          </a:ln>
        </p:spPr>
      </p:sp>
      <p:sp>
        <p:nvSpPr>
          <p:cNvPr id="19" name="Text 17"/>
          <p:cNvSpPr/>
          <p:nvPr/>
        </p:nvSpPr>
        <p:spPr>
          <a:xfrm>
            <a:off x="274320" y="3072384"/>
            <a:ext cx="512064"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4</a:t>
            </a:r>
            <a:endParaRPr lang="en-US" sz="1800" dirty="0"/>
          </a:p>
        </p:txBody>
      </p:sp>
      <p:sp>
        <p:nvSpPr>
          <p:cNvPr id="20" name="Text 18"/>
          <p:cNvSpPr/>
          <p:nvPr/>
        </p:nvSpPr>
        <p:spPr>
          <a:xfrm>
            <a:off x="914400" y="3099816"/>
            <a:ext cx="7772400" cy="566928"/>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Step 4 — The Assumptive Move  </a:t>
            </a:r>
            <a:pPr indent="0" marL="0">
              <a:buNone/>
            </a:pPr>
            <a:r>
              <a:rPr lang="en-US" sz="1100" dirty="0">
                <a:solidFill>
                  <a:srgbClr val="FFFFFF"/>
                </a:solidFill>
                <a:latin typeface="Calibri" pitchFamily="34" charset="0"/>
                <a:ea typeface="Calibri" pitchFamily="34" charset="-122"/>
                <a:cs typeface="Calibri" pitchFamily="34" charset="-120"/>
              </a:rPr>
              <a:t>'Let's see if the utility and the house give us the green light. I just need your email and address for the application.' → Paperwork Pivot</a:t>
            </a:r>
            <a:endParaRPr lang="en-US" sz="1200" dirty="0"/>
          </a:p>
        </p:txBody>
      </p:sp>
      <p:sp>
        <p:nvSpPr>
          <p:cNvPr id="21" name="Shape 19"/>
          <p:cNvSpPr/>
          <p:nvPr/>
        </p:nvSpPr>
        <p:spPr>
          <a:xfrm>
            <a:off x="274320" y="3803904"/>
            <a:ext cx="8503920" cy="658368"/>
          </a:xfrm>
          <a:prstGeom prst="rect">
            <a:avLst/>
          </a:prstGeom>
          <a:solidFill>
            <a:srgbClr val="1A2840"/>
          </a:solidFill>
          <a:ln w="19050">
            <a:solidFill>
              <a:srgbClr val="C0392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3803904"/>
            <a:ext cx="512064" cy="658368"/>
          </a:xfrm>
          <a:prstGeom prst="rect">
            <a:avLst/>
          </a:prstGeom>
          <a:solidFill>
            <a:srgbClr val="C0392B"/>
          </a:solidFill>
          <a:ln w="12700">
            <a:solidFill>
              <a:srgbClr val="C0392B"/>
            </a:solidFill>
            <a:prstDash val="solid"/>
          </a:ln>
        </p:spPr>
      </p:sp>
      <p:sp>
        <p:nvSpPr>
          <p:cNvPr id="23" name="Text 21"/>
          <p:cNvSpPr/>
          <p:nvPr/>
        </p:nvSpPr>
        <p:spPr>
          <a:xfrm>
            <a:off x="274320" y="3822192"/>
            <a:ext cx="512064" cy="62179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Black" pitchFamily="34" charset="0"/>
                <a:ea typeface="Arial Black" pitchFamily="34" charset="-122"/>
                <a:cs typeface="Arial Black" pitchFamily="34" charset="-120"/>
              </a:rPr>
              <a:t>5</a:t>
            </a:r>
            <a:endParaRPr lang="en-US" sz="1800" dirty="0"/>
          </a:p>
        </p:txBody>
      </p:sp>
      <p:sp>
        <p:nvSpPr>
          <p:cNvPr id="24" name="Text 22"/>
          <p:cNvSpPr/>
          <p:nvPr/>
        </p:nvSpPr>
        <p:spPr>
          <a:xfrm>
            <a:off x="914400" y="3849624"/>
            <a:ext cx="7772400" cy="566928"/>
          </a:xfrm>
          <a:prstGeom prst="rect">
            <a:avLst/>
          </a:prstGeom>
          <a:noFill/>
          <a:ln/>
        </p:spPr>
        <p: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Step 5 — The Post-Sign Reassurance  </a:t>
            </a:r>
            <a:pPr indent="0" marL="0">
              <a:buNone/>
            </a:pPr>
            <a:r>
              <a:rPr lang="en-US" sz="1100" dirty="0">
                <a:solidFill>
                  <a:srgbClr val="FFFFFF"/>
                </a:solidFill>
                <a:latin typeface="Calibri" pitchFamily="34" charset="0"/>
                <a:ea typeface="Calibri" pitchFamily="34" charset="-122"/>
                <a:cs typeface="Calibri" pitchFamily="34" charset="-120"/>
              </a:rPr>
              <a:t>'Congratulations. Most people feel a huge weight off their shoulders the moment they own their power.' → Prevent buyer's remorse</a:t>
            </a:r>
            <a:endParaRPr lang="en-US" sz="1200" dirty="0"/>
          </a:p>
        </p:txBody>
      </p:sp>
      <p:sp>
        <p:nvSpPr>
          <p:cNvPr id="25" name="Shape 23"/>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6" name="Text 24"/>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Walk reps through this ladder step by step. Each step gets a small Yes. By Step 4, the rep has collected 3 micro-agreements. Step 5 is not a close — it is buyer's remorse prevention, and it is just as important as the close itself.</a:t>
            </a:r>
            <a:endParaRPr lang="en-US" sz="9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Frame Control: Staying in the Driver's Seat Through Every Step</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Frame Control = the rep sets the context for every conversation, every question, every pause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When a homeowner asks a question mid-close, the rep ANSWERS then RETURNS to the ladder: 'Great question — [answer]. Does that make sense? And going back to where we were...'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Never let a question derail the ladder — answer it, validate it, and redirect to the next step</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 who loses Frame Control in Step 3 rarely recovers the close</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Frame Control is the #1 difference between reps who close at 30% and reps who close at 50%+. It is not aggression — it is structured confidence. The rep always knows where they are in the ladder and where they are going next.</a:t>
            </a:r>
            <a:endParaRPr lang="en-US" sz="9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Buyer's Remorse Prevention: Step 5 Is Non-Negotiable</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14630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Buyer's remorse typically surfaces within 2–4 hours of signing — the 'What did I just do?' moment</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Prevent it in the room: 'Most families feel immediate relief — they realize they just made one of the smartest financial decisions they've ever made'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Reinforce social proof post-sign: 'You're joining thousands of families in [City] who made this same call'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rep's energy and certainty after the signature is contagious — celebrate it with them, don't deflate</a:t>
            </a:r>
            <a:endParaRPr lang="en-US" sz="1300" dirty="0"/>
          </a:p>
        </p:txBody>
      </p:sp>
      <p:sp>
        <p:nvSpPr>
          <p:cNvPr id="6" name="Shape 4"/>
          <p:cNvSpPr/>
          <p:nvPr/>
        </p:nvSpPr>
        <p:spPr>
          <a:xfrm>
            <a:off x="274320" y="2487168"/>
            <a:ext cx="8503920" cy="184708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7" name="Shape 5"/>
          <p:cNvSpPr/>
          <p:nvPr/>
        </p:nvSpPr>
        <p:spPr>
          <a:xfrm>
            <a:off x="274320" y="2487168"/>
            <a:ext cx="1097280" cy="347472"/>
          </a:xfrm>
          <a:prstGeom prst="rect">
            <a:avLst/>
          </a:prstGeom>
          <a:solidFill>
            <a:srgbClr val="0891B2"/>
          </a:solidFill>
          <a:ln w="12700">
            <a:solidFill>
              <a:srgbClr val="0891B2"/>
            </a:solidFill>
            <a:prstDash val="solid"/>
          </a:ln>
        </p:spPr>
      </p:sp>
      <p:sp>
        <p:nvSpPr>
          <p:cNvPr id="8" name="Text 6"/>
          <p:cNvSpPr/>
          <p:nvPr/>
        </p:nvSpPr>
        <p:spPr>
          <a:xfrm>
            <a:off x="292608" y="2505456"/>
            <a:ext cx="1051560" cy="310896"/>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Arial Black" pitchFamily="34" charset="0"/>
                <a:ea typeface="Arial Black" pitchFamily="34" charset="-122"/>
                <a:cs typeface="Arial Black" pitchFamily="34" charset="-120"/>
              </a:rPr>
              <a:t>DIALOGUE</a:t>
            </a:r>
            <a:endParaRPr lang="en-US" sz="900" dirty="0"/>
          </a:p>
        </p:txBody>
      </p:sp>
      <p:sp>
        <p:nvSpPr>
          <p:cNvPr id="9" name="Text 7"/>
          <p:cNvSpPr/>
          <p:nvPr/>
        </p:nvSpPr>
        <p:spPr>
          <a:xfrm>
            <a:off x="411480" y="2944368"/>
            <a:ext cx="8275320" cy="1298448"/>
          </a:xfrm>
          <a:prstGeom prst="rect">
            <a:avLst/>
          </a:prstGeom>
          <a:noFill/>
          <a:ln/>
        </p:spPr>
        <p:txBody>
          <a:bodyPr wrap="square" lIns="0" tIns="0" rIns="0" bIns="0" rtlCol="0" anchor="t"/>
          <a:lstStyle/>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Congratulations, seriously. Most people tell me the moment they sign they feel this weight come off — because they just took control of something that's been out of their control for years. You're going to love the first bill.</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Homeowner:</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Ha — yeah, I actually do feel better already.</a:t>
            </a:r>
            <a:endParaRPr lang="en-US" sz="1100" dirty="0"/>
          </a:p>
          <a:p>
            <a:pPr indent="0" marL="0">
              <a:buNone/>
            </a:pPr>
            <a:r>
              <a:rPr lang="en-US" sz="1100" b="1" dirty="0">
                <a:solidFill>
                  <a:srgbClr val="F4A61D"/>
                </a:solidFill>
                <a:latin typeface="Calibri" pitchFamily="34" charset="0"/>
                <a:ea typeface="Calibri" pitchFamily="34" charset="-122"/>
                <a:cs typeface="Calibri" pitchFamily="34" charset="-120"/>
              </a:rPr>
              <a:t>Rep:</a:t>
            </a:r>
            <a:endParaRPr lang="en-US" sz="1100" dirty="0"/>
          </a:p>
          <a:p>
            <a:pPr indent="0" marL="0">
              <a:buNone/>
            </a:pPr>
            <a:r>
              <a:rPr lang="en-US" sz="1100" dirty="0">
                <a:solidFill>
                  <a:srgbClr val="FFFFFF"/>
                </a:solidFill>
                <a:latin typeface="Calibri" pitchFamily="34" charset="0"/>
                <a:ea typeface="Calibri" pitchFamily="34" charset="-122"/>
                <a:cs typeface="Calibri" pitchFamily="34" charset="-120"/>
              </a:rPr>
              <a:t>That's because it's the right decision. Now let me tell you exactly what happens next so you know the whole process...</a:t>
            </a:r>
            <a:endParaRPr lang="en-US" sz="1100" dirty="0"/>
          </a:p>
        </p:txBody>
      </p:sp>
      <p:sp>
        <p:nvSpPr>
          <p:cNvPr id="10" name="Shape 8"/>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11" name="Text 9"/>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Cancellation rates are significantly lower when reps deliver a strong Step 5. The post-sign conversation is training the homeowner's emotional memory of the decision. Make it positive, confident, and forward-looking.</a:t>
            </a:r>
            <a:endParaRPr lang="en-US" sz="9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Full Closing Flow Drill</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Deliver all 5 steps of the closing ladder from memory — clean, confident, and in order</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Rep must recite all 5 step titles and their key phrases from memory — no notes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Then: deliver the full 5-step sequence in real time with a partner playing a cooperative homeowner</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Advanced round: partner becomes mildly hesitant at Step 3 (Risk Reversal) — rep must handle and continue</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Evaluator grades: Did they complete all 5 steps? Was Step 5 delivered with genuine warmth?</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Deliverable: A personalized 'Closing Roadmap' script in the rep's own words</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30 MIN</a:t>
            </a:r>
            <a:endParaRPr lang="en-US" sz="14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5.11</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Closing Roleplay Certification: The Gauntlet</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Handle 3 Major Objections. Earn the Signature. Get Certified.</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4480560"/>
            <a:ext cx="9144000" cy="662940"/>
          </a:xfrm>
          <a:prstGeom prst="rect">
            <a:avLst/>
          </a:prstGeom>
          <a:solidFill>
            <a:srgbClr val="F4A61D"/>
          </a:solidFill>
          <a:ln w="12700">
            <a:solidFill>
              <a:srgbClr val="F4A61D"/>
            </a:solidFill>
            <a:prstDash val="solid"/>
          </a:ln>
        </p:spPr>
      </p:sp>
      <p:sp>
        <p:nvSpPr>
          <p:cNvPr id="3" name="Text 1"/>
          <p:cNvSpPr/>
          <p:nvPr/>
        </p:nvSpPr>
        <p:spPr>
          <a:xfrm>
            <a:off x="457200" y="1097280"/>
            <a:ext cx="8229600" cy="457200"/>
          </a:xfrm>
          <a:prstGeom prst="rect">
            <a:avLst/>
          </a:prstGeom>
          <a:noFill/>
          <a:ln/>
        </p:spPr>
        <p:txBody>
          <a:bodyPr wrap="square" lIns="0" tIns="0" rIns="0" bIns="0" rtlCol="0" anchor="ctr"/>
          <a:lstStyle/>
          <a:p>
            <a:pPr algn="l" indent="0" marL="0">
              <a:buNone/>
            </a:pPr>
            <a:r>
              <a:rPr lang="en-US" sz="1200" b="1" spc="500" kern="0" dirty="0">
                <a:solidFill>
                  <a:srgbClr val="F4A61D"/>
                </a:solidFill>
                <a:latin typeface="Arial" pitchFamily="34" charset="0"/>
                <a:ea typeface="Arial" pitchFamily="34" charset="-122"/>
                <a:cs typeface="Arial" pitchFamily="34" charset="-120"/>
              </a:rPr>
              <a:t>MODULE 5.11 — THE GAUNTLET</a:t>
            </a:r>
            <a:endParaRPr lang="en-US" sz="1200" dirty="0"/>
          </a:p>
        </p:txBody>
      </p:sp>
      <p:sp>
        <p:nvSpPr>
          <p:cNvPr id="4" name="Text 2"/>
          <p:cNvSpPr/>
          <p:nvPr/>
        </p:nvSpPr>
        <p:spPr>
          <a:xfrm>
            <a:off x="457200" y="1536192"/>
            <a:ext cx="7772400" cy="1325880"/>
          </a:xfrm>
          <a:prstGeom prst="rect">
            <a:avLst/>
          </a:prstGeom>
          <a:noFill/>
          <a:ln/>
        </p:spPr>
        <p:txBody>
          <a:bodyPr wrap="square" lIns="0" tIns="0" rIns="0" bIns="0" rtlCol="0" anchor="ctr"/>
          <a:lstStyle/>
          <a:p>
            <a:pPr algn="l" indent="0" marL="0">
              <a:buNone/>
            </a:pPr>
            <a:r>
              <a:rPr lang="en-US" sz="3200" b="1" dirty="0">
                <a:solidFill>
                  <a:srgbClr val="FFFFFF"/>
                </a:solidFill>
                <a:latin typeface="Arial Black" pitchFamily="34" charset="0"/>
                <a:ea typeface="Arial Black" pitchFamily="34" charset="-122"/>
                <a:cs typeface="Arial Black" pitchFamily="34" charset="-120"/>
              </a:rPr>
              <a:t>Certified Day 5 Closer: Prove It Under Pressure</a:t>
            </a:r>
            <a:endParaRPr lang="en-US" sz="3200" dirty="0"/>
          </a:p>
        </p:txBody>
      </p:sp>
      <p:sp>
        <p:nvSpPr>
          <p:cNvPr id="5" name="Text 3"/>
          <p:cNvSpPr/>
          <p:nvPr/>
        </p:nvSpPr>
        <p:spPr>
          <a:xfrm>
            <a:off x="457200" y="2971800"/>
            <a:ext cx="7772400" cy="1371600"/>
          </a:xfrm>
          <a:prstGeom prst="rect">
            <a:avLst/>
          </a:prstGeom>
          <a:noFill/>
          <a:ln/>
        </p:spPr>
        <p:txBody>
          <a:bodyPr wrap="square" lIns="0" tIns="0" rIns="0" bIns="0" rtlCol="0" anchor="ctr"/>
          <a:lstStyle/>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Three objections thrown in sequence: Think About It, More Quotes, Price Is Too High</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Must use Tactical Empathy, Isolation, and Assumptive Closing throughout</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Evaluation Scorecard: Objection Handling, Tone, and Assumptive Close</a:t>
            </a:r>
            <a:endParaRPr lang="en-US" sz="1300" dirty="0"/>
          </a:p>
          <a:p>
            <a:pPr marL="342900" indent="-342900">
              <a:buSzPct val="100000"/>
              <a:buFont typeface="+mj-lt"/>
              <a:buAutoNum type="arabicPeriod" startAt="1"/>
            </a:pPr>
            <a:r>
              <a:rPr lang="en-US" sz="1300" dirty="0">
                <a:solidFill>
                  <a:srgbClr val="8FA3B1"/>
                </a:solidFill>
                <a:latin typeface="Calibri" pitchFamily="34" charset="0"/>
                <a:ea typeface="Calibri" pitchFamily="34" charset="-122"/>
                <a:cs typeface="Calibri" pitchFamily="34" charset="-120"/>
              </a:rPr>
              <a:t>The Garcia Final Close AI simulation — the ultimate certification test</a:t>
            </a:r>
            <a:endParaRPr lang="en-US" sz="13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Gauntlet: Setup &amp; Rules of Engagement</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04672"/>
            <a:ext cx="4023360" cy="1664208"/>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04672"/>
            <a:ext cx="4023360" cy="329184"/>
          </a:xfrm>
          <a:prstGeom prst="rect">
            <a:avLst/>
          </a:prstGeom>
          <a:solidFill>
            <a:srgbClr val="0891B2"/>
          </a:solidFill>
          <a:ln w="12700">
            <a:solidFill>
              <a:srgbClr val="0891B2"/>
            </a:solidFill>
            <a:prstDash val="solid"/>
          </a:ln>
        </p:spPr>
      </p:sp>
      <p:sp>
        <p:nvSpPr>
          <p:cNvPr id="7" name="Text 5"/>
          <p:cNvSpPr/>
          <p:nvPr/>
        </p:nvSpPr>
        <p:spPr>
          <a:xfrm>
            <a:off x="320040" y="832104"/>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THE SCENARIO</a:t>
            </a:r>
            <a:endParaRPr lang="en-US" sz="1000" dirty="0"/>
          </a:p>
        </p:txBody>
      </p:sp>
      <p:sp>
        <p:nvSpPr>
          <p:cNvPr id="8" name="Text 6"/>
          <p:cNvSpPr/>
          <p:nvPr/>
        </p:nvSpPr>
        <p:spPr>
          <a:xfrm>
            <a:off x="365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Difficult homeowner: analytical, skeptical, has shopped before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High bill ($310/mo), spouse is hesitant, has gotten 2 other quotes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Will throw 3 objections in sequence — not necessarily in order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Rep has 30 minutes to reach a signed agreement</a:t>
            </a:r>
            <a:endParaRPr lang="en-US" sz="1000" dirty="0"/>
          </a:p>
        </p:txBody>
      </p:sp>
      <p:sp>
        <p:nvSpPr>
          <p:cNvPr id="9" name="Shape 7"/>
          <p:cNvSpPr/>
          <p:nvPr/>
        </p:nvSpPr>
        <p:spPr>
          <a:xfrm>
            <a:off x="4846320" y="804672"/>
            <a:ext cx="4023360" cy="1664208"/>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4846320" y="804672"/>
            <a:ext cx="4023360" cy="329184"/>
          </a:xfrm>
          <a:prstGeom prst="rect">
            <a:avLst/>
          </a:prstGeom>
          <a:solidFill>
            <a:srgbClr val="F4A61D"/>
          </a:solidFill>
          <a:ln w="12700">
            <a:solidFill>
              <a:srgbClr val="F4A61D"/>
            </a:solidFill>
            <a:prstDash val="solid"/>
          </a:ln>
        </p:spPr>
      </p:sp>
      <p:sp>
        <p:nvSpPr>
          <p:cNvPr id="11" name="Text 9"/>
          <p:cNvSpPr/>
          <p:nvPr/>
        </p:nvSpPr>
        <p:spPr>
          <a:xfrm>
            <a:off x="4892040" y="832104"/>
            <a:ext cx="3931920" cy="274320"/>
          </a:xfrm>
          <a:prstGeom prst="rect">
            <a:avLst/>
          </a:prstGeom>
          <a:noFill/>
          <a:ln/>
        </p:spPr>
        <p:txBody>
          <a:bodyPr wrap="square" lIns="0" tIns="0" rIns="0" bIns="0" rtlCol="0" anchor="ctr"/>
          <a:lstStyle/>
          <a:p>
            <a:pPr algn="ctr" indent="0" marL="0">
              <a:buNone/>
            </a:pPr>
            <a:r>
              <a:rPr lang="en-US" sz="1000" b="1" dirty="0">
                <a:solidFill>
                  <a:srgbClr val="0D1B2A"/>
                </a:solidFill>
                <a:latin typeface="Arial Black" pitchFamily="34" charset="0"/>
                <a:ea typeface="Arial Black" pitchFamily="34" charset="-122"/>
                <a:cs typeface="Arial Black" pitchFamily="34" charset="-120"/>
              </a:rPr>
              <a:t>🚩  THE 3 OBJECTIONS</a:t>
            </a:r>
            <a:endParaRPr lang="en-US" sz="1000" dirty="0"/>
          </a:p>
        </p:txBody>
      </p:sp>
      <p:sp>
        <p:nvSpPr>
          <p:cNvPr id="12" name="Text 10"/>
          <p:cNvSpPr/>
          <p:nvPr/>
        </p:nvSpPr>
        <p:spPr>
          <a:xfrm>
            <a:off x="4937760" y="1188720"/>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1: 'I need to think about it'</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2: 'I want to get more quotes first'</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Objection 3: 'The payment feels too high for us'</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three must be handled before the signature is offered</a:t>
            </a:r>
            <a:endParaRPr lang="en-US" sz="1000" dirty="0"/>
          </a:p>
        </p:txBody>
      </p:sp>
      <p:sp>
        <p:nvSpPr>
          <p:cNvPr id="13" name="Shape 11"/>
          <p:cNvSpPr/>
          <p:nvPr/>
        </p:nvSpPr>
        <p:spPr>
          <a:xfrm>
            <a:off x="274320" y="2651760"/>
            <a:ext cx="4023360" cy="1664208"/>
          </a:xfrm>
          <a:prstGeom prst="rect">
            <a:avLst/>
          </a:prstGeom>
          <a:solidFill>
            <a:srgbClr val="1A2840"/>
          </a:solidFill>
          <a:ln w="1905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651760"/>
            <a:ext cx="4023360" cy="329184"/>
          </a:xfrm>
          <a:prstGeom prst="rect">
            <a:avLst/>
          </a:prstGeom>
          <a:solidFill>
            <a:srgbClr val="2D9B4E"/>
          </a:solidFill>
          <a:ln w="12700">
            <a:solidFill>
              <a:srgbClr val="2D9B4E"/>
            </a:solidFill>
            <a:prstDash val="solid"/>
          </a:ln>
        </p:spPr>
      </p:sp>
      <p:sp>
        <p:nvSpPr>
          <p:cNvPr id="15" name="Text 13"/>
          <p:cNvSpPr/>
          <p:nvPr/>
        </p:nvSpPr>
        <p:spPr>
          <a:xfrm>
            <a:off x="320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RULES</a:t>
            </a:r>
            <a:endParaRPr lang="en-US" sz="1000" dirty="0"/>
          </a:p>
        </p:txBody>
      </p:sp>
      <p:sp>
        <p:nvSpPr>
          <p:cNvPr id="16" name="Text 14"/>
          <p:cNvSpPr/>
          <p:nvPr/>
        </p:nvSpPr>
        <p:spPr>
          <a:xfrm>
            <a:off x="365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No coaching from observers — reps are on their own</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Trainer stays in character until the close is complete</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Rep must use Tactical Empathy throughout — no debating</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Recording required for manager review and feedback</a:t>
            </a:r>
            <a:endParaRPr lang="en-US" sz="1000" dirty="0"/>
          </a:p>
        </p:txBody>
      </p:sp>
      <p:sp>
        <p:nvSpPr>
          <p:cNvPr id="17" name="Shape 15"/>
          <p:cNvSpPr/>
          <p:nvPr/>
        </p:nvSpPr>
        <p:spPr>
          <a:xfrm>
            <a:off x="4846320" y="2651760"/>
            <a:ext cx="4023360" cy="1664208"/>
          </a:xfrm>
          <a:prstGeom prst="rect">
            <a:avLst/>
          </a:prstGeom>
          <a:solidFill>
            <a:srgbClr val="1A2840"/>
          </a:solidFill>
          <a:ln w="1905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4846320" y="2651760"/>
            <a:ext cx="4023360" cy="329184"/>
          </a:xfrm>
          <a:prstGeom prst="rect">
            <a:avLst/>
          </a:prstGeom>
          <a:solidFill>
            <a:srgbClr val="E07B39"/>
          </a:solidFill>
          <a:ln w="12700">
            <a:solidFill>
              <a:srgbClr val="E07B39"/>
            </a:solidFill>
            <a:prstDash val="solid"/>
          </a:ln>
        </p:spPr>
      </p:sp>
      <p:sp>
        <p:nvSpPr>
          <p:cNvPr id="19" name="Text 17"/>
          <p:cNvSpPr/>
          <p:nvPr/>
        </p:nvSpPr>
        <p:spPr>
          <a:xfrm>
            <a:off x="4892040" y="2679192"/>
            <a:ext cx="39319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Black" pitchFamily="34" charset="0"/>
                <a:ea typeface="Arial Black" pitchFamily="34" charset="-122"/>
                <a:cs typeface="Arial Black" pitchFamily="34" charset="-120"/>
              </a:rPr>
              <a:t>✅  PASS CRITERIA</a:t>
            </a:r>
            <a:endParaRPr lang="en-US" sz="1000" dirty="0"/>
          </a:p>
        </p:txBody>
      </p:sp>
      <p:sp>
        <p:nvSpPr>
          <p:cNvPr id="20" name="Text 18"/>
          <p:cNvSpPr/>
          <p:nvPr/>
        </p:nvSpPr>
        <p:spPr>
          <a:xfrm>
            <a:off x="4937760" y="3035808"/>
            <a:ext cx="3840480" cy="1207008"/>
          </a:xfrm>
          <a:prstGeom prst="rect">
            <a:avLst/>
          </a:prstGeom>
          <a:noFill/>
          <a:ln/>
        </p:spPr>
        <p:txBody>
          <a:bodyPr wrap="square" lIns="0" tIns="0" rIns="0" bIns="0" rtlCol="0" anchor="t"/>
          <a:lstStyle/>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Score 20/25 on the Evaluation Scorecard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Must complete all 5 steps of the Closing Ladder</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All 3 objections must be isolated and reversed</a:t>
            </a:r>
            <a:endParaRPr lang="en-US" sz="1000" dirty="0"/>
          </a:p>
          <a:p>
            <a:pPr marL="342900" indent="-342900">
              <a:spcAft>
                <a:spcPts val="300"/>
              </a:spcAft>
              <a:buSzPct val="100000"/>
              <a:buChar char="•"/>
            </a:pPr>
            <a:r>
              <a:rPr lang="en-US" sz="1000" dirty="0">
                <a:solidFill>
                  <a:srgbClr val="FFFFFF"/>
                </a:solidFill>
                <a:latin typeface="Calibri" pitchFamily="34" charset="0"/>
                <a:ea typeface="Calibri" pitchFamily="34" charset="-122"/>
                <a:cs typeface="Calibri" pitchFamily="34" charset="-120"/>
              </a:rPr>
              <a:t>Homeowner must agree to the next step by end</a:t>
            </a:r>
            <a:endParaRPr lang="en-US" sz="1000" dirty="0"/>
          </a:p>
        </p:txBody>
      </p:sp>
      <p:sp>
        <p:nvSpPr>
          <p:cNvPr id="21" name="Shape 19"/>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22" name="Text 20"/>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The Gauntlet is the Day 5 certification event. Reps who pass receive 'Certified Day 5 Closer' status and advance to Day 6. Reps who score below 20/25 get a focused coaching session and one retry before Day 6.</a:t>
            </a:r>
            <a:endParaRPr lang="en-US" sz="9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Day 5 Evaluation Scorecard: The Closer Certification</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22960"/>
            <a:ext cx="8503920" cy="685800"/>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6" name="Shape 4"/>
          <p:cNvSpPr/>
          <p:nvPr/>
        </p:nvSpPr>
        <p:spPr>
          <a:xfrm>
            <a:off x="274320" y="822960"/>
            <a:ext cx="1463040" cy="685800"/>
          </a:xfrm>
          <a:prstGeom prst="rect">
            <a:avLst/>
          </a:prstGeom>
          <a:solidFill>
            <a:srgbClr val="F4A61D">
              <a:alpha val="80000"/>
            </a:srgbClr>
          </a:solidFill>
          <a:ln w="12700">
            <a:solidFill>
              <a:srgbClr val="F4A61D"/>
            </a:solidFill>
            <a:prstDash val="solid"/>
          </a:ln>
        </p:spPr>
      </p:sp>
      <p:sp>
        <p:nvSpPr>
          <p:cNvPr id="7" name="Text 5"/>
          <p:cNvSpPr/>
          <p:nvPr/>
        </p:nvSpPr>
        <p:spPr>
          <a:xfrm>
            <a:off x="292608" y="859536"/>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8" name="Text 6"/>
          <p:cNvSpPr/>
          <p:nvPr/>
        </p:nvSpPr>
        <p:spPr>
          <a:xfrm>
            <a:off x="1874520" y="896112"/>
            <a:ext cx="6766560" cy="566928"/>
          </a:xfrm>
          <a:prstGeom prst="rect">
            <a:avLst/>
          </a:prstGeom>
          <a:noFill/>
          <a:ln/>
        </p:spPr>
        <p:txBody>
          <a:bodyPr wrap="square" lIns="0" tIns="0" rIns="0" bIns="0" rtlCol="0" anchor="ctr"/>
          <a:lstStyle/>
          <a:p>
            <a:pPr indent="0" marL="0">
              <a:buNone/>
            </a:pPr>
            <a:r>
              <a:rPr lang="en-US" sz="1200" b="1" dirty="0">
                <a:solidFill>
                  <a:srgbClr val="F4A61D"/>
                </a:solidFill>
                <a:latin typeface="Arial Black" pitchFamily="34" charset="0"/>
                <a:ea typeface="Arial Black" pitchFamily="34" charset="-122"/>
                <a:cs typeface="Arial Black" pitchFamily="34" charset="-120"/>
              </a:rPr>
              <a:t>Buying Signal Recognition  </a:t>
            </a:r>
            <a:pPr indent="0" marL="0">
              <a:buNone/>
            </a:pPr>
            <a:r>
              <a:rPr lang="en-US" sz="1100" dirty="0">
                <a:solidFill>
                  <a:srgbClr val="8FA3B1"/>
                </a:solidFill>
                <a:latin typeface="Calibri" pitchFamily="34" charset="0"/>
                <a:ea typeface="Calibri" pitchFamily="34" charset="-122"/>
                <a:cs typeface="Calibri" pitchFamily="34" charset="-120"/>
              </a:rPr>
              <a:t>Did the rep correctly identify and capitalize on buying signals during the roleplay?</a:t>
            </a:r>
            <a:endParaRPr lang="en-US" sz="1200" dirty="0"/>
          </a:p>
        </p:txBody>
      </p:sp>
      <p:sp>
        <p:nvSpPr>
          <p:cNvPr id="9" name="Shape 7"/>
          <p:cNvSpPr/>
          <p:nvPr/>
        </p:nvSpPr>
        <p:spPr>
          <a:xfrm>
            <a:off x="274320" y="1627632"/>
            <a:ext cx="8503920" cy="685800"/>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10" name="Shape 8"/>
          <p:cNvSpPr/>
          <p:nvPr/>
        </p:nvSpPr>
        <p:spPr>
          <a:xfrm>
            <a:off x="274320" y="1627632"/>
            <a:ext cx="1463040" cy="685800"/>
          </a:xfrm>
          <a:prstGeom prst="rect">
            <a:avLst/>
          </a:prstGeom>
          <a:solidFill>
            <a:srgbClr val="0891B2">
              <a:alpha val="80000"/>
            </a:srgbClr>
          </a:solidFill>
          <a:ln w="12700">
            <a:solidFill>
              <a:srgbClr val="0891B2"/>
            </a:solidFill>
            <a:prstDash val="solid"/>
          </a:ln>
        </p:spPr>
      </p:sp>
      <p:sp>
        <p:nvSpPr>
          <p:cNvPr id="11" name="Text 9"/>
          <p:cNvSpPr/>
          <p:nvPr/>
        </p:nvSpPr>
        <p:spPr>
          <a:xfrm>
            <a:off x="292608" y="1664208"/>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12" name="Text 10"/>
          <p:cNvSpPr/>
          <p:nvPr/>
        </p:nvSpPr>
        <p:spPr>
          <a:xfrm>
            <a:off x="1874520" y="1700784"/>
            <a:ext cx="6766560" cy="566928"/>
          </a:xfrm>
          <a:prstGeom prst="rect">
            <a:avLst/>
          </a:prstGeom>
          <a:noFill/>
          <a:ln/>
        </p:spPr>
        <p:txBody>
          <a:bodyPr wrap="square" lIns="0" tIns="0" rIns="0" bIns="0" rtlCol="0" anchor="ctr"/>
          <a:lstStyle/>
          <a:p>
            <a:pPr indent="0" marL="0">
              <a:buNone/>
            </a:pPr>
            <a:r>
              <a:rPr lang="en-US" sz="1200" b="1" dirty="0">
                <a:solidFill>
                  <a:srgbClr val="0891B2"/>
                </a:solidFill>
                <a:latin typeface="Arial Black" pitchFamily="34" charset="0"/>
                <a:ea typeface="Arial Black" pitchFamily="34" charset="-122"/>
                <a:cs typeface="Arial Black" pitchFamily="34" charset="-120"/>
              </a:rPr>
              <a:t>Objection Handling  </a:t>
            </a:r>
            <a:pPr indent="0" marL="0">
              <a:buNone/>
            </a:pPr>
            <a:r>
              <a:rPr lang="en-US" sz="1100" dirty="0">
                <a:solidFill>
                  <a:srgbClr val="8FA3B1"/>
                </a:solidFill>
                <a:latin typeface="Calibri" pitchFamily="34" charset="0"/>
                <a:ea typeface="Calibri" pitchFamily="34" charset="-122"/>
                <a:cs typeface="Calibri" pitchFamily="34" charset="-120"/>
              </a:rPr>
              <a:t>Was each objection isolated, reversed, and resolved before advancing?</a:t>
            </a:r>
            <a:endParaRPr lang="en-US" sz="1200" dirty="0"/>
          </a:p>
        </p:txBody>
      </p:sp>
      <p:sp>
        <p:nvSpPr>
          <p:cNvPr id="13" name="Shape 11"/>
          <p:cNvSpPr/>
          <p:nvPr/>
        </p:nvSpPr>
        <p:spPr>
          <a:xfrm>
            <a:off x="274320" y="2432304"/>
            <a:ext cx="8503920" cy="685800"/>
          </a:xfrm>
          <a:prstGeom prst="rect">
            <a:avLst/>
          </a:prstGeom>
          <a:solidFill>
            <a:srgbClr val="1A2840"/>
          </a:solidFill>
          <a:ln w="12700">
            <a:solidFill>
              <a:srgbClr val="2D9B4E"/>
            </a:solidFill>
            <a:prstDash val="solid"/>
          </a:ln>
          <a:effectLst>
            <a:outerShdw sx="100000" sy="100000" kx="0" ky="0" algn="bl" rotWithShape="0" blurRad="101600" dist="38100" dir="8100000">
              <a:srgbClr val="000000">
                <a:alpha val="20000"/>
              </a:srgbClr>
            </a:outerShdw>
          </a:effectLst>
        </p:spPr>
      </p:sp>
      <p:sp>
        <p:nvSpPr>
          <p:cNvPr id="14" name="Shape 12"/>
          <p:cNvSpPr/>
          <p:nvPr/>
        </p:nvSpPr>
        <p:spPr>
          <a:xfrm>
            <a:off x="274320" y="2432304"/>
            <a:ext cx="1463040" cy="685800"/>
          </a:xfrm>
          <a:prstGeom prst="rect">
            <a:avLst/>
          </a:prstGeom>
          <a:solidFill>
            <a:srgbClr val="2D9B4E">
              <a:alpha val="80000"/>
            </a:srgbClr>
          </a:solidFill>
          <a:ln w="12700">
            <a:solidFill>
              <a:srgbClr val="2D9B4E"/>
            </a:solidFill>
            <a:prstDash val="solid"/>
          </a:ln>
        </p:spPr>
      </p:sp>
      <p:sp>
        <p:nvSpPr>
          <p:cNvPr id="15" name="Text 13"/>
          <p:cNvSpPr/>
          <p:nvPr/>
        </p:nvSpPr>
        <p:spPr>
          <a:xfrm>
            <a:off x="292608" y="2468880"/>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16" name="Text 14"/>
          <p:cNvSpPr/>
          <p:nvPr/>
        </p:nvSpPr>
        <p:spPr>
          <a:xfrm>
            <a:off x="1874520" y="2505456"/>
            <a:ext cx="6766560" cy="566928"/>
          </a:xfrm>
          <a:prstGeom prst="rect">
            <a:avLst/>
          </a:prstGeom>
          <a:noFill/>
          <a:ln/>
        </p:spPr>
        <p:txBody>
          <a:bodyPr wrap="square" lIns="0" tIns="0" rIns="0" bIns="0" rtlCol="0" anchor="ctr"/>
          <a:lstStyle/>
          <a:p>
            <a:pPr indent="0" marL="0">
              <a:buNone/>
            </a:pPr>
            <a:r>
              <a:rPr lang="en-US" sz="1200" b="1" dirty="0">
                <a:solidFill>
                  <a:srgbClr val="2D9B4E"/>
                </a:solidFill>
                <a:latin typeface="Arial Black" pitchFamily="34" charset="0"/>
                <a:ea typeface="Arial Black" pitchFamily="34" charset="-122"/>
                <a:cs typeface="Arial Black" pitchFamily="34" charset="-120"/>
              </a:rPr>
              <a:t>Tone &amp; Tactical Empathy  </a:t>
            </a:r>
            <a:pPr indent="0" marL="0">
              <a:buNone/>
            </a:pPr>
            <a:r>
              <a:rPr lang="en-US" sz="1100" dirty="0">
                <a:solidFill>
                  <a:srgbClr val="8FA3B1"/>
                </a:solidFill>
                <a:latin typeface="Calibri" pitchFamily="34" charset="0"/>
                <a:ea typeface="Calibri" pitchFamily="34" charset="-122"/>
                <a:cs typeface="Calibri" pitchFamily="34" charset="-120"/>
              </a:rPr>
              <a:t>Did the rep maintain the Late Night DJ voice — calm, confident, non-defensive throughout?</a:t>
            </a:r>
            <a:endParaRPr lang="en-US" sz="1200" dirty="0"/>
          </a:p>
        </p:txBody>
      </p:sp>
      <p:sp>
        <p:nvSpPr>
          <p:cNvPr id="17" name="Shape 15"/>
          <p:cNvSpPr/>
          <p:nvPr/>
        </p:nvSpPr>
        <p:spPr>
          <a:xfrm>
            <a:off x="274320" y="3236976"/>
            <a:ext cx="8503920" cy="685800"/>
          </a:xfrm>
          <a:prstGeom prst="rect">
            <a:avLst/>
          </a:prstGeom>
          <a:solidFill>
            <a:srgbClr val="1A2840"/>
          </a:solidFill>
          <a:ln w="12700">
            <a:solidFill>
              <a:srgbClr val="E07B39"/>
            </a:solidFill>
            <a:prstDash val="solid"/>
          </a:ln>
          <a:effectLst>
            <a:outerShdw sx="100000" sy="100000" kx="0" ky="0" algn="bl" rotWithShape="0" blurRad="101600" dist="38100" dir="8100000">
              <a:srgbClr val="000000">
                <a:alpha val="20000"/>
              </a:srgbClr>
            </a:outerShdw>
          </a:effectLst>
        </p:spPr>
      </p:sp>
      <p:sp>
        <p:nvSpPr>
          <p:cNvPr id="18" name="Shape 16"/>
          <p:cNvSpPr/>
          <p:nvPr/>
        </p:nvSpPr>
        <p:spPr>
          <a:xfrm>
            <a:off x="274320" y="3236976"/>
            <a:ext cx="1463040" cy="685800"/>
          </a:xfrm>
          <a:prstGeom prst="rect">
            <a:avLst/>
          </a:prstGeom>
          <a:solidFill>
            <a:srgbClr val="E07B39">
              <a:alpha val="80000"/>
            </a:srgbClr>
          </a:solidFill>
          <a:ln w="12700">
            <a:solidFill>
              <a:srgbClr val="E07B39"/>
            </a:solidFill>
            <a:prstDash val="solid"/>
          </a:ln>
        </p:spPr>
      </p:sp>
      <p:sp>
        <p:nvSpPr>
          <p:cNvPr id="19" name="Text 17"/>
          <p:cNvSpPr/>
          <p:nvPr/>
        </p:nvSpPr>
        <p:spPr>
          <a:xfrm>
            <a:off x="292608" y="3273552"/>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20" name="Text 18"/>
          <p:cNvSpPr/>
          <p:nvPr/>
        </p:nvSpPr>
        <p:spPr>
          <a:xfrm>
            <a:off x="1874520" y="3310128"/>
            <a:ext cx="6766560" cy="566928"/>
          </a:xfrm>
          <a:prstGeom prst="rect">
            <a:avLst/>
          </a:prstGeom>
          <a:noFill/>
          <a:ln/>
        </p:spPr>
        <p:txBody>
          <a:bodyPr wrap="square" lIns="0" tIns="0" rIns="0" bIns="0" rtlCol="0" anchor="ctr"/>
          <a:lstStyle/>
          <a:p>
            <a:pPr indent="0" marL="0">
              <a:buNone/>
            </a:pPr>
            <a:r>
              <a:rPr lang="en-US" sz="1200" b="1" dirty="0">
                <a:solidFill>
                  <a:srgbClr val="E07B39"/>
                </a:solidFill>
                <a:latin typeface="Arial Black" pitchFamily="34" charset="0"/>
                <a:ea typeface="Arial Black" pitchFamily="34" charset="-122"/>
                <a:cs typeface="Arial Black" pitchFamily="34" charset="-120"/>
              </a:rPr>
              <a:t>Assumptive Close Execution  </a:t>
            </a:r>
            <a:pPr indent="0" marL="0">
              <a:buNone/>
            </a:pPr>
            <a:r>
              <a:rPr lang="en-US" sz="1100" dirty="0">
                <a:solidFill>
                  <a:srgbClr val="8FA3B1"/>
                </a:solidFill>
                <a:latin typeface="Calibri" pitchFamily="34" charset="0"/>
                <a:ea typeface="Calibri" pitchFamily="34" charset="-122"/>
                <a:cs typeface="Calibri" pitchFamily="34" charset="-120"/>
              </a:rPr>
              <a:t>Was 'When' used instead of 'If'? Was the Paperwork Pivot smooth and natural?</a:t>
            </a:r>
            <a:endParaRPr lang="en-US" sz="1200" dirty="0"/>
          </a:p>
        </p:txBody>
      </p:sp>
      <p:sp>
        <p:nvSpPr>
          <p:cNvPr id="21" name="Shape 19"/>
          <p:cNvSpPr/>
          <p:nvPr/>
        </p:nvSpPr>
        <p:spPr>
          <a:xfrm>
            <a:off x="274320" y="4041648"/>
            <a:ext cx="8503920" cy="685800"/>
          </a:xfrm>
          <a:prstGeom prst="rect">
            <a:avLst/>
          </a:prstGeom>
          <a:solidFill>
            <a:srgbClr val="1A2840"/>
          </a:solidFill>
          <a:ln w="12700">
            <a:solidFill>
              <a:srgbClr val="C0392B"/>
            </a:solidFill>
            <a:prstDash val="solid"/>
          </a:ln>
          <a:effectLst>
            <a:outerShdw sx="100000" sy="100000" kx="0" ky="0" algn="bl" rotWithShape="0" blurRad="101600" dist="38100" dir="8100000">
              <a:srgbClr val="000000">
                <a:alpha val="20000"/>
              </a:srgbClr>
            </a:outerShdw>
          </a:effectLst>
        </p:spPr>
      </p:sp>
      <p:sp>
        <p:nvSpPr>
          <p:cNvPr id="22" name="Shape 20"/>
          <p:cNvSpPr/>
          <p:nvPr/>
        </p:nvSpPr>
        <p:spPr>
          <a:xfrm>
            <a:off x="274320" y="4041648"/>
            <a:ext cx="1463040" cy="685800"/>
          </a:xfrm>
          <a:prstGeom prst="rect">
            <a:avLst/>
          </a:prstGeom>
          <a:solidFill>
            <a:srgbClr val="C0392B">
              <a:alpha val="80000"/>
            </a:srgbClr>
          </a:solidFill>
          <a:ln w="12700">
            <a:solidFill>
              <a:srgbClr val="C0392B"/>
            </a:solidFill>
            <a:prstDash val="solid"/>
          </a:ln>
        </p:spPr>
      </p:sp>
      <p:sp>
        <p:nvSpPr>
          <p:cNvPr id="23" name="Text 21"/>
          <p:cNvSpPr/>
          <p:nvPr/>
        </p:nvSpPr>
        <p:spPr>
          <a:xfrm>
            <a:off x="292608" y="4078224"/>
            <a:ext cx="1417320" cy="612648"/>
          </a:xfrm>
          <a:prstGeom prst="rect">
            <a:avLst/>
          </a:prstGeom>
          <a:noFill/>
          <a:ln/>
        </p:spPr>
        <p:txBody>
          <a:bodyPr wrap="square" lIns="0" tIns="0" rIns="0" bIns="0"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1–5 pts</a:t>
            </a:r>
            <a:endParaRPr lang="en-US" sz="2000" dirty="0"/>
          </a:p>
        </p:txBody>
      </p:sp>
      <p:sp>
        <p:nvSpPr>
          <p:cNvPr id="24" name="Text 22"/>
          <p:cNvSpPr/>
          <p:nvPr/>
        </p:nvSpPr>
        <p:spPr>
          <a:xfrm>
            <a:off x="1874520" y="4114800"/>
            <a:ext cx="6766560" cy="566928"/>
          </a:xfrm>
          <a:prstGeom prst="rect">
            <a:avLst/>
          </a:prstGeom>
          <a:noFill/>
          <a:ln/>
        </p:spPr>
        <p:txBody>
          <a:bodyPr wrap="square" lIns="0" tIns="0" rIns="0" bIns="0" rtlCol="0" anchor="ctr"/>
          <a:lstStyle/>
          <a:p>
            <a:pPr indent="0" marL="0">
              <a:buNone/>
            </a:pPr>
            <a:r>
              <a:rPr lang="en-US" sz="1200" b="1" dirty="0">
                <a:solidFill>
                  <a:srgbClr val="C0392B"/>
                </a:solidFill>
                <a:latin typeface="Arial Black" pitchFamily="34" charset="0"/>
                <a:ea typeface="Arial Black" pitchFamily="34" charset="-122"/>
                <a:cs typeface="Arial Black" pitchFamily="34" charset="-120"/>
              </a:rPr>
              <a:t>Closing Ladder Completion  </a:t>
            </a:r>
            <a:pPr indent="0" marL="0">
              <a:buNone/>
            </a:pPr>
            <a:r>
              <a:rPr lang="en-US" sz="1100" dirty="0">
                <a:solidFill>
                  <a:srgbClr val="8FA3B1"/>
                </a:solidFill>
                <a:latin typeface="Calibri" pitchFamily="34" charset="0"/>
                <a:ea typeface="Calibri" pitchFamily="34" charset="-122"/>
                <a:cs typeface="Calibri" pitchFamily="34" charset="-120"/>
              </a:rPr>
              <a:t>All 5 steps completed? Was Step 5 (Post-Sign Reassurance) delivered with genuine warmth?</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What Separates a 25/25 Performance from a 20/25</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don't just handle objections — they make the homeowner feel UNDERSTOOD before they educate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maintain frame control through every curveball without ever sounding defensive or mechanical</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25/25 reps make Step 5 feel like a genuine celebration — not a procedural checkbox</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The gap is always emotional intelligence, not knowledge — reps who know the scripts but lose composure will always score lower than reps who speak naturally from conviction</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Play back a recording of a previous 25/25 Gauntlet performance if available. Let reps hear what mastery sounds like. Theory is Day 3 and 4. Day 5 is performance — and performance needs a model to aspire to.</a:t>
            </a:r>
            <a:endParaRPr lang="en-US" sz="9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E07B39"/>
          </a:solidFill>
          <a:ln w="12700">
            <a:solidFill>
              <a:srgbClr val="E07B39"/>
            </a:solidFill>
            <a:prstDash val="solid"/>
          </a:ln>
        </p:spPr>
      </p:sp>
      <p:sp>
        <p:nvSpPr>
          <p:cNvPr id="3" name="Text 1"/>
          <p:cNvSpPr/>
          <p:nvPr/>
        </p:nvSpPr>
        <p:spPr>
          <a:xfrm>
            <a:off x="365760" y="73152"/>
            <a:ext cx="3657600" cy="365760"/>
          </a:xfrm>
          <a:prstGeom prst="rect">
            <a:avLst/>
          </a:prstGeom>
          <a:noFill/>
          <a:ln/>
        </p:spPr>
        <p:txBody>
          <a:bodyPr wrap="square" lIns="0" tIns="0" rIns="0" bIns="0" rtlCol="0" anchor="ctr"/>
          <a:lstStyle/>
          <a:p>
            <a:pPr algn="l" indent="0" marL="0">
              <a:buNone/>
            </a:pPr>
            <a:r>
              <a:rPr lang="en-US" sz="1200" b="1" spc="300" kern="0" dirty="0">
                <a:solidFill>
                  <a:srgbClr val="0D1B2A"/>
                </a:solidFill>
                <a:latin typeface="Arial Black" pitchFamily="34" charset="0"/>
                <a:ea typeface="Arial Black" pitchFamily="34" charset="-122"/>
                <a:cs typeface="Arial Black" pitchFamily="34" charset="-120"/>
              </a:rPr>
              <a:t>🎯  ACTIVITY</a:t>
            </a:r>
            <a:endParaRPr lang="en-US" sz="1200" dirty="0"/>
          </a:p>
        </p:txBody>
      </p:sp>
      <p:sp>
        <p:nvSpPr>
          <p:cNvPr id="4" name="Text 2"/>
          <p:cNvSpPr/>
          <p:nvPr/>
        </p:nvSpPr>
        <p:spPr>
          <a:xfrm>
            <a:off x="365760" y="457200"/>
            <a:ext cx="8412480" cy="457200"/>
          </a:xfrm>
          <a:prstGeom prst="rect">
            <a:avLst/>
          </a:prstGeom>
          <a:noFill/>
          <a:ln/>
        </p:spPr>
        <p:txBody>
          <a:bodyPr wrap="square" lIns="0" tIns="0" rIns="0" bIns="0" rtlCol="0" anchor="ctr"/>
          <a:lstStyle/>
          <a:p>
            <a:pPr algn="l" indent="0" marL="0">
              <a:buNone/>
            </a:pPr>
            <a:r>
              <a:rPr lang="en-US" sz="1800" b="1" dirty="0">
                <a:solidFill>
                  <a:srgbClr val="0D1B2A"/>
                </a:solidFill>
                <a:latin typeface="Arial Black" pitchFamily="34" charset="0"/>
                <a:ea typeface="Arial Black" pitchFamily="34" charset="-122"/>
                <a:cs typeface="Arial Black" pitchFamily="34" charset="-120"/>
              </a:rPr>
              <a:t>Activity: The Garcia Final Close — AI Simulation</a:t>
            </a:r>
            <a:endParaRPr lang="en-US" sz="1800" dirty="0"/>
          </a:p>
        </p:txBody>
      </p:sp>
      <p:sp>
        <p:nvSpPr>
          <p:cNvPr id="5" name="Shape 3"/>
          <p:cNvSpPr/>
          <p:nvPr/>
        </p:nvSpPr>
        <p:spPr>
          <a:xfrm>
            <a:off x="274320" y="1143000"/>
            <a:ext cx="8595360" cy="475488"/>
          </a:xfrm>
          <a:prstGeom prst="rect">
            <a:avLst/>
          </a:prstGeom>
          <a:solidFill>
            <a:srgbClr val="1A2840"/>
          </a:solidFill>
          <a:ln w="12700">
            <a:solidFill>
              <a:srgbClr val="0891B2"/>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411480" y="1170432"/>
            <a:ext cx="8321040" cy="420624"/>
          </a:xfrm>
          <a:prstGeom prst="rect">
            <a:avLst/>
          </a:prstGeom>
          <a:noFill/>
          <a:ln/>
        </p:spPr>
        <p:txBody>
          <a:bodyPr wrap="square" lIns="0" tIns="0" rIns="0" bIns="0" rtlCol="0" anchor="ctr"/>
          <a:lstStyle/>
          <a:p>
            <a:pPr algn="l" indent="0" marL="0">
              <a:buNone/>
            </a:pPr>
            <a:r>
              <a:rPr lang="en-US" sz="1100" b="1" i="1" dirty="0">
                <a:solidFill>
                  <a:srgbClr val="0891B2"/>
                </a:solidFill>
                <a:latin typeface="Calibri" pitchFamily="34" charset="0"/>
                <a:ea typeface="Calibri" pitchFamily="34" charset="-122"/>
                <a:cs typeface="Calibri" pitchFamily="34" charset="-120"/>
              </a:rPr>
              <a:t>OBJECTIVE: Handle the Bull/Turtle dynamic, overcome comparison, and close the deal</a:t>
            </a:r>
            <a:endParaRPr lang="en-US" sz="1100" dirty="0"/>
          </a:p>
        </p:txBody>
      </p:sp>
      <p:sp>
        <p:nvSpPr>
          <p:cNvPr id="7" name="Text 5"/>
          <p:cNvSpPr/>
          <p:nvPr/>
        </p:nvSpPr>
        <p:spPr>
          <a:xfrm>
            <a:off x="365760" y="1755648"/>
            <a:ext cx="6858000" cy="2834640"/>
          </a:xfrm>
          <a:prstGeom prst="rect">
            <a:avLst/>
          </a:prstGeom>
          <a:noFill/>
          <a:ln/>
        </p:spPr>
        <p:txBody>
          <a:bodyPr wrap="square" lIns="0" tIns="0" rIns="0" bIns="0" rtlCol="0" anchor="t"/>
          <a:lstStyle/>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1.  Scan QR code or click the link to launch the Garcia AI Simulation bot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2.  Scenario: Mrs. Garcia (Turtle) is hesitant, Mr. Garcia (Bull) has already gotten 2 other quotes</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3.  Objections to expect: 'The other company was $4,000 cheaper,' 'We just want more time,' 'My wife isn't sure about the timing'</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4.  Goal: Close on the Site Survey using the full Day 5 toolkit</a:t>
            </a:r>
            <a:endParaRPr lang="en-US" sz="1300" dirty="0"/>
          </a:p>
          <a:p>
            <a:pPr indent="0" marL="0">
              <a:spcAft>
                <a:spcPts val="800"/>
              </a:spcAft>
              <a:buNone/>
            </a:pPr>
            <a:r>
              <a:rPr lang="en-US" sz="1300" dirty="0">
                <a:solidFill>
                  <a:srgbClr val="FFFFFF"/>
                </a:solidFill>
                <a:latin typeface="Calibri" pitchFamily="34" charset="0"/>
                <a:ea typeface="Calibri" pitchFamily="34" charset="-122"/>
                <a:cs typeface="Calibri" pitchFamily="34" charset="-120"/>
              </a:rPr>
              <a:t>5.  Submit recording for manager review — this is the final AI simulation before Day 6 field training</a:t>
            </a:r>
            <a:endParaRPr lang="en-US" sz="1300" dirty="0"/>
          </a:p>
        </p:txBody>
      </p:sp>
      <p:sp>
        <p:nvSpPr>
          <p:cNvPr id="8" name="Shape 6"/>
          <p:cNvSpPr/>
          <p:nvPr/>
        </p:nvSpPr>
        <p:spPr>
          <a:xfrm>
            <a:off x="7132320" y="1755648"/>
            <a:ext cx="1737360" cy="914400"/>
          </a:xfrm>
          <a:prstGeom prst="rect">
            <a:avLst/>
          </a:prstGeom>
          <a:solidFill>
            <a:srgbClr val="F4A61D"/>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9" name="Text 7"/>
          <p:cNvSpPr/>
          <p:nvPr/>
        </p:nvSpPr>
        <p:spPr>
          <a:xfrm>
            <a:off x="7150608" y="1773936"/>
            <a:ext cx="1691640" cy="877824"/>
          </a:xfrm>
          <a:prstGeom prst="rect">
            <a:avLst/>
          </a:prstGeom>
          <a:noFill/>
          <a:ln/>
        </p:spPr>
        <p:txBody>
          <a:bodyPr wrap="square" lIns="0" tIns="0" rIns="0" bIns="0" rtlCol="0" anchor="ctr"/>
          <a:lstStyle/>
          <a:p>
            <a:pPr algn="ctr" indent="0" marL="0">
              <a:buNone/>
            </a:pPr>
            <a:r>
              <a:rPr lang="en-US" sz="1400" b="1" dirty="0">
                <a:solidFill>
                  <a:srgbClr val="0D1B2A"/>
                </a:solidFill>
                <a:latin typeface="Arial Black" pitchFamily="34" charset="0"/>
                <a:ea typeface="Arial Black" pitchFamily="34" charset="-122"/>
                <a:cs typeface="Arial Black" pitchFamily="34" charset="-120"/>
              </a:rPr>
              <a:t>40 MIN</a:t>
            </a:r>
            <a:endParaRPr lang="en-US" sz="14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691640"/>
          </a:xfrm>
          <a:prstGeom prst="rect">
            <a:avLst/>
          </a:prstGeom>
          <a:solidFill>
            <a:srgbClr val="F4A61D"/>
          </a:solidFill>
          <a:ln w="12700">
            <a:solidFill>
              <a:srgbClr val="F4A61D"/>
            </a:solidFill>
            <a:prstDash val="solid"/>
          </a:ln>
        </p:spPr>
      </p:sp>
      <p:sp>
        <p:nvSpPr>
          <p:cNvPr id="3" name="Text 1"/>
          <p:cNvSpPr/>
          <p:nvPr/>
        </p:nvSpPr>
        <p:spPr>
          <a:xfrm>
            <a:off x="365760" y="137160"/>
            <a:ext cx="8412480" cy="420624"/>
          </a:xfrm>
          <a:prstGeom prst="rect">
            <a:avLst/>
          </a:prstGeom>
          <a:noFill/>
          <a:ln/>
        </p:spPr>
        <p:txBody>
          <a:bodyPr wrap="square" lIns="0" tIns="0" rIns="0" bIns="0" rtlCol="0" anchor="ctr"/>
          <a:lstStyle/>
          <a:p>
            <a:pPr algn="l" indent="0" marL="0">
              <a:buNone/>
            </a:pPr>
            <a:r>
              <a:rPr lang="en-US" sz="1300" b="1" spc="400" kern="0" dirty="0">
                <a:solidFill>
                  <a:srgbClr val="0D1B2A"/>
                </a:solidFill>
                <a:latin typeface="Arial Black" pitchFamily="34" charset="0"/>
                <a:ea typeface="Arial Black" pitchFamily="34" charset="-122"/>
                <a:cs typeface="Arial Black" pitchFamily="34" charset="-120"/>
              </a:rPr>
              <a:t>MODULE 5.10</a:t>
            </a:r>
            <a:endParaRPr lang="en-US" sz="1300" dirty="0"/>
          </a:p>
        </p:txBody>
      </p:sp>
      <p:sp>
        <p:nvSpPr>
          <p:cNvPr id="4" name="Text 2"/>
          <p:cNvSpPr/>
          <p:nvPr/>
        </p:nvSpPr>
        <p:spPr>
          <a:xfrm>
            <a:off x="365760" y="530352"/>
            <a:ext cx="8412480" cy="1005840"/>
          </a:xfrm>
          <a:prstGeom prst="rect">
            <a:avLst/>
          </a:prstGeom>
          <a:noFill/>
          <a:ln/>
        </p:spPr>
        <p:txBody>
          <a:bodyPr wrap="square" lIns="0" tIns="0" rIns="0" bIns="0" rtlCol="0" anchor="ctr"/>
          <a:lstStyle/>
          <a:p>
            <a:pPr algn="l" indent="0" marL="0">
              <a:buNone/>
            </a:pPr>
            <a:r>
              <a:rPr lang="en-US" sz="2600" b="1" dirty="0">
                <a:solidFill>
                  <a:srgbClr val="0D1B2A"/>
                </a:solidFill>
                <a:latin typeface="Arial Black" pitchFamily="34" charset="0"/>
                <a:ea typeface="Arial Black" pitchFamily="34" charset="-122"/>
                <a:cs typeface="Arial Black" pitchFamily="34" charset="-120"/>
              </a:rPr>
              <a:t>Day 5 Wrap-Up</a:t>
            </a:r>
            <a:endParaRPr lang="en-US" sz="2600" dirty="0"/>
          </a:p>
        </p:txBody>
      </p:sp>
      <p:sp>
        <p:nvSpPr>
          <p:cNvPr id="5" name="Text 3"/>
          <p:cNvSpPr/>
          <p:nvPr/>
        </p:nvSpPr>
        <p:spPr>
          <a:xfrm>
            <a:off x="365760" y="1920240"/>
            <a:ext cx="8412480" cy="502920"/>
          </a:xfrm>
          <a:prstGeom prst="rect">
            <a:avLst/>
          </a:prstGeom>
          <a:noFill/>
          <a:ln/>
        </p:spPr>
        <p:txBody>
          <a:bodyPr wrap="square" lIns="0" tIns="0" rIns="0" bIns="0" rtlCol="0" anchor="ctr"/>
          <a:lstStyle/>
          <a:p>
            <a:pPr algn="l" indent="0" marL="0">
              <a:buNone/>
            </a:pPr>
            <a:r>
              <a:rPr lang="en-US" sz="1600" b="1" i="1" dirty="0">
                <a:solidFill>
                  <a:srgbClr val="F4A61D"/>
                </a:solidFill>
                <a:latin typeface="Calibri" pitchFamily="34" charset="0"/>
                <a:ea typeface="Calibri" pitchFamily="34" charset="-122"/>
                <a:cs typeface="Calibri" pitchFamily="34" charset="-120"/>
              </a:rPr>
              <a:t>The Certified Closer's Mindset</a:t>
            </a:r>
            <a:endParaRPr lang="en-US" sz="1600" dirty="0"/>
          </a:p>
        </p:txBody>
      </p:sp>
      <p:sp>
        <p:nvSpPr>
          <p:cNvPr id="6" name="Shape 4"/>
          <p:cNvSpPr/>
          <p:nvPr/>
        </p:nvSpPr>
        <p:spPr>
          <a:xfrm>
            <a:off x="365760" y="2606040"/>
            <a:ext cx="164592" cy="164592"/>
          </a:xfrm>
          <a:prstGeom prst="ellipse">
            <a:avLst/>
          </a:prstGeom>
          <a:solidFill>
            <a:srgbClr val="F4A61D">
              <a:alpha val="40000"/>
            </a:srgbClr>
          </a:solidFill>
          <a:ln w="12700">
            <a:solidFill>
              <a:srgbClr val="F4A61D">
                <a:alpha val="40000"/>
              </a:srgbClr>
            </a:solidFill>
            <a:prstDash val="solid"/>
          </a:ln>
        </p:spPr>
      </p:sp>
      <p:sp>
        <p:nvSpPr>
          <p:cNvPr id="7" name="Shape 5"/>
          <p:cNvSpPr/>
          <p:nvPr/>
        </p:nvSpPr>
        <p:spPr>
          <a:xfrm>
            <a:off x="685800" y="2606040"/>
            <a:ext cx="164592" cy="164592"/>
          </a:xfrm>
          <a:prstGeom prst="ellipse">
            <a:avLst/>
          </a:prstGeom>
          <a:solidFill>
            <a:srgbClr val="F4A61D">
              <a:alpha val="40000"/>
            </a:srgbClr>
          </a:solidFill>
          <a:ln w="12700">
            <a:solidFill>
              <a:srgbClr val="F4A61D">
                <a:alpha val="40000"/>
              </a:srgbClr>
            </a:solidFill>
            <a:prstDash val="solid"/>
          </a:ln>
        </p:spPr>
      </p:sp>
      <p:sp>
        <p:nvSpPr>
          <p:cNvPr id="8" name="Shape 6"/>
          <p:cNvSpPr/>
          <p:nvPr/>
        </p:nvSpPr>
        <p:spPr>
          <a:xfrm>
            <a:off x="1005840" y="2606040"/>
            <a:ext cx="164592" cy="164592"/>
          </a:xfrm>
          <a:prstGeom prst="ellipse">
            <a:avLst/>
          </a:prstGeom>
          <a:solidFill>
            <a:srgbClr val="F4A61D">
              <a:alpha val="40000"/>
            </a:srgbClr>
          </a:solidFill>
          <a:ln w="12700">
            <a:solidFill>
              <a:srgbClr val="F4A61D">
                <a:alpha val="40000"/>
              </a:srgbClr>
            </a:solidFill>
            <a:prstDash val="solid"/>
          </a:ln>
        </p:spPr>
      </p:sp>
      <p:sp>
        <p:nvSpPr>
          <p:cNvPr id="9" name="Shape 7"/>
          <p:cNvSpPr/>
          <p:nvPr/>
        </p:nvSpPr>
        <p:spPr>
          <a:xfrm>
            <a:off x="1325880" y="2606040"/>
            <a:ext cx="164592" cy="164592"/>
          </a:xfrm>
          <a:prstGeom prst="ellipse">
            <a:avLst/>
          </a:prstGeom>
          <a:solidFill>
            <a:srgbClr val="F4A61D">
              <a:alpha val="40000"/>
            </a:srgbClr>
          </a:solidFill>
          <a:ln w="12700">
            <a:solidFill>
              <a:srgbClr val="F4A61D">
                <a:alpha val="40000"/>
              </a:srgbClr>
            </a:solidFill>
            <a:prstDash val="solid"/>
          </a:ln>
        </p:spPr>
      </p:sp>
      <p:sp>
        <p:nvSpPr>
          <p:cNvPr id="10" name="Shape 8"/>
          <p:cNvSpPr/>
          <p:nvPr/>
        </p:nvSpPr>
        <p:spPr>
          <a:xfrm>
            <a:off x="1645920" y="2606040"/>
            <a:ext cx="164592" cy="164592"/>
          </a:xfrm>
          <a:prstGeom prst="ellipse">
            <a:avLst/>
          </a:prstGeom>
          <a:solidFill>
            <a:srgbClr val="F4A61D">
              <a:alpha val="40000"/>
            </a:srgbClr>
          </a:solidFill>
          <a:ln w="12700">
            <a:solidFill>
              <a:srgbClr val="F4A61D">
                <a:alpha val="40000"/>
              </a:srgbClr>
            </a:solidFill>
            <a:prstDash val="solid"/>
          </a:ln>
        </p:spPr>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30352"/>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The 5 Laws of the Certified Day 5 Closer</a:t>
            </a:r>
            <a:endParaRPr lang="en-US" sz="2100" dirty="0"/>
          </a:p>
        </p:txBody>
      </p:sp>
      <p:sp>
        <p:nvSpPr>
          <p:cNvPr id="4" name="Shape 2"/>
          <p:cNvSpPr/>
          <p:nvPr/>
        </p:nvSpPr>
        <p:spPr>
          <a:xfrm>
            <a:off x="274320" y="713232"/>
            <a:ext cx="8503920" cy="27432"/>
          </a:xfrm>
          <a:prstGeom prst="rect">
            <a:avLst/>
          </a:prstGeom>
          <a:solidFill>
            <a:srgbClr val="F4A61D">
              <a:alpha val="40000"/>
            </a:srgbClr>
          </a:solidFill>
          <a:ln w="12700">
            <a:solidFill>
              <a:srgbClr val="F4A61D">
                <a:alpha val="40000"/>
              </a:srgbClr>
            </a:solidFill>
            <a:prstDash val="solid"/>
          </a:ln>
        </p:spPr>
      </p:sp>
      <p:sp>
        <p:nvSpPr>
          <p:cNvPr id="5" name="Shape 3"/>
          <p:cNvSpPr/>
          <p:nvPr/>
        </p:nvSpPr>
        <p:spPr>
          <a:xfrm>
            <a:off x="274320" y="86868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6" name="Text 4"/>
          <p:cNvSpPr/>
          <p:nvPr/>
        </p:nvSpPr>
        <p:spPr>
          <a:xfrm>
            <a:off x="320040" y="91440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01</a:t>
            </a:r>
            <a:endParaRPr lang="en-US" sz="2400" dirty="0"/>
          </a:p>
        </p:txBody>
      </p:sp>
      <p:sp>
        <p:nvSpPr>
          <p:cNvPr id="7" name="Shape 5"/>
          <p:cNvSpPr/>
          <p:nvPr/>
        </p:nvSpPr>
        <p:spPr>
          <a:xfrm>
            <a:off x="960120" y="960120"/>
            <a:ext cx="27432" cy="640080"/>
          </a:xfrm>
          <a:prstGeom prst="rect">
            <a:avLst/>
          </a:prstGeom>
          <a:solidFill>
            <a:srgbClr val="F4A61D"/>
          </a:solidFill>
          <a:ln w="12700">
            <a:solidFill>
              <a:srgbClr val="F4A61D"/>
            </a:solidFill>
            <a:prstDash val="solid"/>
          </a:ln>
        </p:spPr>
      </p:sp>
      <p:sp>
        <p:nvSpPr>
          <p:cNvPr id="8" name="Text 6"/>
          <p:cNvSpPr/>
          <p:nvPr/>
        </p:nvSpPr>
        <p:spPr>
          <a:xfrm>
            <a:off x="1051560" y="96012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Read Before You Lead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Buying signals tell you when to advance. Missing them means closing too late — or too early.</a:t>
            </a:r>
            <a:endParaRPr lang="en-US" sz="1200" dirty="0"/>
          </a:p>
        </p:txBody>
      </p:sp>
      <p:sp>
        <p:nvSpPr>
          <p:cNvPr id="9" name="Shape 7"/>
          <p:cNvSpPr/>
          <p:nvPr/>
        </p:nvSpPr>
        <p:spPr>
          <a:xfrm>
            <a:off x="274320" y="182880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320040" y="187452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02</a:t>
            </a:r>
            <a:endParaRPr lang="en-US" sz="2400" dirty="0"/>
          </a:p>
        </p:txBody>
      </p:sp>
      <p:sp>
        <p:nvSpPr>
          <p:cNvPr id="11" name="Shape 9"/>
          <p:cNvSpPr/>
          <p:nvPr/>
        </p:nvSpPr>
        <p:spPr>
          <a:xfrm>
            <a:off x="960120" y="1920240"/>
            <a:ext cx="27432" cy="640080"/>
          </a:xfrm>
          <a:prstGeom prst="rect">
            <a:avLst/>
          </a:prstGeom>
          <a:solidFill>
            <a:srgbClr val="0891B2"/>
          </a:solidFill>
          <a:ln w="12700">
            <a:solidFill>
              <a:srgbClr val="0891B2"/>
            </a:solidFill>
            <a:prstDash val="solid"/>
          </a:ln>
        </p:spPr>
      </p:sp>
      <p:sp>
        <p:nvSpPr>
          <p:cNvPr id="12" name="Text 10"/>
          <p:cNvSpPr/>
          <p:nvPr/>
        </p:nvSpPr>
        <p:spPr>
          <a:xfrm>
            <a:off x="1051560" y="192024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Validate, Then Educate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The homeowner's fear is always legitimate. Label it first. Data second. Always.</a:t>
            </a:r>
            <a:endParaRPr lang="en-US" sz="1200" dirty="0"/>
          </a:p>
        </p:txBody>
      </p:sp>
      <p:sp>
        <p:nvSpPr>
          <p:cNvPr id="13" name="Shape 11"/>
          <p:cNvSpPr/>
          <p:nvPr/>
        </p:nvSpPr>
        <p:spPr>
          <a:xfrm>
            <a:off x="274320" y="278892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14" name="Text 12"/>
          <p:cNvSpPr/>
          <p:nvPr/>
        </p:nvSpPr>
        <p:spPr>
          <a:xfrm>
            <a:off x="320040" y="283464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03</a:t>
            </a:r>
            <a:endParaRPr lang="en-US" sz="2400" dirty="0"/>
          </a:p>
        </p:txBody>
      </p:sp>
      <p:sp>
        <p:nvSpPr>
          <p:cNvPr id="15" name="Shape 13"/>
          <p:cNvSpPr/>
          <p:nvPr/>
        </p:nvSpPr>
        <p:spPr>
          <a:xfrm>
            <a:off x="960120" y="2880360"/>
            <a:ext cx="27432" cy="640080"/>
          </a:xfrm>
          <a:prstGeom prst="rect">
            <a:avLst/>
          </a:prstGeom>
          <a:solidFill>
            <a:srgbClr val="F4A61D"/>
          </a:solidFill>
          <a:ln w="12700">
            <a:solidFill>
              <a:srgbClr val="F4A61D"/>
            </a:solidFill>
            <a:prstDash val="solid"/>
          </a:ln>
        </p:spPr>
      </p:sp>
      <p:sp>
        <p:nvSpPr>
          <p:cNvPr id="16" name="Text 14"/>
          <p:cNvSpPr/>
          <p:nvPr/>
        </p:nvSpPr>
        <p:spPr>
          <a:xfrm>
            <a:off x="1051560" y="288036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Close on the Step, Not the Signature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'What's your email for the project?' closes more deals than 'Are you ready to sign?' — every time.</a:t>
            </a:r>
            <a:endParaRPr lang="en-US" sz="1200" dirty="0"/>
          </a:p>
        </p:txBody>
      </p:sp>
      <p:sp>
        <p:nvSpPr>
          <p:cNvPr id="17" name="Shape 15"/>
          <p:cNvSpPr/>
          <p:nvPr/>
        </p:nvSpPr>
        <p:spPr>
          <a:xfrm>
            <a:off x="274320" y="3749040"/>
            <a:ext cx="8503920" cy="822960"/>
          </a:xfrm>
          <a:prstGeom prst="rect">
            <a:avLst/>
          </a:prstGeom>
          <a:solidFill>
            <a:srgbClr val="1A2840"/>
          </a:solidFill>
          <a:ln w="19050">
            <a:solidFill>
              <a:srgbClr val="0891B2"/>
            </a:solidFill>
            <a:prstDash val="solid"/>
          </a:ln>
          <a:effectLst>
            <a:outerShdw sx="100000" sy="100000" kx="0" ky="0" algn="bl" rotWithShape="0" blurRad="101600" dist="38100" dir="8100000">
              <a:srgbClr val="000000">
                <a:alpha val="20000"/>
              </a:srgbClr>
            </a:outerShdw>
          </a:effectLst>
        </p:spPr>
      </p:sp>
      <p:sp>
        <p:nvSpPr>
          <p:cNvPr id="18" name="Text 16"/>
          <p:cNvSpPr/>
          <p:nvPr/>
        </p:nvSpPr>
        <p:spPr>
          <a:xfrm>
            <a:off x="320040" y="3794760"/>
            <a:ext cx="594360" cy="731520"/>
          </a:xfrm>
          <a:prstGeom prst="rect">
            <a:avLst/>
          </a:prstGeom>
          <a:noFill/>
          <a:ln/>
        </p:spPr>
        <p:txBody>
          <a:bodyPr wrap="square" lIns="0" tIns="0" rIns="0" bIns="0" rtlCol="0" anchor="ctr"/>
          <a:lstStyle/>
          <a:p>
            <a:pPr algn="ctr" indent="0" marL="0">
              <a:buNone/>
            </a:pPr>
            <a:r>
              <a:rPr lang="en-US" sz="2400" b="1" dirty="0">
                <a:solidFill>
                  <a:srgbClr val="0891B2"/>
                </a:solidFill>
                <a:latin typeface="Arial Black" pitchFamily="34" charset="0"/>
                <a:ea typeface="Arial Black" pitchFamily="34" charset="-122"/>
                <a:cs typeface="Arial Black" pitchFamily="34" charset="-120"/>
              </a:rPr>
              <a:t>04</a:t>
            </a:r>
            <a:endParaRPr lang="en-US" sz="2400" dirty="0"/>
          </a:p>
        </p:txBody>
      </p:sp>
      <p:sp>
        <p:nvSpPr>
          <p:cNvPr id="19" name="Shape 17"/>
          <p:cNvSpPr/>
          <p:nvPr/>
        </p:nvSpPr>
        <p:spPr>
          <a:xfrm>
            <a:off x="960120" y="3840480"/>
            <a:ext cx="27432" cy="640080"/>
          </a:xfrm>
          <a:prstGeom prst="rect">
            <a:avLst/>
          </a:prstGeom>
          <a:solidFill>
            <a:srgbClr val="0891B2"/>
          </a:solidFill>
          <a:ln w="12700">
            <a:solidFill>
              <a:srgbClr val="0891B2"/>
            </a:solidFill>
            <a:prstDash val="solid"/>
          </a:ln>
        </p:spPr>
      </p:sp>
      <p:sp>
        <p:nvSpPr>
          <p:cNvPr id="20" name="Text 18"/>
          <p:cNvSpPr/>
          <p:nvPr/>
        </p:nvSpPr>
        <p:spPr>
          <a:xfrm>
            <a:off x="1051560" y="384048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Urgency Is Information, Not Pressure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When the homeowner knows the real cost of waiting, they make their own decision. That's ethical urgency.</a:t>
            </a:r>
            <a:endParaRPr lang="en-US" sz="1200" dirty="0"/>
          </a:p>
        </p:txBody>
      </p:sp>
      <p:sp>
        <p:nvSpPr>
          <p:cNvPr id="21" name="Shape 19"/>
          <p:cNvSpPr/>
          <p:nvPr/>
        </p:nvSpPr>
        <p:spPr>
          <a:xfrm>
            <a:off x="274320" y="4709160"/>
            <a:ext cx="8503920" cy="822960"/>
          </a:xfrm>
          <a:prstGeom prst="rect">
            <a:avLst/>
          </a:prstGeom>
          <a:solidFill>
            <a:srgbClr val="1A2840"/>
          </a:solidFill>
          <a:ln w="19050">
            <a:solidFill>
              <a:srgbClr val="F4A61D"/>
            </a:solidFill>
            <a:prstDash val="solid"/>
          </a:ln>
          <a:effectLst>
            <a:outerShdw sx="100000" sy="100000" kx="0" ky="0" algn="bl" rotWithShape="0" blurRad="101600" dist="38100" dir="8100000">
              <a:srgbClr val="000000">
                <a:alpha val="20000"/>
              </a:srgbClr>
            </a:outerShdw>
          </a:effectLst>
        </p:spPr>
      </p:sp>
      <p:sp>
        <p:nvSpPr>
          <p:cNvPr id="22" name="Text 20"/>
          <p:cNvSpPr/>
          <p:nvPr/>
        </p:nvSpPr>
        <p:spPr>
          <a:xfrm>
            <a:off x="320040" y="4754880"/>
            <a:ext cx="594360" cy="731520"/>
          </a:xfrm>
          <a:prstGeom prst="rect">
            <a:avLst/>
          </a:prstGeom>
          <a:noFill/>
          <a:ln/>
        </p:spPr>
        <p:txBody>
          <a:bodyPr wrap="square" lIns="0" tIns="0" rIns="0" bIns="0" rtlCol="0" anchor="ctr"/>
          <a:lstStyle/>
          <a:p>
            <a:pPr algn="ctr" indent="0" marL="0">
              <a:buNone/>
            </a:pPr>
            <a:r>
              <a:rPr lang="en-US" sz="2400" b="1" dirty="0">
                <a:solidFill>
                  <a:srgbClr val="F4A61D"/>
                </a:solidFill>
                <a:latin typeface="Arial Black" pitchFamily="34" charset="0"/>
                <a:ea typeface="Arial Black" pitchFamily="34" charset="-122"/>
                <a:cs typeface="Arial Black" pitchFamily="34" charset="-120"/>
              </a:rPr>
              <a:t>05</a:t>
            </a:r>
            <a:endParaRPr lang="en-US" sz="2400" dirty="0"/>
          </a:p>
        </p:txBody>
      </p:sp>
      <p:sp>
        <p:nvSpPr>
          <p:cNvPr id="23" name="Shape 21"/>
          <p:cNvSpPr/>
          <p:nvPr/>
        </p:nvSpPr>
        <p:spPr>
          <a:xfrm>
            <a:off x="960120" y="4800600"/>
            <a:ext cx="27432" cy="640080"/>
          </a:xfrm>
          <a:prstGeom prst="rect">
            <a:avLst/>
          </a:prstGeom>
          <a:solidFill>
            <a:srgbClr val="F4A61D"/>
          </a:solidFill>
          <a:ln w="12700">
            <a:solidFill>
              <a:srgbClr val="F4A61D"/>
            </a:solidFill>
            <a:prstDash val="solid"/>
          </a:ln>
        </p:spPr>
      </p:sp>
      <p:sp>
        <p:nvSpPr>
          <p:cNvPr id="24" name="Text 22"/>
          <p:cNvSpPr/>
          <p:nvPr/>
        </p:nvSpPr>
        <p:spPr>
          <a:xfrm>
            <a:off x="1051560" y="4800600"/>
            <a:ext cx="7589520" cy="685800"/>
          </a:xfrm>
          <a:prstGeom prst="rect">
            <a:avLst/>
          </a:prstGeom>
          <a:noFill/>
          <a:ln/>
        </p:spPr>
        <p:txBody>
          <a:bodyPr wrap="square" lIns="0" tIns="0" rIns="0" bIns="0" rtlCol="0" anchor="ctr"/>
          <a:lstStyle/>
          <a:p>
            <a:pPr indent="0" marL="0">
              <a:buNone/>
            </a:pPr>
            <a:r>
              <a:rPr lang="en-US" sz="1200" b="1" dirty="0">
                <a:solidFill>
                  <a:srgbClr val="FFFFFF"/>
                </a:solidFill>
                <a:latin typeface="Arial Black" pitchFamily="34" charset="0"/>
                <a:ea typeface="Arial Black" pitchFamily="34" charset="-122"/>
                <a:cs typeface="Arial Black" pitchFamily="34" charset="-120"/>
              </a:rPr>
              <a:t>The Close Is Not the End
</a:t>
            </a:r>
            <a:endParaRPr lang="en-US" sz="1200" dirty="0"/>
          </a:p>
          <a:p>
            <a:pPr indent="0" marL="0">
              <a:buNone/>
            </a:pPr>
            <a:r>
              <a:rPr lang="en-US" sz="1000" dirty="0">
                <a:solidFill>
                  <a:srgbClr val="8FA3B1"/>
                </a:solidFill>
                <a:latin typeface="Calibri" pitchFamily="34" charset="0"/>
                <a:ea typeface="Calibri" pitchFamily="34" charset="-122"/>
                <a:cs typeface="Calibri" pitchFamily="34" charset="-120"/>
              </a:rPr>
              <a:t>Step 5 is buyer's remorse prevention. The rep who celebrates the decision keeps the deal. The one who disappears after the signature loses it.</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F4A61D"/>
          </a:solidFill>
          <a:ln w="12700">
            <a:solidFill>
              <a:srgbClr val="F4A61D"/>
            </a:solidFill>
            <a:prstDash val="solid"/>
          </a:ln>
        </p:spPr>
      </p:sp>
      <p:sp>
        <p:nvSpPr>
          <p:cNvPr id="3" name="Text 1"/>
          <p:cNvSpPr/>
          <p:nvPr/>
        </p:nvSpPr>
        <p:spPr>
          <a:xfrm>
            <a:off x="274320" y="164592"/>
            <a:ext cx="8503920" cy="594360"/>
          </a:xfrm>
          <a:prstGeom prst="rect">
            <a:avLst/>
          </a:prstGeom>
          <a:noFill/>
          <a:ln/>
        </p:spPr>
        <p:txBody>
          <a:bodyPr wrap="square" lIns="0" tIns="0" rIns="0" bIns="0" rtlCol="0" anchor="ctr"/>
          <a:lstStyle/>
          <a:p>
            <a:pPr algn="l" indent="0" marL="0">
              <a:buNone/>
            </a:pPr>
            <a:r>
              <a:rPr lang="en-US" sz="2100" b="1" dirty="0">
                <a:solidFill>
                  <a:srgbClr val="F4A61D"/>
                </a:solidFill>
                <a:latin typeface="Arial Black" pitchFamily="34" charset="0"/>
                <a:ea typeface="Arial Black" pitchFamily="34" charset="-122"/>
                <a:cs typeface="Arial Black" pitchFamily="34" charset="-120"/>
              </a:rPr>
              <a:t>Day 5 Self-Assessment: 6 Questions Before Day 6</a:t>
            </a:r>
            <a:endParaRPr lang="en-US" sz="2100" dirty="0"/>
          </a:p>
        </p:txBody>
      </p:sp>
      <p:sp>
        <p:nvSpPr>
          <p:cNvPr id="4" name="Shape 2"/>
          <p:cNvSpPr/>
          <p:nvPr/>
        </p:nvSpPr>
        <p:spPr>
          <a:xfrm>
            <a:off x="274320" y="786384"/>
            <a:ext cx="8503920" cy="27432"/>
          </a:xfrm>
          <a:prstGeom prst="rect">
            <a:avLst/>
          </a:prstGeom>
          <a:solidFill>
            <a:srgbClr val="F4A61D">
              <a:alpha val="40000"/>
            </a:srgbClr>
          </a:solidFill>
          <a:ln w="12700">
            <a:solidFill>
              <a:srgbClr val="F4A61D">
                <a:alpha val="40000"/>
              </a:srgbClr>
            </a:solidFill>
            <a:prstDash val="solid"/>
          </a:ln>
        </p:spPr>
      </p:sp>
      <p:sp>
        <p:nvSpPr>
          <p:cNvPr id="5" name="Text 3"/>
          <p:cNvSpPr/>
          <p:nvPr/>
        </p:nvSpPr>
        <p:spPr>
          <a:xfrm>
            <a:off x="274320" y="914400"/>
            <a:ext cx="8503920" cy="22860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spot a buying signal mid-sentence and capitalize on it without breaking the flow?</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handle 'Think About It,' 'More Quotes,' and 'Price Is High' back-to-back without losing composure?</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deliver all 5 steps of the Closing Ladder from memory with zero hesitation?</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perform the Paperwork Pivot so naturally that the homeowner doesn't realize they're signing?</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Can I prevent buyer's remorse in the room with a genuine, warm Step 5?</a:t>
            </a:r>
            <a:endParaRPr lang="en-US" sz="1300" dirty="0"/>
          </a:p>
          <a:p>
            <a:pPr marL="342900" indent="-342900">
              <a:spcAft>
                <a:spcPts val="600"/>
              </a:spcAft>
              <a:buSzPct val="100000"/>
              <a:buChar char="•"/>
            </a:pPr>
            <a:r>
              <a:rPr lang="en-US" sz="1300" dirty="0">
                <a:solidFill>
                  <a:srgbClr val="FFFFFF"/>
                </a:solidFill>
                <a:latin typeface="Calibri" pitchFamily="34" charset="0"/>
                <a:ea typeface="Calibri" pitchFamily="34" charset="-122"/>
                <a:cs typeface="Calibri" pitchFamily="34" charset="-120"/>
              </a:rPr>
              <a:t>Did I score 20/25 or above on the Gauntlet Scorecard?</a:t>
            </a:r>
            <a:endParaRPr lang="en-US" sz="1300" dirty="0"/>
          </a:p>
        </p:txBody>
      </p:sp>
      <p:sp>
        <p:nvSpPr>
          <p:cNvPr id="6" name="Shape 4"/>
          <p:cNvSpPr/>
          <p:nvPr/>
        </p:nvSpPr>
        <p:spPr>
          <a:xfrm>
            <a:off x="0" y="4663440"/>
            <a:ext cx="9144000" cy="480060"/>
          </a:xfrm>
          <a:prstGeom prst="rect">
            <a:avLst/>
          </a:prstGeom>
          <a:solidFill>
            <a:srgbClr val="E07B39">
              <a:alpha val="15000"/>
            </a:srgbClr>
          </a:solidFill>
          <a:ln w="12700">
            <a:solidFill>
              <a:srgbClr val="E07B39">
                <a:alpha val="15000"/>
              </a:srgbClr>
            </a:solidFill>
            <a:prstDash val="solid"/>
          </a:ln>
        </p:spPr>
      </p:sp>
      <p:sp>
        <p:nvSpPr>
          <p:cNvPr id="7" name="Text 5"/>
          <p:cNvSpPr/>
          <p:nvPr/>
        </p:nvSpPr>
        <p:spPr>
          <a:xfrm>
            <a:off x="274320" y="4690872"/>
            <a:ext cx="8686800" cy="384048"/>
          </a:xfrm>
          <a:prstGeom prst="rect">
            <a:avLst/>
          </a:prstGeom>
          <a:noFill/>
          <a:ln/>
        </p:spPr>
        <p:txBody>
          <a:bodyPr wrap="square" lIns="0" tIns="0" rIns="0" bIns="0" rtlCol="0" anchor="ctr"/>
          <a:lstStyle/>
          <a:p>
            <a:pPr algn="l" indent="0" marL="0">
              <a:buNone/>
            </a:pPr>
            <a:r>
              <a:rPr lang="en-US" sz="900" i="1" dirty="0">
                <a:solidFill>
                  <a:srgbClr val="E07B39"/>
                </a:solidFill>
                <a:latin typeface="Calibri" pitchFamily="34" charset="0"/>
                <a:ea typeface="Calibri" pitchFamily="34" charset="-122"/>
                <a:cs typeface="Calibri" pitchFamily="34" charset="-120"/>
              </a:rPr>
              <a:t>📋 TRAINER NOTE: Day 6 moves into field ride-alongs, live appointment debrief, and advanced objection scenarios. Reps who cannot answer 'yes' to all 6 questions should spend tonight on their weakest area using the AI simulation.</a:t>
            </a:r>
            <a:endParaRPr lang="en-US" sz="9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1417320"/>
          </a:xfrm>
          <a:prstGeom prst="rect">
            <a:avLst/>
          </a:prstGeom>
          <a:solidFill>
            <a:srgbClr val="1A2840"/>
          </a:solidFill>
          <a:ln w="12700">
            <a:solidFill>
              <a:srgbClr val="1A2840"/>
            </a:solidFill>
            <a:prstDash val="solid"/>
          </a:ln>
        </p:spPr>
      </p:sp>
      <p:sp>
        <p:nvSpPr>
          <p:cNvPr id="3" name="Shape 1"/>
          <p:cNvSpPr/>
          <p:nvPr/>
        </p:nvSpPr>
        <p:spPr>
          <a:xfrm>
            <a:off x="0" y="0"/>
            <a:ext cx="320040" cy="1417320"/>
          </a:xfrm>
          <a:prstGeom prst="rect">
            <a:avLst/>
          </a:prstGeom>
          <a:solidFill>
            <a:srgbClr val="F4A61D"/>
          </a:solidFill>
          <a:ln w="12700">
            <a:solidFill>
              <a:srgbClr val="F4A61D"/>
            </a:solidFill>
            <a:prstDash val="solid"/>
          </a:ln>
        </p:spPr>
      </p:sp>
      <p:sp>
        <p:nvSpPr>
          <p:cNvPr id="4" name="Text 2"/>
          <p:cNvSpPr/>
          <p:nvPr/>
        </p:nvSpPr>
        <p:spPr>
          <a:xfrm>
            <a:off x="502920" y="164592"/>
            <a:ext cx="8229600" cy="384048"/>
          </a:xfrm>
          <a:prstGeom prst="rect">
            <a:avLst/>
          </a:prstGeom>
          <a:noFill/>
          <a:ln/>
        </p:spPr>
        <p:txBody>
          <a:bodyPr wrap="square" lIns="0" tIns="0" rIns="0" bIns="0" rtlCol="0" anchor="ctr"/>
          <a:lstStyle/>
          <a:p>
            <a:pPr algn="l" indent="0" marL="0">
              <a:buNone/>
            </a:pPr>
            <a:r>
              <a:rPr lang="en-US" sz="1200" b="1" spc="400" kern="0" dirty="0">
                <a:solidFill>
                  <a:srgbClr val="F4A61D"/>
                </a:solidFill>
                <a:latin typeface="Arial Black" pitchFamily="34" charset="0"/>
                <a:ea typeface="Arial Black" pitchFamily="34" charset="-122"/>
                <a:cs typeface="Arial Black" pitchFamily="34" charset="-120"/>
              </a:rPr>
              <a:t>COMING UP: DAY 6</a:t>
            </a:r>
            <a:endParaRPr lang="en-US" sz="1200" dirty="0"/>
          </a:p>
        </p:txBody>
      </p:sp>
      <p:sp>
        <p:nvSpPr>
          <p:cNvPr id="5" name="Text 3"/>
          <p:cNvSpPr/>
          <p:nvPr/>
        </p:nvSpPr>
        <p:spPr>
          <a:xfrm>
            <a:off x="502920" y="621792"/>
            <a:ext cx="8229600" cy="658368"/>
          </a:xfrm>
          <a:prstGeom prst="rect">
            <a:avLst/>
          </a:prstGeom>
          <a:noFill/>
          <a:ln/>
        </p:spPr>
        <p:txBody>
          <a:bodyPr wrap="square" lIns="0" tIns="0" rIns="0" bIns="0" rtlCol="0" anchor="ctr"/>
          <a:lstStyle/>
          <a:p>
            <a:pPr algn="l" indent="0" marL="0">
              <a:buNone/>
            </a:pPr>
            <a:r>
              <a:rPr lang="en-US" sz="2200" b="1" dirty="0">
                <a:solidFill>
                  <a:srgbClr val="FFFFFF"/>
                </a:solidFill>
                <a:latin typeface="Arial Black" pitchFamily="34" charset="0"/>
                <a:ea typeface="Arial Black" pitchFamily="34" charset="-122"/>
                <a:cs typeface="Arial Black" pitchFamily="34" charset="-120"/>
              </a:rPr>
              <a:t>Field Mastery &amp; Advanced Scenarios</a:t>
            </a:r>
            <a:endParaRPr lang="en-US" sz="2200" dirty="0"/>
          </a:p>
        </p:txBody>
      </p:sp>
      <p:sp>
        <p:nvSpPr>
          <p:cNvPr id="6" name="Shape 4"/>
          <p:cNvSpPr/>
          <p:nvPr/>
        </p:nvSpPr>
        <p:spPr>
          <a:xfrm>
            <a:off x="27432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7" name="Text 5"/>
          <p:cNvSpPr/>
          <p:nvPr/>
        </p:nvSpPr>
        <p:spPr>
          <a:xfrm>
            <a:off x="41148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Live Ride-Along Debrief</a:t>
            </a:r>
            <a:endParaRPr lang="en-US" sz="1300" dirty="0"/>
          </a:p>
        </p:txBody>
      </p:sp>
      <p:sp>
        <p:nvSpPr>
          <p:cNvPr id="8" name="Text 6"/>
          <p:cNvSpPr/>
          <p:nvPr/>
        </p:nvSpPr>
        <p:spPr>
          <a:xfrm>
            <a:off x="41148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Real appointment breakdowns — what worked, what didn't, what to fix</a:t>
            </a:r>
            <a:endParaRPr lang="en-US" sz="1100" dirty="0"/>
          </a:p>
        </p:txBody>
      </p:sp>
      <p:sp>
        <p:nvSpPr>
          <p:cNvPr id="9" name="Shape 7"/>
          <p:cNvSpPr/>
          <p:nvPr/>
        </p:nvSpPr>
        <p:spPr>
          <a:xfrm>
            <a:off x="4754880" y="1600200"/>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0" name="Text 8"/>
          <p:cNvSpPr/>
          <p:nvPr/>
        </p:nvSpPr>
        <p:spPr>
          <a:xfrm>
            <a:off x="4892040" y="1728216"/>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Advanced Objection Scenarios</a:t>
            </a:r>
            <a:endParaRPr lang="en-US" sz="1300" dirty="0"/>
          </a:p>
        </p:txBody>
      </p:sp>
      <p:sp>
        <p:nvSpPr>
          <p:cNvPr id="11" name="Text 9"/>
          <p:cNvSpPr/>
          <p:nvPr/>
        </p:nvSpPr>
        <p:spPr>
          <a:xfrm>
            <a:off x="4892040" y="2167128"/>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Edge-case objections: HOA, roof age, credit concerns, NEM changes</a:t>
            </a:r>
            <a:endParaRPr lang="en-US" sz="1100" dirty="0"/>
          </a:p>
        </p:txBody>
      </p:sp>
      <p:sp>
        <p:nvSpPr>
          <p:cNvPr id="12" name="Shape 10"/>
          <p:cNvSpPr/>
          <p:nvPr/>
        </p:nvSpPr>
        <p:spPr>
          <a:xfrm>
            <a:off x="27432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3" name="Text 11"/>
          <p:cNvSpPr/>
          <p:nvPr/>
        </p:nvSpPr>
        <p:spPr>
          <a:xfrm>
            <a:off x="41148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Pipeline Management</a:t>
            </a:r>
            <a:endParaRPr lang="en-US" sz="1300" dirty="0"/>
          </a:p>
        </p:txBody>
      </p:sp>
      <p:sp>
        <p:nvSpPr>
          <p:cNvPr id="14" name="Text 12"/>
          <p:cNvSpPr/>
          <p:nvPr/>
        </p:nvSpPr>
        <p:spPr>
          <a:xfrm>
            <a:off x="41148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Building a follow-up system for every lead stage</a:t>
            </a:r>
            <a:endParaRPr lang="en-US" sz="1100" dirty="0"/>
          </a:p>
        </p:txBody>
      </p:sp>
      <p:sp>
        <p:nvSpPr>
          <p:cNvPr id="15" name="Shape 13"/>
          <p:cNvSpPr/>
          <p:nvPr/>
        </p:nvSpPr>
        <p:spPr>
          <a:xfrm>
            <a:off x="4754880" y="3218688"/>
            <a:ext cx="4023360" cy="1444752"/>
          </a:xfrm>
          <a:prstGeom prst="rect">
            <a:avLst/>
          </a:prstGeom>
          <a:solidFill>
            <a:srgbClr val="1A2840"/>
          </a:solidFill>
          <a:ln w="12700">
            <a:solidFill>
              <a:srgbClr val="F4A61D"/>
            </a:solidFill>
            <a:prstDash val="solid"/>
          </a:ln>
          <a:effectLst>
            <a:outerShdw sx="100000" sy="100000" kx="0" ky="0" algn="bl" rotWithShape="0" blurRad="101600" dist="38100" dir="8100000">
              <a:srgbClr val="000000">
                <a:alpha val="20000"/>
              </a:srgbClr>
            </a:outerShdw>
          </a:effectLst>
        </p:spPr>
      </p:sp>
      <p:sp>
        <p:nvSpPr>
          <p:cNvPr id="16" name="Text 14"/>
          <p:cNvSpPr/>
          <p:nvPr/>
        </p:nvSpPr>
        <p:spPr>
          <a:xfrm>
            <a:off x="4892040" y="3346704"/>
            <a:ext cx="3749040" cy="384048"/>
          </a:xfrm>
          <a:prstGeom prst="rect">
            <a:avLst/>
          </a:prstGeom>
          <a:noFill/>
          <a:ln/>
        </p:spPr>
        <p:txBody>
          <a:bodyPr wrap="square" lIns="0" tIns="0" rIns="0" bIns="0" rtlCol="0" anchor="ctr"/>
          <a:lstStyle/>
          <a:p>
            <a:pPr algn="l" indent="0" marL="0">
              <a:buNone/>
            </a:pPr>
            <a:r>
              <a:rPr lang="en-US" sz="1300" b="1" dirty="0">
                <a:solidFill>
                  <a:srgbClr val="F4A61D"/>
                </a:solidFill>
                <a:latin typeface="Arial Black" pitchFamily="34" charset="0"/>
                <a:ea typeface="Arial Black" pitchFamily="34" charset="-122"/>
                <a:cs typeface="Arial Black" pitchFamily="34" charset="-120"/>
              </a:rPr>
              <a:t>🤝  Referral Generation</a:t>
            </a:r>
            <a:endParaRPr lang="en-US" sz="1300" dirty="0"/>
          </a:p>
        </p:txBody>
      </p:sp>
      <p:sp>
        <p:nvSpPr>
          <p:cNvPr id="17" name="Text 15"/>
          <p:cNvSpPr/>
          <p:nvPr/>
        </p:nvSpPr>
        <p:spPr>
          <a:xfrm>
            <a:off x="4892040" y="3785616"/>
            <a:ext cx="3749040" cy="685800"/>
          </a:xfrm>
          <a:prstGeom prst="rect">
            <a:avLst/>
          </a:prstGeom>
          <a:noFill/>
          <a:ln/>
        </p:spPr>
        <p:txBody>
          <a:bodyPr wrap="square" lIns="0" tIns="0" rIns="0" bIns="0" rtlCol="0" anchor="ctr"/>
          <a:lstStyle/>
          <a:p>
            <a:pPr algn="l" indent="0" marL="0">
              <a:buNone/>
            </a:pPr>
            <a:r>
              <a:rPr lang="en-US" sz="1100" dirty="0">
                <a:solidFill>
                  <a:srgbClr val="8FA3B1"/>
                </a:solidFill>
                <a:latin typeface="Calibri" pitchFamily="34" charset="0"/>
                <a:ea typeface="Calibri" pitchFamily="34" charset="-122"/>
                <a:cs typeface="Calibri" pitchFamily="34" charset="-120"/>
              </a:rPr>
              <a:t>Getting 3 warm referrals at the table — while the ink is still wet</a:t>
            </a:r>
            <a:endParaRPr lang="en-US" sz="1100" dirty="0"/>
          </a:p>
        </p:txBody>
      </p:sp>
      <p:sp>
        <p:nvSpPr>
          <p:cNvPr id="18" name="Shape 16"/>
          <p:cNvSpPr/>
          <p:nvPr/>
        </p:nvSpPr>
        <p:spPr>
          <a:xfrm>
            <a:off x="0" y="4709160"/>
            <a:ext cx="9144000" cy="434340"/>
          </a:xfrm>
          <a:prstGeom prst="rect">
            <a:avLst/>
          </a:prstGeom>
          <a:solidFill>
            <a:srgbClr val="F4A61D"/>
          </a:solidFill>
          <a:ln w="12700">
            <a:solidFill>
              <a:srgbClr val="F4A61D"/>
            </a:solidFill>
            <a:prstDash val="solid"/>
          </a:ln>
        </p:spPr>
      </p:sp>
      <p:sp>
        <p:nvSpPr>
          <p:cNvPr id="19" name="Text 17"/>
          <p:cNvSpPr/>
          <p:nvPr/>
        </p:nvSpPr>
        <p:spPr>
          <a:xfrm>
            <a:off x="457200" y="4736592"/>
            <a:ext cx="8229600" cy="402336"/>
          </a:xfrm>
          <a:prstGeom prst="rect">
            <a:avLst/>
          </a:prstGeom>
          <a:noFill/>
          <a:ln/>
        </p:spPr>
        <p:txBody>
          <a:bodyPr wrap="square" lIns="0" tIns="0" rIns="0" bIns="0" rtlCol="0" anchor="ctr"/>
          <a:lstStyle/>
          <a:p>
            <a:pPr algn="ctr" indent="0" marL="0">
              <a:buNone/>
            </a:pPr>
            <a:r>
              <a:rPr lang="en-US" sz="1300" b="1" dirty="0">
                <a:solidFill>
                  <a:srgbClr val="0D1B2A"/>
                </a:solidFill>
                <a:latin typeface="Arial Black" pitchFamily="34" charset="0"/>
                <a:ea typeface="Arial Black" pitchFamily="34" charset="-122"/>
                <a:cs typeface="Arial Black" pitchFamily="34" charset="-120"/>
              </a:rPr>
              <a:t>Solar Accelerator  ·  Day 5 Complete  ·  You're a Certified Closer. Now go use it.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Solar Accelerator – Day 5</dc:title>
  <dc:subject>PptxGenJS Presentation</dc:subject>
  <dc:creator>PptxGenJS</dc:creator>
  <cp:lastModifiedBy>PptxGenJS</cp:lastModifiedBy>
  <cp:revision>1</cp:revision>
  <dcterms:created xsi:type="dcterms:W3CDTF">2026-03-09T16:16:49Z</dcterms:created>
  <dcterms:modified xsi:type="dcterms:W3CDTF">2026-03-09T16:16:49Z</dcterms:modified>
</cp:coreProperties>
</file>